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81" r:id="rId3"/>
    <p:sldId id="262" r:id="rId4"/>
    <p:sldId id="282" r:id="rId5"/>
    <p:sldId id="283" r:id="rId6"/>
    <p:sldId id="287" r:id="rId7"/>
    <p:sldId id="284" r:id="rId8"/>
    <p:sldId id="285" r:id="rId9"/>
    <p:sldId id="288" r:id="rId10"/>
    <p:sldId id="289" r:id="rId11"/>
    <p:sldId id="290" r:id="rId12"/>
    <p:sldId id="291" r:id="rId13"/>
    <p:sldId id="292" r:id="rId14"/>
    <p:sldId id="286" r:id="rId15"/>
    <p:sldId id="293" r:id="rId16"/>
    <p:sldId id="294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28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298" autoAdjust="0"/>
  </p:normalViewPr>
  <p:slideViewPr>
    <p:cSldViewPr snapToGrid="0">
      <p:cViewPr varScale="1">
        <p:scale>
          <a:sx n="86" d="100"/>
          <a:sy n="86" d="100"/>
        </p:scale>
        <p:origin x="15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43826-4C69-47EA-8898-45B824867DB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2ACA-593C-4267-A91D-71F7698EF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0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 - the content an agent’s sensors are perceiving</a:t>
            </a:r>
          </a:p>
          <a:p>
            <a:r>
              <a:rPr lang="en-US" dirty="0"/>
              <a:t>Percept Sequence - he complete history of everything the agent has ever perceived</a:t>
            </a:r>
          </a:p>
          <a:p>
            <a:r>
              <a:rPr lang="en-US" dirty="0"/>
              <a:t>Agent Function - maps any given percept sequence to an action – It’s mathematical, abstract</a:t>
            </a:r>
          </a:p>
          <a:p>
            <a:r>
              <a:rPr lang="en-US" dirty="0"/>
              <a:t>Agent Program - the agent function for an artificial agent will be implemented by an agent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B2ACA-593C-4267-A91D-71F7698EFE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67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B2ACA-593C-4267-A91D-71F7698EFE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57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5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60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1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7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5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6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7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6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7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26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1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0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1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FC72E4F-7DFD-4C1A-A1A9-E4120F2AD69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47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0121-2090-C428-98C6-5A952B630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Intelligent Agents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E1F8C-E5DE-EC85-D5FE-365A58F48F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397044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C3E9-53DD-5989-E3CC-5FAE1FFB2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240B83-2551-FA8A-8CAA-47E545EDC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4400" y="2240439"/>
            <a:ext cx="6343199" cy="426747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182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A621-C19D-1FFE-1DE8-5953BE43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and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4A332-2D0F-A6AF-3EEB-E096B810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agent</a:t>
            </a:r>
            <a:r>
              <a:rPr lang="en-US" dirty="0"/>
              <a:t> is anything that can be viewed as perceiving its </a:t>
            </a:r>
            <a:r>
              <a:rPr lang="en-US" b="1" dirty="0"/>
              <a:t>environment</a:t>
            </a:r>
            <a:r>
              <a:rPr lang="en-US" dirty="0"/>
              <a:t> through </a:t>
            </a:r>
            <a:r>
              <a:rPr lang="en-US" b="1" dirty="0"/>
              <a:t>sensors</a:t>
            </a:r>
            <a:r>
              <a:rPr lang="en-US" dirty="0"/>
              <a:t> and acting upon that environment through </a:t>
            </a:r>
            <a:r>
              <a:rPr lang="en-US" b="1" dirty="0"/>
              <a:t>actuators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6649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3509-4A41-A576-59CC-8A1CF0EA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and Environments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AE0932-D896-40C0-8708-70912A897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2815" y="2222500"/>
            <a:ext cx="6626369" cy="363696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1589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052A-B3BC-0591-6BCE-8EE7ACDC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Define these Terms…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E657-8DF8-FBF7-16E0-EA7E776A9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</a:t>
            </a:r>
          </a:p>
          <a:p>
            <a:r>
              <a:rPr lang="en-US" dirty="0"/>
              <a:t>Environment</a:t>
            </a:r>
          </a:p>
          <a:p>
            <a:r>
              <a:rPr lang="en-US" dirty="0"/>
              <a:t>Sensor</a:t>
            </a:r>
          </a:p>
          <a:p>
            <a:r>
              <a:rPr lang="en-US" dirty="0"/>
              <a:t>Actuator</a:t>
            </a:r>
          </a:p>
          <a:p>
            <a:r>
              <a:rPr lang="en-US" dirty="0"/>
              <a:t>Percept</a:t>
            </a:r>
          </a:p>
          <a:p>
            <a:r>
              <a:rPr lang="en-US" dirty="0"/>
              <a:t>Percept Sequence</a:t>
            </a:r>
          </a:p>
          <a:p>
            <a:r>
              <a:rPr lang="en-US" dirty="0"/>
              <a:t>Agent Function</a:t>
            </a:r>
          </a:p>
          <a:p>
            <a:r>
              <a:rPr lang="en-US" dirty="0"/>
              <a:t>Agent Program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74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C4221-FD7B-3CE6-142F-827A64F41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Vacuum Cleaner World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8A208C-9D2C-5269-198F-30A6CA054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8180" y="2716821"/>
            <a:ext cx="5115639" cy="264832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8860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CB10-9730-B4CF-6AA8-EE714BA06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 Sequence –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209C02-3FBF-77A4-FBA0-BE30821DA5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514" y="2197768"/>
            <a:ext cx="10614971" cy="466023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074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21AF6-C76E-06F3-92FE-F8887C8B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Function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735364-C42E-81AC-51D9-E4896236FF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9846" y="2859461"/>
            <a:ext cx="10272308" cy="2641775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7748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73D4-4173-365F-91B4-6B164E687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1AEE8-F2A1-5971-E4F4-7FC9737EB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rational agent is one that does the right thing.</a:t>
            </a:r>
          </a:p>
          <a:p>
            <a:r>
              <a:rPr lang="en-US" dirty="0"/>
              <a:t>The right action is the one that will cause the agent to be most successful.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You evaluate the agent based on some performance measure;</a:t>
            </a:r>
          </a:p>
          <a:p>
            <a:r>
              <a:rPr lang="en-US" dirty="0"/>
              <a:t>Time taken</a:t>
            </a:r>
            <a:r>
              <a:rPr lang="en-US"/>
              <a:t>, accuracy,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010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D2C8-9A7B-EC82-389D-02DCD811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9C92B-AFC0-E81D-C96E-EF7429132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rational at any given time depends on four things: </a:t>
            </a:r>
          </a:p>
          <a:p>
            <a:endParaRPr lang="en-US" dirty="0"/>
          </a:p>
          <a:p>
            <a:r>
              <a:rPr lang="en-US" dirty="0"/>
              <a:t> The performance measure that defines the criterion of success. </a:t>
            </a:r>
          </a:p>
          <a:p>
            <a:r>
              <a:rPr lang="en-US" dirty="0"/>
              <a:t> The agent’s prior knowledge of the environment. </a:t>
            </a:r>
          </a:p>
          <a:p>
            <a:r>
              <a:rPr lang="en-US" dirty="0"/>
              <a:t> The actions that the agent can perform. </a:t>
            </a:r>
          </a:p>
          <a:p>
            <a:r>
              <a:rPr lang="en-US" dirty="0"/>
              <a:t> The agent’s percept sequence to date. </a:t>
            </a:r>
          </a:p>
        </p:txBody>
      </p:sp>
    </p:spTree>
    <p:extLst>
      <p:ext uri="{BB962C8B-B14F-4D97-AF65-F5344CB8AC3E}">
        <p14:creationId xmlns:p14="http://schemas.microsoft.com/office/powerpoint/2010/main" val="3025185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6423-449A-B4AE-3928-5E9AD7F5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Agent – Textbook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9872E-CDBD-12A8-C75F-0B589B50A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possible percept sequence, a rational agent should select an action that is expected to maximize its performance measure, given the evidence provided by the percept sequence and whatever built-in knowledge the agent has. </a:t>
            </a:r>
          </a:p>
        </p:txBody>
      </p:sp>
    </p:spTree>
    <p:extLst>
      <p:ext uri="{BB962C8B-B14F-4D97-AF65-F5344CB8AC3E}">
        <p14:creationId xmlns:p14="http://schemas.microsoft.com/office/powerpoint/2010/main" val="2584763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25730-1AE1-FCE0-842D-E9EE23A82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-- 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3A360-6824-B35F-9A62-1D81B479D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designing a rational/intelligent agent, we keep in mind PEAS.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Performance Measure</a:t>
            </a:r>
          </a:p>
          <a:p>
            <a:r>
              <a:rPr lang="en-US" dirty="0"/>
              <a:t>Environment </a:t>
            </a:r>
          </a:p>
          <a:p>
            <a:r>
              <a:rPr lang="en-US" dirty="0"/>
              <a:t>Actuators</a:t>
            </a:r>
          </a:p>
          <a:p>
            <a:r>
              <a:rPr lang="en-US" dirty="0"/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1933440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D5E9-F44D-3996-EAAB-62AD15CD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– Automated Taxi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5CACF-F012-9EE2-56CB-348103EBD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Performance</a:t>
            </a:r>
            <a:r>
              <a:rPr lang="en-US" dirty="0"/>
              <a:t> </a:t>
            </a:r>
            <a:r>
              <a:rPr lang="en-US" b="1" dirty="0"/>
              <a:t>measure</a:t>
            </a:r>
            <a:r>
              <a:rPr lang="en-US" dirty="0"/>
              <a:t>: Safe, fast, legal, comfortable trip, maximize profits</a:t>
            </a:r>
          </a:p>
          <a:p>
            <a:r>
              <a:rPr lang="en-US" b="1" dirty="0"/>
              <a:t>Environment</a:t>
            </a:r>
            <a:r>
              <a:rPr lang="en-US" dirty="0"/>
              <a:t>: Roads, other traffic, people and objects in/around the street</a:t>
            </a:r>
          </a:p>
          <a:p>
            <a:r>
              <a:rPr lang="en-US" b="1" dirty="0"/>
              <a:t>Actuators</a:t>
            </a:r>
            <a:r>
              <a:rPr lang="en-US" dirty="0"/>
              <a:t>: Steering wheel, accelerator, brake, signal, horn</a:t>
            </a:r>
          </a:p>
          <a:p>
            <a:r>
              <a:rPr lang="en-US" b="1" dirty="0"/>
              <a:t>Sensors</a:t>
            </a:r>
            <a:r>
              <a:rPr lang="en-US" dirty="0"/>
              <a:t>: Cameras, sonar, speedometer, GPS, odometer, engine sensors, keyboard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846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8D8C9-7A57-8588-8A6D-1A1907318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– Medical Diagnostic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0A005-3EAC-772A-AF3A-33B37DD7D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Performance</a:t>
            </a:r>
            <a:r>
              <a:rPr lang="en-US" dirty="0"/>
              <a:t> </a:t>
            </a:r>
            <a:r>
              <a:rPr lang="en-US" b="1" dirty="0"/>
              <a:t>measure</a:t>
            </a:r>
            <a:r>
              <a:rPr lang="en-US" dirty="0"/>
              <a:t>: Healthy patient, minimize costs, lawsuits</a:t>
            </a:r>
          </a:p>
          <a:p>
            <a:r>
              <a:rPr lang="en-US" b="1" dirty="0"/>
              <a:t>Environment</a:t>
            </a:r>
            <a:r>
              <a:rPr lang="en-US" dirty="0"/>
              <a:t>: Patient, hospital, staff</a:t>
            </a:r>
          </a:p>
          <a:p>
            <a:r>
              <a:rPr lang="en-US" b="1" dirty="0"/>
              <a:t>Actuators</a:t>
            </a:r>
            <a:r>
              <a:rPr lang="en-US" dirty="0"/>
              <a:t>: Screen display (questions, tests, diagnoses, treatments, referrals)</a:t>
            </a:r>
          </a:p>
          <a:p>
            <a:r>
              <a:rPr lang="en-US" b="1" dirty="0"/>
              <a:t>Sensors</a:t>
            </a:r>
            <a:r>
              <a:rPr lang="en-US" dirty="0"/>
              <a:t>: Keyboard (entry of symptoms, findings, patient's answers)</a:t>
            </a:r>
          </a:p>
        </p:txBody>
      </p:sp>
    </p:spTree>
    <p:extLst>
      <p:ext uri="{BB962C8B-B14F-4D97-AF65-F5344CB8AC3E}">
        <p14:creationId xmlns:p14="http://schemas.microsoft.com/office/powerpoint/2010/main" val="2126496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A230-0277-1A0F-119F-DFFEE1F1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– Part Picking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EB44-30CB-0262-D6D4-5E2613178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Performance</a:t>
            </a:r>
            <a:r>
              <a:rPr lang="en-US" dirty="0"/>
              <a:t> </a:t>
            </a:r>
            <a:r>
              <a:rPr lang="en-US" b="1" dirty="0"/>
              <a:t>measure</a:t>
            </a:r>
            <a:r>
              <a:rPr lang="en-US" dirty="0"/>
              <a:t>: Percentage of parts in correct bins</a:t>
            </a:r>
          </a:p>
          <a:p>
            <a:r>
              <a:rPr lang="en-US" b="1" dirty="0"/>
              <a:t>Environment</a:t>
            </a:r>
            <a:r>
              <a:rPr lang="en-US" dirty="0"/>
              <a:t>: Conveyor belt with parts, bins</a:t>
            </a:r>
          </a:p>
          <a:p>
            <a:r>
              <a:rPr lang="en-US" b="1" dirty="0"/>
              <a:t>Actuators</a:t>
            </a:r>
            <a:r>
              <a:rPr lang="en-US" dirty="0"/>
              <a:t>: Jointed arm and hand</a:t>
            </a:r>
          </a:p>
          <a:p>
            <a:r>
              <a:rPr lang="en-US" b="1" dirty="0"/>
              <a:t>Sensors</a:t>
            </a:r>
            <a:r>
              <a:rPr lang="en-US" dirty="0"/>
              <a:t>: Camera, joint angle sensors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362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65A7-7288-2365-74BA-07E485D5B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Types (Ch. 2.3.2)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79593-82EA-119D-AAB5-9B0766572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Fully observable vs. partially observable</a:t>
            </a:r>
          </a:p>
          <a:p>
            <a:r>
              <a:rPr lang="en-US" dirty="0"/>
              <a:t>Single-agent vs. multiagent</a:t>
            </a:r>
          </a:p>
          <a:p>
            <a:pPr lvl="1"/>
            <a:r>
              <a:rPr lang="en-US" dirty="0"/>
              <a:t>Competitive v/s cooperative</a:t>
            </a:r>
          </a:p>
          <a:p>
            <a:r>
              <a:rPr lang="en-US" dirty="0"/>
              <a:t>Deterministic vs. nondeterministic(stochastic)</a:t>
            </a:r>
          </a:p>
          <a:p>
            <a:r>
              <a:rPr lang="en-US" dirty="0"/>
              <a:t>Episodic vs. sequential(non-episodic)</a:t>
            </a:r>
          </a:p>
          <a:p>
            <a:r>
              <a:rPr lang="en-US" dirty="0"/>
              <a:t>Static vs. dynamic</a:t>
            </a:r>
          </a:p>
          <a:p>
            <a:r>
              <a:rPr lang="en-US" dirty="0"/>
              <a:t>Discrete vs. continuous</a:t>
            </a:r>
          </a:p>
          <a:p>
            <a:r>
              <a:rPr lang="en-US" dirty="0"/>
              <a:t>Known vs. unknown</a:t>
            </a:r>
          </a:p>
        </p:txBody>
      </p:sp>
    </p:spTree>
    <p:extLst>
      <p:ext uri="{BB962C8B-B14F-4D97-AF65-F5344CB8AC3E}">
        <p14:creationId xmlns:p14="http://schemas.microsoft.com/office/powerpoint/2010/main" val="2633277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8155C-16C3-CA0A-7FE9-991477E6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Type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A66B369-7FA7-6864-4B2C-DAFCCCA3D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2637" y="1899239"/>
            <a:ext cx="9466726" cy="495876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5922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B487-F725-6B4D-D7B4-9D6B6416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36F45-3550-4D0E-6C6D-16BFCD0C6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environment type largely determines the agent design.</a:t>
            </a:r>
          </a:p>
          <a:p>
            <a:endParaRPr lang="en-US" dirty="0"/>
          </a:p>
          <a:p>
            <a:r>
              <a:rPr lang="en-US" dirty="0"/>
              <a:t>The real world is (of course) </a:t>
            </a:r>
            <a:r>
              <a:rPr lang="en-US" b="1" dirty="0"/>
              <a:t>partially</a:t>
            </a:r>
            <a:r>
              <a:rPr lang="en-US" dirty="0"/>
              <a:t> </a:t>
            </a:r>
            <a:r>
              <a:rPr lang="en-US" b="1" dirty="0"/>
              <a:t>observable</a:t>
            </a:r>
            <a:r>
              <a:rPr lang="en-US" dirty="0"/>
              <a:t>, </a:t>
            </a:r>
            <a:r>
              <a:rPr lang="en-US" b="1" dirty="0"/>
              <a:t>stochastic</a:t>
            </a:r>
            <a:r>
              <a:rPr lang="en-US" dirty="0"/>
              <a:t>, </a:t>
            </a:r>
            <a:r>
              <a:rPr lang="en-US" b="1" dirty="0"/>
              <a:t>sequential</a:t>
            </a:r>
            <a:r>
              <a:rPr lang="en-US" dirty="0"/>
              <a:t>, </a:t>
            </a:r>
            <a:r>
              <a:rPr lang="en-US" b="1" dirty="0"/>
              <a:t>dynamic</a:t>
            </a:r>
            <a:r>
              <a:rPr lang="en-US" dirty="0"/>
              <a:t>, </a:t>
            </a:r>
            <a:r>
              <a:rPr lang="en-US" b="1" dirty="0"/>
              <a:t>continuous</a:t>
            </a:r>
            <a:r>
              <a:rPr lang="en-US" dirty="0"/>
              <a:t>, </a:t>
            </a:r>
            <a:r>
              <a:rPr lang="en-US" b="1" dirty="0"/>
              <a:t>multi-agent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479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9884-A37E-C29B-D031-788DF6DF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912D-92EC-009A-A8BF-21F5BE335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 = Architecture + Program</a:t>
            </a:r>
          </a:p>
          <a:p>
            <a:endParaRPr lang="en-US" dirty="0"/>
          </a:p>
          <a:p>
            <a:r>
              <a:rPr lang="en-US" b="1" dirty="0"/>
              <a:t>Agent</a:t>
            </a:r>
            <a:r>
              <a:rPr lang="en-US" dirty="0"/>
              <a:t> </a:t>
            </a:r>
            <a:r>
              <a:rPr lang="en-US" b="1" dirty="0"/>
              <a:t>program: </a:t>
            </a:r>
            <a:r>
              <a:rPr lang="en-US" dirty="0"/>
              <a:t>implements the agent function— Agent program the mapping from percepts to actions. </a:t>
            </a:r>
          </a:p>
          <a:p>
            <a:r>
              <a:rPr lang="en-US" dirty="0"/>
              <a:t>We assume this program will run on some sort of computing device with physical sensors and actuators—we call this the </a:t>
            </a:r>
            <a:r>
              <a:rPr lang="en-US" b="1" dirty="0"/>
              <a:t>agent</a:t>
            </a:r>
            <a:r>
              <a:rPr lang="en-US" dirty="0"/>
              <a:t> </a:t>
            </a:r>
            <a:r>
              <a:rPr lang="en-US" b="1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899006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D793-452C-5B41-BE5A-1BEFE057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DC98-1679-C6CE-F911-59F00746C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Agents can be divided in to five (05) basic types according to the degree of perceived intelligence and capacity to change the environment: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Simple reflex agents</a:t>
            </a:r>
          </a:p>
          <a:p>
            <a:r>
              <a:rPr lang="en-US" sz="2000" dirty="0"/>
              <a:t>Model-based reflex agents</a:t>
            </a:r>
          </a:p>
          <a:p>
            <a:r>
              <a:rPr lang="en-US" sz="2000" dirty="0"/>
              <a:t>Goal-based agents</a:t>
            </a:r>
          </a:p>
          <a:p>
            <a:r>
              <a:rPr lang="en-US" sz="2000" dirty="0"/>
              <a:t>Utility-based agents</a:t>
            </a:r>
          </a:p>
          <a:p>
            <a:r>
              <a:rPr lang="en-US" sz="2000" dirty="0"/>
              <a:t>Learning Agents</a:t>
            </a:r>
          </a:p>
        </p:txBody>
      </p:sp>
    </p:spTree>
    <p:extLst>
      <p:ext uri="{BB962C8B-B14F-4D97-AF65-F5344CB8AC3E}">
        <p14:creationId xmlns:p14="http://schemas.microsoft.com/office/powerpoint/2010/main" val="3629733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02588-E8B4-B4B4-BF9C-B30B9F94E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Reflex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0F64F-E1DD-8854-AF21-FAC742002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4" y="2322648"/>
            <a:ext cx="4764355" cy="3636511"/>
          </a:xfrm>
        </p:spPr>
        <p:txBody>
          <a:bodyPr>
            <a:normAutofit/>
          </a:bodyPr>
          <a:lstStyle/>
          <a:p>
            <a:r>
              <a:rPr lang="en-US" sz="2000" dirty="0"/>
              <a:t>The simplest kind of agent </a:t>
            </a:r>
          </a:p>
          <a:p>
            <a:r>
              <a:rPr lang="en-US" sz="2000" dirty="0"/>
              <a:t>These agents select actions on the basis Simple reflex agent of the current percept, ignoring the rest of the percept history.</a:t>
            </a:r>
          </a:p>
          <a:p>
            <a:r>
              <a:rPr lang="en-US" sz="2000" dirty="0"/>
              <a:t>Operates in Partially Observable Environments </a:t>
            </a:r>
          </a:p>
          <a:p>
            <a:r>
              <a:rPr lang="en-US" sz="2000" dirty="0"/>
              <a:t>Infinite loops are unavoidable (unless you randomize actions)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5B964-352A-59FE-3ACC-42816037D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771" y="2108917"/>
            <a:ext cx="6630325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33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FBC7-1B63-4240-5175-5AB392DF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Reflex Agents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B98FA3-F01A-4DA0-D2EF-7602D8608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204" y="2621558"/>
            <a:ext cx="8535591" cy="2838846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5856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01AC-E378-F36E-2A8A-4C2B961D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Model-Based Reflex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9C308-4AD1-056A-AAC5-DE5CB7B7A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4823805" cy="3636511"/>
          </a:xfrm>
        </p:spPr>
        <p:txBody>
          <a:bodyPr/>
          <a:lstStyle/>
          <a:p>
            <a:r>
              <a:rPr lang="en-US" dirty="0"/>
              <a:t>The agent decides its action(s) based on a predefined set of condition-action rules.</a:t>
            </a:r>
          </a:p>
          <a:p>
            <a:r>
              <a:rPr lang="en-US" dirty="0"/>
              <a:t>Depending on the state of the world, different actions are appropriate.</a:t>
            </a:r>
          </a:p>
          <a:p>
            <a:r>
              <a:rPr lang="en-US" dirty="0"/>
              <a:t>State is evaluated in terms of how it changed from the </a:t>
            </a:r>
            <a:r>
              <a:rPr lang="en-US" b="1" dirty="0"/>
              <a:t>previous</a:t>
            </a:r>
            <a:r>
              <a:rPr lang="en-US" dirty="0"/>
              <a:t> </a:t>
            </a:r>
            <a:r>
              <a:rPr lang="en-US" b="1" dirty="0"/>
              <a:t>state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Roomba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7F408B-BA22-585A-D5F2-5BD6DC8EE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492" y="2222287"/>
            <a:ext cx="6487430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68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69E06-0A68-1B6B-F0EF-D9D30735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Model-Based Reflex Agents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2C3690-CA07-B662-1EC8-201A2DE678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1491" y="2222500"/>
            <a:ext cx="9069018" cy="463550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4119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C05F-94E5-5D86-76EE-C8C7D80EC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Goal-Based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A03A8-7B22-545A-CB0C-03BB8F7EA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4723444" cy="3636511"/>
          </a:xfrm>
        </p:spPr>
        <p:txBody>
          <a:bodyPr/>
          <a:lstStyle/>
          <a:p>
            <a:r>
              <a:rPr lang="en-US" dirty="0"/>
              <a:t>The agent decides its action(s) based on a known </a:t>
            </a:r>
            <a:r>
              <a:rPr lang="en-US" b="1" dirty="0"/>
              <a:t>goal</a:t>
            </a:r>
            <a:r>
              <a:rPr lang="en-US" dirty="0"/>
              <a:t>.</a:t>
            </a:r>
          </a:p>
          <a:p>
            <a:r>
              <a:rPr lang="en-US" dirty="0"/>
              <a:t>Contains </a:t>
            </a:r>
            <a:r>
              <a:rPr lang="en-US" b="1" dirty="0"/>
              <a:t>everything from model-based reflex agents + a goal</a:t>
            </a:r>
          </a:p>
          <a:p>
            <a:r>
              <a:rPr lang="en-US" dirty="0"/>
              <a:t>Involves consideration of the </a:t>
            </a:r>
            <a:r>
              <a:rPr lang="en-US" b="1" dirty="0"/>
              <a:t>previous</a:t>
            </a:r>
            <a:r>
              <a:rPr lang="en-US" dirty="0"/>
              <a:t> and </a:t>
            </a:r>
            <a:r>
              <a:rPr lang="en-US" b="1" dirty="0"/>
              <a:t>future</a:t>
            </a:r>
            <a:r>
              <a:rPr lang="en-US" dirty="0"/>
              <a:t> </a:t>
            </a:r>
            <a:r>
              <a:rPr lang="en-US" b="1" dirty="0"/>
              <a:t>states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Automatic Taxi / GPS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9271C1-421B-FCDA-77BD-6EA4769E5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583" y="2044776"/>
            <a:ext cx="6268325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83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31994-3CBC-E710-B528-29E065BFD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Utility-Based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85529-B2BA-95D4-E2C8-E98075B2C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4076673" cy="3636511"/>
          </a:xfrm>
        </p:spPr>
        <p:txBody>
          <a:bodyPr/>
          <a:lstStyle/>
          <a:p>
            <a:r>
              <a:rPr lang="en-US" dirty="0"/>
              <a:t>The agent decides its action(s) based on utilities/ preferences.</a:t>
            </a:r>
          </a:p>
          <a:p>
            <a:r>
              <a:rPr lang="en-US" dirty="0"/>
              <a:t>Utility function to decide which world state (Optimality) is better for an agent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Google Maps – optimizing distance/time etc. to a destination.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2E9C2-EE02-BCD8-7A29-5FD7D9EB6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92" y="2044776"/>
            <a:ext cx="6296904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96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C2795-7A2F-7532-4193-22444AC2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06287-2605-5B72-AE0A-F6BCB419E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34991"/>
          </a:xfrm>
        </p:spPr>
        <p:txBody>
          <a:bodyPr>
            <a:normAutofit/>
          </a:bodyPr>
          <a:lstStyle/>
          <a:p>
            <a:r>
              <a:rPr lang="en-US" sz="2000" dirty="0"/>
              <a:t>The agent adapts its action(s) based on </a:t>
            </a:r>
            <a:r>
              <a:rPr lang="en-US" sz="2000" b="1" dirty="0"/>
              <a:t>feedback (not only sensors)</a:t>
            </a:r>
            <a:r>
              <a:rPr lang="en-US" sz="2000" dirty="0"/>
              <a:t>.</a:t>
            </a:r>
          </a:p>
          <a:p>
            <a:r>
              <a:rPr lang="en-US" sz="2000" b="1" dirty="0"/>
              <a:t>Learning</a:t>
            </a:r>
            <a:r>
              <a:rPr lang="en-US" sz="2000" dirty="0"/>
              <a:t> </a:t>
            </a:r>
            <a:r>
              <a:rPr lang="en-US" sz="2000" b="1" dirty="0"/>
              <a:t>element</a:t>
            </a:r>
            <a:r>
              <a:rPr lang="en-US" sz="2000" dirty="0"/>
              <a:t> - responsible for making improvements from past events.</a:t>
            </a:r>
          </a:p>
          <a:p>
            <a:r>
              <a:rPr lang="en-US" sz="2000" b="1" dirty="0"/>
              <a:t>Performance</a:t>
            </a:r>
            <a:r>
              <a:rPr lang="en-US" sz="2000" dirty="0"/>
              <a:t> </a:t>
            </a:r>
            <a:r>
              <a:rPr lang="en-US" sz="2000" b="1" dirty="0"/>
              <a:t>element</a:t>
            </a:r>
            <a:r>
              <a:rPr lang="en-US" sz="2000" dirty="0"/>
              <a:t> - what we have up to now considered to be the entire agent. Takes percepts and then decides on actions.</a:t>
            </a:r>
          </a:p>
          <a:p>
            <a:r>
              <a:rPr lang="en-US" sz="2000" b="1" dirty="0"/>
              <a:t>Critic</a:t>
            </a:r>
            <a:r>
              <a:rPr lang="en-US" sz="2000" dirty="0"/>
              <a:t> - gives the learning element feedback on how the performance element is doing and if it needs to be modified.</a:t>
            </a:r>
          </a:p>
          <a:p>
            <a:r>
              <a:rPr lang="en-US" sz="2000" b="1" dirty="0"/>
              <a:t>Problem</a:t>
            </a:r>
            <a:r>
              <a:rPr lang="en-US" sz="2000" dirty="0"/>
              <a:t> </a:t>
            </a:r>
            <a:r>
              <a:rPr lang="en-US" sz="2000" b="1" dirty="0"/>
              <a:t>generator</a:t>
            </a:r>
            <a:r>
              <a:rPr lang="en-US" sz="2000" dirty="0"/>
              <a:t> - it suggests actions that lead to new and informative experiences.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e.g. human agent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41907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7E828-69FD-B357-5D46-7834134E2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Agents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EAD3E6-84D9-ED4F-8946-9B1149AAA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0680" y="2122139"/>
            <a:ext cx="6685554" cy="473602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2215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B866F5-29C6-0532-2C76-8DF119A1E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Fin.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F757602-BCBC-E3F9-9A8C-6576B2DAA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3024798">
            <a:off x="2274907" y="5312664"/>
            <a:ext cx="533607" cy="434974"/>
          </a:xfrm>
        </p:spPr>
        <p:txBody>
          <a:bodyPr/>
          <a:lstStyle/>
          <a:p>
            <a:r>
              <a:rPr lang="en-US" dirty="0"/>
              <a:t>&gt;:3</a:t>
            </a:r>
          </a:p>
        </p:txBody>
      </p:sp>
    </p:spTree>
    <p:extLst>
      <p:ext uri="{BB962C8B-B14F-4D97-AF65-F5344CB8AC3E}">
        <p14:creationId xmlns:p14="http://schemas.microsoft.com/office/powerpoint/2010/main" val="2479222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Custom 1">
      <a:dk1>
        <a:srgbClr val="181818"/>
      </a:dk1>
      <a:lt1>
        <a:srgbClr val="181818"/>
      </a:lt1>
      <a:dk2>
        <a:srgbClr val="FFFFFF"/>
      </a:dk2>
      <a:lt2>
        <a:srgbClr val="FFFFFF"/>
      </a:lt2>
      <a:accent1>
        <a:srgbClr val="843AAB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002060"/>
      </a:hlink>
      <a:folHlink>
        <a:srgbClr val="0070C0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1575</TotalTime>
  <Words>879</Words>
  <Application>Microsoft Office PowerPoint</Application>
  <PresentationFormat>Widescreen</PresentationFormat>
  <Paragraphs>125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Calibri</vt:lpstr>
      <vt:lpstr>Century Gothic</vt:lpstr>
      <vt:lpstr>Wingdings 2</vt:lpstr>
      <vt:lpstr>Quotable</vt:lpstr>
      <vt:lpstr>Intelligent Agents</vt:lpstr>
      <vt:lpstr>Agents?</vt:lpstr>
      <vt:lpstr>Agents and Environments</vt:lpstr>
      <vt:lpstr>Agents and Environments</vt:lpstr>
      <vt:lpstr>Let’s Define these Terms…</vt:lpstr>
      <vt:lpstr>The Vacuum Cleaner World</vt:lpstr>
      <vt:lpstr>Percept Sequence – Example</vt:lpstr>
      <vt:lpstr>Agent Function</vt:lpstr>
      <vt:lpstr>Rational Agents</vt:lpstr>
      <vt:lpstr>Rationality</vt:lpstr>
      <vt:lpstr>Rational Agent – Textbook Definition</vt:lpstr>
      <vt:lpstr>PEAS -- ? </vt:lpstr>
      <vt:lpstr>PEAS – Automated Taxi Driver</vt:lpstr>
      <vt:lpstr>PEAS – Medical Diagnostic System</vt:lpstr>
      <vt:lpstr>PEAS – Part Picking Robot</vt:lpstr>
      <vt:lpstr>Environment Types (Ch. 2.3.2)</vt:lpstr>
      <vt:lpstr>Environment Type</vt:lpstr>
      <vt:lpstr>Environment Types</vt:lpstr>
      <vt:lpstr>Agent</vt:lpstr>
      <vt:lpstr>Agent Types</vt:lpstr>
      <vt:lpstr>Simple Reflex Agents</vt:lpstr>
      <vt:lpstr>Simple Reflex Agents</vt:lpstr>
      <vt:lpstr>Model-Based Reflex Agents</vt:lpstr>
      <vt:lpstr>Model-Based Reflex Agents</vt:lpstr>
      <vt:lpstr>Goal-Based Agents</vt:lpstr>
      <vt:lpstr>Utility-Based Agents</vt:lpstr>
      <vt:lpstr>Learning Agents</vt:lpstr>
      <vt:lpstr>Learning Agents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184</cp:revision>
  <dcterms:created xsi:type="dcterms:W3CDTF">2026-01-20T09:40:17Z</dcterms:created>
  <dcterms:modified xsi:type="dcterms:W3CDTF">2026-01-27T06:29:22Z</dcterms:modified>
</cp:coreProperties>
</file>