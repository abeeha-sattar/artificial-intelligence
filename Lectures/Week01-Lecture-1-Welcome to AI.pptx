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2" r:id="rId1"/>
  </p:sldMasterIdLst>
  <p:notesMasterIdLst>
    <p:notesMasterId r:id="rId13"/>
  </p:notesMasterIdLst>
  <p:sldIdLst>
    <p:sldId id="256" r:id="rId2"/>
    <p:sldId id="257" r:id="rId3"/>
    <p:sldId id="258" r:id="rId4"/>
    <p:sldId id="295" r:id="rId5"/>
    <p:sldId id="262" r:id="rId6"/>
    <p:sldId id="260" r:id="rId7"/>
    <p:sldId id="272" r:id="rId8"/>
    <p:sldId id="271" r:id="rId9"/>
    <p:sldId id="270" r:id="rId10"/>
    <p:sldId id="296" r:id="rId11"/>
    <p:sldId id="29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7990" autoAdjust="0"/>
  </p:normalViewPr>
  <p:slideViewPr>
    <p:cSldViewPr snapToGrid="0">
      <p:cViewPr varScale="1">
        <p:scale>
          <a:sx n="85" d="100"/>
          <a:sy n="85" d="100"/>
        </p:scale>
        <p:origin x="15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96113-225B-4AED-8D2D-E2FD60DD6B1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635BC-CC39-4540-B83C-CDDDF8ABA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06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31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45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7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2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9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90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65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6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5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2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71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8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09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7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5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4C13F30E-5208-46AD-B1E4-ED6FE117077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941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mailto:abeeha.sattar@nu.edu.p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E2368-BC60-F755-53A4-36243B43D2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Artificial Intelligence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36984-4D23-4BF7-BC68-17CDC7E91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2765" y="5280847"/>
            <a:ext cx="10399235" cy="43497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WEEK 01																		Abeeha Sattar</a:t>
            </a:r>
          </a:p>
        </p:txBody>
      </p:sp>
    </p:spTree>
    <p:extLst>
      <p:ext uri="{BB962C8B-B14F-4D97-AF65-F5344CB8AC3E}">
        <p14:creationId xmlns:p14="http://schemas.microsoft.com/office/powerpoint/2010/main" val="4055406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751E-313C-4EF9-03F5-249CF8175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Introduce Ourselves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51AF9-817B-B837-8CC6-8A06527DB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b="1" dirty="0">
                <a:solidFill>
                  <a:schemeClr val="bg2"/>
                </a:solidFill>
              </a:rPr>
              <a:t>Name</a:t>
            </a:r>
            <a:r>
              <a:rPr lang="en-US" dirty="0">
                <a:solidFill>
                  <a:schemeClr val="bg2"/>
                </a:solidFill>
              </a:rPr>
              <a:t>: Abeeha Sattar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r>
              <a:rPr lang="en-US" b="1" dirty="0">
                <a:solidFill>
                  <a:schemeClr val="bg2"/>
                </a:solidFill>
              </a:rPr>
              <a:t>Qualifications</a:t>
            </a:r>
            <a:r>
              <a:rPr lang="en-US" dirty="0">
                <a:solidFill>
                  <a:schemeClr val="bg2"/>
                </a:solidFill>
              </a:rPr>
              <a:t>: MS(CS) from IBA (2020), BS(CS) from FAST-NUCES (2016)</a:t>
            </a:r>
          </a:p>
          <a:p>
            <a:r>
              <a:rPr lang="en-US" b="1" dirty="0">
                <a:solidFill>
                  <a:schemeClr val="bg2"/>
                </a:solidFill>
              </a:rPr>
              <a:t>Experience</a:t>
            </a:r>
            <a:r>
              <a:rPr lang="en-US" dirty="0">
                <a:solidFill>
                  <a:schemeClr val="bg2"/>
                </a:solidFill>
              </a:rPr>
              <a:t>: Worked in Systems Ltd. for about 1.5 years. </a:t>
            </a:r>
          </a:p>
          <a:p>
            <a:r>
              <a:rPr lang="en-US" b="1" dirty="0">
                <a:solidFill>
                  <a:schemeClr val="bg2"/>
                </a:solidFill>
              </a:rPr>
              <a:t>Courses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b="1" dirty="0">
                <a:solidFill>
                  <a:schemeClr val="bg2"/>
                </a:solidFill>
              </a:rPr>
              <a:t>Taught</a:t>
            </a:r>
            <a:r>
              <a:rPr lang="en-US" dirty="0">
                <a:solidFill>
                  <a:schemeClr val="bg2"/>
                </a:solidFill>
              </a:rPr>
              <a:t>: IPT, SDA, SCD, PF, AI, OOP-Theory &amp; Lab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r>
              <a:rPr lang="en-US" b="1" dirty="0">
                <a:solidFill>
                  <a:schemeClr val="bg2"/>
                </a:solidFill>
              </a:rPr>
              <a:t>Hobbies: </a:t>
            </a:r>
            <a:r>
              <a:rPr lang="en-US" dirty="0">
                <a:solidFill>
                  <a:schemeClr val="bg2"/>
                </a:solidFill>
              </a:rPr>
              <a:t>Yup. It’s all games…</a:t>
            </a:r>
          </a:p>
        </p:txBody>
      </p:sp>
      <p:pic>
        <p:nvPicPr>
          <p:cNvPr id="1026" name="Picture 2" descr="Hello Wave GIF - Hello Wave Cute - Discover &amp; Share GIFs | Video vui nhộn  hài hước,">
            <a:extLst>
              <a:ext uri="{FF2B5EF4-FFF2-40B4-BE49-F238E27FC236}">
                <a16:creationId xmlns:a16="http://schemas.microsoft.com/office/drawing/2014/main" id="{FE31DEA3-AA40-0653-01FD-0987140E1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9726" y="3765726"/>
            <a:ext cx="3092274" cy="309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Baldur's Gate 3 - Wikipedia">
            <a:extLst>
              <a:ext uri="{FF2B5EF4-FFF2-40B4-BE49-F238E27FC236}">
                <a16:creationId xmlns:a16="http://schemas.microsoft.com/office/drawing/2014/main" id="{F027D2DB-2E96-2707-1A8B-21C51CA1A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527" y="5531056"/>
            <a:ext cx="798097" cy="112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Elden Ring - Wikipedia">
            <a:extLst>
              <a:ext uri="{FF2B5EF4-FFF2-40B4-BE49-F238E27FC236}">
                <a16:creationId xmlns:a16="http://schemas.microsoft.com/office/drawing/2014/main" id="{6D0BA9AA-05A7-48A8-2893-FB021CEF7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168" y="5531056"/>
            <a:ext cx="837410" cy="112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Fate/Samurai Remnant - Wikipedia">
            <a:extLst>
              <a:ext uri="{FF2B5EF4-FFF2-40B4-BE49-F238E27FC236}">
                <a16:creationId xmlns:a16="http://schemas.microsoft.com/office/drawing/2014/main" id="{730E28B7-9613-E3FF-334B-0A3C1C1C3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220" y="5531054"/>
            <a:ext cx="754927" cy="1132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Fate/Grand Order (English) - Apps on ...">
            <a:extLst>
              <a:ext uri="{FF2B5EF4-FFF2-40B4-BE49-F238E27FC236}">
                <a16:creationId xmlns:a16="http://schemas.microsoft.com/office/drawing/2014/main" id="{34F151A6-AEC0-2074-9A09-343730ED00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6" r="4225"/>
          <a:stretch/>
        </p:blipFill>
        <p:spPr bwMode="auto">
          <a:xfrm>
            <a:off x="7483147" y="5531054"/>
            <a:ext cx="1042987" cy="112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Honkai: Star Rail – PS5 Games | PlayStation (US)">
            <a:extLst>
              <a:ext uri="{FF2B5EF4-FFF2-40B4-BE49-F238E27FC236}">
                <a16:creationId xmlns:a16="http://schemas.microsoft.com/office/drawing/2014/main" id="{A4CB749A-626A-1CC4-666C-F3DBAF65B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5" r="4534"/>
          <a:stretch/>
        </p:blipFill>
        <p:spPr bwMode="auto">
          <a:xfrm>
            <a:off x="4092145" y="5531056"/>
            <a:ext cx="991642" cy="1132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6" descr="Genshin Impact | Download and Play for Free - Epic Games Store">
            <a:extLst>
              <a:ext uri="{FF2B5EF4-FFF2-40B4-BE49-F238E27FC236}">
                <a16:creationId xmlns:a16="http://schemas.microsoft.com/office/drawing/2014/main" id="{C3A086EF-B174-BD78-5FF9-F58084B03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298" y="5531056"/>
            <a:ext cx="849294" cy="1132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8" descr="Civilization VI - Wikipedia">
            <a:extLst>
              <a:ext uri="{FF2B5EF4-FFF2-40B4-BE49-F238E27FC236}">
                <a16:creationId xmlns:a16="http://schemas.microsoft.com/office/drawing/2014/main" id="{2EBDB3E1-7F0C-E3F2-DC0C-18BBBFCA0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583" y="5531055"/>
            <a:ext cx="798096" cy="1132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Dark Souls Remastered - Standard Edition - STEAM">
            <a:extLst>
              <a:ext uri="{FF2B5EF4-FFF2-40B4-BE49-F238E27FC236}">
                <a16:creationId xmlns:a16="http://schemas.microsoft.com/office/drawing/2014/main" id="{E6D53870-40D4-6AEB-A072-8A1F620D0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624" y="5531054"/>
            <a:ext cx="798097" cy="112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07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0E97-B6A3-ADDB-DC90-CF64D229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Consultation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37808-6FCE-D560-1CBE-8EC4B1BE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Will share with you once the timetable is a bit more stable.</a:t>
            </a:r>
          </a:p>
          <a:p>
            <a:r>
              <a:rPr lang="en-US" dirty="0">
                <a:solidFill>
                  <a:schemeClr val="bg2"/>
                </a:solidFill>
              </a:rPr>
              <a:t>Faculty Offices opposite to CS Secretariat, Room # 8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b="1" u="sng" dirty="0">
                <a:solidFill>
                  <a:schemeClr val="bg2"/>
                </a:solidFill>
              </a:rPr>
              <a:t>Do email me before visiting!</a:t>
            </a:r>
          </a:p>
          <a:p>
            <a:r>
              <a:rPr lang="en-US" dirty="0">
                <a:solidFill>
                  <a:schemeClr val="bg2"/>
                </a:solidFill>
              </a:rPr>
              <a:t>Email: </a:t>
            </a:r>
            <a:r>
              <a:rPr lang="en-US" dirty="0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abeeha.sattar@nu.edu.pk</a:t>
            </a:r>
            <a:endParaRPr 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Cats Looking Surprised: Over 1,607 Royalty-Free Licensable Stock  Illustrations &amp; Drawings | Shutterstock">
            <a:extLst>
              <a:ext uri="{FF2B5EF4-FFF2-40B4-BE49-F238E27FC236}">
                <a16:creationId xmlns:a16="http://schemas.microsoft.com/office/drawing/2014/main" id="{7DCD02C6-D70F-9EE8-213C-4C96A6593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273344" y="2939344"/>
            <a:ext cx="3918656" cy="391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039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80B81-5A2B-FBB6-1AE5-BE04BB12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BCS-4D</a:t>
            </a:r>
          </a:p>
        </p:txBody>
      </p:sp>
      <p:pic>
        <p:nvPicPr>
          <p:cNvPr id="1026" name="Picture 2" descr="33,400+ Black Kitten Stock Illustrations, Royalty-Free Vector Graphics &amp;  Clip Art - iStock | Sleeping black kitten, Black kitten white background,  Black kitten studio">
            <a:extLst>
              <a:ext uri="{FF2B5EF4-FFF2-40B4-BE49-F238E27FC236}">
                <a16:creationId xmlns:a16="http://schemas.microsoft.com/office/drawing/2014/main" id="{43355417-0B09-A82F-8193-762ADABF73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55" b="9736"/>
          <a:stretch>
            <a:fillRect/>
          </a:stretch>
        </p:blipFill>
        <p:spPr bwMode="auto">
          <a:xfrm>
            <a:off x="9119306" y="4645378"/>
            <a:ext cx="3072694" cy="221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41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 Assignments 					10 %  (3+3+4)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 Quizzes				 			10 %  (3+3+4)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 Midterms (2) 					30 %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 Final 							50 %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/>
                </a:solidFill>
              </a:rPr>
              <a:t>See course outline for more details</a:t>
            </a:r>
          </a:p>
        </p:txBody>
      </p:sp>
    </p:spTree>
    <p:extLst>
      <p:ext uri="{BB962C8B-B14F-4D97-AF65-F5344CB8AC3E}">
        <p14:creationId xmlns:p14="http://schemas.microsoft.com/office/powerpoint/2010/main" val="3610528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&amp; Quizzes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There will be 3 assignments and 3 quizzes.</a:t>
            </a:r>
          </a:p>
          <a:p>
            <a:r>
              <a:rPr lang="en-US" dirty="0">
                <a:solidFill>
                  <a:schemeClr val="bg2"/>
                </a:solidFill>
              </a:rPr>
              <a:t>Quiz Schedule (tentative):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Q1 – Before Mid-1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Q2 – Before Mid-2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Q3 – Before Finals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Quizzes will be announced. There will be no retake of quizzes. </a:t>
            </a:r>
          </a:p>
          <a:p>
            <a:r>
              <a:rPr lang="en-US" dirty="0">
                <a:solidFill>
                  <a:schemeClr val="bg2"/>
                </a:solidFill>
              </a:rPr>
              <a:t>You may attempt the quiz with my other section if there is space, if they are on different days, and you can’t make it to yours.</a:t>
            </a:r>
          </a:p>
        </p:txBody>
      </p:sp>
    </p:spTree>
    <p:extLst>
      <p:ext uri="{BB962C8B-B14F-4D97-AF65-F5344CB8AC3E}">
        <p14:creationId xmlns:p14="http://schemas.microsoft.com/office/powerpoint/2010/main" val="781215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Assignments Policies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No late submissions--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A couple of minutes late is fine, but more than hour is not!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Will be graded from ½ of the total </a:t>
            </a:r>
            <a:r>
              <a:rPr lang="en-US" dirty="0" err="1">
                <a:solidFill>
                  <a:schemeClr val="bg2"/>
                </a:solidFill>
              </a:rPr>
              <a:t>wtg</a:t>
            </a:r>
            <a:r>
              <a:rPr lang="en-US" dirty="0">
                <a:solidFill>
                  <a:schemeClr val="bg2"/>
                </a:solidFill>
              </a:rPr>
              <a:t> instead.</a:t>
            </a:r>
          </a:p>
          <a:p>
            <a:r>
              <a:rPr lang="en-US" dirty="0">
                <a:solidFill>
                  <a:schemeClr val="bg2"/>
                </a:solidFill>
              </a:rPr>
              <a:t>No Plagiarism!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If spotted, will result in F (see course outline), </a:t>
            </a:r>
            <a:r>
              <a:rPr lang="en-US" strike="sngStrike" dirty="0">
                <a:solidFill>
                  <a:schemeClr val="bg2"/>
                </a:solidFill>
              </a:rPr>
              <a:t>so if you planning to copy, do it smartly</a:t>
            </a:r>
            <a:r>
              <a:rPr lang="en-US" dirty="0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2950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Classroom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Attendance: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Should have 80% attendance. 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Do not come to me for attendance related issues at the end of the semester. If I have marked it incorrectly, make sure to get it fixed on a weekly/bi-weekly basis.</a:t>
            </a:r>
          </a:p>
          <a:p>
            <a:r>
              <a:rPr lang="en-US" b="1" dirty="0">
                <a:solidFill>
                  <a:schemeClr val="bg2"/>
                </a:solidFill>
              </a:rPr>
              <a:t>Marks/Weightage: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Do not come to me for marks related issues at the end of the semester. All emails regarding “please give me X weightage” will be ignored.</a:t>
            </a:r>
          </a:p>
          <a:p>
            <a:r>
              <a:rPr lang="en-US" b="1" dirty="0">
                <a:solidFill>
                  <a:schemeClr val="bg2"/>
                </a:solidFill>
              </a:rPr>
              <a:t>Class Behavior: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Don’t be rude to me, I won’t be rude to you!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If you don’t get something, ask questions!! For the love of god!!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179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Book(s)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2"/>
                </a:solidFill>
              </a:rPr>
              <a:t>Course Book:</a:t>
            </a:r>
          </a:p>
          <a:p>
            <a:r>
              <a:rPr lang="en-US" dirty="0">
                <a:solidFill>
                  <a:schemeClr val="bg2"/>
                </a:solidFill>
              </a:rPr>
              <a:t>Artificial Intelligence – A Modern Approach (Fourth Edition) – Stuart Russell, Peter Norwig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/>
                </a:solidFill>
              </a:rPr>
              <a:t>Reference Book:</a:t>
            </a:r>
          </a:p>
          <a:p>
            <a:r>
              <a:rPr lang="en-US" dirty="0">
                <a:solidFill>
                  <a:schemeClr val="bg2"/>
                </a:solidFill>
              </a:rPr>
              <a:t>Artificial Intelligence – Kevin Knight, Elaine Rich, B. Nair </a:t>
            </a:r>
          </a:p>
        </p:txBody>
      </p:sp>
    </p:spTree>
    <p:extLst>
      <p:ext uri="{BB962C8B-B14F-4D97-AF65-F5344CB8AC3E}">
        <p14:creationId xmlns:p14="http://schemas.microsoft.com/office/powerpoint/2010/main" val="2834637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4D4D-5EA8-A8FE-A5D9-B359327E5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Might be Expecting Gen-AI…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EF39A-E784-25E9-CEF2-474544A6C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But no… It’s classical AI.</a:t>
            </a:r>
          </a:p>
          <a:p>
            <a:r>
              <a:rPr lang="en-US" dirty="0">
                <a:solidFill>
                  <a:schemeClr val="bg2"/>
                </a:solidFill>
              </a:rPr>
              <a:t>We’ll start from scratch and then move higher.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Gen-AI is offered later as an elective.</a:t>
            </a:r>
          </a:p>
          <a:p>
            <a:r>
              <a:rPr lang="en-US" dirty="0">
                <a:solidFill>
                  <a:schemeClr val="bg2"/>
                </a:solidFill>
              </a:rPr>
              <a:t>Here, we’ll be handling all the nitty gritty of AI, and the math!</a:t>
            </a:r>
          </a:p>
        </p:txBody>
      </p:sp>
    </p:spTree>
    <p:extLst>
      <p:ext uri="{BB962C8B-B14F-4D97-AF65-F5344CB8AC3E}">
        <p14:creationId xmlns:p14="http://schemas.microsoft.com/office/powerpoint/2010/main" val="2192962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5A48E6-BC00-0F18-CD49-9C102E550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CF8533A-88EC-9260-ED8E-7F39D0BC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4776313">
            <a:off x="9253820" y="5109750"/>
            <a:ext cx="555645" cy="521137"/>
          </a:xfrm>
        </p:spPr>
        <p:txBody>
          <a:bodyPr/>
          <a:lstStyle/>
          <a:p>
            <a:r>
              <a:rPr lang="en-US" sz="2400" dirty="0">
                <a:solidFill>
                  <a:schemeClr val="bg2"/>
                </a:solidFill>
              </a:rPr>
              <a:t>: )</a:t>
            </a:r>
          </a:p>
        </p:txBody>
      </p:sp>
    </p:spTree>
    <p:extLst>
      <p:ext uri="{BB962C8B-B14F-4D97-AF65-F5344CB8AC3E}">
        <p14:creationId xmlns:p14="http://schemas.microsoft.com/office/powerpoint/2010/main" val="4220851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PURPLEEEE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43AAB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415</TotalTime>
  <Words>521</Words>
  <Application>Microsoft Office PowerPoint</Application>
  <PresentationFormat>Widescreen</PresentationFormat>
  <Paragraphs>66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Century Gothic</vt:lpstr>
      <vt:lpstr>Wingdings</vt:lpstr>
      <vt:lpstr>Wingdings 2</vt:lpstr>
      <vt:lpstr>Quotable</vt:lpstr>
      <vt:lpstr>Artificial Intelligence</vt:lpstr>
      <vt:lpstr>Let’s Introduce Ourselves</vt:lpstr>
      <vt:lpstr>Consultation Hours</vt:lpstr>
      <vt:lpstr>About BCS-4D</vt:lpstr>
      <vt:lpstr>Grading Scheme</vt:lpstr>
      <vt:lpstr>Assignments &amp; Quizzes</vt:lpstr>
      <vt:lpstr>Assignments Policies</vt:lpstr>
      <vt:lpstr>Classroom Policies</vt:lpstr>
      <vt:lpstr>Reference Book(s)</vt:lpstr>
      <vt:lpstr>You Might be Expecting Gen-AI… 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abeeha.sattar13@outlook.com</dc:creator>
  <cp:lastModifiedBy>Abeeha Sattar</cp:lastModifiedBy>
  <cp:revision>172</cp:revision>
  <dcterms:created xsi:type="dcterms:W3CDTF">2023-01-26T02:43:51Z</dcterms:created>
  <dcterms:modified xsi:type="dcterms:W3CDTF">2026-01-27T06:45:55Z</dcterms:modified>
</cp:coreProperties>
</file>