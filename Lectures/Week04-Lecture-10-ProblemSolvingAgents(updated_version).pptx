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64" r:id="rId11"/>
    <p:sldId id="290" r:id="rId12"/>
    <p:sldId id="297" r:id="rId13"/>
    <p:sldId id="291" r:id="rId14"/>
    <p:sldId id="292" r:id="rId15"/>
    <p:sldId id="315" r:id="rId16"/>
    <p:sldId id="293" r:id="rId17"/>
    <p:sldId id="294" r:id="rId18"/>
    <p:sldId id="295" r:id="rId19"/>
    <p:sldId id="296" r:id="rId20"/>
    <p:sldId id="307" r:id="rId21"/>
    <p:sldId id="308" r:id="rId22"/>
    <p:sldId id="309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10" r:id="rId33"/>
    <p:sldId id="311" r:id="rId34"/>
    <p:sldId id="312" r:id="rId35"/>
    <p:sldId id="313" r:id="rId36"/>
    <p:sldId id="314" r:id="rId37"/>
    <p:sldId id="28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98" autoAdjust="0"/>
  </p:normalViewPr>
  <p:slideViewPr>
    <p:cSldViewPr snapToGrid="0">
      <p:cViewPr varScale="1">
        <p:scale>
          <a:sx n="86" d="100"/>
          <a:sy n="86" d="100"/>
        </p:scale>
        <p:origin x="15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43826-4C69-47EA-8898-45B824867DB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2ACA-593C-4267-A91D-71F7698EF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0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5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1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7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5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7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6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26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0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1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FC72E4F-7DFD-4C1A-A1A9-E4120F2AD69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1F68B03-EF67-4A02-9879-B0436ED069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4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cademy.com/resources/docs/ai/search-algorithms/a-star-search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nerd-for-tech/ai-search-algorithms-with-examples-54772c6d973a" TargetMode="External"/><Relationship Id="rId2" Type="http://schemas.openxmlformats.org/officeDocument/2006/relationships/hyperlink" Target="https://www.gatevidyalay.com/a-algorithm-a-algorithm-example-in-ai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cmu.edu/~motionplanning/lecture/Asearch_v8.pdf" TargetMode="External"/><Relationship Id="rId4" Type="http://schemas.openxmlformats.org/officeDocument/2006/relationships/hyperlink" Target="https://www.101computing.net/a-star-search-algorithm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0121-2090-C428-98C6-5A952B630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Solving Problems by 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E1F8C-E5DE-EC85-D5FE-365A58F48F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70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99AC-7CDB-0A93-163D-903F232A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Informed Search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F066-D43A-5C96-5DBC-9E48FD423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Heuristic Searches:</a:t>
            </a:r>
          </a:p>
          <a:p>
            <a:r>
              <a:rPr lang="en-US" b="1" dirty="0"/>
              <a:t>Greedy Best-First Search</a:t>
            </a:r>
          </a:p>
          <a:p>
            <a:r>
              <a:rPr lang="en-US" b="1" dirty="0"/>
              <a:t>A*</a:t>
            </a:r>
          </a:p>
        </p:txBody>
      </p:sp>
    </p:spTree>
    <p:extLst>
      <p:ext uri="{BB962C8B-B14F-4D97-AF65-F5344CB8AC3E}">
        <p14:creationId xmlns:p14="http://schemas.microsoft.com/office/powerpoint/2010/main" val="177107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3719-48D8-033A-2870-F80EACE9B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FB55-A383-D9BA-4F18-1B218BE7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 search is a type of problem-solving algorithm that </a:t>
            </a:r>
            <a:r>
              <a:rPr lang="en-US" b="1" dirty="0"/>
              <a:t>uses</a:t>
            </a:r>
            <a:r>
              <a:rPr lang="en-US" dirty="0"/>
              <a:t> </a:t>
            </a:r>
            <a:r>
              <a:rPr lang="en-US" b="1" dirty="0"/>
              <a:t>heuristic</a:t>
            </a:r>
            <a:r>
              <a:rPr lang="en-US" dirty="0"/>
              <a:t> </a:t>
            </a:r>
            <a:r>
              <a:rPr lang="en-US" b="1" dirty="0"/>
              <a:t>functions</a:t>
            </a:r>
            <a:r>
              <a:rPr lang="en-US" dirty="0"/>
              <a:t> to </a:t>
            </a:r>
            <a:r>
              <a:rPr lang="en-US" b="1" dirty="0"/>
              <a:t>guide</a:t>
            </a:r>
            <a:r>
              <a:rPr lang="en-US" dirty="0"/>
              <a:t> the </a:t>
            </a:r>
            <a:r>
              <a:rPr lang="en-US" b="1" dirty="0"/>
              <a:t>exploration</a:t>
            </a:r>
            <a:r>
              <a:rPr lang="en-US" dirty="0"/>
              <a:t> of </a:t>
            </a:r>
            <a:r>
              <a:rPr lang="en-US" b="1" dirty="0"/>
              <a:t>possible</a:t>
            </a:r>
            <a:r>
              <a:rPr lang="en-US" dirty="0"/>
              <a:t> </a:t>
            </a:r>
            <a:r>
              <a:rPr lang="en-US" b="1" dirty="0"/>
              <a:t>solutions</a:t>
            </a:r>
            <a:r>
              <a:rPr lang="en-US" dirty="0"/>
              <a:t>. </a:t>
            </a:r>
          </a:p>
          <a:p>
            <a:r>
              <a:rPr lang="en-US" dirty="0"/>
              <a:t>A </a:t>
            </a:r>
            <a:r>
              <a:rPr lang="en-US" b="1" dirty="0"/>
              <a:t>heuristic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 is an </a:t>
            </a:r>
            <a:r>
              <a:rPr lang="en-US" b="1" dirty="0"/>
              <a:t>approximation</a:t>
            </a:r>
            <a:r>
              <a:rPr lang="en-US" dirty="0"/>
              <a:t> or </a:t>
            </a:r>
            <a:r>
              <a:rPr lang="en-US" b="1" dirty="0"/>
              <a:t>estimation</a:t>
            </a:r>
            <a:r>
              <a:rPr lang="en-US" dirty="0"/>
              <a:t> used as a way </a:t>
            </a:r>
            <a:r>
              <a:rPr lang="en-US" b="1" dirty="0"/>
              <a:t>to find better, more efficient solutions</a:t>
            </a:r>
            <a:r>
              <a:rPr lang="en-US" dirty="0"/>
              <a:t> than exhaustive searches through all possible combinations.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3"/>
                </a:solidFill>
              </a:rPr>
              <a:t>It significantly reduces computing power needed for complex problems by quickly focusing on promising areas within search spaces</a:t>
            </a:r>
          </a:p>
        </p:txBody>
      </p:sp>
    </p:spTree>
    <p:extLst>
      <p:ext uri="{BB962C8B-B14F-4D97-AF65-F5344CB8AC3E}">
        <p14:creationId xmlns:p14="http://schemas.microsoft.com/office/powerpoint/2010/main" val="130733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D0CF-3AD5-0090-3FD7-1FF94302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1D3D-553E-654B-309D-70034BD7D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heuristic is: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that estimates how close a state is to a goal</a:t>
            </a:r>
          </a:p>
          <a:p>
            <a:r>
              <a:rPr lang="en-US" dirty="0"/>
              <a:t>Designed for a particular search problem</a:t>
            </a:r>
          </a:p>
          <a:p>
            <a:r>
              <a:rPr lang="en-US" b="1" dirty="0"/>
              <a:t>Examples</a:t>
            </a:r>
            <a:r>
              <a:rPr lang="en-US" dirty="0"/>
              <a:t>: Manhattan distance, Euclidean distance for pathing, etc.</a:t>
            </a:r>
          </a:p>
        </p:txBody>
      </p:sp>
    </p:spTree>
    <p:extLst>
      <p:ext uri="{BB962C8B-B14F-4D97-AF65-F5344CB8AC3E}">
        <p14:creationId xmlns:p14="http://schemas.microsoft.com/office/powerpoint/2010/main" val="847559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99EB-0C86-14FB-85E7-491825D0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navigate this?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6EB8AF-3A20-A03E-AACF-273E255C9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315166"/>
              </p:ext>
            </p:extLst>
          </p:nvPr>
        </p:nvGraphicFramePr>
        <p:xfrm>
          <a:off x="828310" y="1959023"/>
          <a:ext cx="10553688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737">
                  <a:extLst>
                    <a:ext uri="{9D8B030D-6E8A-4147-A177-3AD203B41FA5}">
                      <a16:colId xmlns:a16="http://schemas.microsoft.com/office/drawing/2014/main" val="340055573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243550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569116018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58120038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87761249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4700392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15912334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77363626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60988066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4224935700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4384489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12384547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03688759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92187672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616389350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5065889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1082721694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339128704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309583205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81667689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863796447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3300835411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429999129"/>
                    </a:ext>
                  </a:extLst>
                </a:gridCol>
                <a:gridCol w="439737">
                  <a:extLst>
                    <a:ext uri="{9D8B030D-6E8A-4147-A177-3AD203B41FA5}">
                      <a16:colId xmlns:a16="http://schemas.microsoft.com/office/drawing/2014/main" val="2550124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3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589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2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2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0,7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7,11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0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2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86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51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5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4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2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0,0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0,11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97579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B40EE7A7-B6FC-249B-99FA-575B72193EA7}"/>
              </a:ext>
            </a:extLst>
          </p:cNvPr>
          <p:cNvSpPr/>
          <p:nvPr/>
        </p:nvSpPr>
        <p:spPr>
          <a:xfrm>
            <a:off x="375103" y="6434255"/>
            <a:ext cx="434897" cy="34568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1A5198-27A4-A81D-A69F-FCAA757F181D}"/>
              </a:ext>
            </a:extLst>
          </p:cNvPr>
          <p:cNvCxnSpPr/>
          <p:nvPr/>
        </p:nvCxnSpPr>
        <p:spPr>
          <a:xfrm flipV="1">
            <a:off x="1025912" y="3902927"/>
            <a:ext cx="0" cy="25313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6CF666-6E90-4D6D-F630-6084D35204F0}"/>
              </a:ext>
            </a:extLst>
          </p:cNvPr>
          <p:cNvCxnSpPr>
            <a:cxnSpLocks/>
          </p:cNvCxnSpPr>
          <p:nvPr/>
        </p:nvCxnSpPr>
        <p:spPr>
          <a:xfrm>
            <a:off x="1133707" y="3973678"/>
            <a:ext cx="45088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5F2C35-5AC5-87C5-1F89-8E31CC63FA34}"/>
              </a:ext>
            </a:extLst>
          </p:cNvPr>
          <p:cNvCxnSpPr>
            <a:cxnSpLocks/>
          </p:cNvCxnSpPr>
          <p:nvPr/>
        </p:nvCxnSpPr>
        <p:spPr>
          <a:xfrm flipV="1">
            <a:off x="1178312" y="4159405"/>
            <a:ext cx="4464205" cy="242725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7AEA05-BBBA-B802-D576-AA8B6D66456E}"/>
              </a:ext>
            </a:extLst>
          </p:cNvPr>
          <p:cNvSpPr txBox="1"/>
          <p:nvPr/>
        </p:nvSpPr>
        <p:spPr>
          <a:xfrm rot="19846126">
            <a:off x="1975453" y="5065351"/>
            <a:ext cx="2350038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Euclidean Distance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A27D7-59F0-ED9D-5C2C-A4222006F22B}"/>
              </a:ext>
            </a:extLst>
          </p:cNvPr>
          <p:cNvSpPr txBox="1"/>
          <p:nvPr/>
        </p:nvSpPr>
        <p:spPr>
          <a:xfrm rot="19846126">
            <a:off x="305493" y="4068581"/>
            <a:ext cx="25095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Manhattan Distance</a:t>
            </a:r>
          </a:p>
        </p:txBody>
      </p:sp>
    </p:spTree>
    <p:extLst>
      <p:ext uri="{BB962C8B-B14F-4D97-AF65-F5344CB8AC3E}">
        <p14:creationId xmlns:p14="http://schemas.microsoft.com/office/powerpoint/2010/main" val="124369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17F3-05EE-0D6F-26E2-35FF310A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04156-7C80-C13D-C637-91460DC85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greedy search, we expand the node closest to the goal node. The “closeness” is estimated by a heuristic h(x) .</a:t>
            </a:r>
          </a:p>
          <a:p>
            <a:endParaRPr lang="en-US" dirty="0"/>
          </a:p>
          <a:p>
            <a:r>
              <a:rPr lang="en-US" b="1" dirty="0"/>
              <a:t>Heuristic</a:t>
            </a:r>
            <a:r>
              <a:rPr lang="en-US" dirty="0"/>
              <a:t>: A heuristic h is defined as-</a:t>
            </a:r>
            <a:br>
              <a:rPr lang="en-US" dirty="0"/>
            </a:br>
            <a:r>
              <a:rPr lang="en-US" dirty="0"/>
              <a:t>h(x) = Estimate of distance of node x from the goal node.</a:t>
            </a:r>
            <a:br>
              <a:rPr lang="en-US" dirty="0"/>
            </a:br>
            <a:r>
              <a:rPr lang="en-US" dirty="0"/>
              <a:t>Lower the value of h(x), closer is the node from the goal.</a:t>
            </a:r>
          </a:p>
          <a:p>
            <a:endParaRPr lang="en-US" dirty="0"/>
          </a:p>
          <a:p>
            <a:r>
              <a:rPr lang="en-US" b="1" dirty="0"/>
              <a:t>Strategy</a:t>
            </a:r>
            <a:r>
              <a:rPr lang="en-US" dirty="0"/>
              <a:t>: Expand the node closest to the goal state, i.e. expand the node with lower h value.</a:t>
            </a:r>
          </a:p>
        </p:txBody>
      </p:sp>
    </p:spTree>
    <p:extLst>
      <p:ext uri="{BB962C8B-B14F-4D97-AF65-F5344CB8AC3E}">
        <p14:creationId xmlns:p14="http://schemas.microsoft.com/office/powerpoint/2010/main" val="1663084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3132-5444-C9DA-3D30-58E0A947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(S is start, G is goal)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4F8BF8-B414-3219-3AA7-50FB6B0BD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00" y="2427418"/>
            <a:ext cx="6447619" cy="36285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6CE5B8-AC9A-A70E-DB15-B1118A54E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194" y="1906858"/>
            <a:ext cx="4161905" cy="4848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62A1FD9-89A2-98FA-A686-0274DE0FE2E3}"/>
              </a:ext>
            </a:extLst>
          </p:cNvPr>
          <p:cNvSpPr/>
          <p:nvPr/>
        </p:nvSpPr>
        <p:spPr>
          <a:xfrm>
            <a:off x="8407381" y="622614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S -&gt; D -&gt; E -&gt; 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8CDE6-2F6F-06CD-BC3E-CB13A1D85C6F}"/>
              </a:ext>
            </a:extLst>
          </p:cNvPr>
          <p:cNvSpPr/>
          <p:nvPr/>
        </p:nvSpPr>
        <p:spPr>
          <a:xfrm>
            <a:off x="7639194" y="6226146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Roboto"/>
              </a:rPr>
              <a:t>Path: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5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3CF6-289D-99F7-5761-152BE10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Problem with Greedy Best First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7A4560-5117-B1F5-F7BB-70B8E38AA2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r="20803"/>
          <a:stretch>
            <a:fillRect/>
          </a:stretch>
        </p:blipFill>
        <p:spPr bwMode="auto">
          <a:xfrm>
            <a:off x="0" y="2343215"/>
            <a:ext cx="7259444" cy="451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EFDBDF-D56D-2E15-0441-EDB94167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58"/>
          <a:stretch>
            <a:fillRect/>
          </a:stretch>
        </p:blipFill>
        <p:spPr>
          <a:xfrm>
            <a:off x="6913756" y="1985480"/>
            <a:ext cx="5278244" cy="26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1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6B27-2A02-0502-E290-191D6ACAD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go wrong?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C441F2A-BDC2-6F01-164C-C7C35D2CB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02" y="1901022"/>
            <a:ext cx="8274459" cy="4956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CF7DBF-0BBC-262D-BDA4-F43DBE482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78" y="55760"/>
            <a:ext cx="1845262" cy="184526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A6AC6C5-8E4A-8555-1E86-E7C037DA3D01}"/>
              </a:ext>
            </a:extLst>
          </p:cNvPr>
          <p:cNvSpPr/>
          <p:nvPr/>
        </p:nvSpPr>
        <p:spPr>
          <a:xfrm>
            <a:off x="2893660" y="3086007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A65C1F-B18B-CF62-2270-702E9332B4F1}"/>
              </a:ext>
            </a:extLst>
          </p:cNvPr>
          <p:cNvSpPr/>
          <p:nvPr/>
        </p:nvSpPr>
        <p:spPr>
          <a:xfrm>
            <a:off x="5235419" y="4123069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3C8F8E-591A-E380-0EA8-944CF11362F1}"/>
              </a:ext>
            </a:extLst>
          </p:cNvPr>
          <p:cNvSpPr/>
          <p:nvPr/>
        </p:nvSpPr>
        <p:spPr>
          <a:xfrm>
            <a:off x="4544044" y="4691781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7CD558-C255-D7FF-E2C1-070718440948}"/>
              </a:ext>
            </a:extLst>
          </p:cNvPr>
          <p:cNvSpPr/>
          <p:nvPr/>
        </p:nvSpPr>
        <p:spPr>
          <a:xfrm>
            <a:off x="7763029" y="526792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FC8C1E-022C-6FA5-F6C0-C3139A1EDBBD}"/>
              </a:ext>
            </a:extLst>
          </p:cNvPr>
          <p:cNvSpPr/>
          <p:nvPr/>
        </p:nvSpPr>
        <p:spPr>
          <a:xfrm>
            <a:off x="7060503" y="5836640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1519A0-DE5E-7321-41F0-1D9F7D460EF9}"/>
              </a:ext>
            </a:extLst>
          </p:cNvPr>
          <p:cNvSpPr/>
          <p:nvPr/>
        </p:nvSpPr>
        <p:spPr>
          <a:xfrm>
            <a:off x="8052961" y="646110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51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65638" y="5332413"/>
            <a:ext cx="7726362" cy="1200150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+mn-lt"/>
              </a:rPr>
              <a:t>Greedy search leads to a minimal cost search because no node off the solution path is expanded. However, it does not find the optimal path: the path it found via Sibiu and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Fagaras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to Bucharest is 13 miles longer than the path through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Pimnicu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+mn-lt"/>
              </a:rPr>
              <a:t>Vilcea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and Pitesti.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15" y="325437"/>
            <a:ext cx="10444163" cy="4351337"/>
          </a:xfrm>
        </p:spPr>
      </p:pic>
      <p:sp>
        <p:nvSpPr>
          <p:cNvPr id="5" name="TextBox 4"/>
          <p:cNvSpPr txBox="1"/>
          <p:nvPr/>
        </p:nvSpPr>
        <p:spPr>
          <a:xfrm>
            <a:off x="965915" y="5254580"/>
            <a:ext cx="34901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Red Path (GBF)=431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00B050"/>
                </a:solidFill>
              </a:rPr>
              <a:t>Green Path (UCS)= 418</a:t>
            </a:r>
          </a:p>
        </p:txBody>
      </p:sp>
      <p:cxnSp>
        <p:nvCxnSpPr>
          <p:cNvPr id="7" name="Curved Connector 6"/>
          <p:cNvCxnSpPr/>
          <p:nvPr/>
        </p:nvCxnSpPr>
        <p:spPr>
          <a:xfrm>
            <a:off x="1610591" y="1563188"/>
            <a:ext cx="4682007" cy="2150772"/>
          </a:xfrm>
          <a:prstGeom prst="curvedConnector3">
            <a:avLst>
              <a:gd name="adj1" fmla="val 79158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1681897" y="1619543"/>
            <a:ext cx="4566097" cy="2167642"/>
          </a:xfrm>
          <a:prstGeom prst="curvedConnector3">
            <a:avLst>
              <a:gd name="adj1" fmla="val 45487"/>
            </a:avLst>
          </a:prstGeom>
          <a:ln w="28575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35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BE11-E5E3-AE38-964A-8D52563D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73AC4-2DC6-4482-A7C2-0F17B99E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188525"/>
          </a:xfrm>
        </p:spPr>
        <p:txBody>
          <a:bodyPr>
            <a:normAutofit/>
          </a:bodyPr>
          <a:lstStyle/>
          <a:p>
            <a:r>
              <a:rPr lang="en-US" dirty="0"/>
              <a:t>A* Search, combines the strengths of </a:t>
            </a:r>
            <a:r>
              <a:rPr lang="en-US" b="1" dirty="0">
                <a:solidFill>
                  <a:schemeClr val="accent3"/>
                </a:solidFill>
              </a:rPr>
              <a:t>uniform-cost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search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3"/>
                </a:solidFill>
              </a:rPr>
              <a:t>greedy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search</a:t>
            </a:r>
            <a:r>
              <a:rPr lang="en-US" dirty="0"/>
              <a:t>. In this search, the heuristic is the </a:t>
            </a:r>
            <a:r>
              <a:rPr lang="en-US" b="1" dirty="0"/>
              <a:t>summation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the </a:t>
            </a:r>
            <a:r>
              <a:rPr lang="en-US" b="1" dirty="0"/>
              <a:t>cost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UCS</a:t>
            </a:r>
            <a:r>
              <a:rPr lang="en-US" dirty="0"/>
              <a:t>, denoted by g(x), and the </a:t>
            </a:r>
            <a:r>
              <a:rPr lang="en-US" b="1" dirty="0"/>
              <a:t>cost</a:t>
            </a:r>
            <a:r>
              <a:rPr lang="en-US" dirty="0"/>
              <a:t> </a:t>
            </a:r>
            <a:r>
              <a:rPr lang="en-US" b="1" dirty="0"/>
              <a:t>in</a:t>
            </a:r>
            <a:r>
              <a:rPr lang="en-US" dirty="0"/>
              <a:t> </a:t>
            </a:r>
            <a:r>
              <a:rPr lang="en-US" b="1" dirty="0"/>
              <a:t>greedy</a:t>
            </a:r>
            <a:r>
              <a:rPr lang="en-US" dirty="0"/>
              <a:t> </a:t>
            </a:r>
            <a:r>
              <a:rPr lang="en-US" b="1" dirty="0"/>
              <a:t>search</a:t>
            </a:r>
            <a:r>
              <a:rPr lang="en-US" dirty="0"/>
              <a:t>, denoted by h(x). The summed cost is denoted by f(x).</a:t>
            </a:r>
          </a:p>
          <a:p>
            <a:pPr lvl="1"/>
            <a:r>
              <a:rPr lang="en-US" b="1" dirty="0"/>
              <a:t>Heuristic</a:t>
            </a:r>
            <a:r>
              <a:rPr lang="en-US" dirty="0"/>
              <a:t>: The following points should be noted w.r.t heuristics in A* search.</a:t>
            </a:r>
          </a:p>
          <a:p>
            <a:pPr lvl="1"/>
            <a:r>
              <a:rPr lang="en-US" dirty="0"/>
              <a:t>A* Search orders by the sum: </a:t>
            </a:r>
            <a:r>
              <a:rPr lang="en-US" b="1" dirty="0"/>
              <a:t>f(x) = g(x) + h(x)</a:t>
            </a:r>
          </a:p>
          <a:p>
            <a:endParaRPr lang="en-US" dirty="0"/>
          </a:p>
          <a:p>
            <a:r>
              <a:rPr lang="en-US" b="1" dirty="0"/>
              <a:t>Uniform-cost</a:t>
            </a:r>
            <a:r>
              <a:rPr lang="en-US" dirty="0"/>
              <a:t> orders by </a:t>
            </a:r>
            <a:r>
              <a:rPr lang="en-US" b="1" dirty="0">
                <a:solidFill>
                  <a:schemeClr val="accent3"/>
                </a:solidFill>
              </a:rPr>
              <a:t>path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cost</a:t>
            </a:r>
            <a:r>
              <a:rPr lang="en-US" dirty="0"/>
              <a:t>, or backward cost  </a:t>
            </a:r>
            <a:r>
              <a:rPr lang="en-US" b="1" dirty="0"/>
              <a:t>g(x)</a:t>
            </a:r>
          </a:p>
          <a:p>
            <a:r>
              <a:rPr lang="en-US" b="1" dirty="0"/>
              <a:t>Greedy</a:t>
            </a:r>
            <a:r>
              <a:rPr lang="en-US" dirty="0"/>
              <a:t> orders by </a:t>
            </a:r>
            <a:r>
              <a:rPr lang="en-US" b="1" dirty="0">
                <a:solidFill>
                  <a:schemeClr val="accent3"/>
                </a:solidFill>
              </a:rPr>
              <a:t>goal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proximity</a:t>
            </a:r>
            <a:r>
              <a:rPr lang="en-US" dirty="0"/>
              <a:t>, or forward cost  </a:t>
            </a:r>
            <a:r>
              <a:rPr lang="en-US" b="1" dirty="0"/>
              <a:t>h(x)</a:t>
            </a:r>
          </a:p>
        </p:txBody>
      </p:sp>
    </p:spTree>
    <p:extLst>
      <p:ext uri="{BB962C8B-B14F-4D97-AF65-F5344CB8AC3E}">
        <p14:creationId xmlns:p14="http://schemas.microsoft.com/office/powerpoint/2010/main" val="2771619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E3AA0-34C4-96FF-8DDE-DE3955CD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A* Search to this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ED499D5-0824-FE70-E342-DF20271F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20803"/>
          <a:stretch>
            <a:fillRect/>
          </a:stretch>
        </p:blipFill>
        <p:spPr bwMode="auto">
          <a:xfrm>
            <a:off x="0" y="2343215"/>
            <a:ext cx="7259444" cy="4514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65C757-E96B-05C2-4D5E-D8084926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58"/>
          <a:stretch>
            <a:fillRect/>
          </a:stretch>
        </p:blipFill>
        <p:spPr>
          <a:xfrm>
            <a:off x="6913756" y="1985480"/>
            <a:ext cx="5278244" cy="26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1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81AD-E00C-59FE-964A-3FCF6A97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– Solution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1645D3-AFB1-7184-CD34-9C5E9C1C5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594" y="1902131"/>
            <a:ext cx="9887404" cy="495586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4507508-9452-8263-D6FA-D3666F3AD5BD}"/>
              </a:ext>
            </a:extLst>
          </p:cNvPr>
          <p:cNvSpPr/>
          <p:nvPr/>
        </p:nvSpPr>
        <p:spPr>
          <a:xfrm>
            <a:off x="2202288" y="2829528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0580E0-6431-AF09-3E5D-FE7B08383F7E}"/>
              </a:ext>
            </a:extLst>
          </p:cNvPr>
          <p:cNvSpPr/>
          <p:nvPr/>
        </p:nvSpPr>
        <p:spPr>
          <a:xfrm>
            <a:off x="6964788" y="4297022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2CBE04-FCE3-E856-6C89-3871E51131CE}"/>
              </a:ext>
            </a:extLst>
          </p:cNvPr>
          <p:cNvSpPr/>
          <p:nvPr/>
        </p:nvSpPr>
        <p:spPr>
          <a:xfrm>
            <a:off x="9614132" y="6283165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90C038-808D-BAA8-D87A-1D7CBE915F20}"/>
              </a:ext>
            </a:extLst>
          </p:cNvPr>
          <p:cNvSpPr/>
          <p:nvPr/>
        </p:nvSpPr>
        <p:spPr>
          <a:xfrm>
            <a:off x="5298610" y="3717909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9216A1-5143-7178-9E04-C1798802D0D4}"/>
              </a:ext>
            </a:extLst>
          </p:cNvPr>
          <p:cNvSpPr/>
          <p:nvPr/>
        </p:nvSpPr>
        <p:spPr>
          <a:xfrm>
            <a:off x="7517703" y="5067206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73FE0D-E31D-5AD7-2C9F-2D9CFEC42BE6}"/>
              </a:ext>
            </a:extLst>
          </p:cNvPr>
          <p:cNvSpPr/>
          <p:nvPr/>
        </p:nvSpPr>
        <p:spPr>
          <a:xfrm>
            <a:off x="9190386" y="5658221"/>
            <a:ext cx="167425" cy="16608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6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4BCB-0A53-BA85-7A7B-1CF5DF1D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659062"/>
            <a:ext cx="10571998" cy="970450"/>
          </a:xfrm>
          <a:effectLst>
            <a:glow rad="228600">
              <a:schemeClr val="accent3">
                <a:satMod val="175000"/>
                <a:alpha val="40000"/>
              </a:schemeClr>
            </a:glow>
            <a:outerShdw blurRad="50800" dir="14400000">
              <a:srgbClr val="000000">
                <a:alpha val="60000"/>
              </a:srgbClr>
            </a:outerShdw>
          </a:effectLst>
        </p:spPr>
        <p:txBody>
          <a:bodyPr/>
          <a:lstStyle/>
          <a:p>
            <a:r>
              <a:rPr lang="en-US" dirty="0"/>
              <a:t>Admissible Heuristics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</a:rPr>
              <a:t>(Self-Study: 3.5.2, 3.5.3, 3.5.4)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C0A48-3618-CF68-484B-C58A81492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heuristic h is admissible (optimistic) if:</a:t>
            </a:r>
          </a:p>
          <a:p>
            <a:pPr marL="0" indent="0">
              <a:buNone/>
            </a:pPr>
            <a:r>
              <a:rPr lang="en-US" dirty="0"/>
              <a:t>							</a:t>
            </a:r>
            <a:r>
              <a:rPr lang="en-US" sz="2800" b="1" dirty="0">
                <a:solidFill>
                  <a:schemeClr val="accent3"/>
                </a:solidFill>
              </a:rPr>
              <a:t>0  ≤  h(n)  ≤  h*(n)</a:t>
            </a:r>
            <a:endParaRPr lang="en-US" dirty="0"/>
          </a:p>
          <a:p>
            <a:r>
              <a:rPr lang="en-US" dirty="0"/>
              <a:t>	where h*(n) is the true cost to a nearest goal.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Self Study: </a:t>
            </a:r>
            <a:r>
              <a:rPr lang="en-US" dirty="0"/>
              <a:t>Read more on </a:t>
            </a:r>
            <a:r>
              <a:rPr lang="en-US" b="1" dirty="0"/>
              <a:t>Admissible</a:t>
            </a:r>
            <a:r>
              <a:rPr lang="en-US" dirty="0"/>
              <a:t> and </a:t>
            </a:r>
            <a:r>
              <a:rPr lang="en-US" b="1" dirty="0"/>
              <a:t>Consistent</a:t>
            </a:r>
            <a:r>
              <a:rPr lang="en-US" dirty="0"/>
              <a:t> </a:t>
            </a:r>
            <a:r>
              <a:rPr lang="en-US" b="1" dirty="0"/>
              <a:t>Heuristics</a:t>
            </a:r>
            <a:r>
              <a:rPr lang="en-US" dirty="0"/>
              <a:t> (bonus bits: read about the triangle equality part as well) </a:t>
            </a:r>
          </a:p>
          <a:p>
            <a:r>
              <a:rPr lang="en-US" b="1" dirty="0">
                <a:solidFill>
                  <a:srgbClr val="FF0000"/>
                </a:solidFill>
              </a:rPr>
              <a:t>Self Study: </a:t>
            </a:r>
            <a:r>
              <a:rPr lang="en-US" dirty="0"/>
              <a:t>Read about </a:t>
            </a:r>
            <a:r>
              <a:rPr lang="en-US" b="1" dirty="0"/>
              <a:t>Inadmissible</a:t>
            </a:r>
            <a:r>
              <a:rPr lang="en-US" dirty="0"/>
              <a:t> </a:t>
            </a:r>
            <a:r>
              <a:rPr lang="en-US" b="1" dirty="0"/>
              <a:t>Heuristics</a:t>
            </a:r>
            <a:r>
              <a:rPr lang="en-US" dirty="0"/>
              <a:t> and </a:t>
            </a:r>
            <a:r>
              <a:rPr lang="en-US" b="1" dirty="0"/>
              <a:t>Weighted</a:t>
            </a:r>
            <a:r>
              <a:rPr lang="en-US" dirty="0"/>
              <a:t> </a:t>
            </a:r>
            <a:r>
              <a:rPr lang="en-US" b="1" dirty="0"/>
              <a:t>A*</a:t>
            </a:r>
          </a:p>
        </p:txBody>
      </p:sp>
    </p:spTree>
    <p:extLst>
      <p:ext uri="{BB962C8B-B14F-4D97-AF65-F5344CB8AC3E}">
        <p14:creationId xmlns:p14="http://schemas.microsoft.com/office/powerpoint/2010/main" val="287078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A687-0305-A829-3606-B0317678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A*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4A7E-565F-6D46-454F-8295C08BC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exactly like A*, but the formula is a little modified:</a:t>
            </a:r>
          </a:p>
          <a:p>
            <a:pPr marL="0" indent="0">
              <a:buNone/>
            </a:pPr>
            <a:r>
              <a:rPr lang="en-US" b="1" dirty="0"/>
              <a:t>				f(x) = g(x) + </a:t>
            </a:r>
            <a:r>
              <a:rPr lang="en-US" b="1" dirty="0" err="1"/>
              <a:t>w.h</a:t>
            </a:r>
            <a:r>
              <a:rPr lang="en-US" b="1" dirty="0"/>
              <a:t>(x), where w is a weight &gt; 1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By </a:t>
            </a:r>
            <a:r>
              <a:rPr lang="en-US" b="1" dirty="0">
                <a:solidFill>
                  <a:schemeClr val="accent3"/>
                </a:solidFill>
              </a:rPr>
              <a:t>increasing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w</a:t>
            </a:r>
            <a:r>
              <a:rPr lang="en-US" dirty="0"/>
              <a:t>, the algorithm </a:t>
            </a:r>
            <a:r>
              <a:rPr lang="en-US" b="1" dirty="0">
                <a:solidFill>
                  <a:schemeClr val="accent3"/>
                </a:solidFill>
              </a:rPr>
              <a:t>places more emphasis on the heuristic estimate (h)</a:t>
            </a:r>
            <a:r>
              <a:rPr lang="en-US" dirty="0"/>
              <a:t>, which makes it search more directly toward the target, often resulting in </a:t>
            </a:r>
            <a:r>
              <a:rPr lang="en-US" b="1" dirty="0"/>
              <a:t>faster</a:t>
            </a:r>
            <a:r>
              <a:rPr lang="en-US" dirty="0"/>
              <a:t> </a:t>
            </a:r>
            <a:r>
              <a:rPr lang="en-US" b="1" dirty="0"/>
              <a:t>execution</a:t>
            </a:r>
            <a:r>
              <a:rPr lang="en-US" dirty="0"/>
              <a:t> </a:t>
            </a:r>
            <a:r>
              <a:rPr lang="en-US" b="1" dirty="0"/>
              <a:t>times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208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60896-A921-63B2-EBCE-23BA780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for Practice (Solve using A*)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9CA379-81EC-A510-D944-223ECC06B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852" y="2222500"/>
            <a:ext cx="6318295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11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3CD9-F214-E842-0135-8B88FF9E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Solution.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5040D5-D26A-B179-8BCD-D4EFF04203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293" y="1814296"/>
            <a:ext cx="8829412" cy="53029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BE0EEEA-B41B-30BE-D081-DBC592239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17" y="6304002"/>
            <a:ext cx="415940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Path: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 -&gt; D -&gt; B -&gt; C -&gt; E -&gt; 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Cost: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06728-A634-42DA-3C13-0EC3369D73AE}"/>
              </a:ext>
            </a:extLst>
          </p:cNvPr>
          <p:cNvSpPr txBox="1"/>
          <p:nvPr/>
        </p:nvSpPr>
        <p:spPr>
          <a:xfrm>
            <a:off x="7753350" y="4041775"/>
            <a:ext cx="127000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24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49F564-C4B1-179A-6C72-E65F84B36F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520067" y="0"/>
            <a:ext cx="5151863" cy="6184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23E98-EE86-0A31-7978-B46DA4796769}"/>
              </a:ext>
            </a:extLst>
          </p:cNvPr>
          <p:cNvSpPr txBox="1"/>
          <p:nvPr/>
        </p:nvSpPr>
        <p:spPr>
          <a:xfrm>
            <a:off x="1115120" y="6202048"/>
            <a:ext cx="9961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https://www.codecademy.com/resources/docs/ai/search-algorithms/a-star-search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184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BFB8-8F0B-9557-A2AC-4E40AB81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Websites with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CCA5-6861-FDE8-46B2-EA26F2E5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https://www.gatevidyalay.com/a-algorithm-a-algorithm-example-in-ai/</a:t>
            </a:r>
            <a:endParaRPr lang="en-US" dirty="0"/>
          </a:p>
          <a:p>
            <a:r>
              <a:rPr lang="en-US" dirty="0">
                <a:hlinkClick r:id="rId3"/>
              </a:rPr>
              <a:t>https://medium.com/nerd-for-tech/ai-search-algorithms-with-examples-54772c6d973a</a:t>
            </a:r>
            <a:endParaRPr lang="en-US" dirty="0"/>
          </a:p>
          <a:p>
            <a:r>
              <a:rPr lang="en-US" dirty="0">
                <a:hlinkClick r:id="rId4"/>
              </a:rPr>
              <a:t>https://www.101computing.net/a-star-search-algorithm/</a:t>
            </a:r>
            <a:endParaRPr lang="en-US" dirty="0"/>
          </a:p>
          <a:p>
            <a:r>
              <a:rPr lang="en-US" dirty="0">
                <a:hlinkClick r:id="rId5"/>
              </a:rPr>
              <a:t>https://www.cs.cmu.edu/~motionplanning/lecture/Asearch_v8.pdf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9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B380-59BC-9F5D-50A3-4514C4DF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of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6CDA-88AE-79E9-7786-5490EC385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78" y="1960411"/>
            <a:ext cx="11559142" cy="2937178"/>
          </a:xfrm>
        </p:spPr>
        <p:txBody>
          <a:bodyPr/>
          <a:lstStyle/>
          <a:p>
            <a:r>
              <a:rPr lang="en-US" dirty="0"/>
              <a:t>Recall that f(n) = g(n) + h(n)</a:t>
            </a:r>
          </a:p>
          <a:p>
            <a:r>
              <a:rPr lang="en-US" dirty="0"/>
              <a:t>Now, suppose some suboptimal goal G2 has been generated and is in the frontier. </a:t>
            </a:r>
          </a:p>
          <a:p>
            <a:r>
              <a:rPr lang="en-US" dirty="0"/>
              <a:t>Let n be an unexpanded node in the frontier such that n is on a shortest path to an optimal goal G.</a:t>
            </a:r>
          </a:p>
          <a:p>
            <a:r>
              <a:rPr lang="en-US" dirty="0"/>
              <a:t>We want to prove:</a:t>
            </a:r>
          </a:p>
          <a:p>
            <a:pPr lvl="1"/>
            <a:r>
              <a:rPr lang="en-US" dirty="0"/>
              <a:t>f(n) &lt; f(G2) (then A* will prefer n over G2)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81CFE-28F0-0D88-F19F-167A9F08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198" y="3763537"/>
            <a:ext cx="3126060" cy="193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31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D546-A6E4-2CB3-1189-1D702E04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of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BBE21-E8B7-3BC3-D698-6A0C4D7D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118732"/>
            <a:ext cx="10554574" cy="4527395"/>
          </a:xfrm>
        </p:spPr>
        <p:txBody>
          <a:bodyPr>
            <a:normAutofit/>
          </a:bodyPr>
          <a:lstStyle/>
          <a:p>
            <a:r>
              <a:rPr lang="en-US" b="1" dirty="0"/>
              <a:t>f(G2) = g(G2) 		</a:t>
            </a:r>
            <a:r>
              <a:rPr lang="en-US" b="1" dirty="0">
                <a:solidFill>
                  <a:schemeClr val="accent3"/>
                </a:solidFill>
              </a:rPr>
              <a:t>since h(G2) = 0</a:t>
            </a:r>
          </a:p>
          <a:p>
            <a:r>
              <a:rPr lang="en-US" b="1" dirty="0"/>
              <a:t>g(G2) &gt; g(G) 		</a:t>
            </a:r>
            <a:r>
              <a:rPr lang="en-US" b="1" dirty="0">
                <a:solidFill>
                  <a:schemeClr val="accent3"/>
                </a:solidFill>
              </a:rPr>
              <a:t>since G2 is suboptimal</a:t>
            </a:r>
          </a:p>
          <a:p>
            <a:r>
              <a:rPr lang="en-US" b="1" dirty="0"/>
              <a:t>f(G) = g(G) 			</a:t>
            </a:r>
            <a:r>
              <a:rPr lang="en-US" b="1" dirty="0">
                <a:solidFill>
                  <a:schemeClr val="accent3"/>
                </a:solidFill>
              </a:rPr>
              <a:t>since h(G) = 0</a:t>
            </a:r>
          </a:p>
          <a:p>
            <a:r>
              <a:rPr lang="en-US" b="1" dirty="0"/>
              <a:t>Then f(G2) &gt; f(G) 		</a:t>
            </a:r>
            <a:r>
              <a:rPr lang="en-US" b="1" dirty="0">
                <a:solidFill>
                  <a:schemeClr val="accent3"/>
                </a:solidFill>
              </a:rPr>
              <a:t>from above</a:t>
            </a:r>
          </a:p>
          <a:p>
            <a:endParaRPr lang="en-US" dirty="0"/>
          </a:p>
          <a:p>
            <a:r>
              <a:rPr lang="en-US" dirty="0"/>
              <a:t>h(n) ≤ h*(n) 			since h is admissible</a:t>
            </a:r>
          </a:p>
          <a:p>
            <a:r>
              <a:rPr lang="en-US" dirty="0"/>
              <a:t>g(n) + h(n) ≤ g(n) + h*(n)</a:t>
            </a:r>
          </a:p>
          <a:p>
            <a:endParaRPr lang="en-US" dirty="0"/>
          </a:p>
          <a:p>
            <a:r>
              <a:rPr lang="en-US" dirty="0"/>
              <a:t>Then f(n) ≤ f(G)</a:t>
            </a:r>
          </a:p>
          <a:p>
            <a:endParaRPr lang="en-US" dirty="0"/>
          </a:p>
          <a:p>
            <a:r>
              <a:rPr lang="en-US" dirty="0"/>
              <a:t>Thus, A* will never select G2 for expansion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6924F-79C1-83AF-6E74-FEA735EB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226" y="2118732"/>
            <a:ext cx="3126060" cy="193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18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D10F-0FD1-79D5-773D-C23B3A37C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Optimality of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CE90-4C0B-5FD6-B60A-4F4E6D963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other words:</a:t>
            </a:r>
          </a:p>
          <a:p>
            <a:pPr lvl="1"/>
            <a:r>
              <a:rPr lang="en-US" sz="1800" b="1" dirty="0"/>
              <a:t>f(G2) = g(G2) + h(G2) = g(G2) &gt; C*</a:t>
            </a:r>
            <a:r>
              <a:rPr lang="en-US" sz="1800" dirty="0"/>
              <a:t>, since G2 </a:t>
            </a:r>
            <a:br>
              <a:rPr lang="en-US" sz="1800" dirty="0"/>
            </a:br>
            <a:r>
              <a:rPr lang="en-US" sz="1800" dirty="0"/>
              <a:t>is a goal on a non-optimal path (C* is the optimal cost)</a:t>
            </a:r>
          </a:p>
          <a:p>
            <a:pPr lvl="1"/>
            <a:r>
              <a:rPr lang="en-US" sz="1800" b="1" dirty="0"/>
              <a:t>f(n) = g(n) + h(n) ≤ C*</a:t>
            </a:r>
            <a:r>
              <a:rPr lang="en-US" sz="1800" dirty="0"/>
              <a:t>, since h is admissible</a:t>
            </a:r>
          </a:p>
          <a:p>
            <a:pPr lvl="1"/>
            <a:r>
              <a:rPr lang="en-US" sz="1800" b="1" dirty="0"/>
              <a:t>f(n) ≤ C* &lt; f(G2), </a:t>
            </a:r>
            <a:r>
              <a:rPr lang="en-US" sz="1800" dirty="0"/>
              <a:t>so G2 will never be expanded</a:t>
            </a:r>
          </a:p>
          <a:p>
            <a:pPr lvl="1"/>
            <a:r>
              <a:rPr lang="en-US" sz="1800" b="1" dirty="0">
                <a:solidFill>
                  <a:schemeClr val="accent3"/>
                </a:solidFill>
              </a:rPr>
              <a:t>A* will not expand goals on sub-optimal paths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100D8-6317-EB4B-D540-7623C00A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226" y="2121928"/>
            <a:ext cx="3126060" cy="193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17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67C5-5C17-B199-5A43-BA1850B0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Bounded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62B67-924B-AD91-DCE2-E66CA1E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Beam Search</a:t>
            </a:r>
          </a:p>
          <a:p>
            <a:r>
              <a:rPr lang="en-US" dirty="0"/>
              <a:t>Iterative-deepening A* Search (IDA*)</a:t>
            </a:r>
          </a:p>
          <a:p>
            <a:r>
              <a:rPr lang="en-US" dirty="0"/>
              <a:t>Recursive Best-First Search (RBFS)</a:t>
            </a:r>
          </a:p>
          <a:p>
            <a:r>
              <a:rPr lang="en-US" dirty="0"/>
              <a:t>Simplified Memory Bounded A* (SMA*)</a:t>
            </a:r>
          </a:p>
        </p:txBody>
      </p:sp>
    </p:spTree>
    <p:extLst>
      <p:ext uri="{BB962C8B-B14F-4D97-AF65-F5344CB8AC3E}">
        <p14:creationId xmlns:p14="http://schemas.microsoft.com/office/powerpoint/2010/main" val="72569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AC0D-FF9E-EC03-9A48-A0307CE8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 Search – Read More from the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E059-F1CA-E991-21C6-8D4F7A26F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Beam search limits the size of the frontier. </a:t>
            </a:r>
          </a:p>
          <a:p>
            <a:r>
              <a:rPr lang="en-US" dirty="0"/>
              <a:t>Keep only the k nodes with the best f-scores, discarding any other expanded nodes.</a:t>
            </a:r>
          </a:p>
          <a:p>
            <a:endParaRPr lang="en-US" dirty="0"/>
          </a:p>
          <a:p>
            <a:r>
              <a:rPr lang="en-US" dirty="0"/>
              <a:t>Makes the search </a:t>
            </a:r>
            <a:r>
              <a:rPr lang="en-US" b="1" dirty="0"/>
              <a:t>incomplete</a:t>
            </a:r>
            <a:r>
              <a:rPr lang="en-US" dirty="0"/>
              <a:t> and </a:t>
            </a:r>
            <a:r>
              <a:rPr lang="en-US" b="1" dirty="0"/>
              <a:t>suboptimal</a:t>
            </a:r>
            <a:r>
              <a:rPr lang="en-US" dirty="0"/>
              <a:t>, </a:t>
            </a:r>
            <a:r>
              <a:rPr lang="en-US" b="1" dirty="0">
                <a:solidFill>
                  <a:schemeClr val="accent3"/>
                </a:solidFill>
              </a:rPr>
              <a:t>but we can choose k to make good use of available memory, and the algorithm executes fast </a:t>
            </a:r>
            <a:r>
              <a:rPr lang="en-US" dirty="0"/>
              <a:t>because it expands fewer nodes</a:t>
            </a:r>
          </a:p>
          <a:p>
            <a:r>
              <a:rPr lang="en-US" dirty="0"/>
              <a:t>For many problems it can find good near-optimal solutions.</a:t>
            </a:r>
          </a:p>
        </p:txBody>
      </p:sp>
    </p:spTree>
    <p:extLst>
      <p:ext uri="{BB962C8B-B14F-4D97-AF65-F5344CB8AC3E}">
        <p14:creationId xmlns:p14="http://schemas.microsoft.com/office/powerpoint/2010/main" val="1185002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ED8A7-8387-7690-DCC7-7923C4AC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IDA* – Read More from the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C4DD-6FB0-EABF-666E-5CCF4F4D1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IDA∗ gives us the benefits of A∗ without the requirement to keep all reached states in memory, at a cost of visiting some states multiple times.</a:t>
            </a:r>
          </a:p>
          <a:p>
            <a:r>
              <a:rPr lang="en-US" dirty="0"/>
              <a:t>In standard iterative deepening the cutoff is the depth, which is increased by one each iteration. </a:t>
            </a:r>
            <a:r>
              <a:rPr lang="en-US" b="1" dirty="0">
                <a:solidFill>
                  <a:schemeClr val="accent3"/>
                </a:solidFill>
              </a:rPr>
              <a:t>In IDA∗ the cutoff is the f-cost (g + h); </a:t>
            </a:r>
          </a:p>
        </p:txBody>
      </p:sp>
    </p:spTree>
    <p:extLst>
      <p:ext uri="{BB962C8B-B14F-4D97-AF65-F5344CB8AC3E}">
        <p14:creationId xmlns:p14="http://schemas.microsoft.com/office/powerpoint/2010/main" val="3299911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7A2D-312D-C0E9-EC4A-68590A1C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791A0-3566-227F-7D6E-A734DD717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RBFS resembles a recursive depth-first search, but rather than continuing indefinitely down the current path, it uses the </a:t>
            </a:r>
            <a:r>
              <a:rPr lang="en-US" b="1" dirty="0"/>
              <a:t>f-limit</a:t>
            </a:r>
            <a:r>
              <a:rPr lang="en-US" dirty="0"/>
              <a:t> variable to keep track of the </a:t>
            </a:r>
            <a:r>
              <a:rPr lang="en-US" b="1" dirty="0"/>
              <a:t>f-value</a:t>
            </a:r>
            <a:r>
              <a:rPr lang="en-US" dirty="0"/>
              <a:t> of </a:t>
            </a:r>
            <a:r>
              <a:rPr lang="en-US" b="1" dirty="0">
                <a:solidFill>
                  <a:schemeClr val="accent3"/>
                </a:solidFill>
              </a:rPr>
              <a:t>the best alternative path available from any ancestor of the current node.</a:t>
            </a:r>
          </a:p>
        </p:txBody>
      </p:sp>
    </p:spTree>
    <p:extLst>
      <p:ext uri="{BB962C8B-B14F-4D97-AF65-F5344CB8AC3E}">
        <p14:creationId xmlns:p14="http://schemas.microsoft.com/office/powerpoint/2010/main" val="3344703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A47A-CECF-918F-8261-A2BB6426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 -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D2EEA8-AC8E-9C9E-D7DA-CE221C41E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485" y="1899399"/>
            <a:ext cx="8511030" cy="4958601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7243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0E47-95FE-70AB-0167-277697EC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A7D35E-893B-FB13-5FDD-5B863F716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415" y="2564781"/>
            <a:ext cx="9051169" cy="295008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5004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0940-4465-FFBF-8794-881CE5BA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847DC-C77D-66EB-5E77-5FC40F253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962" y="2644007"/>
            <a:ext cx="8778076" cy="296797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5786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216F-8723-95FC-F7D7-41E21091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RBFS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9DB8E2-532E-0FFE-190C-4E31815D7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7221" y="2488619"/>
            <a:ext cx="9377558" cy="362438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2566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60C1-2F3A-F744-7499-01E63C60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Memory Bounded A* (SMA*)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515EA-2A23-E0F8-BF7F-A0D3B2E2E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like A*, but </a:t>
            </a:r>
            <a:r>
              <a:rPr lang="en-US" b="1" dirty="0"/>
              <a:t>when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</a:t>
            </a:r>
            <a:r>
              <a:rPr lang="en-US" b="1" dirty="0"/>
              <a:t>full</a:t>
            </a:r>
            <a:r>
              <a:rPr lang="en-US" dirty="0"/>
              <a:t>, we </a:t>
            </a:r>
            <a:r>
              <a:rPr lang="en-US" b="1" dirty="0"/>
              <a:t>delete</a:t>
            </a:r>
            <a:r>
              <a:rPr lang="en-US" dirty="0"/>
              <a:t> the </a:t>
            </a:r>
            <a:r>
              <a:rPr lang="en-US" b="1" dirty="0"/>
              <a:t>worst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 (largest f-value).</a:t>
            </a:r>
          </a:p>
          <a:p>
            <a:r>
              <a:rPr lang="en-US" dirty="0"/>
              <a:t>Like RBFS, we </a:t>
            </a:r>
            <a:r>
              <a:rPr lang="en-US" b="1" dirty="0"/>
              <a:t>remember</a:t>
            </a:r>
            <a:r>
              <a:rPr lang="en-US" dirty="0"/>
              <a:t> the </a:t>
            </a:r>
            <a:r>
              <a:rPr lang="en-US" b="1" dirty="0"/>
              <a:t>best</a:t>
            </a:r>
            <a:r>
              <a:rPr lang="en-US" dirty="0"/>
              <a:t> </a:t>
            </a:r>
            <a:r>
              <a:rPr lang="en-US" b="1" dirty="0"/>
              <a:t>descendent</a:t>
            </a:r>
            <a:r>
              <a:rPr lang="en-US" dirty="0"/>
              <a:t> in the </a:t>
            </a:r>
            <a:r>
              <a:rPr lang="en-US" b="1" dirty="0"/>
              <a:t>branch</a:t>
            </a:r>
            <a:r>
              <a:rPr lang="en-US" dirty="0"/>
              <a:t> </a:t>
            </a:r>
            <a:r>
              <a:rPr lang="en-US" b="1" dirty="0"/>
              <a:t>we</a:t>
            </a:r>
            <a:r>
              <a:rPr lang="en-US" dirty="0"/>
              <a:t> </a:t>
            </a:r>
            <a:r>
              <a:rPr lang="en-US" b="1" dirty="0"/>
              <a:t>delete</a:t>
            </a:r>
            <a:r>
              <a:rPr lang="en-US" dirty="0"/>
              <a:t>.</a:t>
            </a:r>
          </a:p>
          <a:p>
            <a:r>
              <a:rPr lang="en-US" dirty="0"/>
              <a:t>If there is a </a:t>
            </a:r>
            <a:r>
              <a:rPr lang="en-US" b="1" dirty="0"/>
              <a:t>tie</a:t>
            </a:r>
            <a:r>
              <a:rPr lang="en-US" dirty="0"/>
              <a:t> (equal f-values) we first </a:t>
            </a:r>
            <a:r>
              <a:rPr lang="en-US" b="1" dirty="0"/>
              <a:t>delete</a:t>
            </a:r>
            <a:r>
              <a:rPr lang="en-US" dirty="0"/>
              <a:t> the </a:t>
            </a:r>
            <a:r>
              <a:rPr lang="en-US" b="1" dirty="0"/>
              <a:t>oldest</a:t>
            </a:r>
            <a:r>
              <a:rPr lang="en-US" dirty="0"/>
              <a:t> </a:t>
            </a:r>
            <a:r>
              <a:rPr lang="en-US" b="1" dirty="0"/>
              <a:t>nodes</a:t>
            </a:r>
            <a:r>
              <a:rPr lang="en-US" dirty="0"/>
              <a:t> </a:t>
            </a:r>
            <a:r>
              <a:rPr lang="en-US" b="1" dirty="0"/>
              <a:t>first</a:t>
            </a:r>
            <a:r>
              <a:rPr lang="en-US" dirty="0"/>
              <a:t>.</a:t>
            </a:r>
          </a:p>
          <a:p>
            <a:r>
              <a:rPr lang="en-US" dirty="0"/>
              <a:t>SMA* finds the </a:t>
            </a:r>
            <a:r>
              <a:rPr lang="en-US" b="1" dirty="0"/>
              <a:t>optimal</a:t>
            </a:r>
            <a:r>
              <a:rPr lang="en-US" dirty="0"/>
              <a:t> </a:t>
            </a:r>
            <a:r>
              <a:rPr lang="en-US" b="1" dirty="0"/>
              <a:t>reachable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 given the </a:t>
            </a:r>
            <a:r>
              <a:rPr lang="en-US" b="1" dirty="0"/>
              <a:t>memory</a:t>
            </a:r>
            <a:r>
              <a:rPr lang="en-US" dirty="0"/>
              <a:t> </a:t>
            </a:r>
            <a:r>
              <a:rPr lang="en-US" b="1" dirty="0"/>
              <a:t>constraint</a:t>
            </a:r>
            <a:r>
              <a:rPr lang="en-US" dirty="0"/>
              <a:t>.</a:t>
            </a:r>
          </a:p>
          <a:p>
            <a:r>
              <a:rPr lang="en-US" dirty="0"/>
              <a:t>But </a:t>
            </a:r>
            <a:r>
              <a:rPr lang="en-US" b="1" dirty="0"/>
              <a:t>time</a:t>
            </a:r>
            <a:r>
              <a:rPr lang="en-US" dirty="0"/>
              <a:t> can still be </a:t>
            </a:r>
            <a:r>
              <a:rPr lang="en-US" b="1" dirty="0"/>
              <a:t>exponential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511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53B9-73F5-CC5A-FB09-59141FEE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291071"/>
            <a:ext cx="10571998" cy="970450"/>
          </a:xfrm>
        </p:spPr>
        <p:txBody>
          <a:bodyPr/>
          <a:lstStyle/>
          <a:p>
            <a:r>
              <a:rPr lang="en-US" dirty="0"/>
              <a:t>Algorithm for SMA*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A4118-E503-CC5F-DB4B-A82F05453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957" y="1424966"/>
            <a:ext cx="6407392" cy="54330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081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2D4B-A0B8-2788-518B-9DF123F6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SMA*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B5CEF-8B61-4139-7850-D6F49E6BF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SMA* is a shortest path algorithm based on the A* algorithm.</a:t>
            </a:r>
          </a:p>
          <a:p>
            <a:r>
              <a:rPr lang="en-US" dirty="0"/>
              <a:t>The advantage of </a:t>
            </a:r>
            <a:r>
              <a:rPr lang="en-US" b="1" dirty="0">
                <a:solidFill>
                  <a:schemeClr val="accent3"/>
                </a:solidFill>
              </a:rPr>
              <a:t>SMA</a:t>
            </a:r>
            <a:r>
              <a:rPr lang="en-US" dirty="0"/>
              <a:t>* is that it uses a </a:t>
            </a:r>
            <a:r>
              <a:rPr lang="en-US" b="1" dirty="0">
                <a:solidFill>
                  <a:schemeClr val="accent3"/>
                </a:solidFill>
              </a:rPr>
              <a:t>bounded</a:t>
            </a:r>
            <a:r>
              <a:rPr lang="en-US" dirty="0"/>
              <a:t> </a:t>
            </a:r>
            <a:r>
              <a:rPr lang="en-US" b="1" dirty="0">
                <a:solidFill>
                  <a:schemeClr val="accent3"/>
                </a:solidFill>
              </a:rPr>
              <a:t>memory</a:t>
            </a:r>
            <a:r>
              <a:rPr lang="en-US" dirty="0"/>
              <a:t>, while the </a:t>
            </a:r>
            <a:r>
              <a:rPr lang="en-US" b="1" dirty="0"/>
              <a:t>A* algorithm </a:t>
            </a:r>
            <a:r>
              <a:rPr lang="en-US" dirty="0"/>
              <a:t>might </a:t>
            </a:r>
            <a:r>
              <a:rPr lang="en-US" b="1" dirty="0"/>
              <a:t>need</a:t>
            </a:r>
            <a:r>
              <a:rPr lang="en-US" dirty="0"/>
              <a:t> </a:t>
            </a:r>
            <a:r>
              <a:rPr lang="en-US" b="1" dirty="0"/>
              <a:t>exponential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.</a:t>
            </a:r>
          </a:p>
          <a:p>
            <a:r>
              <a:rPr lang="en-US" dirty="0"/>
              <a:t>All other characteristics of SMA* are inherited from A*.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How it works:</a:t>
            </a:r>
          </a:p>
          <a:p>
            <a:r>
              <a:rPr lang="en-US" dirty="0"/>
              <a:t>Like A*, it </a:t>
            </a:r>
            <a:r>
              <a:rPr lang="en-US" b="1" dirty="0"/>
              <a:t>expands</a:t>
            </a:r>
            <a:r>
              <a:rPr lang="en-US" dirty="0"/>
              <a:t> the </a:t>
            </a:r>
            <a:r>
              <a:rPr lang="en-US" b="1" dirty="0"/>
              <a:t>best</a:t>
            </a:r>
            <a:r>
              <a:rPr lang="en-US" dirty="0"/>
              <a:t> </a:t>
            </a:r>
            <a:r>
              <a:rPr lang="en-US" b="1" dirty="0"/>
              <a:t>leaf</a:t>
            </a:r>
            <a:r>
              <a:rPr lang="en-US" dirty="0"/>
              <a:t> </a:t>
            </a:r>
            <a:r>
              <a:rPr lang="en-US" b="1" dirty="0"/>
              <a:t>until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</a:t>
            </a:r>
            <a:r>
              <a:rPr lang="en-US" b="1" dirty="0"/>
              <a:t>full</a:t>
            </a:r>
            <a:r>
              <a:rPr lang="en-US" dirty="0"/>
              <a:t>.</a:t>
            </a:r>
          </a:p>
          <a:p>
            <a:r>
              <a:rPr lang="en-US" b="1" dirty="0"/>
              <a:t>Drops</a:t>
            </a:r>
            <a:r>
              <a:rPr lang="en-US" dirty="0"/>
              <a:t> the </a:t>
            </a:r>
            <a:r>
              <a:rPr lang="en-US" b="1" dirty="0"/>
              <a:t>worst</a:t>
            </a:r>
            <a:r>
              <a:rPr lang="en-US" dirty="0"/>
              <a:t> </a:t>
            </a:r>
            <a:r>
              <a:rPr lang="en-US" b="1" dirty="0"/>
              <a:t>leaf</a:t>
            </a:r>
            <a:r>
              <a:rPr lang="en-US" dirty="0"/>
              <a:t> </a:t>
            </a:r>
            <a:r>
              <a:rPr lang="en-US" b="1" dirty="0"/>
              <a:t>node-</a:t>
            </a:r>
            <a:r>
              <a:rPr lang="en-US" dirty="0"/>
              <a:t> the one with the highest f-value.</a:t>
            </a:r>
          </a:p>
          <a:p>
            <a:r>
              <a:rPr lang="en-US" dirty="0"/>
              <a:t>SMA* then </a:t>
            </a:r>
            <a:r>
              <a:rPr lang="en-US" b="1" dirty="0"/>
              <a:t>backs</a:t>
            </a:r>
            <a:r>
              <a:rPr lang="en-US" dirty="0"/>
              <a:t> </a:t>
            </a:r>
            <a:r>
              <a:rPr lang="en-US" b="1" dirty="0"/>
              <a:t>up</a:t>
            </a:r>
            <a:r>
              <a:rPr lang="en-US" dirty="0"/>
              <a:t> the </a:t>
            </a:r>
            <a:r>
              <a:rPr lang="en-US" b="1" dirty="0"/>
              <a:t>value</a:t>
            </a:r>
            <a:r>
              <a:rPr lang="en-US" dirty="0"/>
              <a:t> of the </a:t>
            </a:r>
            <a:r>
              <a:rPr lang="en-US" b="1" dirty="0"/>
              <a:t>forgotten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 to its </a:t>
            </a:r>
            <a:r>
              <a:rPr lang="en-US" b="1" dirty="0"/>
              <a:t>parent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72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C54DA-8276-D47F-9144-7C437FC3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(courtesy of Ms. Anaum)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5AF55-8412-EBA9-33E3-CDFD9894D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897" y="1417638"/>
            <a:ext cx="8274203" cy="54367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0763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6D2A-268E-3DF3-800C-E8A23D26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SMA* in the Previous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AF7D-AC30-5BD2-F150-03C0D407C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 </a:t>
            </a:r>
            <a:r>
              <a:rPr lang="en-US" b="1" dirty="0" err="1"/>
              <a:t>MaxNodes</a:t>
            </a:r>
            <a:r>
              <a:rPr lang="en-US" dirty="0"/>
              <a:t> = 3</a:t>
            </a:r>
          </a:p>
          <a:p>
            <a:r>
              <a:rPr lang="en-US" dirty="0"/>
              <a:t>Initially B and G are added to open list, then hit max.</a:t>
            </a:r>
          </a:p>
          <a:p>
            <a:r>
              <a:rPr lang="en-US" dirty="0"/>
              <a:t>B is larger f value, so discard but save f(B)=15 at parent A</a:t>
            </a:r>
          </a:p>
          <a:p>
            <a:r>
              <a:rPr lang="en-US" dirty="0"/>
              <a:t>Add H, but f(H)=18. This is not a goal and we can never go deeper, so set f(H)=infinity and save at G.</a:t>
            </a:r>
          </a:p>
          <a:p>
            <a:r>
              <a:rPr lang="en-US" dirty="0"/>
              <a:t>Generate next child I with f(I)=24, which is bigger than the other child of A(f(B) was 15). Now we have seen all children of G, so reset f(G) to 24.</a:t>
            </a:r>
          </a:p>
          <a:p>
            <a:r>
              <a:rPr lang="en-US" dirty="0"/>
              <a:t>Regenerate B and child C. This is not a goal so f(C) is reset to infinity.</a:t>
            </a:r>
          </a:p>
          <a:p>
            <a:r>
              <a:rPr lang="en-US" dirty="0"/>
              <a:t>Generate second child D with f(D)=20, backing up value to ancestors.</a:t>
            </a:r>
          </a:p>
          <a:p>
            <a:r>
              <a:rPr lang="en-US" dirty="0"/>
              <a:t>D is a goal node, so search terminates.</a:t>
            </a:r>
          </a:p>
        </p:txBody>
      </p:sp>
    </p:spTree>
    <p:extLst>
      <p:ext uri="{BB962C8B-B14F-4D97-AF65-F5344CB8AC3E}">
        <p14:creationId xmlns:p14="http://schemas.microsoft.com/office/powerpoint/2010/main" val="1347131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A073-306E-72A9-A789-1F8B2233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SMA*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62337-4FC4-10AD-AF70-B349754C4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</a:t>
            </a:r>
            <a:r>
              <a:rPr lang="en-US" b="1" dirty="0">
                <a:solidFill>
                  <a:schemeClr val="accent3"/>
                </a:solidFill>
              </a:rPr>
              <a:t>complete</a:t>
            </a:r>
            <a:r>
              <a:rPr lang="en-US" dirty="0"/>
              <a:t> if the allowed </a:t>
            </a:r>
            <a:r>
              <a:rPr lang="en-US" b="1" dirty="0"/>
              <a:t>memory</a:t>
            </a:r>
            <a:r>
              <a:rPr lang="en-US" dirty="0"/>
              <a:t> is </a:t>
            </a:r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enough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store</a:t>
            </a:r>
            <a:r>
              <a:rPr lang="en-US" dirty="0"/>
              <a:t>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shallowest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.</a:t>
            </a:r>
          </a:p>
          <a:p>
            <a:r>
              <a:rPr lang="en-US" dirty="0"/>
              <a:t>It is </a:t>
            </a:r>
            <a:r>
              <a:rPr lang="en-US" b="1" dirty="0">
                <a:solidFill>
                  <a:schemeClr val="accent3"/>
                </a:solidFill>
              </a:rPr>
              <a:t>optimal</a:t>
            </a:r>
            <a:r>
              <a:rPr lang="en-US" dirty="0"/>
              <a:t> if the allowed </a:t>
            </a:r>
            <a:r>
              <a:rPr lang="en-US" b="1" dirty="0"/>
              <a:t>memory</a:t>
            </a:r>
            <a:r>
              <a:rPr lang="en-US" dirty="0"/>
              <a:t> is </a:t>
            </a:r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enough</a:t>
            </a:r>
            <a:r>
              <a:rPr lang="en-US" dirty="0"/>
              <a:t> to </a:t>
            </a:r>
            <a:r>
              <a:rPr lang="en-US" b="1" dirty="0"/>
              <a:t>store</a:t>
            </a:r>
            <a:r>
              <a:rPr lang="en-US" dirty="0"/>
              <a:t> the </a:t>
            </a:r>
            <a:r>
              <a:rPr lang="en-US" b="1" dirty="0"/>
              <a:t>shallowest</a:t>
            </a:r>
            <a:r>
              <a:rPr lang="en-US" dirty="0"/>
              <a:t> </a:t>
            </a:r>
            <a:r>
              <a:rPr lang="en-US" b="1" dirty="0"/>
              <a:t>optimal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, </a:t>
            </a:r>
            <a:r>
              <a:rPr lang="en-US" b="1" dirty="0"/>
              <a:t>otherwise</a:t>
            </a:r>
            <a:r>
              <a:rPr lang="en-US" dirty="0"/>
              <a:t> it will return the </a:t>
            </a:r>
            <a:r>
              <a:rPr lang="en-US" b="1" dirty="0"/>
              <a:t>best</a:t>
            </a:r>
            <a:r>
              <a:rPr lang="en-US" dirty="0"/>
              <a:t> </a:t>
            </a:r>
            <a:r>
              <a:rPr lang="en-US" b="1" dirty="0"/>
              <a:t>solution</a:t>
            </a:r>
            <a:r>
              <a:rPr lang="en-US" dirty="0"/>
              <a:t> </a:t>
            </a:r>
            <a:r>
              <a:rPr lang="en-US" b="1" dirty="0"/>
              <a:t>that</a:t>
            </a:r>
            <a:r>
              <a:rPr lang="en-US" dirty="0"/>
              <a:t> </a:t>
            </a:r>
            <a:r>
              <a:rPr lang="en-US" b="1" dirty="0"/>
              <a:t>fits</a:t>
            </a:r>
            <a:r>
              <a:rPr lang="en-US" dirty="0"/>
              <a:t> in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allowed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.</a:t>
            </a:r>
          </a:p>
          <a:p>
            <a:r>
              <a:rPr lang="en-US" dirty="0"/>
              <a:t>It avoids repeated states as long as the memory bound allows it</a:t>
            </a:r>
          </a:p>
          <a:p>
            <a:r>
              <a:rPr lang="en-US" dirty="0"/>
              <a:t>It will </a:t>
            </a:r>
            <a:r>
              <a:rPr lang="en-US" b="1" dirty="0"/>
              <a:t>use</a:t>
            </a:r>
            <a:r>
              <a:rPr lang="en-US" dirty="0"/>
              <a:t> </a:t>
            </a:r>
            <a:r>
              <a:rPr lang="en-US" b="1" dirty="0"/>
              <a:t>all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 </a:t>
            </a:r>
            <a:r>
              <a:rPr lang="en-US" b="1" dirty="0"/>
              <a:t>available</a:t>
            </a:r>
            <a:r>
              <a:rPr lang="en-US" dirty="0"/>
              <a:t>.</a:t>
            </a:r>
          </a:p>
          <a:p>
            <a:r>
              <a:rPr lang="en-US" b="1" dirty="0"/>
              <a:t>Enlarging</a:t>
            </a:r>
            <a:r>
              <a:rPr lang="en-US" dirty="0"/>
              <a:t> the </a:t>
            </a:r>
            <a:r>
              <a:rPr lang="en-US" b="1" dirty="0"/>
              <a:t>memory</a:t>
            </a:r>
            <a:r>
              <a:rPr lang="en-US" dirty="0"/>
              <a:t> </a:t>
            </a:r>
            <a:r>
              <a:rPr lang="en-US" b="1" dirty="0"/>
              <a:t>bound</a:t>
            </a:r>
            <a:r>
              <a:rPr lang="en-US" dirty="0"/>
              <a:t> of the algorithm will only </a:t>
            </a:r>
            <a:r>
              <a:rPr lang="en-US" b="1" dirty="0"/>
              <a:t>speed</a:t>
            </a:r>
            <a:r>
              <a:rPr lang="en-US" dirty="0"/>
              <a:t> </a:t>
            </a:r>
            <a:r>
              <a:rPr lang="en-US" b="1" dirty="0"/>
              <a:t>up</a:t>
            </a:r>
            <a:r>
              <a:rPr lang="en-US" dirty="0"/>
              <a:t> the </a:t>
            </a:r>
            <a:r>
              <a:rPr lang="en-US" b="1" dirty="0"/>
              <a:t>calculation</a:t>
            </a:r>
            <a:r>
              <a:rPr lang="en-US" dirty="0"/>
              <a:t>.</a:t>
            </a:r>
          </a:p>
          <a:p>
            <a:r>
              <a:rPr lang="en-US" dirty="0"/>
              <a:t>When </a:t>
            </a:r>
            <a:r>
              <a:rPr lang="en-US" b="1" dirty="0"/>
              <a:t>enough</a:t>
            </a:r>
            <a:r>
              <a:rPr lang="en-US" dirty="0"/>
              <a:t> </a:t>
            </a:r>
            <a:r>
              <a:rPr lang="en-US" b="1" dirty="0"/>
              <a:t>memory</a:t>
            </a:r>
            <a:r>
              <a:rPr lang="en-US" dirty="0"/>
              <a:t> is </a:t>
            </a:r>
            <a:r>
              <a:rPr lang="en-US" b="1" dirty="0"/>
              <a:t>available</a:t>
            </a:r>
            <a:r>
              <a:rPr lang="en-US" dirty="0"/>
              <a:t> to contain the </a:t>
            </a:r>
            <a:r>
              <a:rPr lang="en-US" b="1" dirty="0"/>
              <a:t>entire</a:t>
            </a:r>
            <a:r>
              <a:rPr lang="en-US" dirty="0"/>
              <a:t> </a:t>
            </a:r>
            <a:r>
              <a:rPr lang="en-US" b="1" dirty="0"/>
              <a:t>search</a:t>
            </a:r>
            <a:r>
              <a:rPr lang="en-US" dirty="0"/>
              <a:t> </a:t>
            </a:r>
            <a:r>
              <a:rPr lang="en-US" b="1" dirty="0"/>
              <a:t>tree</a:t>
            </a:r>
            <a:r>
              <a:rPr lang="en-US" dirty="0"/>
              <a:t>, then </a:t>
            </a:r>
            <a:r>
              <a:rPr lang="en-US" b="1" dirty="0"/>
              <a:t>calculation</a:t>
            </a:r>
            <a:r>
              <a:rPr lang="en-US" dirty="0"/>
              <a:t> has an </a:t>
            </a:r>
            <a:r>
              <a:rPr lang="en-US" b="1" dirty="0">
                <a:solidFill>
                  <a:schemeClr val="accent3"/>
                </a:solidFill>
              </a:rPr>
              <a:t>optimal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2078670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866F5-29C6-0532-2C76-8DF119A1E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Fin.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757602-BCBC-E3F9-9A8C-6576B2DAA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3024798">
            <a:off x="2274907" y="5312664"/>
            <a:ext cx="533607" cy="434974"/>
          </a:xfrm>
        </p:spPr>
        <p:txBody>
          <a:bodyPr/>
          <a:lstStyle/>
          <a:p>
            <a:r>
              <a:rPr lang="en-US" dirty="0"/>
              <a:t>&gt;:3</a:t>
            </a:r>
          </a:p>
        </p:txBody>
      </p:sp>
    </p:spTree>
    <p:extLst>
      <p:ext uri="{BB962C8B-B14F-4D97-AF65-F5344CB8AC3E}">
        <p14:creationId xmlns:p14="http://schemas.microsoft.com/office/powerpoint/2010/main" val="2479222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Custom 1">
      <a:dk1>
        <a:srgbClr val="181818"/>
      </a:dk1>
      <a:lt1>
        <a:srgbClr val="181818"/>
      </a:lt1>
      <a:dk2>
        <a:srgbClr val="FFFFFF"/>
      </a:dk2>
      <a:lt2>
        <a:srgbClr val="FFFFFF"/>
      </a:lt2>
      <a:accent1>
        <a:srgbClr val="843AAB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002060"/>
      </a:hlink>
      <a:folHlink>
        <a:srgbClr val="0070C0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2665</TotalTime>
  <Words>1715</Words>
  <Application>Microsoft Office PowerPoint</Application>
  <PresentationFormat>Widescreen</PresentationFormat>
  <Paragraphs>148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Calibri</vt:lpstr>
      <vt:lpstr>Century Gothic</vt:lpstr>
      <vt:lpstr>Consolas</vt:lpstr>
      <vt:lpstr>Roboto</vt:lpstr>
      <vt:lpstr>Wingdings</vt:lpstr>
      <vt:lpstr>Wingdings 2</vt:lpstr>
      <vt:lpstr>Quotable</vt:lpstr>
      <vt:lpstr>Solving Problems by Searching</vt:lpstr>
      <vt:lpstr>Informed Search Strategies</vt:lpstr>
      <vt:lpstr>Heuristic Search</vt:lpstr>
      <vt:lpstr>Search Heuristics</vt:lpstr>
      <vt:lpstr>How can you navigate this?</vt:lpstr>
      <vt:lpstr>Greedy Best First Search</vt:lpstr>
      <vt:lpstr>Example (S is start, G is goal)</vt:lpstr>
      <vt:lpstr>Traveling Problem with Greedy Best First</vt:lpstr>
      <vt:lpstr>What could go wrong?</vt:lpstr>
      <vt:lpstr>Greedy search leads to a minimal cost search because no node off the solution path is expanded. However, it does not find the optimal path: the path it found via Sibiu and Fagaras to Bucharest is 13 miles longer than the path through Pimnicu Vilcea and Pitesti.</vt:lpstr>
      <vt:lpstr>A* Search</vt:lpstr>
      <vt:lpstr>Apply A* Search to this</vt:lpstr>
      <vt:lpstr>A* Search – Solution</vt:lpstr>
      <vt:lpstr>Admissible Heuristics   (Self-Study: 3.5.2, 3.5.3, 3.5.4) </vt:lpstr>
      <vt:lpstr>Weighted A*</vt:lpstr>
      <vt:lpstr>Problems for Practice (Solve using A*)</vt:lpstr>
      <vt:lpstr>A* Search Solution. </vt:lpstr>
      <vt:lpstr>PowerPoint Presentation</vt:lpstr>
      <vt:lpstr>Other Websites with examples</vt:lpstr>
      <vt:lpstr>Optimality of Proof</vt:lpstr>
      <vt:lpstr>Optimality of Proof</vt:lpstr>
      <vt:lpstr>Optimality of Proof</vt:lpstr>
      <vt:lpstr>Memory Bounded Search</vt:lpstr>
      <vt:lpstr>Beam Search – Read More from the Book</vt:lpstr>
      <vt:lpstr>IDA* – Read More from the Book</vt:lpstr>
      <vt:lpstr>RBFS</vt:lpstr>
      <vt:lpstr>RBFS - Algorithm</vt:lpstr>
      <vt:lpstr>RBFS</vt:lpstr>
      <vt:lpstr>RBFS</vt:lpstr>
      <vt:lpstr>RBFS</vt:lpstr>
      <vt:lpstr>Simple Memory Bounded A* (SMA*)</vt:lpstr>
      <vt:lpstr>Algorithm for SMA*</vt:lpstr>
      <vt:lpstr>Characteristics of SMA*</vt:lpstr>
      <vt:lpstr>Example (courtesy of Ms. Anaum)</vt:lpstr>
      <vt:lpstr>Flow of SMA* in the Previous Slide</vt:lpstr>
      <vt:lpstr>Properties of SMA*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546</cp:revision>
  <dcterms:created xsi:type="dcterms:W3CDTF">2026-01-20T09:40:17Z</dcterms:created>
  <dcterms:modified xsi:type="dcterms:W3CDTF">2026-02-18T04:22:25Z</dcterms:modified>
</cp:coreProperties>
</file>