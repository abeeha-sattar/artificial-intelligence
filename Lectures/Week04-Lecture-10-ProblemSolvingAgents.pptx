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64" r:id="rId11"/>
    <p:sldId id="290" r:id="rId12"/>
    <p:sldId id="297" r:id="rId13"/>
    <p:sldId id="291" r:id="rId14"/>
    <p:sldId id="292" r:id="rId15"/>
    <p:sldId id="293" r:id="rId16"/>
    <p:sldId id="294" r:id="rId17"/>
    <p:sldId id="295" r:id="rId18"/>
    <p:sldId id="296" r:id="rId19"/>
    <p:sldId id="28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298" autoAdjust="0"/>
  </p:normalViewPr>
  <p:slideViewPr>
    <p:cSldViewPr snapToGrid="0">
      <p:cViewPr varScale="1">
        <p:scale>
          <a:sx n="86" d="100"/>
          <a:sy n="86" d="100"/>
        </p:scale>
        <p:origin x="1518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43826-4C69-47EA-8898-45B824867D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2ACA-593C-4267-A91D-71F7698EF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0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5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6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1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7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5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7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6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26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1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0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1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FC72E4F-7DFD-4C1A-A1A9-E4120F2AD69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47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demy.com/resources/docs/ai/search-algorithms/a-star-search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nerd-for-tech/ai-search-algorithms-with-examples-54772c6d973a" TargetMode="External"/><Relationship Id="rId2" Type="http://schemas.openxmlformats.org/officeDocument/2006/relationships/hyperlink" Target="https://www.gatevidyalay.com/a-algorithm-a-algorithm-example-in-a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101computing.net/a-star-search-algorith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0121-2090-C428-98C6-5A952B630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Solving Problems by Searching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E1F8C-E5DE-EC85-D5FE-365A58F48F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704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99AC-7CDB-0A93-163D-903F232A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Informed Search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0F066-D43A-5C96-5DBC-9E48FD423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Heuristic Searches:</a:t>
            </a:r>
          </a:p>
          <a:p>
            <a:r>
              <a:rPr lang="en-US" b="1" dirty="0"/>
              <a:t>Greedy Best-First Search</a:t>
            </a:r>
          </a:p>
          <a:p>
            <a:r>
              <a:rPr lang="en-US" b="1" dirty="0"/>
              <a:t>A*</a:t>
            </a:r>
          </a:p>
        </p:txBody>
      </p:sp>
    </p:spTree>
    <p:extLst>
      <p:ext uri="{BB962C8B-B14F-4D97-AF65-F5344CB8AC3E}">
        <p14:creationId xmlns:p14="http://schemas.microsoft.com/office/powerpoint/2010/main" val="177107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3719-48D8-033A-2870-F80EACE9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0FB55-A383-D9BA-4F18-1B218BE7B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 search is a type of problem-solving algorithm that </a:t>
            </a:r>
            <a:r>
              <a:rPr lang="en-US" b="1" dirty="0"/>
              <a:t>uses</a:t>
            </a:r>
            <a:r>
              <a:rPr lang="en-US" dirty="0"/>
              <a:t> </a:t>
            </a:r>
            <a:r>
              <a:rPr lang="en-US" b="1" dirty="0"/>
              <a:t>heuristic</a:t>
            </a:r>
            <a:r>
              <a:rPr lang="en-US" dirty="0"/>
              <a:t> </a:t>
            </a:r>
            <a:r>
              <a:rPr lang="en-US" b="1" dirty="0"/>
              <a:t>functions</a:t>
            </a:r>
            <a:r>
              <a:rPr lang="en-US" dirty="0"/>
              <a:t> to </a:t>
            </a:r>
            <a:r>
              <a:rPr lang="en-US" b="1" dirty="0"/>
              <a:t>guide</a:t>
            </a:r>
            <a:r>
              <a:rPr lang="en-US" dirty="0"/>
              <a:t> the </a:t>
            </a:r>
            <a:r>
              <a:rPr lang="en-US" b="1" dirty="0"/>
              <a:t>exploration</a:t>
            </a:r>
            <a:r>
              <a:rPr lang="en-US" dirty="0"/>
              <a:t> of </a:t>
            </a:r>
            <a:r>
              <a:rPr lang="en-US" b="1" dirty="0"/>
              <a:t>possible</a:t>
            </a:r>
            <a:r>
              <a:rPr lang="en-US" dirty="0"/>
              <a:t> </a:t>
            </a:r>
            <a:r>
              <a:rPr lang="en-US" b="1" dirty="0"/>
              <a:t>solutions</a:t>
            </a:r>
            <a:r>
              <a:rPr lang="en-US" dirty="0"/>
              <a:t>. </a:t>
            </a:r>
          </a:p>
          <a:p>
            <a:r>
              <a:rPr lang="en-US" dirty="0"/>
              <a:t>A </a:t>
            </a:r>
            <a:r>
              <a:rPr lang="en-US" b="1" dirty="0"/>
              <a:t>heuristic</a:t>
            </a:r>
            <a:r>
              <a:rPr lang="en-US" dirty="0"/>
              <a:t> </a:t>
            </a:r>
            <a:r>
              <a:rPr lang="en-US" b="1" dirty="0"/>
              <a:t>function</a:t>
            </a:r>
            <a:r>
              <a:rPr lang="en-US" dirty="0"/>
              <a:t> is an </a:t>
            </a:r>
            <a:r>
              <a:rPr lang="en-US" b="1" dirty="0"/>
              <a:t>approximation</a:t>
            </a:r>
            <a:r>
              <a:rPr lang="en-US" dirty="0"/>
              <a:t> or </a:t>
            </a:r>
            <a:r>
              <a:rPr lang="en-US" b="1" dirty="0"/>
              <a:t>estimation</a:t>
            </a:r>
            <a:r>
              <a:rPr lang="en-US" dirty="0"/>
              <a:t> used as a way </a:t>
            </a:r>
            <a:r>
              <a:rPr lang="en-US" b="1" dirty="0"/>
              <a:t>to find better, more efficient solutions</a:t>
            </a:r>
            <a:r>
              <a:rPr lang="en-US" dirty="0"/>
              <a:t> than exhaustive searches through all possible combinations.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3"/>
                </a:solidFill>
              </a:rPr>
              <a:t>It significantly reduces computing power needed for complex problems by quickly focusing on promising areas within search spaces</a:t>
            </a:r>
          </a:p>
        </p:txBody>
      </p:sp>
    </p:spTree>
    <p:extLst>
      <p:ext uri="{BB962C8B-B14F-4D97-AF65-F5344CB8AC3E}">
        <p14:creationId xmlns:p14="http://schemas.microsoft.com/office/powerpoint/2010/main" val="130733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D0CF-3AD5-0090-3FD7-1FF94302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1D3D-553E-654B-309D-70034BD7D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heuristic is:</a:t>
            </a:r>
          </a:p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that estimates how close a state is to a goal</a:t>
            </a:r>
          </a:p>
          <a:p>
            <a:r>
              <a:rPr lang="en-US" dirty="0"/>
              <a:t>Designed for a particular search problem</a:t>
            </a:r>
          </a:p>
          <a:p>
            <a:r>
              <a:rPr lang="en-US" b="1" dirty="0"/>
              <a:t>Examples</a:t>
            </a:r>
            <a:r>
              <a:rPr lang="en-US" dirty="0"/>
              <a:t>: Manhattan distance, Euclidean distance for pathing, etc.</a:t>
            </a:r>
          </a:p>
        </p:txBody>
      </p:sp>
    </p:spTree>
    <p:extLst>
      <p:ext uri="{BB962C8B-B14F-4D97-AF65-F5344CB8AC3E}">
        <p14:creationId xmlns:p14="http://schemas.microsoft.com/office/powerpoint/2010/main" val="84755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99EB-0C86-14FB-85E7-491825D0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navigate this?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6EB8AF-3A20-A03E-AACF-273E255C9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315166"/>
              </p:ext>
            </p:extLst>
          </p:nvPr>
        </p:nvGraphicFramePr>
        <p:xfrm>
          <a:off x="828310" y="1959023"/>
          <a:ext cx="10553688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737">
                  <a:extLst>
                    <a:ext uri="{9D8B030D-6E8A-4147-A177-3AD203B41FA5}">
                      <a16:colId xmlns:a16="http://schemas.microsoft.com/office/drawing/2014/main" val="340055573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243550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569116018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58120038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87761249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4700392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115912334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77363626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60988066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4224935700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843844895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112384547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03688759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89218767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616389350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50658895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1082721694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339128704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09583205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81667689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86379644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30083541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429999129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550124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3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58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82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27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0,7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7,11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2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86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1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58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4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82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0,0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0,11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97579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B40EE7A7-B6FC-249B-99FA-575B72193EA7}"/>
              </a:ext>
            </a:extLst>
          </p:cNvPr>
          <p:cNvSpPr/>
          <p:nvPr/>
        </p:nvSpPr>
        <p:spPr>
          <a:xfrm>
            <a:off x="375103" y="6434255"/>
            <a:ext cx="434897" cy="34568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1A5198-27A4-A81D-A69F-FCAA757F181D}"/>
              </a:ext>
            </a:extLst>
          </p:cNvPr>
          <p:cNvCxnSpPr/>
          <p:nvPr/>
        </p:nvCxnSpPr>
        <p:spPr>
          <a:xfrm flipV="1">
            <a:off x="1025912" y="3902927"/>
            <a:ext cx="0" cy="25313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6CF666-6E90-4D6D-F630-6084D35204F0}"/>
              </a:ext>
            </a:extLst>
          </p:cNvPr>
          <p:cNvCxnSpPr>
            <a:cxnSpLocks/>
          </p:cNvCxnSpPr>
          <p:nvPr/>
        </p:nvCxnSpPr>
        <p:spPr>
          <a:xfrm>
            <a:off x="1133707" y="3973678"/>
            <a:ext cx="450881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5F2C35-5AC5-87C5-1F89-8E31CC63FA34}"/>
              </a:ext>
            </a:extLst>
          </p:cNvPr>
          <p:cNvCxnSpPr>
            <a:cxnSpLocks/>
          </p:cNvCxnSpPr>
          <p:nvPr/>
        </p:nvCxnSpPr>
        <p:spPr>
          <a:xfrm flipV="1">
            <a:off x="1178312" y="4159405"/>
            <a:ext cx="4464205" cy="242725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7AEA05-BBBA-B802-D576-AA8B6D66456E}"/>
              </a:ext>
            </a:extLst>
          </p:cNvPr>
          <p:cNvSpPr txBox="1"/>
          <p:nvPr/>
        </p:nvSpPr>
        <p:spPr>
          <a:xfrm rot="19846126">
            <a:off x="1975453" y="5065351"/>
            <a:ext cx="2350038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Euclidean Distance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A27D7-59F0-ED9D-5C2C-A4222006F22B}"/>
              </a:ext>
            </a:extLst>
          </p:cNvPr>
          <p:cNvSpPr txBox="1"/>
          <p:nvPr/>
        </p:nvSpPr>
        <p:spPr>
          <a:xfrm rot="19846126">
            <a:off x="305493" y="4068581"/>
            <a:ext cx="25095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Manhattan Distance</a:t>
            </a:r>
          </a:p>
        </p:txBody>
      </p:sp>
    </p:spTree>
    <p:extLst>
      <p:ext uri="{BB962C8B-B14F-4D97-AF65-F5344CB8AC3E}">
        <p14:creationId xmlns:p14="http://schemas.microsoft.com/office/powerpoint/2010/main" val="124369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17F3-05EE-0D6F-26E2-35FF310A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04156-7C80-C13D-C637-91460DC85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greedy search, we expand the node closest to the goal node. The “closeness” is estimated by a heuristic h(x) .</a:t>
            </a:r>
          </a:p>
          <a:p>
            <a:endParaRPr lang="en-US" dirty="0"/>
          </a:p>
          <a:p>
            <a:r>
              <a:rPr lang="en-US" b="1" dirty="0"/>
              <a:t>Heuristic</a:t>
            </a:r>
            <a:r>
              <a:rPr lang="en-US" dirty="0"/>
              <a:t>: A heuristic h is defined as-</a:t>
            </a:r>
            <a:br>
              <a:rPr lang="en-US" dirty="0"/>
            </a:br>
            <a:r>
              <a:rPr lang="en-US" dirty="0"/>
              <a:t>h(x) = Estimate of distance of node x from the goal node.</a:t>
            </a:r>
            <a:br>
              <a:rPr lang="en-US" dirty="0"/>
            </a:br>
            <a:r>
              <a:rPr lang="en-US" dirty="0"/>
              <a:t>Lower the value of h(x), closer is the node from the goal.</a:t>
            </a:r>
          </a:p>
          <a:p>
            <a:endParaRPr lang="en-US" dirty="0"/>
          </a:p>
          <a:p>
            <a:r>
              <a:rPr lang="en-US" b="1" dirty="0"/>
              <a:t>Strategy</a:t>
            </a:r>
            <a:r>
              <a:rPr lang="en-US" dirty="0"/>
              <a:t>: Expand the node closest to the goal state, i.e. expand the node with lower h value.</a:t>
            </a:r>
          </a:p>
        </p:txBody>
      </p:sp>
    </p:spTree>
    <p:extLst>
      <p:ext uri="{BB962C8B-B14F-4D97-AF65-F5344CB8AC3E}">
        <p14:creationId xmlns:p14="http://schemas.microsoft.com/office/powerpoint/2010/main" val="166308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33132-5444-C9DA-3D30-58E0A947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(S is start, G is goal)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4F8BF8-B414-3219-3AA7-50FB6B0BD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" y="2427418"/>
            <a:ext cx="6447619" cy="362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6CE5B8-AC9A-A70E-DB15-B1118A54E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194" y="1906858"/>
            <a:ext cx="4161905" cy="4848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2A1FD9-89A2-98FA-A686-0274DE0FE2E3}"/>
              </a:ext>
            </a:extLst>
          </p:cNvPr>
          <p:cNvSpPr/>
          <p:nvPr/>
        </p:nvSpPr>
        <p:spPr>
          <a:xfrm>
            <a:off x="8407381" y="622614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S -&gt; D -&gt; E -&gt; 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8CDE6-2F6F-06CD-BC3E-CB13A1D85C6F}"/>
              </a:ext>
            </a:extLst>
          </p:cNvPr>
          <p:cNvSpPr/>
          <p:nvPr/>
        </p:nvSpPr>
        <p:spPr>
          <a:xfrm>
            <a:off x="7639194" y="6226146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Roboto"/>
              </a:rPr>
              <a:t>Path: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5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3CF6-289D-99F7-5761-152BE10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 Problem with Greedy Best First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7A4560-5117-B1F5-F7BB-70B8E38AA2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r="20803"/>
          <a:stretch>
            <a:fillRect/>
          </a:stretch>
        </p:blipFill>
        <p:spPr bwMode="auto">
          <a:xfrm>
            <a:off x="0" y="2343215"/>
            <a:ext cx="7259444" cy="451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EFDBDF-D56D-2E15-0441-EDB94167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58"/>
          <a:stretch>
            <a:fillRect/>
          </a:stretch>
        </p:blipFill>
        <p:spPr>
          <a:xfrm>
            <a:off x="6913756" y="1985480"/>
            <a:ext cx="5278244" cy="26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1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6B27-2A02-0502-E290-191D6ACA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go wrong?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C441F2A-BDC2-6F01-164C-C7C35D2CB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02" y="1901022"/>
            <a:ext cx="8274459" cy="4956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CF7DBF-0BBC-262D-BDA4-F43DBE482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78" y="55760"/>
            <a:ext cx="1845262" cy="184526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A6AC6C5-8E4A-8555-1E86-E7C037DA3D01}"/>
              </a:ext>
            </a:extLst>
          </p:cNvPr>
          <p:cNvSpPr/>
          <p:nvPr/>
        </p:nvSpPr>
        <p:spPr>
          <a:xfrm>
            <a:off x="2893660" y="3086007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A65C1F-B18B-CF62-2270-702E9332B4F1}"/>
              </a:ext>
            </a:extLst>
          </p:cNvPr>
          <p:cNvSpPr/>
          <p:nvPr/>
        </p:nvSpPr>
        <p:spPr>
          <a:xfrm>
            <a:off x="5235419" y="4123069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3C8F8E-591A-E380-0EA8-944CF11362F1}"/>
              </a:ext>
            </a:extLst>
          </p:cNvPr>
          <p:cNvSpPr/>
          <p:nvPr/>
        </p:nvSpPr>
        <p:spPr>
          <a:xfrm>
            <a:off x="4544044" y="4691781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7CD558-C255-D7FF-E2C1-070718440948}"/>
              </a:ext>
            </a:extLst>
          </p:cNvPr>
          <p:cNvSpPr/>
          <p:nvPr/>
        </p:nvSpPr>
        <p:spPr>
          <a:xfrm>
            <a:off x="7763029" y="5267928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FC8C1E-022C-6FA5-F6C0-C3139A1EDBBD}"/>
              </a:ext>
            </a:extLst>
          </p:cNvPr>
          <p:cNvSpPr/>
          <p:nvPr/>
        </p:nvSpPr>
        <p:spPr>
          <a:xfrm>
            <a:off x="7060503" y="5836640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E1519A0-DE5E-7321-41F0-1D9F7D460EF9}"/>
              </a:ext>
            </a:extLst>
          </p:cNvPr>
          <p:cNvSpPr/>
          <p:nvPr/>
        </p:nvSpPr>
        <p:spPr>
          <a:xfrm>
            <a:off x="8052961" y="6461108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51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65638" y="5332413"/>
            <a:ext cx="7726362" cy="1200150"/>
          </a:xfrm>
        </p:spPr>
        <p:txBody>
          <a:bodyPr>
            <a:no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+mn-lt"/>
              </a:rPr>
              <a:t>Greedy search leads to a minimal cost search because no node off the solution path is expanded. However, it does not find the optimal path: the path it found via Sibiu and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Fagaras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to Bucharest is 13 miles longer than the path through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Pimnicu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Vilcea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and Pitesti.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15" y="325437"/>
            <a:ext cx="10444163" cy="4351337"/>
          </a:xfrm>
        </p:spPr>
      </p:pic>
      <p:sp>
        <p:nvSpPr>
          <p:cNvPr id="5" name="TextBox 4"/>
          <p:cNvSpPr txBox="1"/>
          <p:nvPr/>
        </p:nvSpPr>
        <p:spPr>
          <a:xfrm>
            <a:off x="965915" y="5254580"/>
            <a:ext cx="349017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Red Path (GBF)=431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00B050"/>
                </a:solidFill>
              </a:rPr>
              <a:t>Green Path (UCS)= 418</a:t>
            </a:r>
          </a:p>
        </p:txBody>
      </p:sp>
      <p:cxnSp>
        <p:nvCxnSpPr>
          <p:cNvPr id="7" name="Curved Connector 6"/>
          <p:cNvCxnSpPr/>
          <p:nvPr/>
        </p:nvCxnSpPr>
        <p:spPr>
          <a:xfrm>
            <a:off x="1610591" y="1563188"/>
            <a:ext cx="4682007" cy="2150772"/>
          </a:xfrm>
          <a:prstGeom prst="curvedConnector3">
            <a:avLst>
              <a:gd name="adj1" fmla="val 79158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>
            <a:off x="1681897" y="1619543"/>
            <a:ext cx="4566097" cy="2167642"/>
          </a:xfrm>
          <a:prstGeom prst="curvedConnector3">
            <a:avLst>
              <a:gd name="adj1" fmla="val 45487"/>
            </a:avLst>
          </a:prstGeom>
          <a:ln w="28575"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35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BE11-E5E3-AE38-964A-8D52563D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3AC4-2DC6-4482-A7C2-0F17B99E6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dirty="0"/>
              <a:t>A* Search, combines the strengths of </a:t>
            </a:r>
            <a:r>
              <a:rPr lang="en-US" b="1" dirty="0">
                <a:solidFill>
                  <a:schemeClr val="accent3"/>
                </a:solidFill>
              </a:rPr>
              <a:t>uniform-cost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search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3"/>
                </a:solidFill>
              </a:rPr>
              <a:t>greedy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search</a:t>
            </a:r>
            <a:r>
              <a:rPr lang="en-US" dirty="0"/>
              <a:t>. In this search, the heuristic is the </a:t>
            </a:r>
            <a:r>
              <a:rPr lang="en-US" b="1" dirty="0"/>
              <a:t>summation</a:t>
            </a:r>
            <a:r>
              <a:rPr lang="en-US" dirty="0"/>
              <a:t> </a:t>
            </a:r>
            <a:r>
              <a:rPr lang="en-US" b="1" dirty="0"/>
              <a:t>of</a:t>
            </a:r>
            <a:r>
              <a:rPr lang="en-US" dirty="0"/>
              <a:t> the </a:t>
            </a:r>
            <a:r>
              <a:rPr lang="en-US" b="1" dirty="0"/>
              <a:t>cost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en-US" b="1" dirty="0"/>
              <a:t>UCS</a:t>
            </a:r>
            <a:r>
              <a:rPr lang="en-US" dirty="0"/>
              <a:t>, denoted by g(x), and the </a:t>
            </a:r>
            <a:r>
              <a:rPr lang="en-US" b="1" dirty="0"/>
              <a:t>cost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en-US" b="1" dirty="0"/>
              <a:t>greedy</a:t>
            </a:r>
            <a:r>
              <a:rPr lang="en-US" dirty="0"/>
              <a:t> </a:t>
            </a:r>
            <a:r>
              <a:rPr lang="en-US" b="1" dirty="0"/>
              <a:t>search</a:t>
            </a:r>
            <a:r>
              <a:rPr lang="en-US" dirty="0"/>
              <a:t>, denoted by h(x). The summed cost is denoted by f(x).</a:t>
            </a:r>
          </a:p>
          <a:p>
            <a:pPr lvl="1"/>
            <a:r>
              <a:rPr lang="en-US" b="1" dirty="0"/>
              <a:t>Heuristic</a:t>
            </a:r>
            <a:r>
              <a:rPr lang="en-US" dirty="0"/>
              <a:t>: The following points should be noted w.r.t heuristics in A* search.</a:t>
            </a:r>
          </a:p>
          <a:p>
            <a:pPr lvl="1"/>
            <a:r>
              <a:rPr lang="en-US" dirty="0"/>
              <a:t>A* Search orders by the sum: </a:t>
            </a:r>
            <a:r>
              <a:rPr lang="en-US" b="1" dirty="0"/>
              <a:t>f(x) = g(x) + h(x)</a:t>
            </a:r>
          </a:p>
          <a:p>
            <a:endParaRPr lang="en-US" dirty="0"/>
          </a:p>
          <a:p>
            <a:r>
              <a:rPr lang="en-US" b="1" dirty="0"/>
              <a:t>Uniform-cost</a:t>
            </a:r>
            <a:r>
              <a:rPr lang="en-US" dirty="0"/>
              <a:t> orders by </a:t>
            </a:r>
            <a:r>
              <a:rPr lang="en-US" b="1" dirty="0">
                <a:solidFill>
                  <a:schemeClr val="accent3"/>
                </a:solidFill>
              </a:rPr>
              <a:t>path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cost</a:t>
            </a:r>
            <a:r>
              <a:rPr lang="en-US" dirty="0"/>
              <a:t>, or backward cost  </a:t>
            </a:r>
            <a:r>
              <a:rPr lang="en-US" b="1" dirty="0"/>
              <a:t>g(x)</a:t>
            </a:r>
          </a:p>
          <a:p>
            <a:r>
              <a:rPr lang="en-US" b="1" dirty="0"/>
              <a:t>Greedy</a:t>
            </a:r>
            <a:r>
              <a:rPr lang="en-US" dirty="0"/>
              <a:t> orders by </a:t>
            </a:r>
            <a:r>
              <a:rPr lang="en-US" b="1" dirty="0">
                <a:solidFill>
                  <a:schemeClr val="accent3"/>
                </a:solidFill>
              </a:rPr>
              <a:t>goal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proximity</a:t>
            </a:r>
            <a:r>
              <a:rPr lang="en-US" dirty="0"/>
              <a:t>, or forward cost  </a:t>
            </a:r>
            <a:r>
              <a:rPr lang="en-US" b="1" dirty="0"/>
              <a:t>h(x)</a:t>
            </a:r>
          </a:p>
        </p:txBody>
      </p:sp>
    </p:spTree>
    <p:extLst>
      <p:ext uri="{BB962C8B-B14F-4D97-AF65-F5344CB8AC3E}">
        <p14:creationId xmlns:p14="http://schemas.microsoft.com/office/powerpoint/2010/main" val="2771619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3AA0-34C4-96FF-8DDE-DE3955CD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A* Search to this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BED499D5-0824-FE70-E342-DF20271F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r="20803"/>
          <a:stretch>
            <a:fillRect/>
          </a:stretch>
        </p:blipFill>
        <p:spPr bwMode="auto">
          <a:xfrm>
            <a:off x="0" y="2343215"/>
            <a:ext cx="7259444" cy="451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65C757-E96B-05C2-4D5E-D80849261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58"/>
          <a:stretch>
            <a:fillRect/>
          </a:stretch>
        </p:blipFill>
        <p:spPr>
          <a:xfrm>
            <a:off x="6913756" y="1985480"/>
            <a:ext cx="5278244" cy="26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1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A81AD-E00C-59FE-964A-3FCF6A97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– Solution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1645D3-AFB1-7184-CD34-9C5E9C1C5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594" y="1902131"/>
            <a:ext cx="9887404" cy="495586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4507508-9452-8263-D6FA-D3666F3AD5BD}"/>
              </a:ext>
            </a:extLst>
          </p:cNvPr>
          <p:cNvSpPr/>
          <p:nvPr/>
        </p:nvSpPr>
        <p:spPr>
          <a:xfrm>
            <a:off x="2202288" y="2829528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0580E0-6431-AF09-3E5D-FE7B08383F7E}"/>
              </a:ext>
            </a:extLst>
          </p:cNvPr>
          <p:cNvSpPr/>
          <p:nvPr/>
        </p:nvSpPr>
        <p:spPr>
          <a:xfrm>
            <a:off x="6964788" y="4297022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2CBE04-FCE3-E856-6C89-3871E51131CE}"/>
              </a:ext>
            </a:extLst>
          </p:cNvPr>
          <p:cNvSpPr/>
          <p:nvPr/>
        </p:nvSpPr>
        <p:spPr>
          <a:xfrm>
            <a:off x="9614132" y="6283165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90C038-808D-BAA8-D87A-1D7CBE915F20}"/>
              </a:ext>
            </a:extLst>
          </p:cNvPr>
          <p:cNvSpPr/>
          <p:nvPr/>
        </p:nvSpPr>
        <p:spPr>
          <a:xfrm>
            <a:off x="5298610" y="3717909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9216A1-5143-7178-9E04-C1798802D0D4}"/>
              </a:ext>
            </a:extLst>
          </p:cNvPr>
          <p:cNvSpPr/>
          <p:nvPr/>
        </p:nvSpPr>
        <p:spPr>
          <a:xfrm>
            <a:off x="7517703" y="5067206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73FE0D-E31D-5AD7-2C9F-2D9CFEC42BE6}"/>
              </a:ext>
            </a:extLst>
          </p:cNvPr>
          <p:cNvSpPr/>
          <p:nvPr/>
        </p:nvSpPr>
        <p:spPr>
          <a:xfrm>
            <a:off x="9190386" y="5658221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86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4BCB-0A53-BA85-7A7B-1CF5DF1D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Admissible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C0A48-3618-CF68-484B-C58A81492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heuristic h is admissible (optimistic) if:</a:t>
            </a:r>
          </a:p>
          <a:p>
            <a:pPr marL="0" indent="0">
              <a:buNone/>
            </a:pPr>
            <a:r>
              <a:rPr lang="en-US" dirty="0"/>
              <a:t>							</a:t>
            </a:r>
            <a:r>
              <a:rPr lang="en-US" sz="2800" b="1" dirty="0">
                <a:solidFill>
                  <a:schemeClr val="accent3"/>
                </a:solidFill>
              </a:rPr>
              <a:t>0  ≤  h(n)  ≤  h*(n)</a:t>
            </a:r>
            <a:endParaRPr lang="en-US" dirty="0"/>
          </a:p>
          <a:p>
            <a:r>
              <a:rPr lang="en-US" dirty="0"/>
              <a:t>	where h*(n) is the true cost to a nearest goal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78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0896-A921-63B2-EBCE-23BA780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for Practice (Solve using A*)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9CA379-81EC-A510-D944-223ECC06B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852" y="2222500"/>
            <a:ext cx="6318295" cy="363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11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3CD9-F214-E842-0135-8B88FF9E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Solution. (there’s a typo on E)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5040D5-D26A-B179-8BCD-D4EFF0420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293" y="1814296"/>
            <a:ext cx="8829412" cy="53029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E0EEEA-B41B-30BE-D081-DBC592239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17" y="6304002"/>
            <a:ext cx="415940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Path: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 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 -&gt; D -&gt; B -&gt; C -&gt; E -&gt; 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Cost: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 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9224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49F564-C4B1-179A-6C72-E65F84B36F7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520067" y="0"/>
            <a:ext cx="5151863" cy="6184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23E98-EE86-0A31-7978-B46DA4796769}"/>
              </a:ext>
            </a:extLst>
          </p:cNvPr>
          <p:cNvSpPr txBox="1"/>
          <p:nvPr/>
        </p:nvSpPr>
        <p:spPr>
          <a:xfrm>
            <a:off x="1115120" y="6202048"/>
            <a:ext cx="9961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https://www.codecademy.com/resources/docs/ai/search-algorithms/a-star-search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184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BFB8-8F0B-9557-A2AC-4E40AB81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Websites with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BCCA5-6861-FDE8-46B2-EA26F2E53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https://www.gatevidyalay.com/a-algorithm-a-algorithm-example-in-ai/</a:t>
            </a:r>
            <a:endParaRPr lang="en-US" dirty="0"/>
          </a:p>
          <a:p>
            <a:r>
              <a:rPr lang="en-US" dirty="0">
                <a:hlinkClick r:id="rId3"/>
              </a:rPr>
              <a:t>https://medium.com/nerd-for-tech/ai-search-algorithms-with-examples-54772c6d973a</a:t>
            </a:r>
            <a:endParaRPr lang="en-US" dirty="0"/>
          </a:p>
          <a:p>
            <a:r>
              <a:rPr lang="en-US" dirty="0">
                <a:hlinkClick r:id="rId4"/>
              </a:rPr>
              <a:t>https://www.101computing.net/a-star-search-algorithm/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9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B866F5-29C6-0532-2C76-8DF119A1E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757602-BCBC-E3F9-9A8C-6576B2DAA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3024798">
            <a:off x="2274907" y="5312664"/>
            <a:ext cx="533607" cy="434974"/>
          </a:xfrm>
        </p:spPr>
        <p:txBody>
          <a:bodyPr/>
          <a:lstStyle/>
          <a:p>
            <a:r>
              <a:rPr lang="en-US" dirty="0"/>
              <a:t>&gt;:3</a:t>
            </a:r>
          </a:p>
        </p:txBody>
      </p:sp>
    </p:spTree>
    <p:extLst>
      <p:ext uri="{BB962C8B-B14F-4D97-AF65-F5344CB8AC3E}">
        <p14:creationId xmlns:p14="http://schemas.microsoft.com/office/powerpoint/2010/main" val="2479222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rgbClr val="181818"/>
      </a:dk1>
      <a:lt1>
        <a:srgbClr val="181818"/>
      </a:lt1>
      <a:dk2>
        <a:srgbClr val="FFFFFF"/>
      </a:dk2>
      <a:lt2>
        <a:srgbClr val="FFFFFF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2313</TotalTime>
  <Words>599</Words>
  <Application>Microsoft Office PowerPoint</Application>
  <PresentationFormat>Widescreen</PresentationFormat>
  <Paragraphs>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Century Gothic</vt:lpstr>
      <vt:lpstr>Consolas</vt:lpstr>
      <vt:lpstr>Roboto</vt:lpstr>
      <vt:lpstr>Wingdings 2</vt:lpstr>
      <vt:lpstr>Quotable</vt:lpstr>
      <vt:lpstr>Solving Problems by Searching</vt:lpstr>
      <vt:lpstr>Informed Search Strategies</vt:lpstr>
      <vt:lpstr>Heuristic Search</vt:lpstr>
      <vt:lpstr>Search Heuristics</vt:lpstr>
      <vt:lpstr>How can you navigate this?</vt:lpstr>
      <vt:lpstr>Greedy Best First Search</vt:lpstr>
      <vt:lpstr>Example (S is start, G is goal)</vt:lpstr>
      <vt:lpstr>Traveling Problem with Greedy Best First</vt:lpstr>
      <vt:lpstr>What could go wrong?</vt:lpstr>
      <vt:lpstr>Greedy search leads to a minimal cost search because no node off the solution path is expanded. However, it does not find the optimal path: the path it found via Sibiu and Fagaras to Bucharest is 13 miles longer than the path through Pimnicu Vilcea and Pitesti.</vt:lpstr>
      <vt:lpstr>A* Search</vt:lpstr>
      <vt:lpstr>Apply A* Search to this</vt:lpstr>
      <vt:lpstr>A* Search – Solution</vt:lpstr>
      <vt:lpstr>Admissible Heuristics</vt:lpstr>
      <vt:lpstr>Problems for Practice (Solve using A*)</vt:lpstr>
      <vt:lpstr>A* Search Solution. (there’s a typo on E)</vt:lpstr>
      <vt:lpstr>PowerPoint Presentation</vt:lpstr>
      <vt:lpstr>Other Websites with examples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477</cp:revision>
  <dcterms:created xsi:type="dcterms:W3CDTF">2026-01-20T09:40:17Z</dcterms:created>
  <dcterms:modified xsi:type="dcterms:W3CDTF">2026-02-12T10:49:21Z</dcterms:modified>
</cp:coreProperties>
</file>