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5"/>
  </p:notesMasterIdLst>
  <p:sldIdLst>
    <p:sldId id="256" r:id="rId2"/>
    <p:sldId id="282" r:id="rId3"/>
    <p:sldId id="289" r:id="rId4"/>
    <p:sldId id="283" r:id="rId5"/>
    <p:sldId id="284" r:id="rId6"/>
    <p:sldId id="285" r:id="rId7"/>
    <p:sldId id="286" r:id="rId8"/>
    <p:sldId id="287" r:id="rId9"/>
    <p:sldId id="303" r:id="rId10"/>
    <p:sldId id="288" r:id="rId11"/>
    <p:sldId id="290" r:id="rId12"/>
    <p:sldId id="304" r:id="rId13"/>
    <p:sldId id="305" r:id="rId14"/>
    <p:sldId id="306" r:id="rId15"/>
    <p:sldId id="307" r:id="rId16"/>
    <p:sldId id="291" r:id="rId17"/>
    <p:sldId id="293" r:id="rId18"/>
    <p:sldId id="294" r:id="rId19"/>
    <p:sldId id="308" r:id="rId20"/>
    <p:sldId id="309" r:id="rId21"/>
    <p:sldId id="311" r:id="rId22"/>
    <p:sldId id="312" r:id="rId23"/>
    <p:sldId id="313" r:id="rId24"/>
    <p:sldId id="314" r:id="rId25"/>
    <p:sldId id="315" r:id="rId26"/>
    <p:sldId id="316" r:id="rId27"/>
    <p:sldId id="317" r:id="rId28"/>
    <p:sldId id="318" r:id="rId29"/>
    <p:sldId id="319" r:id="rId30"/>
    <p:sldId id="320" r:id="rId31"/>
    <p:sldId id="321" r:id="rId32"/>
    <p:sldId id="322" r:id="rId33"/>
    <p:sldId id="323" r:id="rId34"/>
    <p:sldId id="324" r:id="rId35"/>
    <p:sldId id="325" r:id="rId36"/>
    <p:sldId id="326" r:id="rId37"/>
    <p:sldId id="327" r:id="rId38"/>
    <p:sldId id="328" r:id="rId39"/>
    <p:sldId id="329" r:id="rId40"/>
    <p:sldId id="330" r:id="rId41"/>
    <p:sldId id="331" r:id="rId42"/>
    <p:sldId id="333" r:id="rId43"/>
    <p:sldId id="332" r:id="rId44"/>
    <p:sldId id="334" r:id="rId45"/>
    <p:sldId id="335" r:id="rId46"/>
    <p:sldId id="336" r:id="rId47"/>
    <p:sldId id="337" r:id="rId48"/>
    <p:sldId id="338" r:id="rId49"/>
    <p:sldId id="295" r:id="rId50"/>
    <p:sldId id="292" r:id="rId51"/>
    <p:sldId id="296" r:id="rId52"/>
    <p:sldId id="297" r:id="rId53"/>
    <p:sldId id="280" r:id="rId5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8298" autoAdjust="0"/>
  </p:normalViewPr>
  <p:slideViewPr>
    <p:cSldViewPr snapToGrid="0">
      <p:cViewPr varScale="1">
        <p:scale>
          <a:sx n="86" d="100"/>
          <a:sy n="86" d="100"/>
        </p:scale>
        <p:origin x="151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diagrams/_rels/drawing1.xml.rels><?xml version="1.0" encoding="UTF-8" standalone="yes"?>
<Relationships xmlns="http://schemas.openxmlformats.org/package/2006/relationships"><Relationship Id="rId1" Type="http://schemas.openxmlformats.org/officeDocument/2006/relationships/image" Target="../media/image1.jpeg"/></Relationships>
</file>

<file path=ppt/diagrams/colors1.xml><?xml version="1.0" encoding="utf-8"?>
<dgm:colorsDef xmlns:dgm="http://schemas.openxmlformats.org/drawingml/2006/diagram" xmlns:a="http://schemas.openxmlformats.org/drawingml/2006/main" uniqueId="urn:microsoft.com/office/officeart/2005/8/colors/accent5_4">
  <dgm:title val=""/>
  <dgm:desc val=""/>
  <dgm:catLst>
    <dgm:cat type="accent5" pri="11400"/>
  </dgm:catLst>
  <dgm:styleLbl name="node0">
    <dgm:fillClrLst meth="cycle">
      <a:schemeClr val="accent5">
        <a:shade val="60000"/>
      </a:schemeClr>
    </dgm:fillClrLst>
    <dgm:linClrLst meth="repeat">
      <a:schemeClr val="lt1"/>
    </dgm:linClrLst>
    <dgm:effectClrLst/>
    <dgm:txLinClrLst/>
    <dgm:txFillClrLst/>
    <dgm:txEffectClrLst/>
  </dgm:styleLbl>
  <dgm:styleLbl name="node1">
    <dgm:fillClrLst meth="cycle">
      <a:schemeClr val="accent5">
        <a:shade val="50000"/>
      </a:schemeClr>
      <a:schemeClr val="accent5">
        <a:tint val="55000"/>
      </a:schemeClr>
    </dgm:fillClrLst>
    <dgm:linClrLst meth="repeat">
      <a:schemeClr val="lt1"/>
    </dgm:linClrLst>
    <dgm:effectClrLst/>
    <dgm:txLinClrLst/>
    <dgm:txFillClrLst/>
    <dgm:txEffectClrLst/>
  </dgm:styleLbl>
  <dgm:styleLbl name="alignNode1">
    <dgm:fillClrLst meth="cycle">
      <a:schemeClr val="accent5">
        <a:shade val="50000"/>
      </a:schemeClr>
      <a:schemeClr val="accent5">
        <a:tint val="55000"/>
      </a:schemeClr>
    </dgm:fillClrLst>
    <dgm:linClrLst meth="cycle">
      <a:schemeClr val="accent5">
        <a:shade val="50000"/>
      </a:schemeClr>
      <a:schemeClr val="accent5">
        <a:tint val="55000"/>
      </a:schemeClr>
    </dgm:linClrLst>
    <dgm:effectClrLst/>
    <dgm:txLinClrLst/>
    <dgm:txFillClrLst/>
    <dgm:txEffectClrLst/>
  </dgm:styleLbl>
  <dgm:styleLbl name="lnNode1">
    <dgm:fillClrLst meth="cycle">
      <a:schemeClr val="accent5">
        <a:shade val="50000"/>
      </a:schemeClr>
      <a:schemeClr val="accent5">
        <a:tint val="55000"/>
      </a:schemeClr>
    </dgm:fillClrLst>
    <dgm:linClrLst meth="repeat">
      <a:schemeClr val="lt1"/>
    </dgm:linClrLst>
    <dgm:effectClrLst/>
    <dgm:txLinClrLst/>
    <dgm:txFillClrLst/>
    <dgm:txEffectClrLst/>
  </dgm:styleLbl>
  <dgm:styleLbl name="vennNode1">
    <dgm:fillClrLst meth="cycle">
      <a:schemeClr val="accent5">
        <a:shade val="80000"/>
        <a:alpha val="50000"/>
      </a:schemeClr>
      <a:schemeClr val="accent5">
        <a:tint val="50000"/>
        <a:alpha val="50000"/>
      </a:schemeClr>
    </dgm:fillClrLst>
    <dgm:linClrLst meth="repeat">
      <a:schemeClr val="lt1"/>
    </dgm:linClrLst>
    <dgm:effectClrLst/>
    <dgm:txLinClrLst/>
    <dgm:txFillClrLst/>
    <dgm:txEffectClrLst/>
  </dgm:styleLbl>
  <dgm:styleLbl name="node2">
    <dgm:fillClrLst>
      <a:schemeClr val="accent5">
        <a:shade val="80000"/>
      </a:schemeClr>
    </dgm:fillClrLst>
    <dgm:linClrLst meth="repeat">
      <a:schemeClr val="lt1"/>
    </dgm:linClrLst>
    <dgm:effectClrLst/>
    <dgm:txLinClrLst/>
    <dgm:txFillClrLst/>
    <dgm:txEffectClrLst/>
  </dgm:styleLbl>
  <dgm:styleLbl name="node3">
    <dgm:fillClrLst>
      <a:schemeClr val="accent5">
        <a:tint val="99000"/>
      </a:schemeClr>
    </dgm:fillClrLst>
    <dgm:linClrLst meth="repeat">
      <a:schemeClr val="lt1"/>
    </dgm:linClrLst>
    <dgm:effectClrLst/>
    <dgm:txLinClrLst/>
    <dgm:txFillClrLst/>
    <dgm:txEffectClrLst/>
  </dgm:styleLbl>
  <dgm:styleLbl name="node4">
    <dgm:fillClrLst>
      <a:schemeClr val="accent5">
        <a:tint val="70000"/>
      </a:schemeClr>
    </dgm:fillClrLst>
    <dgm:linClrLst meth="repeat">
      <a:schemeClr val="lt1"/>
    </dgm:linClrLst>
    <dgm:effectClrLst/>
    <dgm:txLinClrLst/>
    <dgm:txFillClrLst/>
    <dgm:txEffectClrLst/>
  </dgm:styleLbl>
  <dgm:styleLbl name="fgImgPlace1">
    <dgm:fillClrLst>
      <a:schemeClr val="accent5">
        <a:tint val="50000"/>
      </a:schemeClr>
      <a:schemeClr val="accent5">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fg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bg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fg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sibTrans1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shade val="80000"/>
      </a:schemeClr>
    </dgm:fillClrLst>
    <dgm:linClrLst meth="repeat">
      <a:schemeClr val="lt1"/>
    </dgm:linClrLst>
    <dgm:effectClrLst/>
    <dgm:txLinClrLst/>
    <dgm:txFillClrLst/>
    <dgm:txEffectClrLst/>
  </dgm:styleLbl>
  <dgm:styleLbl name="asst1">
    <dgm:fillClrLst meth="repeat">
      <a:schemeClr val="accent5">
        <a:shade val="80000"/>
      </a:schemeClr>
    </dgm:fillClrLst>
    <dgm:linClrLst meth="repeat">
      <a:schemeClr val="lt1"/>
    </dgm:linClrLst>
    <dgm:effectClrLst/>
    <dgm:txLinClrLst/>
    <dgm:txFillClrLst/>
    <dgm:txEffectClrLst/>
  </dgm:styleLbl>
  <dgm:styleLbl name="asst2">
    <dgm:fillClrLst>
      <a:schemeClr val="accent5">
        <a:tint val="90000"/>
      </a:schemeClr>
    </dgm:fillClrLst>
    <dgm:linClrLst meth="repeat">
      <a:schemeClr val="lt1"/>
    </dgm:linClrLst>
    <dgm:effectClrLst/>
    <dgm:txLinClrLst/>
    <dgm:txFillClrLst/>
    <dgm:txEffectClrLst/>
  </dgm:styleLbl>
  <dgm:styleLbl name="asst3">
    <dgm:fillClrLst>
      <a:schemeClr val="accent5">
        <a:tint val="70000"/>
      </a:schemeClr>
    </dgm:fillClrLst>
    <dgm:linClrLst meth="repeat">
      <a:schemeClr val="lt1"/>
    </dgm:linClrLst>
    <dgm:effectClrLst/>
    <dgm:txLinClrLst/>
    <dgm:txFillClrLst/>
    <dgm:txEffectClrLst/>
  </dgm:styleLbl>
  <dgm:styleLbl name="asst4">
    <dgm:fillClrLst>
      <a:schemeClr val="accent5">
        <a:tint val="50000"/>
      </a:schemeClr>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shade val="80000"/>
      </a:schemeClr>
    </dgm:linClrLst>
    <dgm:effectClrLst/>
    <dgm:txLinClrLst/>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dk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0000"/>
      </a:schemeClr>
    </dgm:fillClrLst>
    <dgm:linClrLst meth="repeat">
      <a:schemeClr val="accent5">
        <a:tint val="90000"/>
      </a:schemeClr>
    </dgm:linClrLst>
    <dgm:effectClrLst/>
    <dgm:txLinClrLst/>
    <dgm:txFillClrLst meth="repeat">
      <a:schemeClr val="tx1"/>
    </dgm:txFillClrLst>
    <dgm:txEffectClrLst/>
  </dgm:styleLbl>
  <dgm:styleLbl name="parChTrans1D3">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5">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55000"/>
      </a:schemeClr>
    </dgm:fillClrLst>
    <dgm:linClrLst meth="repeat">
      <a:schemeClr val="accent5">
        <a:alpha val="90000"/>
        <a:tint val="55000"/>
      </a:schemeClr>
    </dgm:linClrLst>
    <dgm:effectClrLst/>
    <dgm:txLinClrLst/>
    <dgm:txFillClrLst meth="repeat">
      <a:schemeClr val="dk1"/>
    </dgm:txFillClrLst>
    <dgm:txEffectClrLst/>
  </dgm:styleLbl>
  <dgm:styleLbl name="alignAccFollowNode1">
    <dgm:fillClrLst meth="repeat">
      <a:schemeClr val="accent5">
        <a:alpha val="90000"/>
        <a:tint val="55000"/>
      </a:schemeClr>
    </dgm:fillClrLst>
    <dgm:linClrLst meth="repeat">
      <a:schemeClr val="accent5">
        <a:alpha val="90000"/>
        <a:tint val="55000"/>
      </a:schemeClr>
    </dgm:linClrLst>
    <dgm:effectClrLst/>
    <dgm:txLinClrLst/>
    <dgm:txFillClrLst meth="repeat">
      <a:schemeClr val="dk1"/>
    </dgm:txFillClrLst>
    <dgm:txEffectClrLst/>
  </dgm:styleLbl>
  <dgm:styleLbl name="bgAccFollowNode1">
    <dgm:fillClrLst meth="repeat">
      <a:schemeClr val="accent5">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50000"/>
      </a:schemeClr>
    </dgm:linClrLst>
    <dgm:effectClrLst/>
    <dgm:txLinClrLst/>
    <dgm:txFillClrLst meth="repeat">
      <a:schemeClr val="dk1"/>
    </dgm:txFillClrLst>
    <dgm:txEffectClrLst/>
  </dgm:styleLbl>
  <dgm:styleLbl name="bgShp">
    <dgm:fillClrLst meth="repeat">
      <a:schemeClr val="accent5">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55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4A6414B-4F9A-44E8-B02D-A79EE22C78B1}" type="doc">
      <dgm:prSet loTypeId="urn:microsoft.com/office/officeart/2005/8/layout/orgChart1" loCatId="hierarchy" qsTypeId="urn:microsoft.com/office/officeart/2005/8/quickstyle/3d1" qsCatId="3D" csTypeId="urn:microsoft.com/office/officeart/2005/8/colors/accent5_4" csCatId="accent5" phldr="1"/>
      <dgm:spPr/>
      <dgm:t>
        <a:bodyPr/>
        <a:lstStyle/>
        <a:p>
          <a:endParaRPr lang="en-US"/>
        </a:p>
      </dgm:t>
    </dgm:pt>
    <dgm:pt modelId="{E9EF8B66-66AF-4421-B406-32BE8627C6A8}">
      <dgm:prSet phldrT="[Text]" phldr="0"/>
      <dgm:spPr/>
      <dgm:t>
        <a:bodyPr/>
        <a:lstStyle/>
        <a:p>
          <a:r>
            <a:rPr lang="en-US" dirty="0"/>
            <a:t>Search Algorithms</a:t>
          </a:r>
        </a:p>
      </dgm:t>
    </dgm:pt>
    <dgm:pt modelId="{9FC45D5B-0138-487A-B21D-73A38D11E96F}" type="parTrans" cxnId="{17C7CC8F-18B0-4C53-8CC6-D0F7D9216835}">
      <dgm:prSet/>
      <dgm:spPr/>
      <dgm:t>
        <a:bodyPr/>
        <a:lstStyle/>
        <a:p>
          <a:endParaRPr lang="en-US"/>
        </a:p>
      </dgm:t>
    </dgm:pt>
    <dgm:pt modelId="{1F49C738-0A13-4B92-9BF5-509614141146}" type="sibTrans" cxnId="{17C7CC8F-18B0-4C53-8CC6-D0F7D9216835}">
      <dgm:prSet/>
      <dgm:spPr/>
      <dgm:t>
        <a:bodyPr/>
        <a:lstStyle/>
        <a:p>
          <a:endParaRPr lang="en-US"/>
        </a:p>
      </dgm:t>
    </dgm:pt>
    <dgm:pt modelId="{2040533D-69A8-4048-893C-A73E221F60AD}">
      <dgm:prSet phldrT="[Text]" phldr="0"/>
      <dgm:spPr/>
      <dgm:t>
        <a:bodyPr/>
        <a:lstStyle/>
        <a:p>
          <a:r>
            <a:rPr lang="en-US" dirty="0"/>
            <a:t>Uninformed Search</a:t>
          </a:r>
        </a:p>
      </dgm:t>
    </dgm:pt>
    <dgm:pt modelId="{7D2EFB3D-4A1C-42BA-91D7-7E2B19F117F4}" type="parTrans" cxnId="{B2B0714A-D6C0-4AD2-B622-5E4FCFAE9BD6}">
      <dgm:prSet/>
      <dgm:spPr/>
      <dgm:t>
        <a:bodyPr/>
        <a:lstStyle/>
        <a:p>
          <a:endParaRPr lang="en-US"/>
        </a:p>
      </dgm:t>
    </dgm:pt>
    <dgm:pt modelId="{B5544402-82D0-4046-AA6C-7D5938E88903}" type="sibTrans" cxnId="{B2B0714A-D6C0-4AD2-B622-5E4FCFAE9BD6}">
      <dgm:prSet/>
      <dgm:spPr/>
      <dgm:t>
        <a:bodyPr/>
        <a:lstStyle/>
        <a:p>
          <a:endParaRPr lang="en-US"/>
        </a:p>
      </dgm:t>
    </dgm:pt>
    <dgm:pt modelId="{6E8F9606-B663-4BA0-AEAF-79768FF71C40}">
      <dgm:prSet phldrT="[Text]" phldr="0"/>
      <dgm:spPr/>
      <dgm:t>
        <a:bodyPr/>
        <a:lstStyle/>
        <a:p>
          <a:r>
            <a:rPr lang="en-US" dirty="0"/>
            <a:t>Informed Search</a:t>
          </a:r>
        </a:p>
      </dgm:t>
    </dgm:pt>
    <dgm:pt modelId="{47767087-6BEC-493F-90C7-F25E18D41F82}" type="parTrans" cxnId="{C1474151-DF27-4689-9F44-A0BDCEF0C4DE}">
      <dgm:prSet/>
      <dgm:spPr/>
      <dgm:t>
        <a:bodyPr/>
        <a:lstStyle/>
        <a:p>
          <a:endParaRPr lang="en-US"/>
        </a:p>
      </dgm:t>
    </dgm:pt>
    <dgm:pt modelId="{4D896F25-43BB-4BA6-B3A5-3667CC6E4DA5}" type="sibTrans" cxnId="{C1474151-DF27-4689-9F44-A0BDCEF0C4DE}">
      <dgm:prSet/>
      <dgm:spPr/>
      <dgm:t>
        <a:bodyPr/>
        <a:lstStyle/>
        <a:p>
          <a:endParaRPr lang="en-US"/>
        </a:p>
      </dgm:t>
    </dgm:pt>
    <dgm:pt modelId="{792D0277-B69D-43B1-8A7A-0C4CA2091AD8}" type="pres">
      <dgm:prSet presAssocID="{F4A6414B-4F9A-44E8-B02D-A79EE22C78B1}" presName="hierChild1" presStyleCnt="0">
        <dgm:presLayoutVars>
          <dgm:orgChart val="1"/>
          <dgm:chPref val="1"/>
          <dgm:dir/>
          <dgm:animOne val="branch"/>
          <dgm:animLvl val="lvl"/>
          <dgm:resizeHandles/>
        </dgm:presLayoutVars>
      </dgm:prSet>
      <dgm:spPr/>
    </dgm:pt>
    <dgm:pt modelId="{B01EFF22-4521-4A5A-B295-AC5733F942FE}" type="pres">
      <dgm:prSet presAssocID="{E9EF8B66-66AF-4421-B406-32BE8627C6A8}" presName="hierRoot1" presStyleCnt="0">
        <dgm:presLayoutVars>
          <dgm:hierBranch val="init"/>
        </dgm:presLayoutVars>
      </dgm:prSet>
      <dgm:spPr/>
    </dgm:pt>
    <dgm:pt modelId="{83828162-5716-4ABC-A87E-F9397192E88F}" type="pres">
      <dgm:prSet presAssocID="{E9EF8B66-66AF-4421-B406-32BE8627C6A8}" presName="rootComposite1" presStyleCnt="0"/>
      <dgm:spPr/>
    </dgm:pt>
    <dgm:pt modelId="{246C2892-332D-41DC-A499-0CD4C5D5C0BA}" type="pres">
      <dgm:prSet presAssocID="{E9EF8B66-66AF-4421-B406-32BE8627C6A8}" presName="rootText1" presStyleLbl="node0" presStyleIdx="0" presStyleCnt="1">
        <dgm:presLayoutVars>
          <dgm:chPref val="3"/>
        </dgm:presLayoutVars>
      </dgm:prSet>
      <dgm:spPr/>
    </dgm:pt>
    <dgm:pt modelId="{E21F071C-2167-432B-9897-AA2A771D8F89}" type="pres">
      <dgm:prSet presAssocID="{E9EF8B66-66AF-4421-B406-32BE8627C6A8}" presName="rootConnector1" presStyleLbl="node1" presStyleIdx="0" presStyleCnt="0"/>
      <dgm:spPr/>
    </dgm:pt>
    <dgm:pt modelId="{410BC0DB-DB76-44DB-9607-B94EECCE9BD4}" type="pres">
      <dgm:prSet presAssocID="{E9EF8B66-66AF-4421-B406-32BE8627C6A8}" presName="hierChild2" presStyleCnt="0"/>
      <dgm:spPr/>
    </dgm:pt>
    <dgm:pt modelId="{D05FE4C7-2F3E-4A12-95FE-0B39C7B3A9B0}" type="pres">
      <dgm:prSet presAssocID="{7D2EFB3D-4A1C-42BA-91D7-7E2B19F117F4}" presName="Name37" presStyleLbl="parChTrans1D2" presStyleIdx="0" presStyleCnt="2"/>
      <dgm:spPr/>
    </dgm:pt>
    <dgm:pt modelId="{A0FD2B74-90E2-4F6A-BE21-D6DC33828D8C}" type="pres">
      <dgm:prSet presAssocID="{2040533D-69A8-4048-893C-A73E221F60AD}" presName="hierRoot2" presStyleCnt="0">
        <dgm:presLayoutVars>
          <dgm:hierBranch val="init"/>
        </dgm:presLayoutVars>
      </dgm:prSet>
      <dgm:spPr/>
    </dgm:pt>
    <dgm:pt modelId="{FF495FB8-E49D-4059-9432-99986D9475C6}" type="pres">
      <dgm:prSet presAssocID="{2040533D-69A8-4048-893C-A73E221F60AD}" presName="rootComposite" presStyleCnt="0"/>
      <dgm:spPr/>
    </dgm:pt>
    <dgm:pt modelId="{610B3820-812F-4661-9EF4-EE9E220645E5}" type="pres">
      <dgm:prSet presAssocID="{2040533D-69A8-4048-893C-A73E221F60AD}" presName="rootText" presStyleLbl="node2" presStyleIdx="0" presStyleCnt="2" custLinFactNeighborX="-66113" custLinFactNeighborY="1282">
        <dgm:presLayoutVars>
          <dgm:chPref val="3"/>
        </dgm:presLayoutVars>
      </dgm:prSet>
      <dgm:spPr/>
    </dgm:pt>
    <dgm:pt modelId="{3CB8E14E-5D7A-4C80-AD03-620EBF49B426}" type="pres">
      <dgm:prSet presAssocID="{2040533D-69A8-4048-893C-A73E221F60AD}" presName="rootConnector" presStyleLbl="node2" presStyleIdx="0" presStyleCnt="2"/>
      <dgm:spPr/>
    </dgm:pt>
    <dgm:pt modelId="{3B07FAF6-69AE-42D6-A4F5-5DE0AFED5D09}" type="pres">
      <dgm:prSet presAssocID="{2040533D-69A8-4048-893C-A73E221F60AD}" presName="hierChild4" presStyleCnt="0"/>
      <dgm:spPr/>
    </dgm:pt>
    <dgm:pt modelId="{50A41F61-9F5A-489F-A4A6-8A347124589B}" type="pres">
      <dgm:prSet presAssocID="{2040533D-69A8-4048-893C-A73E221F60AD}" presName="hierChild5" presStyleCnt="0"/>
      <dgm:spPr/>
    </dgm:pt>
    <dgm:pt modelId="{8F815E27-5D13-4B92-A3F8-A360CCB0BA0C}" type="pres">
      <dgm:prSet presAssocID="{47767087-6BEC-493F-90C7-F25E18D41F82}" presName="Name37" presStyleLbl="parChTrans1D2" presStyleIdx="1" presStyleCnt="2"/>
      <dgm:spPr/>
    </dgm:pt>
    <dgm:pt modelId="{CBA9213C-B5D2-4665-BA18-BB6BDD9BF17D}" type="pres">
      <dgm:prSet presAssocID="{6E8F9606-B663-4BA0-AEAF-79768FF71C40}" presName="hierRoot2" presStyleCnt="0">
        <dgm:presLayoutVars>
          <dgm:hierBranch val="init"/>
        </dgm:presLayoutVars>
      </dgm:prSet>
      <dgm:spPr/>
    </dgm:pt>
    <dgm:pt modelId="{56B4EA11-0C02-47CD-B17B-47B23BE5B3DB}" type="pres">
      <dgm:prSet presAssocID="{6E8F9606-B663-4BA0-AEAF-79768FF71C40}" presName="rootComposite" presStyleCnt="0"/>
      <dgm:spPr/>
    </dgm:pt>
    <dgm:pt modelId="{2B8245DA-7A52-4549-A6C8-31D879EBE25B}" type="pres">
      <dgm:prSet presAssocID="{6E8F9606-B663-4BA0-AEAF-79768FF71C40}" presName="rootText" presStyleLbl="node2" presStyleIdx="1" presStyleCnt="2" custLinFactNeighborX="75730" custLinFactNeighborY="2404">
        <dgm:presLayoutVars>
          <dgm:chPref val="3"/>
        </dgm:presLayoutVars>
      </dgm:prSet>
      <dgm:spPr/>
    </dgm:pt>
    <dgm:pt modelId="{20E74B27-E7E7-4D57-AD3E-3643FE1FA2E8}" type="pres">
      <dgm:prSet presAssocID="{6E8F9606-B663-4BA0-AEAF-79768FF71C40}" presName="rootConnector" presStyleLbl="node2" presStyleIdx="1" presStyleCnt="2"/>
      <dgm:spPr/>
    </dgm:pt>
    <dgm:pt modelId="{11FA09E2-83D3-469D-A9B3-407B1C6D7300}" type="pres">
      <dgm:prSet presAssocID="{6E8F9606-B663-4BA0-AEAF-79768FF71C40}" presName="hierChild4" presStyleCnt="0"/>
      <dgm:spPr/>
    </dgm:pt>
    <dgm:pt modelId="{B3782E10-5170-4E4F-BDB7-7EE3E76BC3EE}" type="pres">
      <dgm:prSet presAssocID="{6E8F9606-B663-4BA0-AEAF-79768FF71C40}" presName="hierChild5" presStyleCnt="0"/>
      <dgm:spPr/>
    </dgm:pt>
    <dgm:pt modelId="{005E2A70-3511-4BE7-861D-76366F83E5B3}" type="pres">
      <dgm:prSet presAssocID="{E9EF8B66-66AF-4421-B406-32BE8627C6A8}" presName="hierChild3" presStyleCnt="0"/>
      <dgm:spPr/>
    </dgm:pt>
  </dgm:ptLst>
  <dgm:cxnLst>
    <dgm:cxn modelId="{6F6F6106-7C13-4EDD-9622-41F2CD0EB535}" type="presOf" srcId="{7D2EFB3D-4A1C-42BA-91D7-7E2B19F117F4}" destId="{D05FE4C7-2F3E-4A12-95FE-0B39C7B3A9B0}" srcOrd="0" destOrd="0" presId="urn:microsoft.com/office/officeart/2005/8/layout/orgChart1"/>
    <dgm:cxn modelId="{77016C19-2647-4E36-9BFE-DFB7AFBF0793}" type="presOf" srcId="{F4A6414B-4F9A-44E8-B02D-A79EE22C78B1}" destId="{792D0277-B69D-43B1-8A7A-0C4CA2091AD8}" srcOrd="0" destOrd="0" presId="urn:microsoft.com/office/officeart/2005/8/layout/orgChart1"/>
    <dgm:cxn modelId="{A5BC0A1B-3F91-4344-AF1B-624E8CB5F2C4}" type="presOf" srcId="{E9EF8B66-66AF-4421-B406-32BE8627C6A8}" destId="{E21F071C-2167-432B-9897-AA2A771D8F89}" srcOrd="1" destOrd="0" presId="urn:microsoft.com/office/officeart/2005/8/layout/orgChart1"/>
    <dgm:cxn modelId="{5894AE2D-90B0-4495-9F26-F4EECF023A28}" type="presOf" srcId="{2040533D-69A8-4048-893C-A73E221F60AD}" destId="{3CB8E14E-5D7A-4C80-AD03-620EBF49B426}" srcOrd="1" destOrd="0" presId="urn:microsoft.com/office/officeart/2005/8/layout/orgChart1"/>
    <dgm:cxn modelId="{A243F734-3904-4D38-B206-886211F86B67}" type="presOf" srcId="{2040533D-69A8-4048-893C-A73E221F60AD}" destId="{610B3820-812F-4661-9EF4-EE9E220645E5}" srcOrd="0" destOrd="0" presId="urn:microsoft.com/office/officeart/2005/8/layout/orgChart1"/>
    <dgm:cxn modelId="{2208C836-3092-4D00-B564-37675B0D7E77}" type="presOf" srcId="{6E8F9606-B663-4BA0-AEAF-79768FF71C40}" destId="{2B8245DA-7A52-4549-A6C8-31D879EBE25B}" srcOrd="0" destOrd="0" presId="urn:microsoft.com/office/officeart/2005/8/layout/orgChart1"/>
    <dgm:cxn modelId="{B2B0714A-D6C0-4AD2-B622-5E4FCFAE9BD6}" srcId="{E9EF8B66-66AF-4421-B406-32BE8627C6A8}" destId="{2040533D-69A8-4048-893C-A73E221F60AD}" srcOrd="0" destOrd="0" parTransId="{7D2EFB3D-4A1C-42BA-91D7-7E2B19F117F4}" sibTransId="{B5544402-82D0-4046-AA6C-7D5938E88903}"/>
    <dgm:cxn modelId="{A1246F6F-9EDD-4186-A8D5-010CA6E21350}" type="presOf" srcId="{47767087-6BEC-493F-90C7-F25E18D41F82}" destId="{8F815E27-5D13-4B92-A3F8-A360CCB0BA0C}" srcOrd="0" destOrd="0" presId="urn:microsoft.com/office/officeart/2005/8/layout/orgChart1"/>
    <dgm:cxn modelId="{C1474151-DF27-4689-9F44-A0BDCEF0C4DE}" srcId="{E9EF8B66-66AF-4421-B406-32BE8627C6A8}" destId="{6E8F9606-B663-4BA0-AEAF-79768FF71C40}" srcOrd="1" destOrd="0" parTransId="{47767087-6BEC-493F-90C7-F25E18D41F82}" sibTransId="{4D896F25-43BB-4BA6-B3A5-3667CC6E4DA5}"/>
    <dgm:cxn modelId="{17C7CC8F-18B0-4C53-8CC6-D0F7D9216835}" srcId="{F4A6414B-4F9A-44E8-B02D-A79EE22C78B1}" destId="{E9EF8B66-66AF-4421-B406-32BE8627C6A8}" srcOrd="0" destOrd="0" parTransId="{9FC45D5B-0138-487A-B21D-73A38D11E96F}" sibTransId="{1F49C738-0A13-4B92-9BF5-509614141146}"/>
    <dgm:cxn modelId="{CC3161BD-8B3D-4B12-B4C8-6F1E756D8321}" type="presOf" srcId="{6E8F9606-B663-4BA0-AEAF-79768FF71C40}" destId="{20E74B27-E7E7-4D57-AD3E-3643FE1FA2E8}" srcOrd="1" destOrd="0" presId="urn:microsoft.com/office/officeart/2005/8/layout/orgChart1"/>
    <dgm:cxn modelId="{61E034DF-FEF1-4F54-84DE-55C07715C78E}" type="presOf" srcId="{E9EF8B66-66AF-4421-B406-32BE8627C6A8}" destId="{246C2892-332D-41DC-A499-0CD4C5D5C0BA}" srcOrd="0" destOrd="0" presId="urn:microsoft.com/office/officeart/2005/8/layout/orgChart1"/>
    <dgm:cxn modelId="{C7075D3D-8F3E-4C80-9DD3-F361EE2269FA}" type="presParOf" srcId="{792D0277-B69D-43B1-8A7A-0C4CA2091AD8}" destId="{B01EFF22-4521-4A5A-B295-AC5733F942FE}" srcOrd="0" destOrd="0" presId="urn:microsoft.com/office/officeart/2005/8/layout/orgChart1"/>
    <dgm:cxn modelId="{FC26DF41-E14C-4E67-969D-11A4289B5E2B}" type="presParOf" srcId="{B01EFF22-4521-4A5A-B295-AC5733F942FE}" destId="{83828162-5716-4ABC-A87E-F9397192E88F}" srcOrd="0" destOrd="0" presId="urn:microsoft.com/office/officeart/2005/8/layout/orgChart1"/>
    <dgm:cxn modelId="{53A2BDAA-009B-4900-ACC9-3A564F41D3D4}" type="presParOf" srcId="{83828162-5716-4ABC-A87E-F9397192E88F}" destId="{246C2892-332D-41DC-A499-0CD4C5D5C0BA}" srcOrd="0" destOrd="0" presId="urn:microsoft.com/office/officeart/2005/8/layout/orgChart1"/>
    <dgm:cxn modelId="{4A67071A-A0CA-40DE-835E-0CC1FF503BD2}" type="presParOf" srcId="{83828162-5716-4ABC-A87E-F9397192E88F}" destId="{E21F071C-2167-432B-9897-AA2A771D8F89}" srcOrd="1" destOrd="0" presId="urn:microsoft.com/office/officeart/2005/8/layout/orgChart1"/>
    <dgm:cxn modelId="{01B42895-8913-4A26-B59D-F04841F232DA}" type="presParOf" srcId="{B01EFF22-4521-4A5A-B295-AC5733F942FE}" destId="{410BC0DB-DB76-44DB-9607-B94EECCE9BD4}" srcOrd="1" destOrd="0" presId="urn:microsoft.com/office/officeart/2005/8/layout/orgChart1"/>
    <dgm:cxn modelId="{C6497E1B-24BD-479E-8FFD-D4B74CE1DE78}" type="presParOf" srcId="{410BC0DB-DB76-44DB-9607-B94EECCE9BD4}" destId="{D05FE4C7-2F3E-4A12-95FE-0B39C7B3A9B0}" srcOrd="0" destOrd="0" presId="urn:microsoft.com/office/officeart/2005/8/layout/orgChart1"/>
    <dgm:cxn modelId="{A027C3CB-CB98-49E7-8E01-AD00E959182D}" type="presParOf" srcId="{410BC0DB-DB76-44DB-9607-B94EECCE9BD4}" destId="{A0FD2B74-90E2-4F6A-BE21-D6DC33828D8C}" srcOrd="1" destOrd="0" presId="urn:microsoft.com/office/officeart/2005/8/layout/orgChart1"/>
    <dgm:cxn modelId="{60AE8CBE-140A-478F-BCCF-26EA09AC09E0}" type="presParOf" srcId="{A0FD2B74-90E2-4F6A-BE21-D6DC33828D8C}" destId="{FF495FB8-E49D-4059-9432-99986D9475C6}" srcOrd="0" destOrd="0" presId="urn:microsoft.com/office/officeart/2005/8/layout/orgChart1"/>
    <dgm:cxn modelId="{DE0B25B0-AF6E-4900-9DF3-EC87769390AD}" type="presParOf" srcId="{FF495FB8-E49D-4059-9432-99986D9475C6}" destId="{610B3820-812F-4661-9EF4-EE9E220645E5}" srcOrd="0" destOrd="0" presId="urn:microsoft.com/office/officeart/2005/8/layout/orgChart1"/>
    <dgm:cxn modelId="{D66B3A18-49DB-4A08-B86F-E13D2FA58D76}" type="presParOf" srcId="{FF495FB8-E49D-4059-9432-99986D9475C6}" destId="{3CB8E14E-5D7A-4C80-AD03-620EBF49B426}" srcOrd="1" destOrd="0" presId="urn:microsoft.com/office/officeart/2005/8/layout/orgChart1"/>
    <dgm:cxn modelId="{CEE4CD0A-7708-4DE3-AD40-1BD58D992640}" type="presParOf" srcId="{A0FD2B74-90E2-4F6A-BE21-D6DC33828D8C}" destId="{3B07FAF6-69AE-42D6-A4F5-5DE0AFED5D09}" srcOrd="1" destOrd="0" presId="urn:microsoft.com/office/officeart/2005/8/layout/orgChart1"/>
    <dgm:cxn modelId="{2686EEC7-74ED-4C96-A5EF-3ECD71FF2CA3}" type="presParOf" srcId="{A0FD2B74-90E2-4F6A-BE21-D6DC33828D8C}" destId="{50A41F61-9F5A-489F-A4A6-8A347124589B}" srcOrd="2" destOrd="0" presId="urn:microsoft.com/office/officeart/2005/8/layout/orgChart1"/>
    <dgm:cxn modelId="{BFBCCD8B-3FFC-449F-87E5-8BECDEE7ED12}" type="presParOf" srcId="{410BC0DB-DB76-44DB-9607-B94EECCE9BD4}" destId="{8F815E27-5D13-4B92-A3F8-A360CCB0BA0C}" srcOrd="2" destOrd="0" presId="urn:microsoft.com/office/officeart/2005/8/layout/orgChart1"/>
    <dgm:cxn modelId="{3E2FCEB5-0F88-4EDE-BBF7-15B09DC25C8D}" type="presParOf" srcId="{410BC0DB-DB76-44DB-9607-B94EECCE9BD4}" destId="{CBA9213C-B5D2-4665-BA18-BB6BDD9BF17D}" srcOrd="3" destOrd="0" presId="urn:microsoft.com/office/officeart/2005/8/layout/orgChart1"/>
    <dgm:cxn modelId="{1A2D7C19-70D0-439C-B710-0486143F7353}" type="presParOf" srcId="{CBA9213C-B5D2-4665-BA18-BB6BDD9BF17D}" destId="{56B4EA11-0C02-47CD-B17B-47B23BE5B3DB}" srcOrd="0" destOrd="0" presId="urn:microsoft.com/office/officeart/2005/8/layout/orgChart1"/>
    <dgm:cxn modelId="{13D7D554-544A-42F9-9C91-F2D308732DEE}" type="presParOf" srcId="{56B4EA11-0C02-47CD-B17B-47B23BE5B3DB}" destId="{2B8245DA-7A52-4549-A6C8-31D879EBE25B}" srcOrd="0" destOrd="0" presId="urn:microsoft.com/office/officeart/2005/8/layout/orgChart1"/>
    <dgm:cxn modelId="{DEE352A1-1D90-4C43-B177-2A3DC30CA167}" type="presParOf" srcId="{56B4EA11-0C02-47CD-B17B-47B23BE5B3DB}" destId="{20E74B27-E7E7-4D57-AD3E-3643FE1FA2E8}" srcOrd="1" destOrd="0" presId="urn:microsoft.com/office/officeart/2005/8/layout/orgChart1"/>
    <dgm:cxn modelId="{1127BB77-7347-40E5-A0AC-8AF3BC42E1AB}" type="presParOf" srcId="{CBA9213C-B5D2-4665-BA18-BB6BDD9BF17D}" destId="{11FA09E2-83D3-469D-A9B3-407B1C6D7300}" srcOrd="1" destOrd="0" presId="urn:microsoft.com/office/officeart/2005/8/layout/orgChart1"/>
    <dgm:cxn modelId="{8126EF69-CE6B-49B3-BB47-696AA7016C78}" type="presParOf" srcId="{CBA9213C-B5D2-4665-BA18-BB6BDD9BF17D}" destId="{B3782E10-5170-4E4F-BDB7-7EE3E76BC3EE}" srcOrd="2" destOrd="0" presId="urn:microsoft.com/office/officeart/2005/8/layout/orgChart1"/>
    <dgm:cxn modelId="{0036A121-4E05-43A3-B499-DC1AF4F8D70A}" type="presParOf" srcId="{B01EFF22-4521-4A5A-B295-AC5733F942FE}" destId="{005E2A70-3511-4BE7-861D-76366F83E5B3}"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815E27-5D13-4B92-A3F8-A360CCB0BA0C}">
      <dsp:nvSpPr>
        <dsp:cNvPr id="0" name=""/>
        <dsp:cNvSpPr/>
      </dsp:nvSpPr>
      <dsp:spPr>
        <a:xfrm>
          <a:off x="4764591" y="928422"/>
          <a:ext cx="2527546" cy="390369"/>
        </a:xfrm>
        <a:custGeom>
          <a:avLst/>
          <a:gdLst/>
          <a:ahLst/>
          <a:cxnLst/>
          <a:rect l="0" t="0" r="0" b="0"/>
          <a:pathLst>
            <a:path>
              <a:moveTo>
                <a:pt x="0" y="0"/>
              </a:moveTo>
              <a:lnTo>
                <a:pt x="0" y="195557"/>
              </a:lnTo>
              <a:lnTo>
                <a:pt x="2527546" y="195557"/>
              </a:lnTo>
              <a:lnTo>
                <a:pt x="2527546" y="390369"/>
              </a:lnTo>
            </a:path>
          </a:pathLst>
        </a:custGeom>
        <a:noFill/>
        <a:ln w="15875" cap="rnd" cmpd="sng" algn="ctr">
          <a:solidFill>
            <a:schemeClr val="accent5">
              <a:tint val="90000"/>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D05FE4C7-2F3E-4A12-95FE-0B39C7B3A9B0}">
      <dsp:nvSpPr>
        <dsp:cNvPr id="0" name=""/>
        <dsp:cNvSpPr/>
      </dsp:nvSpPr>
      <dsp:spPr>
        <a:xfrm>
          <a:off x="2415473" y="928422"/>
          <a:ext cx="2349117" cy="390369"/>
        </a:xfrm>
        <a:custGeom>
          <a:avLst/>
          <a:gdLst/>
          <a:ahLst/>
          <a:cxnLst/>
          <a:rect l="0" t="0" r="0" b="0"/>
          <a:pathLst>
            <a:path>
              <a:moveTo>
                <a:pt x="2349117" y="0"/>
              </a:moveTo>
              <a:lnTo>
                <a:pt x="2349117" y="195557"/>
              </a:lnTo>
              <a:lnTo>
                <a:pt x="0" y="195557"/>
              </a:lnTo>
              <a:lnTo>
                <a:pt x="0" y="390369"/>
              </a:lnTo>
            </a:path>
          </a:pathLst>
        </a:custGeom>
        <a:noFill/>
        <a:ln w="15875" cap="rnd" cmpd="sng" algn="ctr">
          <a:solidFill>
            <a:schemeClr val="accent5">
              <a:tint val="90000"/>
              <a:hueOff val="0"/>
              <a:satOff val="0"/>
              <a:lumOff val="0"/>
              <a:alphaOff val="0"/>
            </a:schemeClr>
          </a:solidFill>
          <a:prstDash val="solid"/>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246C2892-332D-41DC-A499-0CD4C5D5C0BA}">
      <dsp:nvSpPr>
        <dsp:cNvPr id="0" name=""/>
        <dsp:cNvSpPr/>
      </dsp:nvSpPr>
      <dsp:spPr>
        <a:xfrm>
          <a:off x="3836914" y="745"/>
          <a:ext cx="1855352" cy="927676"/>
        </a:xfrm>
        <a:prstGeom prst="rect">
          <a:avLst/>
        </a:prstGeom>
        <a:blipFill rotWithShape="1">
          <a:blip xmlns:r="http://schemas.openxmlformats.org/officeDocument/2006/relationships" r:embed="rId1">
            <a:duotone>
              <a:schemeClr val="accent5">
                <a:shade val="60000"/>
                <a:hueOff val="0"/>
                <a:satOff val="0"/>
                <a:lumOff val="0"/>
                <a:alphaOff val="0"/>
                <a:tint val="98000"/>
                <a:lumMod val="102000"/>
              </a:schemeClr>
              <a:schemeClr val="accent5">
                <a:shade val="60000"/>
                <a:hueOff val="0"/>
                <a:satOff val="0"/>
                <a:lumOff val="0"/>
                <a:alphaOff val="0"/>
                <a:shade val="98000"/>
                <a:lumMod val="98000"/>
              </a:schemeClr>
            </a:duotone>
          </a:blip>
          <a:tile tx="0" ty="0" sx="100000" sy="100000" flip="none" algn="tl"/>
        </a:blip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5875" tIns="15875" rIns="15875" bIns="15875" numCol="1" spcCol="1270" anchor="ctr" anchorCtr="0">
          <a:noAutofit/>
        </a:bodyPr>
        <a:lstStyle/>
        <a:p>
          <a:pPr marL="0" lvl="0" indent="0" algn="ctr" defTabSz="1111250">
            <a:lnSpc>
              <a:spcPct val="90000"/>
            </a:lnSpc>
            <a:spcBef>
              <a:spcPct val="0"/>
            </a:spcBef>
            <a:spcAft>
              <a:spcPct val="35000"/>
            </a:spcAft>
            <a:buNone/>
          </a:pPr>
          <a:r>
            <a:rPr lang="en-US" sz="2500" kern="1200" dirty="0"/>
            <a:t>Search Algorithms</a:t>
          </a:r>
        </a:p>
      </dsp:txBody>
      <dsp:txXfrm>
        <a:off x="3836914" y="745"/>
        <a:ext cx="1855352" cy="927676"/>
      </dsp:txXfrm>
    </dsp:sp>
    <dsp:sp modelId="{610B3820-812F-4661-9EF4-EE9E220645E5}">
      <dsp:nvSpPr>
        <dsp:cNvPr id="0" name=""/>
        <dsp:cNvSpPr/>
      </dsp:nvSpPr>
      <dsp:spPr>
        <a:xfrm>
          <a:off x="1487797" y="1318791"/>
          <a:ext cx="1855352" cy="927676"/>
        </a:xfrm>
        <a:prstGeom prst="rect">
          <a:avLst/>
        </a:prstGeom>
        <a:blipFill rotWithShape="1">
          <a:blip xmlns:r="http://schemas.openxmlformats.org/officeDocument/2006/relationships" r:embed="rId1">
            <a:duotone>
              <a:schemeClr val="accent5">
                <a:shade val="80000"/>
                <a:hueOff val="0"/>
                <a:satOff val="0"/>
                <a:lumOff val="0"/>
                <a:alphaOff val="0"/>
                <a:tint val="98000"/>
                <a:lumMod val="102000"/>
              </a:schemeClr>
              <a:schemeClr val="accent5">
                <a:shade val="80000"/>
                <a:hueOff val="0"/>
                <a:satOff val="0"/>
                <a:lumOff val="0"/>
                <a:alphaOff val="0"/>
                <a:shade val="98000"/>
                <a:lumMod val="98000"/>
              </a:schemeClr>
            </a:duotone>
          </a:blip>
          <a:tile tx="0" ty="0" sx="100000" sy="100000" flip="none" algn="tl"/>
        </a:blip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15875" tIns="15875" rIns="15875" bIns="15875" numCol="1" spcCol="1270" anchor="ctr" anchorCtr="0">
          <a:noAutofit/>
        </a:bodyPr>
        <a:lstStyle/>
        <a:p>
          <a:pPr marL="0" lvl="0" indent="0" algn="ctr" defTabSz="1111250">
            <a:lnSpc>
              <a:spcPct val="90000"/>
            </a:lnSpc>
            <a:spcBef>
              <a:spcPct val="0"/>
            </a:spcBef>
            <a:spcAft>
              <a:spcPct val="35000"/>
            </a:spcAft>
            <a:buNone/>
          </a:pPr>
          <a:r>
            <a:rPr lang="en-US" sz="2500" kern="1200" dirty="0"/>
            <a:t>Uninformed Search</a:t>
          </a:r>
        </a:p>
      </dsp:txBody>
      <dsp:txXfrm>
        <a:off x="1487797" y="1318791"/>
        <a:ext cx="1855352" cy="927676"/>
      </dsp:txXfrm>
    </dsp:sp>
    <dsp:sp modelId="{2B8245DA-7A52-4549-A6C8-31D879EBE25B}">
      <dsp:nvSpPr>
        <dsp:cNvPr id="0" name=""/>
        <dsp:cNvSpPr/>
      </dsp:nvSpPr>
      <dsp:spPr>
        <a:xfrm>
          <a:off x="6364461" y="1318791"/>
          <a:ext cx="1855352" cy="927676"/>
        </a:xfrm>
        <a:prstGeom prst="rect">
          <a:avLst/>
        </a:prstGeom>
        <a:blipFill rotWithShape="1">
          <a:blip xmlns:r="http://schemas.openxmlformats.org/officeDocument/2006/relationships" r:embed="rId1">
            <a:duotone>
              <a:schemeClr val="accent5">
                <a:shade val="80000"/>
                <a:hueOff val="0"/>
                <a:satOff val="0"/>
                <a:lumOff val="0"/>
                <a:alphaOff val="0"/>
                <a:tint val="98000"/>
                <a:lumMod val="102000"/>
              </a:schemeClr>
              <a:schemeClr val="accent5">
                <a:shade val="80000"/>
                <a:hueOff val="0"/>
                <a:satOff val="0"/>
                <a:lumOff val="0"/>
                <a:alphaOff val="0"/>
                <a:shade val="98000"/>
                <a:lumMod val="98000"/>
              </a:schemeClr>
            </a:duotone>
          </a:blip>
          <a:tile tx="0" ty="0" sx="100000" sy="100000" flip="none" algn="tl"/>
        </a:blip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15875" tIns="15875" rIns="15875" bIns="15875" numCol="1" spcCol="1270" anchor="ctr" anchorCtr="0">
          <a:noAutofit/>
        </a:bodyPr>
        <a:lstStyle/>
        <a:p>
          <a:pPr marL="0" lvl="0" indent="0" algn="ctr" defTabSz="1111250">
            <a:lnSpc>
              <a:spcPct val="90000"/>
            </a:lnSpc>
            <a:spcBef>
              <a:spcPct val="0"/>
            </a:spcBef>
            <a:spcAft>
              <a:spcPct val="35000"/>
            </a:spcAft>
            <a:buNone/>
          </a:pPr>
          <a:r>
            <a:rPr lang="en-US" sz="2500" kern="1200" dirty="0"/>
            <a:t>Informed Search</a:t>
          </a:r>
        </a:p>
      </dsp:txBody>
      <dsp:txXfrm>
        <a:off x="6364461" y="1318791"/>
        <a:ext cx="1855352" cy="927676"/>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FE43826-4C69-47EA-8898-45B824867DB5}" type="datetimeFigureOut">
              <a:rPr lang="en-US" smtClean="0"/>
              <a:t>2/10/2026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2CB2ACA-593C-4267-A91D-71F7698EFE9F}" type="slidenum">
              <a:rPr lang="en-US" smtClean="0"/>
              <a:t>‹#›</a:t>
            </a:fld>
            <a:endParaRPr lang="en-US"/>
          </a:p>
        </p:txBody>
      </p:sp>
    </p:spTree>
    <p:extLst>
      <p:ext uri="{BB962C8B-B14F-4D97-AF65-F5344CB8AC3E}">
        <p14:creationId xmlns:p14="http://schemas.microsoft.com/office/powerpoint/2010/main" val="8581038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general, a vacuum environment with n cells has n · 2^n states</a:t>
            </a:r>
          </a:p>
          <a:p>
            <a:r>
              <a:rPr lang="en-US" dirty="0"/>
              <a:t>Assume action cost is 1</a:t>
            </a:r>
          </a:p>
        </p:txBody>
      </p:sp>
      <p:sp>
        <p:nvSpPr>
          <p:cNvPr id="4" name="Slide Number Placeholder 3"/>
          <p:cNvSpPr>
            <a:spLocks noGrp="1"/>
          </p:cNvSpPr>
          <p:nvPr>
            <p:ph type="sldNum" sz="quarter" idx="5"/>
          </p:nvPr>
        </p:nvSpPr>
        <p:spPr/>
        <p:txBody>
          <a:bodyPr/>
          <a:lstStyle/>
          <a:p>
            <a:fld id="{52CB2ACA-593C-4267-A91D-71F7698EFE9F}" type="slidenum">
              <a:rPr lang="en-US" smtClean="0"/>
              <a:t>7</a:t>
            </a:fld>
            <a:endParaRPr lang="en-US"/>
          </a:p>
        </p:txBody>
      </p:sp>
    </p:spTree>
    <p:extLst>
      <p:ext uri="{BB962C8B-B14F-4D97-AF65-F5344CB8AC3E}">
        <p14:creationId xmlns:p14="http://schemas.microsoft.com/office/powerpoint/2010/main" val="29350281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 world with n non-obstacle cells and b boxes, there are </a:t>
            </a:r>
            <a:r>
              <a:rPr lang="en-US" dirty="0" err="1"/>
              <a:t>n×n</a:t>
            </a:r>
            <a:r>
              <a:rPr lang="en-US" dirty="0"/>
              <a:t>!/(b!(n−b)!) states</a:t>
            </a:r>
          </a:p>
          <a:p>
            <a:r>
              <a:rPr lang="en-US" dirty="0"/>
              <a:t>for example, on an 8×8 grid with a dozen boxes, there are over 200 trillion states.</a:t>
            </a:r>
          </a:p>
        </p:txBody>
      </p:sp>
      <p:sp>
        <p:nvSpPr>
          <p:cNvPr id="4" name="Slide Number Placeholder 3"/>
          <p:cNvSpPr>
            <a:spLocks noGrp="1"/>
          </p:cNvSpPr>
          <p:nvPr>
            <p:ph type="sldNum" sz="quarter" idx="5"/>
          </p:nvPr>
        </p:nvSpPr>
        <p:spPr/>
        <p:txBody>
          <a:bodyPr/>
          <a:lstStyle/>
          <a:p>
            <a:fld id="{52CB2ACA-593C-4267-A91D-71F7698EFE9F}" type="slidenum">
              <a:rPr lang="en-US" smtClean="0"/>
              <a:t>8</a:t>
            </a:fld>
            <a:endParaRPr lang="en-US"/>
          </a:p>
        </p:txBody>
      </p:sp>
    </p:spTree>
    <p:extLst>
      <p:ext uri="{BB962C8B-B14F-4D97-AF65-F5344CB8AC3E}">
        <p14:creationId xmlns:p14="http://schemas.microsoft.com/office/powerpoint/2010/main" val="12932845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traveling salesperson problem (TSP) is a touring problem in which every city on a map must be visited. The aim is to find a tour with cost &lt; C (or in the optimization version, to find a tour with the lowest cost possible). An enormous amount of effort has been expended to improve the capabilities of TSP algorithms. The algorithms can also be extended to handle fleets of vehicles.</a:t>
            </a:r>
          </a:p>
          <a:p>
            <a:endParaRPr lang="en-US" dirty="0"/>
          </a:p>
          <a:p>
            <a:r>
              <a:rPr lang="en-US" dirty="0"/>
              <a:t>A VLSI layout problem requires positioning millions of components and connections on a chip to minimize area, minimize circuit delays, minimize stray capacitances, and maximize manufacturing yield</a:t>
            </a:r>
          </a:p>
          <a:p>
            <a:endParaRPr lang="en-US" dirty="0"/>
          </a:p>
          <a:p>
            <a:r>
              <a:rPr lang="en-US" dirty="0"/>
              <a:t>Robot navigation is a generalization of the route-finding problem described earlier. Rather than following distinct paths (such as the roads in Romania), a robot can roam around, in effect making its own paths</a:t>
            </a:r>
          </a:p>
        </p:txBody>
      </p:sp>
      <p:sp>
        <p:nvSpPr>
          <p:cNvPr id="4" name="Slide Number Placeholder 3"/>
          <p:cNvSpPr>
            <a:spLocks noGrp="1"/>
          </p:cNvSpPr>
          <p:nvPr>
            <p:ph type="sldNum" sz="quarter" idx="5"/>
          </p:nvPr>
        </p:nvSpPr>
        <p:spPr/>
        <p:txBody>
          <a:bodyPr/>
          <a:lstStyle/>
          <a:p>
            <a:fld id="{52CB2ACA-593C-4267-A91D-71F7698EFE9F}" type="slidenum">
              <a:rPr lang="en-US" smtClean="0"/>
              <a:t>10</a:t>
            </a:fld>
            <a:endParaRPr lang="en-US"/>
          </a:p>
        </p:txBody>
      </p:sp>
    </p:spTree>
    <p:extLst>
      <p:ext uri="{BB962C8B-B14F-4D97-AF65-F5344CB8AC3E}">
        <p14:creationId xmlns:p14="http://schemas.microsoft.com/office/powerpoint/2010/main" val="14578511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2CB2ACA-593C-4267-A91D-71F7698EFE9F}" type="slidenum">
              <a:rPr lang="en-US" smtClean="0"/>
              <a:t>12</a:t>
            </a:fld>
            <a:endParaRPr lang="en-US"/>
          </a:p>
        </p:txBody>
      </p:sp>
    </p:spTree>
    <p:extLst>
      <p:ext uri="{BB962C8B-B14F-4D97-AF65-F5344CB8AC3E}">
        <p14:creationId xmlns:p14="http://schemas.microsoft.com/office/powerpoint/2010/main" val="30386574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Algorithm		Complete?		Optimal?			Time Complexity		Space Complexity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BFS		</a:t>
            </a:r>
            <a:r>
              <a:rPr lang="en-US" dirty="0"/>
              <a:t>✅ Yes (if b is finite)	✅ Yes (if all step costs are equal)	O(b</a:t>
            </a:r>
            <a:r>
              <a:rPr lang="en-US" baseline="30000" dirty="0"/>
              <a:t>d+1</a:t>
            </a:r>
            <a:r>
              <a:rPr lang="en-US" dirty="0"/>
              <a:t>)			O(b</a:t>
            </a:r>
            <a:r>
              <a:rPr lang="en-US" baseline="30000" dirty="0"/>
              <a:t>d+1</a:t>
            </a:r>
            <a:r>
              <a:rPr lang="en-US"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DFS		</a:t>
            </a:r>
            <a:r>
              <a:rPr lang="en-US" dirty="0"/>
              <a:t>❌ No (may loop infinitely)	❌ No			O(b</a:t>
            </a:r>
            <a:r>
              <a:rPr lang="en-US" baseline="30000" dirty="0"/>
              <a:t>m</a:t>
            </a:r>
            <a:r>
              <a:rPr lang="en-US" dirty="0"/>
              <a:t>)			O(</a:t>
            </a:r>
            <a:r>
              <a:rPr lang="en-US" dirty="0" err="1"/>
              <a:t>b·m</a:t>
            </a:r>
            <a:r>
              <a:rPr lang="en-US"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UCS		</a:t>
            </a:r>
            <a:r>
              <a:rPr lang="en-US" dirty="0"/>
              <a:t>✅ Yes (if step cost ≥ </a:t>
            </a:r>
            <a:r>
              <a:rPr lang="el-GR" dirty="0"/>
              <a:t>ε)</a:t>
            </a:r>
            <a:r>
              <a:rPr lang="en-US" dirty="0"/>
              <a:t>	✅ Yes			O(</a:t>
            </a:r>
            <a:r>
              <a:rPr lang="en-US" dirty="0" err="1"/>
              <a:t>b</a:t>
            </a:r>
            <a:r>
              <a:rPr lang="en-US" baseline="30000" dirty="0" err="1"/>
              <a:t>⌈C</a:t>
            </a:r>
            <a:r>
              <a:rPr lang="en-US" baseline="30000" dirty="0"/>
              <a:t>*/</a:t>
            </a:r>
            <a:r>
              <a:rPr lang="el-GR" baseline="30000" dirty="0"/>
              <a:t>ε⌉</a:t>
            </a:r>
            <a:r>
              <a:rPr lang="en-US" dirty="0"/>
              <a:t>)			O(</a:t>
            </a:r>
            <a:r>
              <a:rPr lang="en-US" dirty="0" err="1"/>
              <a:t>b</a:t>
            </a:r>
            <a:r>
              <a:rPr lang="en-US" baseline="30000" dirty="0" err="1"/>
              <a:t>⌈C</a:t>
            </a:r>
            <a:r>
              <a:rPr lang="en-US" baseline="30000" dirty="0"/>
              <a:t>*/</a:t>
            </a:r>
            <a:r>
              <a:rPr lang="el-GR" baseline="30000" dirty="0"/>
              <a:t>ε⌉</a:t>
            </a:r>
            <a:r>
              <a:rPr lang="en-US" dirty="0"/>
              <a:t>)</a:t>
            </a:r>
          </a:p>
          <a:p>
            <a:endParaRPr lang="en-US" dirty="0"/>
          </a:p>
          <a:p>
            <a:r>
              <a:rPr lang="en-US" b="1" dirty="0"/>
              <a:t>b</a:t>
            </a:r>
            <a:r>
              <a:rPr lang="en-US" dirty="0"/>
              <a:t> = branching factor</a:t>
            </a:r>
          </a:p>
          <a:p>
            <a:r>
              <a:rPr lang="en-US" b="1" dirty="0"/>
              <a:t>d</a:t>
            </a:r>
            <a:r>
              <a:rPr lang="en-US" dirty="0"/>
              <a:t> = depth of the shallowest goal</a:t>
            </a:r>
          </a:p>
          <a:p>
            <a:r>
              <a:rPr lang="en-US" b="1" dirty="0"/>
              <a:t>m</a:t>
            </a:r>
            <a:r>
              <a:rPr lang="en-US" dirty="0"/>
              <a:t> = maximum depth of the search tree</a:t>
            </a:r>
          </a:p>
          <a:p>
            <a:r>
              <a:rPr lang="en-US" b="1" dirty="0"/>
              <a:t>C*</a:t>
            </a:r>
            <a:r>
              <a:rPr lang="en-US" dirty="0"/>
              <a:t> = cost of the optimal solution</a:t>
            </a:r>
          </a:p>
          <a:p>
            <a:r>
              <a:rPr lang="en-US" b="1" dirty="0"/>
              <a:t>ε</a:t>
            </a:r>
            <a:r>
              <a:rPr lang="en-US" dirty="0"/>
              <a:t> = minimum step cost (&gt; 0)</a:t>
            </a:r>
          </a:p>
          <a:p>
            <a:endParaRPr lang="en-US" dirty="0"/>
          </a:p>
          <a:p>
            <a:endParaRPr lang="en-US" dirty="0"/>
          </a:p>
        </p:txBody>
      </p:sp>
      <p:sp>
        <p:nvSpPr>
          <p:cNvPr id="4" name="Slide Number Placeholder 3"/>
          <p:cNvSpPr>
            <a:spLocks noGrp="1"/>
          </p:cNvSpPr>
          <p:nvPr>
            <p:ph type="sldNum" sz="quarter" idx="5"/>
          </p:nvPr>
        </p:nvSpPr>
        <p:spPr/>
        <p:txBody>
          <a:bodyPr/>
          <a:lstStyle/>
          <a:p>
            <a:fld id="{52CB2ACA-593C-4267-A91D-71F7698EFE9F}" type="slidenum">
              <a:rPr lang="en-US" smtClean="0"/>
              <a:t>22</a:t>
            </a:fld>
            <a:endParaRPr lang="en-US"/>
          </a:p>
        </p:txBody>
      </p:sp>
    </p:spTree>
    <p:extLst>
      <p:ext uri="{BB962C8B-B14F-4D97-AF65-F5344CB8AC3E}">
        <p14:creationId xmlns:p14="http://schemas.microsoft.com/office/powerpoint/2010/main" val="40300412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2CB2ACA-593C-4267-A91D-71F7698EFE9F}" type="slidenum">
              <a:rPr lang="en-US" smtClean="0"/>
              <a:t>23</a:t>
            </a:fld>
            <a:endParaRPr lang="en-US"/>
          </a:p>
        </p:txBody>
      </p:sp>
    </p:spTree>
    <p:extLst>
      <p:ext uri="{BB962C8B-B14F-4D97-AF65-F5344CB8AC3E}">
        <p14:creationId xmlns:p14="http://schemas.microsoft.com/office/powerpoint/2010/main" val="36122583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1" name="Freeform 6"/>
          <p:cNvSpPr/>
          <p:nvPr/>
        </p:nvSpPr>
        <p:spPr bwMode="auto">
          <a:xfrm>
            <a:off x="0" y="-3175"/>
            <a:ext cx="12192000" cy="5203825"/>
          </a:xfrm>
          <a:custGeom>
            <a:avLst/>
            <a:gdLst/>
            <a:ahLst/>
            <a:cxnLst/>
            <a:rect l="0" t="0" r="r" b="b"/>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ln/>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810001" y="1449147"/>
            <a:ext cx="10572000" cy="2971051"/>
          </a:xfrm>
        </p:spPr>
        <p:txBody>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810001" y="5280847"/>
            <a:ext cx="10572000" cy="434974"/>
          </a:xfrm>
        </p:spPr>
        <p:txBody>
          <a:bodyPr anchor="t"/>
          <a:lstStyle>
            <a:lvl1pPr marL="0" indent="0" algn="l">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FC72E4F-7DFD-4C1A-A1A9-E4120F2AD69C}" type="datetimeFigureOut">
              <a:rPr lang="en-US" smtClean="0"/>
              <a:t>2/10/2026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1F68B03-EF67-4A02-9879-B0436ED06920}" type="slidenum">
              <a:rPr lang="en-US" smtClean="0"/>
              <a:t>‹#›</a:t>
            </a:fld>
            <a:endParaRPr lang="en-US"/>
          </a:p>
        </p:txBody>
      </p:sp>
    </p:spTree>
    <p:extLst>
      <p:ext uri="{BB962C8B-B14F-4D97-AF65-F5344CB8AC3E}">
        <p14:creationId xmlns:p14="http://schemas.microsoft.com/office/powerpoint/2010/main" val="8287536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1"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447188"/>
            <a:ext cx="10571998" cy="970450"/>
          </a:xfrm>
        </p:spPr>
        <p:txBody>
          <a:bodyPr/>
          <a:lstStyle/>
          <a:p>
            <a:r>
              <a:rPr lang="en-US"/>
              <a:t>Click to edit Master title style</a:t>
            </a:r>
            <a:endParaRPr lang="en-US" dirty="0"/>
          </a:p>
        </p:txBody>
      </p:sp>
      <p:sp>
        <p:nvSpPr>
          <p:cNvPr id="3" name="Content Placeholder 2"/>
          <p:cNvSpPr>
            <a:spLocks noGrp="1"/>
          </p:cNvSpPr>
          <p:nvPr>
            <p:ph idx="1"/>
          </p:nvPr>
        </p:nvSpPr>
        <p:spPr>
          <a:xfrm>
            <a:off x="818712" y="2222287"/>
            <a:ext cx="10554574" cy="363651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FC72E4F-7DFD-4C1A-A1A9-E4120F2AD69C}" type="datetimeFigureOut">
              <a:rPr lang="en-US" smtClean="0"/>
              <a:t>2/10/2026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1F68B03-EF67-4A02-9879-B0436ED06920}" type="slidenum">
              <a:rPr lang="en-US" smtClean="0"/>
              <a:t>‹#›</a:t>
            </a:fld>
            <a:endParaRPr lang="en-US"/>
          </a:p>
        </p:txBody>
      </p:sp>
    </p:spTree>
    <p:extLst>
      <p:ext uri="{BB962C8B-B14F-4D97-AF65-F5344CB8AC3E}">
        <p14:creationId xmlns:p14="http://schemas.microsoft.com/office/powerpoint/2010/main" val="30592601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 name="Freeform 7"/>
          <p:cNvSpPr/>
          <p:nvPr/>
        </p:nvSpPr>
        <p:spPr bwMode="auto">
          <a:xfrm>
            <a:off x="0" y="1"/>
            <a:ext cx="12192000" cy="5203825"/>
          </a:xfrm>
          <a:custGeom>
            <a:avLst/>
            <a:gdLst/>
            <a:ahLst/>
            <a:cxnLst/>
            <a:rect l="0" t="0" r="r" b="b"/>
            <a:pathLst>
              <a:path w="5760" h="3278">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ln>
            <a:headEnd/>
            <a:tailEnd/>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2951396"/>
            <a:ext cx="10561418" cy="1468800"/>
          </a:xfrm>
        </p:spPr>
        <p:txBody>
          <a:bodyPr anchor="b"/>
          <a:lstStyle>
            <a:lvl1pPr algn="r">
              <a:defRPr sz="4800" b="1" cap="none"/>
            </a:lvl1pPr>
          </a:lstStyle>
          <a:p>
            <a:r>
              <a:rPr lang="en-US"/>
              <a:t>Click to edit Master title style</a:t>
            </a:r>
            <a:endParaRPr lang="en-US" dirty="0"/>
          </a:p>
        </p:txBody>
      </p:sp>
      <p:sp>
        <p:nvSpPr>
          <p:cNvPr id="3" name="Text Placeholder 2"/>
          <p:cNvSpPr>
            <a:spLocks noGrp="1"/>
          </p:cNvSpPr>
          <p:nvPr>
            <p:ph type="body" idx="1"/>
          </p:nvPr>
        </p:nvSpPr>
        <p:spPr>
          <a:xfrm>
            <a:off x="810000" y="5281201"/>
            <a:ext cx="10561418" cy="433955"/>
          </a:xfrm>
        </p:spPr>
        <p:txBody>
          <a:bodyPr anchor="t">
            <a:no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FC72E4F-7DFD-4C1A-A1A9-E4120F2AD69C}" type="datetimeFigureOut">
              <a:rPr lang="en-US" smtClean="0"/>
              <a:t>2/10/2026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1F68B03-EF67-4A02-9879-B0436ED06920}" type="slidenum">
              <a:rPr lang="en-US" smtClean="0"/>
              <a:t>‹#›</a:t>
            </a:fld>
            <a:endParaRPr lang="en-US"/>
          </a:p>
        </p:txBody>
      </p:sp>
    </p:spTree>
    <p:extLst>
      <p:ext uri="{BB962C8B-B14F-4D97-AF65-F5344CB8AC3E}">
        <p14:creationId xmlns:p14="http://schemas.microsoft.com/office/powerpoint/2010/main" val="32244142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18712" y="2222287"/>
            <a:ext cx="5185873" cy="363876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7415" y="2222287"/>
            <a:ext cx="5194583" cy="363876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FC72E4F-7DFD-4C1A-A1A9-E4120F2AD69C}" type="datetimeFigureOut">
              <a:rPr lang="en-US" smtClean="0"/>
              <a:t>2/10/2026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1F68B03-EF67-4A02-9879-B0436ED06920}" type="slidenum">
              <a:rPr lang="en-US" smtClean="0"/>
              <a:t>‹#›</a:t>
            </a:fld>
            <a:endParaRPr lang="en-US"/>
          </a:p>
        </p:txBody>
      </p:sp>
    </p:spTree>
    <p:extLst>
      <p:ext uri="{BB962C8B-B14F-4D97-AF65-F5344CB8AC3E}">
        <p14:creationId xmlns:p14="http://schemas.microsoft.com/office/powerpoint/2010/main" val="27238791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14728" y="2174875"/>
            <a:ext cx="5189857"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14729" y="2751138"/>
            <a:ext cx="5189856" cy="3109913"/>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7415" y="2174875"/>
            <a:ext cx="5194583"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7415" y="2751138"/>
            <a:ext cx="5194583" cy="3109913"/>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FC72E4F-7DFD-4C1A-A1A9-E4120F2AD69C}" type="datetimeFigureOut">
              <a:rPr lang="en-US" smtClean="0"/>
              <a:t>2/10/2026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1F68B03-EF67-4A02-9879-B0436ED06920}" type="slidenum">
              <a:rPr lang="en-US" smtClean="0"/>
              <a:t>‹#›</a:t>
            </a:fld>
            <a:endParaRPr lang="en-US"/>
          </a:p>
        </p:txBody>
      </p:sp>
    </p:spTree>
    <p:extLst>
      <p:ext uri="{BB962C8B-B14F-4D97-AF65-F5344CB8AC3E}">
        <p14:creationId xmlns:p14="http://schemas.microsoft.com/office/powerpoint/2010/main" val="1578756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FC72E4F-7DFD-4C1A-A1A9-E4120F2AD69C}" type="datetimeFigureOut">
              <a:rPr lang="en-US" smtClean="0"/>
              <a:t>2/10/2026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1F68B03-EF67-4A02-9879-B0436ED06920}" type="slidenum">
              <a:rPr lang="en-US" smtClean="0"/>
              <a:t>‹#›</a:t>
            </a:fld>
            <a:endParaRPr lang="en-US"/>
          </a:p>
        </p:txBody>
      </p:sp>
    </p:spTree>
    <p:extLst>
      <p:ext uri="{BB962C8B-B14F-4D97-AF65-F5344CB8AC3E}">
        <p14:creationId xmlns:p14="http://schemas.microsoft.com/office/powerpoint/2010/main" val="4335531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FC72E4F-7DFD-4C1A-A1A9-E4120F2AD69C}" type="datetimeFigureOut">
              <a:rPr lang="en-US" smtClean="0"/>
              <a:t>2/10/2026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1F68B03-EF67-4A02-9879-B0436ED06920}" type="slidenum">
              <a:rPr lang="en-US" smtClean="0"/>
              <a:t>‹#›</a:t>
            </a:fld>
            <a:endParaRPr lang="en-US"/>
          </a:p>
        </p:txBody>
      </p:sp>
    </p:spTree>
    <p:extLst>
      <p:ext uri="{BB962C8B-B14F-4D97-AF65-F5344CB8AC3E}">
        <p14:creationId xmlns:p14="http://schemas.microsoft.com/office/powerpoint/2010/main" val="33403626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2" name="Freeform 6"/>
          <p:cNvSpPr>
            <a:spLocks noChangeAspect="1"/>
          </p:cNvSpPr>
          <p:nvPr/>
        </p:nvSpPr>
        <p:spPr bwMode="auto">
          <a:xfrm>
            <a:off x="1073151" y="446087"/>
            <a:ext cx="3547533" cy="1814651"/>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1073151" y="446088"/>
            <a:ext cx="3547533" cy="1618396"/>
          </a:xfrm>
        </p:spPr>
        <p:txBody>
          <a:bodyPr anchor="b"/>
          <a:lstStyle>
            <a:lvl1pPr algn="l">
              <a:defRPr sz="2000" b="1"/>
            </a:lvl1pPr>
          </a:lstStyle>
          <a:p>
            <a:r>
              <a:rPr lang="en-US"/>
              <a:t>Click to edit Master title style</a:t>
            </a:r>
            <a:endParaRPr lang="en-US" dirty="0"/>
          </a:p>
        </p:txBody>
      </p:sp>
      <p:sp>
        <p:nvSpPr>
          <p:cNvPr id="3" name="Content Placeholder 2"/>
          <p:cNvSpPr>
            <a:spLocks noGrp="1"/>
          </p:cNvSpPr>
          <p:nvPr>
            <p:ph idx="1"/>
          </p:nvPr>
        </p:nvSpPr>
        <p:spPr>
          <a:xfrm>
            <a:off x="4855633" y="446088"/>
            <a:ext cx="6252633" cy="541496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73151" y="2260738"/>
            <a:ext cx="3547533" cy="360031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FC72E4F-7DFD-4C1A-A1A9-E4120F2AD69C}" type="datetimeFigureOut">
              <a:rPr lang="en-US" smtClean="0"/>
              <a:t>2/10/2026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1F68B03-EF67-4A02-9879-B0436ED06920}" type="slidenum">
              <a:rPr lang="en-US" smtClean="0"/>
              <a:t>‹#›</a:t>
            </a:fld>
            <a:endParaRPr lang="en-US"/>
          </a:p>
        </p:txBody>
      </p:sp>
    </p:spTree>
    <p:extLst>
      <p:ext uri="{BB962C8B-B14F-4D97-AF65-F5344CB8AC3E}">
        <p14:creationId xmlns:p14="http://schemas.microsoft.com/office/powerpoint/2010/main" val="13268766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4728" y="727522"/>
            <a:ext cx="4852988" cy="1617163"/>
          </a:xfrm>
        </p:spPr>
        <p:txBody>
          <a:bodyPr anchor="b">
            <a:normAutofit/>
          </a:bodyPr>
          <a:lstStyle>
            <a:lvl1pPr algn="l">
              <a:defRPr sz="2400" b="0"/>
            </a:lvl1pPr>
          </a:lstStyle>
          <a:p>
            <a:r>
              <a:rPr lang="en-US"/>
              <a:t>Click to edit Master title style</a:t>
            </a:r>
            <a:endParaRPr lang="en-US" dirty="0"/>
          </a:p>
        </p:txBody>
      </p:sp>
      <p:sp>
        <p:nvSpPr>
          <p:cNvPr id="9" name="Picture Placeholder 11"/>
          <p:cNvSpPr>
            <a:spLocks noGrp="1" noChangeAspect="1"/>
          </p:cNvSpPr>
          <p:nvPr>
            <p:ph type="pic" sz="quarter" idx="13"/>
          </p:nvPr>
        </p:nvSpPr>
        <p:spPr bwMode="auto">
          <a:xfrm>
            <a:off x="6098117" y="0"/>
            <a:ext cx="6093883" cy="6858000"/>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noFill/>
          <a:ln w="9525">
            <a:solidFill>
              <a:schemeClr val="tx2"/>
            </a:solidFill>
            <a:round/>
            <a:headEnd/>
            <a:tailEnd/>
          </a:ln>
          <a:effectLst/>
        </p:spPr>
        <p:txBody>
          <a:bodyPr wrap="square" numCol="1" anchor="t" anchorCtr="0" compatLnSpc="1">
            <a:prstTxWarp prst="textNoShape">
              <a:avLst/>
            </a:prstTxWarp>
            <a:normAutofit/>
          </a:bodyPr>
          <a:lstStyle>
            <a:lvl1pPr algn="ctr">
              <a:buFontTx/>
              <a:buNone/>
              <a:defRPr sz="1400"/>
            </a:lvl1pPr>
          </a:lstStyle>
          <a:p>
            <a:r>
              <a:rPr lang="en-US"/>
              <a:t>Click icon to add picture</a:t>
            </a:r>
            <a:endParaRPr lang="en-US" dirty="0"/>
          </a:p>
        </p:txBody>
      </p:sp>
      <p:sp>
        <p:nvSpPr>
          <p:cNvPr id="4" name="Text Placeholder 3"/>
          <p:cNvSpPr>
            <a:spLocks noGrp="1"/>
          </p:cNvSpPr>
          <p:nvPr>
            <p:ph type="body" sz="half" idx="2"/>
          </p:nvPr>
        </p:nvSpPr>
        <p:spPr>
          <a:xfrm>
            <a:off x="814728" y="2344684"/>
            <a:ext cx="4852988" cy="3516365"/>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885810" y="6041362"/>
            <a:ext cx="976879" cy="365125"/>
          </a:xfrm>
        </p:spPr>
        <p:txBody>
          <a:bodyPr/>
          <a:lstStyle/>
          <a:p>
            <a:fld id="{0FC72E4F-7DFD-4C1A-A1A9-E4120F2AD69C}" type="datetimeFigureOut">
              <a:rPr lang="en-US" smtClean="0"/>
              <a:t>2/10/2026</a:t>
            </a:fld>
            <a:endParaRPr lang="en-US"/>
          </a:p>
        </p:txBody>
      </p:sp>
      <p:sp>
        <p:nvSpPr>
          <p:cNvPr id="6" name="Footer Placeholder 5"/>
          <p:cNvSpPr>
            <a:spLocks noGrp="1"/>
          </p:cNvSpPr>
          <p:nvPr>
            <p:ph type="ftr" sz="quarter" idx="11"/>
          </p:nvPr>
        </p:nvSpPr>
        <p:spPr>
          <a:xfrm>
            <a:off x="590396" y="6041362"/>
            <a:ext cx="3295413" cy="365125"/>
          </a:xfrm>
        </p:spPr>
        <p:txBody>
          <a:bodyPr/>
          <a:lstStyle/>
          <a:p>
            <a:endParaRPr lang="en-US"/>
          </a:p>
        </p:txBody>
      </p:sp>
      <p:sp>
        <p:nvSpPr>
          <p:cNvPr id="7" name="Slide Number Placeholder 6"/>
          <p:cNvSpPr>
            <a:spLocks noGrp="1"/>
          </p:cNvSpPr>
          <p:nvPr>
            <p:ph type="sldNum" sz="quarter" idx="12"/>
          </p:nvPr>
        </p:nvSpPr>
        <p:spPr>
          <a:xfrm>
            <a:off x="4862689" y="5915888"/>
            <a:ext cx="1062155" cy="490599"/>
          </a:xfrm>
        </p:spPr>
        <p:txBody>
          <a:bodyPr/>
          <a:lstStyle/>
          <a:p>
            <a:fld id="{D1F68B03-EF67-4A02-9879-B0436ED06920}" type="slidenum">
              <a:rPr lang="en-US" smtClean="0"/>
              <a:t>‹#›</a:t>
            </a:fld>
            <a:endParaRPr lang="en-US"/>
          </a:p>
        </p:txBody>
      </p:sp>
    </p:spTree>
    <p:extLst>
      <p:ext uri="{BB962C8B-B14F-4D97-AF65-F5344CB8AC3E}">
        <p14:creationId xmlns:p14="http://schemas.microsoft.com/office/powerpoint/2010/main" val="7965603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0000" y="4800600"/>
            <a:ext cx="10561418" cy="566738"/>
          </a:xfrm>
        </p:spPr>
        <p:txBody>
          <a:bodyPr anchor="b">
            <a:normAutofit/>
          </a:bodyPr>
          <a:lstStyle>
            <a:lvl1pPr algn="l">
              <a:defRPr sz="2400" b="0"/>
            </a:lvl1pPr>
          </a:lstStyle>
          <a:p>
            <a:r>
              <a:rPr lang="en-US"/>
              <a:t>Click to edit Master title style</a:t>
            </a:r>
            <a:endParaRPr lang="en-US" dirty="0"/>
          </a:p>
        </p:txBody>
      </p:sp>
      <p:sp>
        <p:nvSpPr>
          <p:cNvPr id="15" name="Picture Placeholder 14"/>
          <p:cNvSpPr>
            <a:spLocks noGrp="1" noChangeAspect="1"/>
          </p:cNvSpPr>
          <p:nvPr>
            <p:ph type="pic" sz="quarter" idx="13"/>
          </p:nvPr>
        </p:nvSpPr>
        <p:spPr bwMode="auto">
          <a:xfrm>
            <a:off x="0" y="0"/>
            <a:ext cx="12192000" cy="4800600"/>
          </a:xfrm>
          <a:custGeom>
            <a:avLst/>
            <a:gdLst/>
            <a:ahLst/>
            <a:cxnLst/>
            <a:rect l="0" t="0" r="r" b="b"/>
            <a:pathLst>
              <a:path w="5760" h="3289">
                <a:moveTo>
                  <a:pt x="5760" y="0"/>
                </a:moveTo>
                <a:lnTo>
                  <a:pt x="0" y="0"/>
                </a:lnTo>
                <a:lnTo>
                  <a:pt x="0" y="3100"/>
                </a:lnTo>
                <a:lnTo>
                  <a:pt x="943" y="3100"/>
                </a:lnTo>
                <a:lnTo>
                  <a:pt x="1123" y="3281"/>
                </a:lnTo>
                <a:lnTo>
                  <a:pt x="1123" y="3281"/>
                </a:lnTo>
                <a:lnTo>
                  <a:pt x="1127" y="3283"/>
                </a:lnTo>
                <a:lnTo>
                  <a:pt x="1133" y="3286"/>
                </a:lnTo>
                <a:lnTo>
                  <a:pt x="1139" y="3289"/>
                </a:lnTo>
                <a:lnTo>
                  <a:pt x="1144" y="3289"/>
                </a:lnTo>
                <a:lnTo>
                  <a:pt x="1150" y="3289"/>
                </a:lnTo>
                <a:lnTo>
                  <a:pt x="1155" y="3286"/>
                </a:lnTo>
                <a:lnTo>
                  <a:pt x="1161" y="3283"/>
                </a:lnTo>
                <a:lnTo>
                  <a:pt x="1165" y="3281"/>
                </a:lnTo>
                <a:lnTo>
                  <a:pt x="1345" y="3100"/>
                </a:lnTo>
                <a:lnTo>
                  <a:pt x="5760" y="3100"/>
                </a:lnTo>
                <a:lnTo>
                  <a:pt x="5760" y="0"/>
                </a:lnTo>
                <a:close/>
              </a:path>
            </a:pathLst>
          </a:custGeom>
          <a:noFill/>
          <a:ln>
            <a:solidFill>
              <a:schemeClr val="tx2"/>
            </a:solidFill>
          </a:ln>
        </p:spPr>
        <p:style>
          <a:lnRef idx="1">
            <a:schemeClr val="accent1"/>
          </a:lnRef>
          <a:fillRef idx="3">
            <a:schemeClr val="accent1"/>
          </a:fillRef>
          <a:effectRef idx="2">
            <a:schemeClr val="accent1"/>
          </a:effectRef>
          <a:fontRef idx="minor">
            <a:schemeClr val="lt1"/>
          </a:fontRef>
        </p:style>
        <p:txBody>
          <a:bodyPr wrap="square" numCol="1" anchor="t" anchorCtr="0" compatLnSpc="1">
            <a:prstTxWarp prst="textNoShape">
              <a:avLst/>
            </a:prstTxWarp>
            <a:normAutofit/>
          </a:bodyPr>
          <a:lstStyle>
            <a:lvl1pPr marL="0" indent="0" algn="ctr">
              <a:buFontTx/>
              <a:buNone/>
              <a:defRPr sz="1600"/>
            </a:lvl1pPr>
          </a:lstStyle>
          <a:p>
            <a:r>
              <a:rPr lang="en-US"/>
              <a:t>Click icon to add picture</a:t>
            </a:r>
            <a:endParaRPr lang="en-US" dirty="0"/>
          </a:p>
        </p:txBody>
      </p:sp>
      <p:sp>
        <p:nvSpPr>
          <p:cNvPr id="4" name="Text Placeholder 3"/>
          <p:cNvSpPr>
            <a:spLocks noGrp="1"/>
          </p:cNvSpPr>
          <p:nvPr>
            <p:ph type="body" sz="half" idx="2"/>
          </p:nvPr>
        </p:nvSpPr>
        <p:spPr>
          <a:xfrm>
            <a:off x="810000" y="5367338"/>
            <a:ext cx="10561418"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FC72E4F-7DFD-4C1A-A1A9-E4120F2AD69C}" type="datetimeFigureOut">
              <a:rPr lang="en-US" smtClean="0"/>
              <a:t>2/10/2026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1F68B03-EF67-4A02-9879-B0436ED06920}" type="slidenum">
              <a:rPr lang="en-US" smtClean="0"/>
              <a:t>‹#›</a:t>
            </a:fld>
            <a:endParaRPr lang="en-US"/>
          </a:p>
        </p:txBody>
      </p:sp>
    </p:spTree>
    <p:extLst>
      <p:ext uri="{BB962C8B-B14F-4D97-AF65-F5344CB8AC3E}">
        <p14:creationId xmlns:p14="http://schemas.microsoft.com/office/powerpoint/2010/main" val="35342753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8" name="Freeform 6"/>
          <p:cNvSpPr>
            <a:spLocks noChangeAspect="1"/>
          </p:cNvSpPr>
          <p:nvPr/>
        </p:nvSpPr>
        <p:spPr bwMode="auto">
          <a:xfrm>
            <a:off x="631697" y="1081456"/>
            <a:ext cx="6332416" cy="3239188"/>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50985" y="1238502"/>
            <a:ext cx="5893840" cy="2645912"/>
          </a:xfrm>
        </p:spPr>
        <p:txBody>
          <a:bodyPr anchor="b"/>
          <a:lstStyle>
            <a:lvl1pPr algn="l">
              <a:defRPr sz="4200" b="1" cap="none"/>
            </a:lvl1pPr>
          </a:lstStyle>
          <a:p>
            <a:r>
              <a:rPr lang="en-US"/>
              <a:t>Click to edit Master title style</a:t>
            </a:r>
            <a:endParaRPr lang="en-US" dirty="0"/>
          </a:p>
        </p:txBody>
      </p:sp>
      <p:sp>
        <p:nvSpPr>
          <p:cNvPr id="3" name="Text Placeholder 2"/>
          <p:cNvSpPr>
            <a:spLocks noGrp="1"/>
          </p:cNvSpPr>
          <p:nvPr>
            <p:ph type="body" idx="1"/>
          </p:nvPr>
        </p:nvSpPr>
        <p:spPr>
          <a:xfrm>
            <a:off x="853190" y="4443680"/>
            <a:ext cx="5891636" cy="713241"/>
          </a:xfrm>
        </p:spPr>
        <p:txBody>
          <a:bodyPr anchor="t">
            <a:no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9" name="Text Placeholder 5"/>
          <p:cNvSpPr>
            <a:spLocks noGrp="1"/>
          </p:cNvSpPr>
          <p:nvPr>
            <p:ph type="body" sz="quarter" idx="16"/>
          </p:nvPr>
        </p:nvSpPr>
        <p:spPr>
          <a:xfrm>
            <a:off x="7574642" y="1081456"/>
            <a:ext cx="3810001" cy="4075465"/>
          </a:xfrm>
        </p:spPr>
        <p:txBody>
          <a:bodyPr anchor="t"/>
          <a:lstStyle>
            <a:lvl1pPr marL="0" indent="0">
              <a:buFontTx/>
              <a:buNone/>
              <a:defRPr/>
            </a:lvl1pPr>
          </a:lstStyle>
          <a:p>
            <a:pPr lvl="0"/>
            <a:r>
              <a:rPr lang="en-US"/>
              <a:t>Click to edit Master text styles</a:t>
            </a:r>
          </a:p>
        </p:txBody>
      </p:sp>
      <p:sp>
        <p:nvSpPr>
          <p:cNvPr id="4" name="Date Placeholder 3"/>
          <p:cNvSpPr>
            <a:spLocks noGrp="1"/>
          </p:cNvSpPr>
          <p:nvPr>
            <p:ph type="dt" sz="half" idx="10"/>
          </p:nvPr>
        </p:nvSpPr>
        <p:spPr/>
        <p:txBody>
          <a:bodyPr/>
          <a:lstStyle/>
          <a:p>
            <a:fld id="{0FC72E4F-7DFD-4C1A-A1A9-E4120F2AD69C}" type="datetimeFigureOut">
              <a:rPr lang="en-US" smtClean="0"/>
              <a:t>2/10/2026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1F68B03-EF67-4A02-9879-B0436ED06920}" type="slidenum">
              <a:rPr lang="en-US" smtClean="0"/>
              <a:t>‹#›</a:t>
            </a:fld>
            <a:endParaRPr lang="en-US"/>
          </a:p>
        </p:txBody>
      </p:sp>
    </p:spTree>
    <p:extLst>
      <p:ext uri="{BB962C8B-B14F-4D97-AF65-F5344CB8AC3E}">
        <p14:creationId xmlns:p14="http://schemas.microsoft.com/office/powerpoint/2010/main" val="34552267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9" name="Freeform 6"/>
          <p:cNvSpPr>
            <a:spLocks noChangeAspect="1"/>
          </p:cNvSpPr>
          <p:nvPr/>
        </p:nvSpPr>
        <p:spPr bwMode="auto">
          <a:xfrm>
            <a:off x="1140884" y="2286585"/>
            <a:ext cx="4895115" cy="2503972"/>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38" name="Title 1"/>
          <p:cNvSpPr>
            <a:spLocks noGrp="1"/>
          </p:cNvSpPr>
          <p:nvPr>
            <p:ph type="title"/>
          </p:nvPr>
        </p:nvSpPr>
        <p:spPr>
          <a:xfrm>
            <a:off x="1357089" y="2435957"/>
            <a:ext cx="4382521" cy="2007789"/>
          </a:xfrm>
        </p:spPr>
        <p:txBody>
          <a:bodyPr/>
          <a:lstStyle>
            <a:lvl1pPr>
              <a:defRPr sz="3200"/>
            </a:lvl1pPr>
          </a:lstStyle>
          <a:p>
            <a:r>
              <a:rPr lang="en-US"/>
              <a:t>Click to edit Master title style</a:t>
            </a:r>
            <a:endParaRPr lang="en-US" dirty="0"/>
          </a:p>
        </p:txBody>
      </p:sp>
      <p:sp>
        <p:nvSpPr>
          <p:cNvPr id="6" name="Text Placeholder 5"/>
          <p:cNvSpPr>
            <a:spLocks noGrp="1"/>
          </p:cNvSpPr>
          <p:nvPr>
            <p:ph type="body" sz="quarter" idx="16"/>
          </p:nvPr>
        </p:nvSpPr>
        <p:spPr>
          <a:xfrm>
            <a:off x="6156000" y="2286000"/>
            <a:ext cx="4880300" cy="2295525"/>
          </a:xfrm>
        </p:spPr>
        <p:txBody>
          <a:bodyPr anchor="t"/>
          <a:lstStyle>
            <a:lvl1pPr marL="0" indent="0">
              <a:buFontTx/>
              <a:buNone/>
              <a:defRPr/>
            </a:lvl1pPr>
          </a:lstStyle>
          <a:p>
            <a:pPr lvl="0"/>
            <a:r>
              <a:rPr lang="en-US"/>
              <a:t>Click to edit Master text styles</a:t>
            </a:r>
          </a:p>
        </p:txBody>
      </p:sp>
      <p:sp>
        <p:nvSpPr>
          <p:cNvPr id="2" name="Date Placeholder 1"/>
          <p:cNvSpPr>
            <a:spLocks noGrp="1"/>
          </p:cNvSpPr>
          <p:nvPr>
            <p:ph type="dt" sz="half" idx="10"/>
          </p:nvPr>
        </p:nvSpPr>
        <p:spPr/>
        <p:txBody>
          <a:bodyPr/>
          <a:lstStyle/>
          <a:p>
            <a:fld id="{0FC72E4F-7DFD-4C1A-A1A9-E4120F2AD69C}" type="datetimeFigureOut">
              <a:rPr lang="en-US" smtClean="0"/>
              <a:t>2/10/2026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1F68B03-EF67-4A02-9879-B0436ED06920}" type="slidenum">
              <a:rPr lang="en-US" smtClean="0"/>
              <a:t>‹#›</a:t>
            </a:fld>
            <a:endParaRPr lang="en-US"/>
          </a:p>
        </p:txBody>
      </p:sp>
    </p:spTree>
    <p:extLst>
      <p:ext uri="{BB962C8B-B14F-4D97-AF65-F5344CB8AC3E}">
        <p14:creationId xmlns:p14="http://schemas.microsoft.com/office/powerpoint/2010/main" val="4265115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FC72E4F-7DFD-4C1A-A1A9-E4120F2AD69C}" type="datetimeFigureOut">
              <a:rPr lang="en-US" smtClean="0"/>
              <a:t>2/10/2026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1F68B03-EF67-4A02-9879-B0436ED06920}" type="slidenum">
              <a:rPr lang="en-US" smtClean="0"/>
              <a:t>‹#›</a:t>
            </a:fld>
            <a:endParaRPr lang="en-US"/>
          </a:p>
        </p:txBody>
      </p:sp>
    </p:spTree>
    <p:extLst>
      <p:ext uri="{BB962C8B-B14F-4D97-AF65-F5344CB8AC3E}">
        <p14:creationId xmlns:p14="http://schemas.microsoft.com/office/powerpoint/2010/main" val="37618016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2" name="Freeform 6"/>
          <p:cNvSpPr>
            <a:spLocks noChangeAspect="1"/>
          </p:cNvSpPr>
          <p:nvPr/>
        </p:nvSpPr>
        <p:spPr bwMode="auto">
          <a:xfrm>
            <a:off x="7669651" y="446089"/>
            <a:ext cx="4522349" cy="5414962"/>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183540" y="586171"/>
            <a:ext cx="2494791" cy="51347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10001" y="446089"/>
            <a:ext cx="6611540" cy="5414962"/>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FC72E4F-7DFD-4C1A-A1A9-E4120F2AD69C}" type="datetimeFigureOut">
              <a:rPr lang="en-US" smtClean="0"/>
              <a:t>2/10/2026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1F68B03-EF67-4A02-9879-B0436ED06920}" type="slidenum">
              <a:rPr lang="en-US" smtClean="0"/>
              <a:t>‹#›</a:t>
            </a:fld>
            <a:endParaRPr lang="en-US"/>
          </a:p>
        </p:txBody>
      </p:sp>
    </p:spTree>
    <p:extLst>
      <p:ext uri="{BB962C8B-B14F-4D97-AF65-F5344CB8AC3E}">
        <p14:creationId xmlns:p14="http://schemas.microsoft.com/office/powerpoint/2010/main" val="33912101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0000" y="447188"/>
            <a:ext cx="10571998" cy="970450"/>
          </a:xfrm>
          <a:prstGeom prst="rect">
            <a:avLst/>
          </a:prstGeom>
          <a:effectLst>
            <a:outerShdw blurRad="50800" dir="14400000">
              <a:srgbClr val="000000">
                <a:alpha val="60000"/>
              </a:srgbClr>
            </a:outerShdw>
          </a:effectLst>
        </p:spPr>
        <p:txBody>
          <a:bodyPr vert="horz" lIns="91440" tIns="45720" rIns="91440" bIns="45720" rtlCol="0" anchor="b">
            <a:noAutofit/>
          </a:bodyPr>
          <a:lstStyle/>
          <a:p>
            <a:r>
              <a:rPr lang="en-US"/>
              <a:t>Click to edit Master title style</a:t>
            </a:r>
            <a:endParaRPr lang="en-US" dirty="0"/>
          </a:p>
        </p:txBody>
      </p:sp>
      <p:sp>
        <p:nvSpPr>
          <p:cNvPr id="3" name="Text Placeholder 2"/>
          <p:cNvSpPr>
            <a:spLocks noGrp="1"/>
          </p:cNvSpPr>
          <p:nvPr>
            <p:ph type="body" idx="1"/>
          </p:nvPr>
        </p:nvSpPr>
        <p:spPr>
          <a:xfrm>
            <a:off x="810000" y="2184401"/>
            <a:ext cx="10563285" cy="3674397"/>
          </a:xfrm>
          <a:prstGeom prst="rect">
            <a:avLst/>
          </a:prstGeom>
          <a:effectLst>
            <a:outerShdw blurRad="50800" dir="14400000">
              <a:srgbClr val="000000">
                <a:alpha val="40000"/>
              </a:srgbClr>
            </a:outerShdw>
          </a:effectLst>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451514" y="6041362"/>
            <a:ext cx="8644320" cy="365125"/>
          </a:xfrm>
          <a:prstGeom prst="rect">
            <a:avLst/>
          </a:prstGeom>
        </p:spPr>
        <p:txBody>
          <a:bodyPr vert="horz" lIns="91440" tIns="45720" rIns="91440" bIns="45720" rtlCol="0" anchor="b"/>
          <a:lstStyle>
            <a:lvl1pPr algn="l">
              <a:defRPr sz="900">
                <a:solidFill>
                  <a:schemeClr val="tx1"/>
                </a:solidFill>
              </a:defRPr>
            </a:lvl1pPr>
          </a:lstStyle>
          <a:p>
            <a:endParaRPr lang="en-US"/>
          </a:p>
        </p:txBody>
      </p:sp>
      <p:sp>
        <p:nvSpPr>
          <p:cNvPr id="4" name="Date Placeholder 3"/>
          <p:cNvSpPr>
            <a:spLocks noGrp="1"/>
          </p:cNvSpPr>
          <p:nvPr>
            <p:ph type="dt" sz="half" idx="2"/>
          </p:nvPr>
        </p:nvSpPr>
        <p:spPr>
          <a:xfrm>
            <a:off x="9334626" y="6041362"/>
            <a:ext cx="1343706" cy="365125"/>
          </a:xfrm>
          <a:prstGeom prst="rect">
            <a:avLst/>
          </a:prstGeom>
        </p:spPr>
        <p:txBody>
          <a:bodyPr vert="horz" lIns="91440" tIns="45720" rIns="91440" bIns="45720" rtlCol="0" anchor="b"/>
          <a:lstStyle>
            <a:lvl1pPr algn="r">
              <a:defRPr sz="900">
                <a:solidFill>
                  <a:schemeClr val="tx1"/>
                </a:solidFill>
              </a:defRPr>
            </a:lvl1pPr>
          </a:lstStyle>
          <a:p>
            <a:fld id="{0FC72E4F-7DFD-4C1A-A1A9-E4120F2AD69C}" type="datetimeFigureOut">
              <a:rPr lang="en-US" smtClean="0"/>
              <a:t>2/10/2026</a:t>
            </a:fld>
            <a:endParaRPr lang="en-US"/>
          </a:p>
        </p:txBody>
      </p:sp>
      <p:sp>
        <p:nvSpPr>
          <p:cNvPr id="6" name="Slide Number Placeholder 5"/>
          <p:cNvSpPr>
            <a:spLocks noGrp="1"/>
          </p:cNvSpPr>
          <p:nvPr>
            <p:ph type="sldNum" sz="quarter" idx="4"/>
          </p:nvPr>
        </p:nvSpPr>
        <p:spPr>
          <a:xfrm>
            <a:off x="10678331" y="5915888"/>
            <a:ext cx="1062155" cy="490599"/>
          </a:xfrm>
          <a:prstGeom prst="rect">
            <a:avLst/>
          </a:prstGeom>
        </p:spPr>
        <p:txBody>
          <a:bodyPr vert="horz" lIns="91440" tIns="45720" rIns="91440" bIns="10800" rtlCol="0" anchor="b"/>
          <a:lstStyle>
            <a:lvl1pPr algn="r">
              <a:defRPr sz="2000">
                <a:solidFill>
                  <a:schemeClr val="accent1"/>
                </a:solidFill>
              </a:defRPr>
            </a:lvl1pPr>
          </a:lstStyle>
          <a:p>
            <a:fld id="{D1F68B03-EF67-4A02-9879-B0436ED06920}" type="slidenum">
              <a:rPr lang="en-US" smtClean="0"/>
              <a:t>‹#›</a:t>
            </a:fld>
            <a:endParaRPr lang="en-US"/>
          </a:p>
        </p:txBody>
      </p:sp>
    </p:spTree>
    <p:extLst>
      <p:ext uri="{BB962C8B-B14F-4D97-AF65-F5344CB8AC3E}">
        <p14:creationId xmlns:p14="http://schemas.microsoft.com/office/powerpoint/2010/main" val="2014247289"/>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Lst>
  <p:txStyles>
    <p:titleStyle>
      <a:lvl1pPr algn="l" defTabSz="457200" rtl="0" eaLnBrk="1" latinLnBrk="0" hangingPunct="1">
        <a:spcBef>
          <a:spcPct val="0"/>
        </a:spcBef>
        <a:buNone/>
        <a:defRPr sz="4000" b="1" kern="1200">
          <a:solidFill>
            <a:srgbClr val="FEFEFE"/>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B80121-2090-C428-98C6-5A952B630D1E}"/>
              </a:ext>
            </a:extLst>
          </p:cNvPr>
          <p:cNvSpPr>
            <a:spLocks noGrp="1"/>
          </p:cNvSpPr>
          <p:nvPr>
            <p:ph type="ctrTitle"/>
          </p:nvPr>
        </p:nvSpPr>
        <p:spPr/>
        <p:txBody>
          <a:bodyPr/>
          <a:lstStyle/>
          <a:p>
            <a:pPr algn="ctr"/>
            <a:r>
              <a:rPr lang="en-US" dirty="0"/>
              <a:t>Solving Problems by Searching</a:t>
            </a:r>
          </a:p>
        </p:txBody>
      </p:sp>
      <p:sp>
        <p:nvSpPr>
          <p:cNvPr id="3" name="Subtitle 2">
            <a:extLst>
              <a:ext uri="{FF2B5EF4-FFF2-40B4-BE49-F238E27FC236}">
                <a16:creationId xmlns:a16="http://schemas.microsoft.com/office/drawing/2014/main" id="{8ACE1F8C-E5DE-EC85-D5FE-365A58F48FC7}"/>
              </a:ext>
            </a:extLst>
          </p:cNvPr>
          <p:cNvSpPr>
            <a:spLocks noGrp="1"/>
          </p:cNvSpPr>
          <p:nvPr>
            <p:ph type="subTitle" idx="1"/>
          </p:nvPr>
        </p:nvSpPr>
        <p:spPr/>
        <p:txBody>
          <a:bodyPr/>
          <a:lstStyle/>
          <a:p>
            <a:r>
              <a:rPr lang="en-US" dirty="0"/>
              <a:t>By Abeeha Sattar</a:t>
            </a:r>
          </a:p>
        </p:txBody>
      </p:sp>
    </p:spTree>
    <p:extLst>
      <p:ext uri="{BB962C8B-B14F-4D97-AF65-F5344CB8AC3E}">
        <p14:creationId xmlns:p14="http://schemas.microsoft.com/office/powerpoint/2010/main" val="3970448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2199AC-7CDB-0A93-163D-903F232AEC10}"/>
              </a:ext>
            </a:extLst>
          </p:cNvPr>
          <p:cNvSpPr>
            <a:spLocks noGrp="1"/>
          </p:cNvSpPr>
          <p:nvPr>
            <p:ph type="title"/>
          </p:nvPr>
        </p:nvSpPr>
        <p:spPr/>
        <p:txBody>
          <a:bodyPr/>
          <a:lstStyle/>
          <a:p>
            <a:r>
              <a:rPr lang="en-US" dirty="0"/>
              <a:t>Problem-Solving Agent</a:t>
            </a:r>
          </a:p>
        </p:txBody>
      </p:sp>
      <p:sp>
        <p:nvSpPr>
          <p:cNvPr id="3" name="Content Placeholder 2">
            <a:extLst>
              <a:ext uri="{FF2B5EF4-FFF2-40B4-BE49-F238E27FC236}">
                <a16:creationId xmlns:a16="http://schemas.microsoft.com/office/drawing/2014/main" id="{E150F066-D43A-5C96-5DBC-9E48FD42365F}"/>
              </a:ext>
            </a:extLst>
          </p:cNvPr>
          <p:cNvSpPr>
            <a:spLocks noGrp="1"/>
          </p:cNvSpPr>
          <p:nvPr>
            <p:ph idx="1"/>
          </p:nvPr>
        </p:nvSpPr>
        <p:spPr/>
        <p:txBody>
          <a:bodyPr/>
          <a:lstStyle/>
          <a:p>
            <a:r>
              <a:rPr lang="en-US" dirty="0"/>
              <a:t>When the correct action to take is not immediately obvious, an agent may need to </a:t>
            </a:r>
            <a:r>
              <a:rPr lang="en-US" i="1" dirty="0"/>
              <a:t>plan ahead</a:t>
            </a:r>
            <a:r>
              <a:rPr lang="en-US" dirty="0"/>
              <a:t>: to consider a sequence of actions that form a path to a goal state. </a:t>
            </a:r>
          </a:p>
          <a:p>
            <a:r>
              <a:rPr lang="en-US" dirty="0"/>
              <a:t>Such an agent is called a </a:t>
            </a:r>
            <a:r>
              <a:rPr lang="en-US" b="1" dirty="0"/>
              <a:t>problem-solving agent</a:t>
            </a:r>
            <a:r>
              <a:rPr lang="en-US" dirty="0"/>
              <a:t>, and the computational process it undertakes is called </a:t>
            </a:r>
            <a:r>
              <a:rPr lang="en-US" b="1" dirty="0"/>
              <a:t>search.</a:t>
            </a:r>
          </a:p>
        </p:txBody>
      </p:sp>
    </p:spTree>
    <p:extLst>
      <p:ext uri="{BB962C8B-B14F-4D97-AF65-F5344CB8AC3E}">
        <p14:creationId xmlns:p14="http://schemas.microsoft.com/office/powerpoint/2010/main" val="17710777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114211-B8C8-B4A1-4495-BA531B76618B}"/>
              </a:ext>
            </a:extLst>
          </p:cNvPr>
          <p:cNvSpPr>
            <a:spLocks noGrp="1"/>
          </p:cNvSpPr>
          <p:nvPr>
            <p:ph type="title"/>
          </p:nvPr>
        </p:nvSpPr>
        <p:spPr/>
        <p:txBody>
          <a:bodyPr/>
          <a:lstStyle/>
          <a:p>
            <a:r>
              <a:rPr lang="en-US" dirty="0"/>
              <a:t>Romania Route-Finding Problem</a:t>
            </a:r>
          </a:p>
        </p:txBody>
      </p:sp>
      <p:pic>
        <p:nvPicPr>
          <p:cNvPr id="5" name="Content Placeholder 4">
            <a:extLst>
              <a:ext uri="{FF2B5EF4-FFF2-40B4-BE49-F238E27FC236}">
                <a16:creationId xmlns:a16="http://schemas.microsoft.com/office/drawing/2014/main" id="{EC73CD5B-79C9-731B-045F-C14B438F46BB}"/>
              </a:ext>
            </a:extLst>
          </p:cNvPr>
          <p:cNvPicPr>
            <a:picLocks noGrp="1" noChangeAspect="1"/>
          </p:cNvPicPr>
          <p:nvPr>
            <p:ph idx="1"/>
          </p:nvPr>
        </p:nvPicPr>
        <p:blipFill>
          <a:blip r:embed="rId2"/>
          <a:stretch>
            <a:fillRect/>
          </a:stretch>
        </p:blipFill>
        <p:spPr>
          <a:xfrm>
            <a:off x="2306453" y="1895707"/>
            <a:ext cx="7579093" cy="4962293"/>
          </a:xfrm>
          <a:prstGeom prst="rect">
            <a:avLst/>
          </a:prstGeom>
          <a:effectLst>
            <a:outerShdw blurRad="50800" dir="14400000">
              <a:srgbClr val="000000">
                <a:alpha val="40000"/>
              </a:srgbClr>
            </a:outerShdw>
          </a:effectLst>
        </p:spPr>
      </p:pic>
    </p:spTree>
    <p:extLst>
      <p:ext uri="{BB962C8B-B14F-4D97-AF65-F5344CB8AC3E}">
        <p14:creationId xmlns:p14="http://schemas.microsoft.com/office/powerpoint/2010/main" val="6572056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FE463C-CEEB-64EA-794D-C409C53F8604}"/>
              </a:ext>
            </a:extLst>
          </p:cNvPr>
          <p:cNvSpPr>
            <a:spLocks noGrp="1"/>
          </p:cNvSpPr>
          <p:nvPr>
            <p:ph type="title"/>
          </p:nvPr>
        </p:nvSpPr>
        <p:spPr/>
        <p:txBody>
          <a:bodyPr/>
          <a:lstStyle/>
          <a:p>
            <a:r>
              <a:rPr lang="en-US" dirty="0"/>
              <a:t>Search Problem Definition</a:t>
            </a:r>
          </a:p>
        </p:txBody>
      </p:sp>
      <p:sp>
        <p:nvSpPr>
          <p:cNvPr id="3" name="Content Placeholder 2">
            <a:extLst>
              <a:ext uri="{FF2B5EF4-FFF2-40B4-BE49-F238E27FC236}">
                <a16:creationId xmlns:a16="http://schemas.microsoft.com/office/drawing/2014/main" id="{22048C69-DF2C-A8A4-7508-A6E5DEA7C1CF}"/>
              </a:ext>
            </a:extLst>
          </p:cNvPr>
          <p:cNvSpPr>
            <a:spLocks noGrp="1"/>
          </p:cNvSpPr>
          <p:nvPr>
            <p:ph idx="1"/>
          </p:nvPr>
        </p:nvSpPr>
        <p:spPr/>
        <p:txBody>
          <a:bodyPr/>
          <a:lstStyle/>
          <a:p>
            <a:r>
              <a:rPr lang="en-US" dirty="0"/>
              <a:t>A set of possible </a:t>
            </a:r>
            <a:r>
              <a:rPr lang="en-US" b="1" dirty="0"/>
              <a:t>states</a:t>
            </a:r>
            <a:r>
              <a:rPr lang="en-US" dirty="0"/>
              <a:t> that the environment can be in. We call this the </a:t>
            </a:r>
            <a:r>
              <a:rPr lang="en-US" b="1" dirty="0"/>
              <a:t>state</a:t>
            </a:r>
            <a:r>
              <a:rPr lang="en-US" dirty="0"/>
              <a:t> </a:t>
            </a:r>
            <a:r>
              <a:rPr lang="en-US" b="1" dirty="0"/>
              <a:t>space</a:t>
            </a:r>
            <a:r>
              <a:rPr lang="en-US" dirty="0"/>
              <a:t>.</a:t>
            </a:r>
          </a:p>
          <a:p>
            <a:r>
              <a:rPr lang="en-US" dirty="0"/>
              <a:t>The </a:t>
            </a:r>
            <a:r>
              <a:rPr lang="en-US" b="1" dirty="0"/>
              <a:t>initial</a:t>
            </a:r>
            <a:r>
              <a:rPr lang="en-US" dirty="0"/>
              <a:t> </a:t>
            </a:r>
            <a:r>
              <a:rPr lang="en-US" b="1" dirty="0"/>
              <a:t>state</a:t>
            </a:r>
            <a:r>
              <a:rPr lang="en-US" dirty="0"/>
              <a:t> that the agent starts in.</a:t>
            </a:r>
          </a:p>
          <a:p>
            <a:r>
              <a:rPr lang="en-US" dirty="0"/>
              <a:t>A set of one or more </a:t>
            </a:r>
            <a:r>
              <a:rPr lang="en-US" b="1" dirty="0"/>
              <a:t>goal</a:t>
            </a:r>
            <a:r>
              <a:rPr lang="en-US" dirty="0"/>
              <a:t> </a:t>
            </a:r>
            <a:r>
              <a:rPr lang="en-US" b="1" dirty="0"/>
              <a:t>states</a:t>
            </a:r>
            <a:r>
              <a:rPr lang="en-US" dirty="0"/>
              <a:t>.</a:t>
            </a:r>
          </a:p>
          <a:p>
            <a:r>
              <a:rPr lang="en-US" dirty="0"/>
              <a:t>The </a:t>
            </a:r>
            <a:r>
              <a:rPr lang="en-US" b="1" dirty="0"/>
              <a:t>actions</a:t>
            </a:r>
            <a:r>
              <a:rPr lang="en-US" dirty="0"/>
              <a:t> available to the agent.</a:t>
            </a:r>
          </a:p>
          <a:p>
            <a:r>
              <a:rPr lang="en-US" dirty="0"/>
              <a:t>A </a:t>
            </a:r>
            <a:r>
              <a:rPr lang="en-US" b="1" dirty="0"/>
              <a:t>transition</a:t>
            </a:r>
            <a:r>
              <a:rPr lang="en-US" dirty="0"/>
              <a:t> </a:t>
            </a:r>
            <a:r>
              <a:rPr lang="en-US" b="1" dirty="0"/>
              <a:t>model</a:t>
            </a:r>
            <a:r>
              <a:rPr lang="en-US" dirty="0"/>
              <a:t>, which describes what each action does.</a:t>
            </a:r>
          </a:p>
          <a:p>
            <a:r>
              <a:rPr lang="en-US" dirty="0"/>
              <a:t>An action cost function that gives the numeric cost of applying </a:t>
            </a:r>
            <a:r>
              <a:rPr lang="en-US" u="sng" dirty="0"/>
              <a:t>action </a:t>
            </a:r>
            <a:r>
              <a:rPr lang="en-US" i="1" u="sng" dirty="0"/>
              <a:t>a</a:t>
            </a:r>
            <a:r>
              <a:rPr lang="en-US" dirty="0"/>
              <a:t> in </a:t>
            </a:r>
            <a:r>
              <a:rPr lang="en-US" u="sng" dirty="0"/>
              <a:t>state </a:t>
            </a:r>
            <a:r>
              <a:rPr lang="en-US" i="1" u="sng" dirty="0"/>
              <a:t>s</a:t>
            </a:r>
            <a:r>
              <a:rPr lang="en-US" dirty="0"/>
              <a:t> to reach </a:t>
            </a:r>
            <a:r>
              <a:rPr lang="en-US" u="sng" dirty="0"/>
              <a:t>state </a:t>
            </a:r>
            <a:r>
              <a:rPr lang="en-US" i="1" u="sng" dirty="0"/>
              <a:t>s’</a:t>
            </a:r>
            <a:r>
              <a:rPr lang="en-US" i="1" dirty="0"/>
              <a:t>.</a:t>
            </a:r>
            <a:endParaRPr lang="en-US" dirty="0"/>
          </a:p>
        </p:txBody>
      </p:sp>
    </p:spTree>
    <p:extLst>
      <p:ext uri="{BB962C8B-B14F-4D97-AF65-F5344CB8AC3E}">
        <p14:creationId xmlns:p14="http://schemas.microsoft.com/office/powerpoint/2010/main" val="3026992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B3E7E-9504-BB2A-FAF2-4C229E49D34F}"/>
              </a:ext>
            </a:extLst>
          </p:cNvPr>
          <p:cNvSpPr>
            <a:spLocks noGrp="1"/>
          </p:cNvSpPr>
          <p:nvPr>
            <p:ph type="title"/>
          </p:nvPr>
        </p:nvSpPr>
        <p:spPr/>
        <p:txBody>
          <a:bodyPr/>
          <a:lstStyle/>
          <a:p>
            <a:r>
              <a:rPr lang="en-US" dirty="0"/>
              <a:t>Solution for a Problem</a:t>
            </a:r>
          </a:p>
        </p:txBody>
      </p:sp>
      <p:sp>
        <p:nvSpPr>
          <p:cNvPr id="3" name="Content Placeholder 2">
            <a:extLst>
              <a:ext uri="{FF2B5EF4-FFF2-40B4-BE49-F238E27FC236}">
                <a16:creationId xmlns:a16="http://schemas.microsoft.com/office/drawing/2014/main" id="{7872BF6B-8A18-3B53-17B8-FD70D2986547}"/>
              </a:ext>
            </a:extLst>
          </p:cNvPr>
          <p:cNvSpPr>
            <a:spLocks noGrp="1"/>
          </p:cNvSpPr>
          <p:nvPr>
            <p:ph idx="1"/>
          </p:nvPr>
        </p:nvSpPr>
        <p:spPr/>
        <p:txBody>
          <a:bodyPr/>
          <a:lstStyle/>
          <a:p>
            <a:r>
              <a:rPr lang="en-US" dirty="0"/>
              <a:t>A sequence of actions forms a </a:t>
            </a:r>
            <a:r>
              <a:rPr lang="en-US" b="1" dirty="0"/>
              <a:t>path</a:t>
            </a:r>
            <a:r>
              <a:rPr lang="en-US" dirty="0"/>
              <a:t>, and a </a:t>
            </a:r>
            <a:r>
              <a:rPr lang="en-US" b="1" dirty="0"/>
              <a:t>solution</a:t>
            </a:r>
            <a:r>
              <a:rPr lang="en-US" dirty="0"/>
              <a:t> is a path from the initial state to a goal Path state.</a:t>
            </a:r>
          </a:p>
          <a:p>
            <a:r>
              <a:rPr lang="en-US" dirty="0"/>
              <a:t>An </a:t>
            </a:r>
            <a:r>
              <a:rPr lang="en-US" b="1" dirty="0"/>
              <a:t>optimal</a:t>
            </a:r>
            <a:r>
              <a:rPr lang="en-US" dirty="0"/>
              <a:t> </a:t>
            </a:r>
            <a:r>
              <a:rPr lang="en-US" b="1" dirty="0"/>
              <a:t>solution</a:t>
            </a:r>
            <a:r>
              <a:rPr lang="en-US" dirty="0"/>
              <a:t> has the </a:t>
            </a:r>
            <a:r>
              <a:rPr lang="en-US" b="1" dirty="0"/>
              <a:t>lowest</a:t>
            </a:r>
            <a:r>
              <a:rPr lang="en-US" dirty="0"/>
              <a:t> </a:t>
            </a:r>
            <a:r>
              <a:rPr lang="en-US" b="1" dirty="0"/>
              <a:t>path</a:t>
            </a:r>
            <a:r>
              <a:rPr lang="en-US" dirty="0"/>
              <a:t> </a:t>
            </a:r>
            <a:r>
              <a:rPr lang="en-US" b="1" dirty="0"/>
              <a:t>cost</a:t>
            </a:r>
            <a:r>
              <a:rPr lang="en-US" dirty="0"/>
              <a:t> among all solutions.</a:t>
            </a:r>
          </a:p>
        </p:txBody>
      </p:sp>
    </p:spTree>
    <p:extLst>
      <p:ext uri="{BB962C8B-B14F-4D97-AF65-F5344CB8AC3E}">
        <p14:creationId xmlns:p14="http://schemas.microsoft.com/office/powerpoint/2010/main" val="36535167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DD7D4-6AF0-D37D-E857-CEE067D83083}"/>
              </a:ext>
            </a:extLst>
          </p:cNvPr>
          <p:cNvSpPr>
            <a:spLocks noGrp="1"/>
          </p:cNvSpPr>
          <p:nvPr>
            <p:ph type="title"/>
          </p:nvPr>
        </p:nvSpPr>
        <p:spPr/>
        <p:txBody>
          <a:bodyPr/>
          <a:lstStyle/>
          <a:p>
            <a:r>
              <a:rPr lang="en-US" dirty="0"/>
              <a:t>Formulating Problems</a:t>
            </a:r>
          </a:p>
        </p:txBody>
      </p:sp>
      <p:sp>
        <p:nvSpPr>
          <p:cNvPr id="3" name="Content Placeholder 2">
            <a:extLst>
              <a:ext uri="{FF2B5EF4-FFF2-40B4-BE49-F238E27FC236}">
                <a16:creationId xmlns:a16="http://schemas.microsoft.com/office/drawing/2014/main" id="{F27D18B2-9DDE-56B7-21F2-17196016EB90}"/>
              </a:ext>
            </a:extLst>
          </p:cNvPr>
          <p:cNvSpPr>
            <a:spLocks noGrp="1"/>
          </p:cNvSpPr>
          <p:nvPr>
            <p:ph idx="1"/>
          </p:nvPr>
        </p:nvSpPr>
        <p:spPr/>
        <p:txBody>
          <a:bodyPr/>
          <a:lstStyle/>
          <a:p>
            <a:r>
              <a:rPr lang="en-US" dirty="0"/>
              <a:t>When formulating a problem, we have to describe all the things (mentioned in prior slides) for our model.</a:t>
            </a:r>
          </a:p>
          <a:p>
            <a:r>
              <a:rPr lang="en-US" dirty="0"/>
              <a:t>Along with this, we also need to decide what level of abstraction we want for our problem.</a:t>
            </a:r>
          </a:p>
        </p:txBody>
      </p:sp>
    </p:spTree>
    <p:extLst>
      <p:ext uri="{BB962C8B-B14F-4D97-AF65-F5344CB8AC3E}">
        <p14:creationId xmlns:p14="http://schemas.microsoft.com/office/powerpoint/2010/main" val="2588949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344037-E15A-D407-0D47-9C60186ECBBF}"/>
              </a:ext>
            </a:extLst>
          </p:cNvPr>
          <p:cNvSpPr>
            <a:spLocks noGrp="1"/>
          </p:cNvSpPr>
          <p:nvPr>
            <p:ph type="title"/>
          </p:nvPr>
        </p:nvSpPr>
        <p:spPr>
          <a:xfrm>
            <a:off x="810000" y="692515"/>
            <a:ext cx="10571998" cy="970450"/>
          </a:xfrm>
        </p:spPr>
        <p:txBody>
          <a:bodyPr/>
          <a:lstStyle/>
          <a:p>
            <a:r>
              <a:rPr lang="en-US" dirty="0"/>
              <a:t>Some Standardized Problems </a:t>
            </a:r>
            <a:br>
              <a:rPr lang="en-US" dirty="0"/>
            </a:br>
            <a:r>
              <a:rPr lang="en-US" dirty="0"/>
              <a:t>(Vacuum Cleaner World)</a:t>
            </a:r>
          </a:p>
        </p:txBody>
      </p:sp>
      <p:pic>
        <p:nvPicPr>
          <p:cNvPr id="5" name="Content Placeholder 4">
            <a:extLst>
              <a:ext uri="{FF2B5EF4-FFF2-40B4-BE49-F238E27FC236}">
                <a16:creationId xmlns:a16="http://schemas.microsoft.com/office/drawing/2014/main" id="{66F8F70F-F480-07BC-D98F-374FCF8216CB}"/>
              </a:ext>
            </a:extLst>
          </p:cNvPr>
          <p:cNvPicPr>
            <a:picLocks noGrp="1" noChangeAspect="1"/>
          </p:cNvPicPr>
          <p:nvPr>
            <p:ph idx="1"/>
          </p:nvPr>
        </p:nvPicPr>
        <p:blipFill>
          <a:blip r:embed="rId3"/>
          <a:stretch>
            <a:fillRect/>
          </a:stretch>
        </p:blipFill>
        <p:spPr>
          <a:xfrm>
            <a:off x="2416899" y="1898382"/>
            <a:ext cx="8161083" cy="4948467"/>
          </a:xfrm>
          <a:prstGeom prst="rect">
            <a:avLst/>
          </a:prstGeom>
          <a:effectLst>
            <a:outerShdw blurRad="50800" dir="14400000">
              <a:srgbClr val="000000">
                <a:alpha val="40000"/>
              </a:srgbClr>
            </a:outerShdw>
          </a:effectLst>
        </p:spPr>
      </p:pic>
      <p:sp>
        <p:nvSpPr>
          <p:cNvPr id="6" name="TextBox 5">
            <a:extLst>
              <a:ext uri="{FF2B5EF4-FFF2-40B4-BE49-F238E27FC236}">
                <a16:creationId xmlns:a16="http://schemas.microsoft.com/office/drawing/2014/main" id="{441E593F-8545-8C2F-4CC0-ECA6DE4EE594}"/>
              </a:ext>
            </a:extLst>
          </p:cNvPr>
          <p:cNvSpPr txBox="1"/>
          <p:nvPr/>
        </p:nvSpPr>
        <p:spPr>
          <a:xfrm>
            <a:off x="156117" y="2308302"/>
            <a:ext cx="2260782" cy="2031325"/>
          </a:xfrm>
          <a:prstGeom prst="rect">
            <a:avLst/>
          </a:prstGeom>
          <a:noFill/>
        </p:spPr>
        <p:txBody>
          <a:bodyPr wrap="square" rtlCol="0">
            <a:spAutoFit/>
          </a:bodyPr>
          <a:lstStyle/>
          <a:p>
            <a:r>
              <a:rPr lang="en-US" dirty="0"/>
              <a:t>Let’s define:</a:t>
            </a:r>
          </a:p>
          <a:p>
            <a:pPr marL="285750" indent="-285750">
              <a:buFont typeface="Arial" panose="020B0604020202020204" pitchFamily="34" charset="0"/>
              <a:buChar char="•"/>
            </a:pPr>
            <a:r>
              <a:rPr lang="en-US" dirty="0"/>
              <a:t>States</a:t>
            </a:r>
          </a:p>
          <a:p>
            <a:pPr marL="285750" indent="-285750">
              <a:buFont typeface="Arial" panose="020B0604020202020204" pitchFamily="34" charset="0"/>
              <a:buChar char="•"/>
            </a:pPr>
            <a:r>
              <a:rPr lang="en-US" dirty="0"/>
              <a:t>Initial State</a:t>
            </a:r>
          </a:p>
          <a:p>
            <a:pPr marL="285750" indent="-285750">
              <a:buFont typeface="Arial" panose="020B0604020202020204" pitchFamily="34" charset="0"/>
              <a:buChar char="•"/>
            </a:pPr>
            <a:r>
              <a:rPr lang="en-US" dirty="0"/>
              <a:t>Actions</a:t>
            </a:r>
          </a:p>
          <a:p>
            <a:pPr marL="285750" indent="-285750">
              <a:buFont typeface="Arial" panose="020B0604020202020204" pitchFamily="34" charset="0"/>
              <a:buChar char="•"/>
            </a:pPr>
            <a:r>
              <a:rPr lang="en-US" dirty="0"/>
              <a:t>Transition Model</a:t>
            </a:r>
          </a:p>
          <a:p>
            <a:pPr marL="285750" indent="-285750">
              <a:buFont typeface="Arial" panose="020B0604020202020204" pitchFamily="34" charset="0"/>
              <a:buChar char="•"/>
            </a:pPr>
            <a:r>
              <a:rPr lang="en-US" dirty="0"/>
              <a:t>Goal States</a:t>
            </a:r>
          </a:p>
          <a:p>
            <a:pPr marL="285750" indent="-285750">
              <a:buFont typeface="Arial" panose="020B0604020202020204" pitchFamily="34" charset="0"/>
              <a:buChar char="•"/>
            </a:pPr>
            <a:r>
              <a:rPr lang="en-US" dirty="0"/>
              <a:t>Action Cost</a:t>
            </a:r>
          </a:p>
        </p:txBody>
      </p:sp>
    </p:spTree>
    <p:extLst>
      <p:ext uri="{BB962C8B-B14F-4D97-AF65-F5344CB8AC3E}">
        <p14:creationId xmlns:p14="http://schemas.microsoft.com/office/powerpoint/2010/main" val="7889571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4D3C7F-CDB1-3096-404F-3B8CFD5FC3CD}"/>
              </a:ext>
            </a:extLst>
          </p:cNvPr>
          <p:cNvSpPr>
            <a:spLocks noGrp="1"/>
          </p:cNvSpPr>
          <p:nvPr>
            <p:ph type="title"/>
          </p:nvPr>
        </p:nvSpPr>
        <p:spPr>
          <a:xfrm>
            <a:off x="810001" y="737119"/>
            <a:ext cx="10571998" cy="970450"/>
          </a:xfrm>
        </p:spPr>
        <p:txBody>
          <a:bodyPr/>
          <a:lstStyle/>
          <a:p>
            <a:r>
              <a:rPr lang="en-US" dirty="0"/>
              <a:t>Some Standardized Problems</a:t>
            </a:r>
            <a:br>
              <a:rPr lang="en-US" dirty="0"/>
            </a:br>
            <a:r>
              <a:rPr lang="en-US" dirty="0"/>
              <a:t>Sokoban – 8-Puzzle</a:t>
            </a:r>
          </a:p>
        </p:txBody>
      </p:sp>
      <p:pic>
        <p:nvPicPr>
          <p:cNvPr id="7" name="Content Placeholder 6">
            <a:extLst>
              <a:ext uri="{FF2B5EF4-FFF2-40B4-BE49-F238E27FC236}">
                <a16:creationId xmlns:a16="http://schemas.microsoft.com/office/drawing/2014/main" id="{DE3792D9-2405-C751-D12E-2D988F87A46D}"/>
              </a:ext>
            </a:extLst>
          </p:cNvPr>
          <p:cNvPicPr>
            <a:picLocks noGrp="1" noChangeAspect="1"/>
          </p:cNvPicPr>
          <p:nvPr>
            <p:ph idx="1"/>
          </p:nvPr>
        </p:nvPicPr>
        <p:blipFill>
          <a:blip r:embed="rId3"/>
          <a:srcRect l="27910" r="3806"/>
          <a:stretch>
            <a:fillRect/>
          </a:stretch>
        </p:blipFill>
        <p:spPr>
          <a:xfrm>
            <a:off x="3341649" y="1913687"/>
            <a:ext cx="5508702" cy="3030626"/>
          </a:xfrm>
          <a:prstGeom prst="rect">
            <a:avLst/>
          </a:prstGeom>
          <a:effectLst>
            <a:outerShdw blurRad="50800" dir="14400000">
              <a:srgbClr val="000000">
                <a:alpha val="40000"/>
              </a:srgbClr>
            </a:outerShdw>
          </a:effectLst>
        </p:spPr>
      </p:pic>
      <p:sp>
        <p:nvSpPr>
          <p:cNvPr id="8" name="TextBox 7">
            <a:extLst>
              <a:ext uri="{FF2B5EF4-FFF2-40B4-BE49-F238E27FC236}">
                <a16:creationId xmlns:a16="http://schemas.microsoft.com/office/drawing/2014/main" id="{972AB4A3-D925-AA25-487C-872DD9FC57DC}"/>
              </a:ext>
            </a:extLst>
          </p:cNvPr>
          <p:cNvSpPr txBox="1"/>
          <p:nvPr/>
        </p:nvSpPr>
        <p:spPr>
          <a:xfrm>
            <a:off x="423746" y="2413337"/>
            <a:ext cx="2260782" cy="2031325"/>
          </a:xfrm>
          <a:prstGeom prst="rect">
            <a:avLst/>
          </a:prstGeom>
          <a:noFill/>
        </p:spPr>
        <p:txBody>
          <a:bodyPr wrap="square" rtlCol="0">
            <a:spAutoFit/>
          </a:bodyPr>
          <a:lstStyle/>
          <a:p>
            <a:r>
              <a:rPr lang="en-US" dirty="0"/>
              <a:t>Let’s define:</a:t>
            </a:r>
          </a:p>
          <a:p>
            <a:pPr marL="285750" indent="-285750">
              <a:buFont typeface="Arial" panose="020B0604020202020204" pitchFamily="34" charset="0"/>
              <a:buChar char="•"/>
            </a:pPr>
            <a:r>
              <a:rPr lang="en-US" dirty="0"/>
              <a:t>States</a:t>
            </a:r>
          </a:p>
          <a:p>
            <a:pPr marL="285750" indent="-285750">
              <a:buFont typeface="Arial" panose="020B0604020202020204" pitchFamily="34" charset="0"/>
              <a:buChar char="•"/>
            </a:pPr>
            <a:r>
              <a:rPr lang="en-US" dirty="0"/>
              <a:t>Initial State</a:t>
            </a:r>
          </a:p>
          <a:p>
            <a:pPr marL="285750" indent="-285750">
              <a:buFont typeface="Arial" panose="020B0604020202020204" pitchFamily="34" charset="0"/>
              <a:buChar char="•"/>
            </a:pPr>
            <a:r>
              <a:rPr lang="en-US" dirty="0"/>
              <a:t>Actions</a:t>
            </a:r>
          </a:p>
          <a:p>
            <a:pPr marL="285750" indent="-285750">
              <a:buFont typeface="Arial" panose="020B0604020202020204" pitchFamily="34" charset="0"/>
              <a:buChar char="•"/>
            </a:pPr>
            <a:r>
              <a:rPr lang="en-US" dirty="0"/>
              <a:t>Transition Model</a:t>
            </a:r>
          </a:p>
          <a:p>
            <a:pPr marL="285750" indent="-285750">
              <a:buFont typeface="Arial" panose="020B0604020202020204" pitchFamily="34" charset="0"/>
              <a:buChar char="•"/>
            </a:pPr>
            <a:r>
              <a:rPr lang="en-US" dirty="0"/>
              <a:t>Goal States</a:t>
            </a:r>
          </a:p>
          <a:p>
            <a:pPr marL="285750" indent="-285750">
              <a:buFont typeface="Arial" panose="020B0604020202020204" pitchFamily="34" charset="0"/>
              <a:buChar char="•"/>
            </a:pPr>
            <a:r>
              <a:rPr lang="en-US" dirty="0"/>
              <a:t>Action Cost</a:t>
            </a:r>
          </a:p>
        </p:txBody>
      </p:sp>
    </p:spTree>
    <p:extLst>
      <p:ext uri="{BB962C8B-B14F-4D97-AF65-F5344CB8AC3E}">
        <p14:creationId xmlns:p14="http://schemas.microsoft.com/office/powerpoint/2010/main" val="33748225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D8E084-BE9F-2BA6-16E9-3986EB3C3916}"/>
              </a:ext>
            </a:extLst>
          </p:cNvPr>
          <p:cNvSpPr>
            <a:spLocks noGrp="1"/>
          </p:cNvSpPr>
          <p:nvPr>
            <p:ph type="title"/>
          </p:nvPr>
        </p:nvSpPr>
        <p:spPr/>
        <p:txBody>
          <a:bodyPr/>
          <a:lstStyle/>
          <a:p>
            <a:r>
              <a:rPr lang="en-US" strike="sngStrike" dirty="0"/>
              <a:t>Water</a:t>
            </a:r>
            <a:r>
              <a:rPr lang="en-US" dirty="0"/>
              <a:t> Lemonade-Jug Problem</a:t>
            </a:r>
            <a:br>
              <a:rPr lang="en-US" dirty="0"/>
            </a:br>
            <a:r>
              <a:rPr lang="en-US" sz="1600" dirty="0"/>
              <a:t>(yes, I had ChatGPT make the image)</a:t>
            </a:r>
            <a:endParaRPr lang="en-US" sz="3200" dirty="0"/>
          </a:p>
        </p:txBody>
      </p:sp>
      <p:sp>
        <p:nvSpPr>
          <p:cNvPr id="3" name="Content Placeholder 2">
            <a:extLst>
              <a:ext uri="{FF2B5EF4-FFF2-40B4-BE49-F238E27FC236}">
                <a16:creationId xmlns:a16="http://schemas.microsoft.com/office/drawing/2014/main" id="{D227028A-DF03-657A-A242-1CB33D2BF6A7}"/>
              </a:ext>
            </a:extLst>
          </p:cNvPr>
          <p:cNvSpPr>
            <a:spLocks noGrp="1"/>
          </p:cNvSpPr>
          <p:nvPr>
            <p:ph idx="1"/>
          </p:nvPr>
        </p:nvSpPr>
        <p:spPr>
          <a:xfrm>
            <a:off x="412595" y="2222288"/>
            <a:ext cx="10960691" cy="766240"/>
          </a:xfrm>
        </p:spPr>
        <p:txBody>
          <a:bodyPr>
            <a:normAutofit lnSpcReduction="10000"/>
          </a:bodyPr>
          <a:lstStyle/>
          <a:p>
            <a:pPr marL="0" indent="0">
              <a:buNone/>
            </a:pPr>
            <a:r>
              <a:rPr lang="en-US" dirty="0"/>
              <a:t>Measure exactly 4 liters of lemonade</a:t>
            </a:r>
          </a:p>
          <a:p>
            <a:pPr marL="0" indent="0">
              <a:buNone/>
            </a:pPr>
            <a:r>
              <a:rPr lang="en-US" dirty="0"/>
              <a:t>using a 3-liter and a 5-liter jug.</a:t>
            </a:r>
          </a:p>
        </p:txBody>
      </p:sp>
      <p:sp>
        <p:nvSpPr>
          <p:cNvPr id="5" name="TextBox 4">
            <a:extLst>
              <a:ext uri="{FF2B5EF4-FFF2-40B4-BE49-F238E27FC236}">
                <a16:creationId xmlns:a16="http://schemas.microsoft.com/office/drawing/2014/main" id="{2342C84C-156B-FEE5-9442-B729F9E194FB}"/>
              </a:ext>
            </a:extLst>
          </p:cNvPr>
          <p:cNvSpPr txBox="1"/>
          <p:nvPr/>
        </p:nvSpPr>
        <p:spPr>
          <a:xfrm>
            <a:off x="412595" y="3353133"/>
            <a:ext cx="2579971" cy="2031325"/>
          </a:xfrm>
          <a:prstGeom prst="rect">
            <a:avLst/>
          </a:prstGeom>
          <a:noFill/>
        </p:spPr>
        <p:txBody>
          <a:bodyPr wrap="square">
            <a:spAutoFit/>
          </a:bodyPr>
          <a:lstStyle/>
          <a:p>
            <a:r>
              <a:rPr lang="en-US" dirty="0"/>
              <a:t>What are the:</a:t>
            </a:r>
          </a:p>
          <a:p>
            <a:pPr marL="285750" indent="-285750">
              <a:buFont typeface="Arial" panose="020B0604020202020204" pitchFamily="34" charset="0"/>
              <a:buChar char="•"/>
            </a:pPr>
            <a:r>
              <a:rPr lang="en-US" dirty="0"/>
              <a:t>States</a:t>
            </a:r>
          </a:p>
          <a:p>
            <a:pPr marL="285750" indent="-285750">
              <a:buFont typeface="Arial" panose="020B0604020202020204" pitchFamily="34" charset="0"/>
              <a:buChar char="•"/>
            </a:pPr>
            <a:r>
              <a:rPr lang="en-US" dirty="0"/>
              <a:t>Initial State</a:t>
            </a:r>
          </a:p>
          <a:p>
            <a:pPr marL="285750" indent="-285750">
              <a:buFont typeface="Arial" panose="020B0604020202020204" pitchFamily="34" charset="0"/>
              <a:buChar char="•"/>
            </a:pPr>
            <a:r>
              <a:rPr lang="en-US" dirty="0"/>
              <a:t>Actions</a:t>
            </a:r>
          </a:p>
          <a:p>
            <a:pPr marL="285750" indent="-285750">
              <a:buFont typeface="Arial" panose="020B0604020202020204" pitchFamily="34" charset="0"/>
              <a:buChar char="•"/>
            </a:pPr>
            <a:r>
              <a:rPr lang="en-US" dirty="0"/>
              <a:t>Transition Model</a:t>
            </a:r>
          </a:p>
          <a:p>
            <a:pPr marL="285750" indent="-285750">
              <a:buFont typeface="Arial" panose="020B0604020202020204" pitchFamily="34" charset="0"/>
              <a:buChar char="•"/>
            </a:pPr>
            <a:r>
              <a:rPr lang="en-US" dirty="0"/>
              <a:t>Goal States</a:t>
            </a:r>
          </a:p>
          <a:p>
            <a:pPr marL="285750" indent="-285750">
              <a:buFont typeface="Arial" panose="020B0604020202020204" pitchFamily="34" charset="0"/>
              <a:buChar char="•"/>
            </a:pPr>
            <a:r>
              <a:rPr lang="en-US" dirty="0"/>
              <a:t>Action Cost</a:t>
            </a:r>
          </a:p>
        </p:txBody>
      </p:sp>
      <p:pic>
        <p:nvPicPr>
          <p:cNvPr id="9" name="Picture 8">
            <a:extLst>
              <a:ext uri="{FF2B5EF4-FFF2-40B4-BE49-F238E27FC236}">
                <a16:creationId xmlns:a16="http://schemas.microsoft.com/office/drawing/2014/main" id="{F1A022E3-F323-3C4B-F607-263253AACFE2}"/>
              </a:ext>
            </a:extLst>
          </p:cNvPr>
          <p:cNvPicPr>
            <a:picLocks noChangeAspect="1"/>
          </p:cNvPicPr>
          <p:nvPr/>
        </p:nvPicPr>
        <p:blipFill>
          <a:blip r:embed="rId2"/>
          <a:stretch>
            <a:fillRect/>
          </a:stretch>
        </p:blipFill>
        <p:spPr>
          <a:xfrm>
            <a:off x="4728117" y="1879591"/>
            <a:ext cx="7463883" cy="4978410"/>
          </a:xfrm>
          <a:prstGeom prst="rect">
            <a:avLst/>
          </a:prstGeom>
        </p:spPr>
      </p:pic>
    </p:spTree>
    <p:extLst>
      <p:ext uri="{BB962C8B-B14F-4D97-AF65-F5344CB8AC3E}">
        <p14:creationId xmlns:p14="http://schemas.microsoft.com/office/powerpoint/2010/main" val="29771919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9CCA53-A476-191A-93E4-7DCD04E1E6F4}"/>
              </a:ext>
            </a:extLst>
          </p:cNvPr>
          <p:cNvSpPr>
            <a:spLocks noGrp="1"/>
          </p:cNvSpPr>
          <p:nvPr>
            <p:ph type="title"/>
          </p:nvPr>
        </p:nvSpPr>
        <p:spPr>
          <a:xfrm>
            <a:off x="818712" y="681364"/>
            <a:ext cx="10571998" cy="970450"/>
          </a:xfrm>
        </p:spPr>
        <p:txBody>
          <a:bodyPr/>
          <a:lstStyle/>
          <a:p>
            <a:r>
              <a:rPr lang="en-US" dirty="0"/>
              <a:t>Real-World Problems</a:t>
            </a:r>
            <a:br>
              <a:rPr lang="en-US" dirty="0"/>
            </a:br>
            <a:r>
              <a:rPr lang="en-US" dirty="0"/>
              <a:t>Route-Finding Problem</a:t>
            </a:r>
          </a:p>
        </p:txBody>
      </p:sp>
      <p:sp>
        <p:nvSpPr>
          <p:cNvPr id="3" name="Content Placeholder 2">
            <a:extLst>
              <a:ext uri="{FF2B5EF4-FFF2-40B4-BE49-F238E27FC236}">
                <a16:creationId xmlns:a16="http://schemas.microsoft.com/office/drawing/2014/main" id="{14629C96-018D-25C3-A839-5216F6633B03}"/>
              </a:ext>
            </a:extLst>
          </p:cNvPr>
          <p:cNvSpPr>
            <a:spLocks noGrp="1"/>
          </p:cNvSpPr>
          <p:nvPr>
            <p:ph idx="1"/>
          </p:nvPr>
        </p:nvSpPr>
        <p:spPr/>
        <p:txBody>
          <a:bodyPr/>
          <a:lstStyle/>
          <a:p>
            <a:r>
              <a:rPr lang="en-US" dirty="0"/>
              <a:t>Touring Problems</a:t>
            </a:r>
          </a:p>
          <a:p>
            <a:pPr lvl="1"/>
            <a:r>
              <a:rPr lang="en-US" dirty="0"/>
              <a:t>Previous Romania Example</a:t>
            </a:r>
          </a:p>
          <a:p>
            <a:pPr lvl="1"/>
            <a:r>
              <a:rPr lang="en-US" dirty="0"/>
              <a:t>Travelling Salesman Problem</a:t>
            </a:r>
          </a:p>
          <a:p>
            <a:r>
              <a:rPr lang="en-US" dirty="0"/>
              <a:t>VLSI Layout Problems</a:t>
            </a:r>
          </a:p>
          <a:p>
            <a:r>
              <a:rPr lang="en-US" dirty="0"/>
              <a:t>Robot Navigation</a:t>
            </a:r>
          </a:p>
        </p:txBody>
      </p:sp>
      <p:pic>
        <p:nvPicPr>
          <p:cNvPr id="1026" name="Picture 2" descr="IC Layout">
            <a:extLst>
              <a:ext uri="{FF2B5EF4-FFF2-40B4-BE49-F238E27FC236}">
                <a16:creationId xmlns:a16="http://schemas.microsoft.com/office/drawing/2014/main" id="{3636DFC8-0199-EC99-8030-8717ADE879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70402" y="2448308"/>
            <a:ext cx="3424700" cy="34104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228116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27C0F0-CB9F-2FCA-DA33-D1DD549C4C8D}"/>
              </a:ext>
            </a:extLst>
          </p:cNvPr>
          <p:cNvSpPr>
            <a:spLocks noGrp="1"/>
          </p:cNvSpPr>
          <p:nvPr>
            <p:ph type="title"/>
          </p:nvPr>
        </p:nvSpPr>
        <p:spPr/>
        <p:txBody>
          <a:bodyPr/>
          <a:lstStyle/>
          <a:p>
            <a:r>
              <a:rPr lang="en-US" dirty="0"/>
              <a:t>Search Algorithms</a:t>
            </a:r>
          </a:p>
        </p:txBody>
      </p:sp>
      <p:sp>
        <p:nvSpPr>
          <p:cNvPr id="3" name="Content Placeholder 2">
            <a:extLst>
              <a:ext uri="{FF2B5EF4-FFF2-40B4-BE49-F238E27FC236}">
                <a16:creationId xmlns:a16="http://schemas.microsoft.com/office/drawing/2014/main" id="{EBC584CF-7143-F873-65F0-30C1BB128FB4}"/>
              </a:ext>
            </a:extLst>
          </p:cNvPr>
          <p:cNvSpPr>
            <a:spLocks noGrp="1"/>
          </p:cNvSpPr>
          <p:nvPr>
            <p:ph idx="1"/>
          </p:nvPr>
        </p:nvSpPr>
        <p:spPr/>
        <p:txBody>
          <a:bodyPr/>
          <a:lstStyle/>
          <a:p>
            <a:r>
              <a:rPr lang="en-US" dirty="0"/>
              <a:t>A search algorithm takes a </a:t>
            </a:r>
            <a:r>
              <a:rPr lang="en-US" b="1" dirty="0"/>
              <a:t>search</a:t>
            </a:r>
            <a:r>
              <a:rPr lang="en-US" dirty="0"/>
              <a:t> </a:t>
            </a:r>
            <a:r>
              <a:rPr lang="en-US" b="1" dirty="0"/>
              <a:t>problem</a:t>
            </a:r>
            <a:r>
              <a:rPr lang="en-US" dirty="0"/>
              <a:t> as </a:t>
            </a:r>
            <a:r>
              <a:rPr lang="en-US" b="1" dirty="0"/>
              <a:t>input</a:t>
            </a:r>
            <a:r>
              <a:rPr lang="en-US" dirty="0"/>
              <a:t> and returns a </a:t>
            </a:r>
            <a:r>
              <a:rPr lang="en-US" b="1" dirty="0"/>
              <a:t>solution</a:t>
            </a:r>
            <a:r>
              <a:rPr lang="en-US" dirty="0"/>
              <a:t>, or an </a:t>
            </a:r>
            <a:r>
              <a:rPr lang="en-US" b="1" dirty="0"/>
              <a:t>indication</a:t>
            </a:r>
            <a:r>
              <a:rPr lang="en-US" dirty="0"/>
              <a:t> </a:t>
            </a:r>
            <a:r>
              <a:rPr lang="en-US" b="1" dirty="0"/>
              <a:t>of</a:t>
            </a:r>
            <a:r>
              <a:rPr lang="en-US" dirty="0"/>
              <a:t> </a:t>
            </a:r>
            <a:r>
              <a:rPr lang="en-US" b="1" dirty="0"/>
              <a:t>failure</a:t>
            </a:r>
            <a:r>
              <a:rPr lang="en-US" dirty="0"/>
              <a:t>.</a:t>
            </a:r>
          </a:p>
        </p:txBody>
      </p:sp>
    </p:spTree>
    <p:extLst>
      <p:ext uri="{BB962C8B-B14F-4D97-AF65-F5344CB8AC3E}">
        <p14:creationId xmlns:p14="http://schemas.microsoft.com/office/powerpoint/2010/main" val="37718309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EA01C-11EC-ADE4-B91F-00196A5B96C7}"/>
              </a:ext>
            </a:extLst>
          </p:cNvPr>
          <p:cNvSpPr>
            <a:spLocks noGrp="1"/>
          </p:cNvSpPr>
          <p:nvPr>
            <p:ph type="title"/>
          </p:nvPr>
        </p:nvSpPr>
        <p:spPr/>
        <p:txBody>
          <a:bodyPr/>
          <a:lstStyle/>
          <a:p>
            <a:r>
              <a:rPr lang="en-US" dirty="0"/>
              <a:t>Types of Search Algorithms</a:t>
            </a:r>
          </a:p>
        </p:txBody>
      </p:sp>
      <p:graphicFrame>
        <p:nvGraphicFramePr>
          <p:cNvPr id="5" name="Content Placeholder 4">
            <a:extLst>
              <a:ext uri="{FF2B5EF4-FFF2-40B4-BE49-F238E27FC236}">
                <a16:creationId xmlns:a16="http://schemas.microsoft.com/office/drawing/2014/main" id="{E00F8C7C-D82B-8585-26A0-401B41E7CF26}"/>
              </a:ext>
            </a:extLst>
          </p:cNvPr>
          <p:cNvGraphicFramePr>
            <a:graphicFrameLocks noGrp="1"/>
          </p:cNvGraphicFramePr>
          <p:nvPr>
            <p:ph idx="1"/>
            <p:extLst>
              <p:ext uri="{D42A27DB-BD31-4B8C-83A1-F6EECF244321}">
                <p14:modId xmlns:p14="http://schemas.microsoft.com/office/powerpoint/2010/main" val="1156302635"/>
              </p:ext>
            </p:extLst>
          </p:nvPr>
        </p:nvGraphicFramePr>
        <p:xfrm>
          <a:off x="1142535" y="1973766"/>
          <a:ext cx="9529182" cy="224646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TextBox 6">
            <a:extLst>
              <a:ext uri="{FF2B5EF4-FFF2-40B4-BE49-F238E27FC236}">
                <a16:creationId xmlns:a16="http://schemas.microsoft.com/office/drawing/2014/main" id="{F5C753C5-6E33-35AD-C232-BDC7639B3C53}"/>
              </a:ext>
            </a:extLst>
          </p:cNvPr>
          <p:cNvSpPr txBox="1"/>
          <p:nvPr/>
        </p:nvSpPr>
        <p:spPr>
          <a:xfrm>
            <a:off x="2595214" y="4400005"/>
            <a:ext cx="3415293" cy="2351926"/>
          </a:xfrm>
          <a:prstGeom prst="rect">
            <a:avLst/>
          </a:prstGeom>
          <a:noFill/>
          <a:ln>
            <a:solidFill>
              <a:schemeClr val="accent1"/>
            </a:solidFill>
          </a:ln>
        </p:spPr>
        <p:txBody>
          <a:bodyPr wrap="square" rtlCol="0">
            <a:spAutoFit/>
          </a:bodyPr>
          <a:lstStyle/>
          <a:p>
            <a:pPr marL="239395">
              <a:lnSpc>
                <a:spcPct val="100000"/>
              </a:lnSpc>
              <a:spcBef>
                <a:spcPts val="515"/>
              </a:spcBef>
              <a:buClr>
                <a:srgbClr val="000098"/>
              </a:buClr>
              <a:tabLst>
                <a:tab pos="526415" algn="l"/>
              </a:tabLst>
            </a:pPr>
            <a:r>
              <a:rPr lang="en-US" spc="-5" dirty="0">
                <a:cs typeface="Arial"/>
              </a:rPr>
              <a:t>(Blind Search)</a:t>
            </a:r>
          </a:p>
          <a:p>
            <a:pPr marL="525780" indent="-286385">
              <a:lnSpc>
                <a:spcPct val="100000"/>
              </a:lnSpc>
              <a:spcBef>
                <a:spcPts val="515"/>
              </a:spcBef>
              <a:buClr>
                <a:srgbClr val="000098"/>
              </a:buClr>
              <a:buFont typeface="Arial"/>
              <a:buChar char="–"/>
              <a:tabLst>
                <a:tab pos="526415" algn="l"/>
              </a:tabLst>
            </a:pPr>
            <a:r>
              <a:rPr lang="en-US" spc="-5" dirty="0">
                <a:cs typeface="Arial"/>
              </a:rPr>
              <a:t>br</a:t>
            </a:r>
            <a:r>
              <a:rPr lang="en-US" spc="-10" dirty="0">
                <a:cs typeface="Arial"/>
              </a:rPr>
              <a:t>e</a:t>
            </a:r>
            <a:r>
              <a:rPr lang="en-US" spc="-5" dirty="0">
                <a:cs typeface="Arial"/>
              </a:rPr>
              <a:t>a</a:t>
            </a:r>
            <a:r>
              <a:rPr lang="en-US" spc="-10" dirty="0">
                <a:cs typeface="Arial"/>
              </a:rPr>
              <a:t>d</a:t>
            </a:r>
            <a:r>
              <a:rPr lang="en-US" spc="-5" dirty="0">
                <a:cs typeface="Arial"/>
              </a:rPr>
              <a:t>t</a:t>
            </a:r>
            <a:r>
              <a:rPr lang="en-US" spc="-15" dirty="0">
                <a:cs typeface="Arial"/>
              </a:rPr>
              <a:t>h</a:t>
            </a:r>
            <a:r>
              <a:rPr lang="en-US" dirty="0">
                <a:cs typeface="Arial"/>
              </a:rPr>
              <a:t>-fir</a:t>
            </a:r>
            <a:r>
              <a:rPr lang="en-US" spc="-15" dirty="0">
                <a:cs typeface="Arial"/>
              </a:rPr>
              <a:t>s</a:t>
            </a:r>
            <a:r>
              <a:rPr lang="en-US" spc="-5" dirty="0">
                <a:cs typeface="Arial"/>
              </a:rPr>
              <a:t>t</a:t>
            </a:r>
            <a:endParaRPr lang="en-US" dirty="0">
              <a:cs typeface="Arial"/>
            </a:endParaRPr>
          </a:p>
          <a:p>
            <a:pPr marL="525780" indent="-286385">
              <a:lnSpc>
                <a:spcPct val="100000"/>
              </a:lnSpc>
              <a:spcBef>
                <a:spcPts val="395"/>
              </a:spcBef>
              <a:buClr>
                <a:srgbClr val="000098"/>
              </a:buClr>
              <a:buFont typeface="Arial"/>
              <a:buChar char="–"/>
              <a:tabLst>
                <a:tab pos="526415" algn="l"/>
              </a:tabLst>
            </a:pPr>
            <a:r>
              <a:rPr lang="en-US" spc="-5" dirty="0">
                <a:cs typeface="Arial"/>
              </a:rPr>
              <a:t>u</a:t>
            </a:r>
            <a:r>
              <a:rPr lang="en-US" spc="-10" dirty="0">
                <a:cs typeface="Arial"/>
              </a:rPr>
              <a:t>n</a:t>
            </a:r>
            <a:r>
              <a:rPr lang="en-US" spc="-5" dirty="0">
                <a:cs typeface="Arial"/>
              </a:rPr>
              <a:t>iform</a:t>
            </a:r>
            <a:r>
              <a:rPr lang="en-US" dirty="0">
                <a:cs typeface="Arial"/>
              </a:rPr>
              <a:t>-</a:t>
            </a:r>
            <a:r>
              <a:rPr lang="en-US" spc="-10" dirty="0">
                <a:cs typeface="Arial"/>
              </a:rPr>
              <a:t>cost</a:t>
            </a:r>
            <a:r>
              <a:rPr lang="en-US" spc="-5" dirty="0">
                <a:cs typeface="Times New Roman"/>
              </a:rPr>
              <a:t> </a:t>
            </a:r>
            <a:r>
              <a:rPr lang="en-US" dirty="0">
                <a:cs typeface="Arial"/>
              </a:rPr>
              <a:t>se</a:t>
            </a:r>
            <a:r>
              <a:rPr lang="en-US" spc="-10" dirty="0">
                <a:cs typeface="Arial"/>
              </a:rPr>
              <a:t>a</a:t>
            </a:r>
            <a:r>
              <a:rPr lang="en-US" dirty="0">
                <a:cs typeface="Arial"/>
              </a:rPr>
              <a:t>rch</a:t>
            </a:r>
          </a:p>
          <a:p>
            <a:pPr marL="525780" indent="-286385">
              <a:lnSpc>
                <a:spcPct val="100000"/>
              </a:lnSpc>
              <a:spcBef>
                <a:spcPts val="395"/>
              </a:spcBef>
              <a:buClr>
                <a:srgbClr val="000098"/>
              </a:buClr>
              <a:buFont typeface="Arial"/>
              <a:buChar char="–"/>
              <a:tabLst>
                <a:tab pos="526415" algn="l"/>
              </a:tabLst>
            </a:pPr>
            <a:r>
              <a:rPr lang="en-US" spc="-5" dirty="0">
                <a:cs typeface="Arial"/>
              </a:rPr>
              <a:t>d</a:t>
            </a:r>
            <a:r>
              <a:rPr lang="en-US" spc="-10" dirty="0">
                <a:cs typeface="Arial"/>
              </a:rPr>
              <a:t>e</a:t>
            </a:r>
            <a:r>
              <a:rPr lang="en-US" spc="-5" dirty="0">
                <a:cs typeface="Arial"/>
              </a:rPr>
              <a:t>pt</a:t>
            </a:r>
            <a:r>
              <a:rPr lang="en-US" spc="-10" dirty="0">
                <a:cs typeface="Arial"/>
              </a:rPr>
              <a:t>h</a:t>
            </a:r>
            <a:r>
              <a:rPr lang="en-US" dirty="0">
                <a:cs typeface="Arial"/>
              </a:rPr>
              <a:t>-</a:t>
            </a:r>
            <a:r>
              <a:rPr lang="en-US" spc="-10" dirty="0">
                <a:cs typeface="Arial"/>
              </a:rPr>
              <a:t>first</a:t>
            </a:r>
            <a:endParaRPr lang="en-US" dirty="0">
              <a:cs typeface="Arial"/>
            </a:endParaRPr>
          </a:p>
          <a:p>
            <a:pPr marL="525780" indent="-286385">
              <a:lnSpc>
                <a:spcPct val="100000"/>
              </a:lnSpc>
              <a:spcBef>
                <a:spcPts val="505"/>
              </a:spcBef>
              <a:buClr>
                <a:srgbClr val="000098"/>
              </a:buClr>
              <a:buFont typeface="Arial"/>
              <a:buChar char="–"/>
              <a:tabLst>
                <a:tab pos="526415" algn="l"/>
              </a:tabLst>
            </a:pPr>
            <a:r>
              <a:rPr lang="en-US" spc="-10" dirty="0">
                <a:cs typeface="Arial"/>
              </a:rPr>
              <a:t>dep</a:t>
            </a:r>
            <a:r>
              <a:rPr lang="en-US" dirty="0">
                <a:cs typeface="Arial"/>
              </a:rPr>
              <a:t>t</a:t>
            </a:r>
            <a:r>
              <a:rPr lang="en-US" spc="-10" dirty="0">
                <a:cs typeface="Arial"/>
              </a:rPr>
              <a:t>h</a:t>
            </a:r>
            <a:r>
              <a:rPr lang="en-US" spc="-5" dirty="0">
                <a:cs typeface="Arial"/>
              </a:rPr>
              <a:t>-l</a:t>
            </a:r>
            <a:r>
              <a:rPr lang="en-US" spc="-10" dirty="0">
                <a:cs typeface="Arial"/>
              </a:rPr>
              <a:t>i</a:t>
            </a:r>
            <a:r>
              <a:rPr lang="en-US" dirty="0">
                <a:cs typeface="Arial"/>
              </a:rPr>
              <a:t>m</a:t>
            </a:r>
            <a:r>
              <a:rPr lang="en-US" spc="-10" dirty="0">
                <a:cs typeface="Arial"/>
              </a:rPr>
              <a:t>i</a:t>
            </a:r>
            <a:r>
              <a:rPr lang="en-US" dirty="0">
                <a:cs typeface="Arial"/>
              </a:rPr>
              <a:t>ted</a:t>
            </a:r>
            <a:r>
              <a:rPr lang="en-US" spc="-15" dirty="0">
                <a:cs typeface="Times New Roman"/>
              </a:rPr>
              <a:t> </a:t>
            </a:r>
            <a:r>
              <a:rPr lang="en-US" dirty="0">
                <a:cs typeface="Arial"/>
              </a:rPr>
              <a:t>s</a:t>
            </a:r>
            <a:r>
              <a:rPr lang="en-US" spc="-10" dirty="0">
                <a:cs typeface="Arial"/>
              </a:rPr>
              <a:t>ea</a:t>
            </a:r>
            <a:r>
              <a:rPr lang="en-US" dirty="0">
                <a:cs typeface="Arial"/>
              </a:rPr>
              <a:t>rch</a:t>
            </a:r>
          </a:p>
          <a:p>
            <a:pPr marL="525780" indent="-286385">
              <a:lnSpc>
                <a:spcPct val="100000"/>
              </a:lnSpc>
              <a:spcBef>
                <a:spcPts val="395"/>
              </a:spcBef>
              <a:buClr>
                <a:srgbClr val="000098"/>
              </a:buClr>
              <a:buFont typeface="Arial"/>
              <a:buChar char="–"/>
              <a:tabLst>
                <a:tab pos="526415" algn="l"/>
              </a:tabLst>
            </a:pPr>
            <a:r>
              <a:rPr lang="en-US" spc="-5" dirty="0">
                <a:cs typeface="Arial"/>
              </a:rPr>
              <a:t>iter</a:t>
            </a:r>
            <a:r>
              <a:rPr lang="en-US" spc="-10" dirty="0">
                <a:cs typeface="Arial"/>
              </a:rPr>
              <a:t>a</a:t>
            </a:r>
            <a:r>
              <a:rPr lang="en-US" dirty="0">
                <a:cs typeface="Arial"/>
              </a:rPr>
              <a:t>tive</a:t>
            </a:r>
            <a:r>
              <a:rPr lang="en-US" dirty="0">
                <a:cs typeface="Times New Roman"/>
              </a:rPr>
              <a:t> </a:t>
            </a:r>
            <a:r>
              <a:rPr lang="en-US" spc="-5" dirty="0">
                <a:cs typeface="Arial"/>
              </a:rPr>
              <a:t>d</a:t>
            </a:r>
            <a:r>
              <a:rPr lang="en-US" spc="-10" dirty="0">
                <a:cs typeface="Arial"/>
              </a:rPr>
              <a:t>e</a:t>
            </a:r>
            <a:r>
              <a:rPr lang="en-US" spc="-5" dirty="0">
                <a:cs typeface="Arial"/>
              </a:rPr>
              <a:t>e</a:t>
            </a:r>
            <a:r>
              <a:rPr lang="en-US" spc="-10" dirty="0">
                <a:cs typeface="Arial"/>
              </a:rPr>
              <a:t>p</a:t>
            </a:r>
            <a:r>
              <a:rPr lang="en-US" spc="-5" dirty="0">
                <a:cs typeface="Arial"/>
              </a:rPr>
              <a:t>e</a:t>
            </a:r>
            <a:r>
              <a:rPr lang="en-US" spc="-10" dirty="0">
                <a:cs typeface="Arial"/>
              </a:rPr>
              <a:t>n</a:t>
            </a:r>
            <a:r>
              <a:rPr lang="en-US" spc="-5" dirty="0">
                <a:cs typeface="Arial"/>
              </a:rPr>
              <a:t>i</a:t>
            </a:r>
            <a:r>
              <a:rPr lang="en-US" spc="-10" dirty="0">
                <a:cs typeface="Arial"/>
              </a:rPr>
              <a:t>n</a:t>
            </a:r>
            <a:r>
              <a:rPr lang="en-US" dirty="0">
                <a:cs typeface="Arial"/>
              </a:rPr>
              <a:t>g</a:t>
            </a:r>
          </a:p>
          <a:p>
            <a:pPr marL="525780" indent="-286385">
              <a:lnSpc>
                <a:spcPct val="100000"/>
              </a:lnSpc>
              <a:spcBef>
                <a:spcPts val="300"/>
              </a:spcBef>
              <a:buClr>
                <a:srgbClr val="000098"/>
              </a:buClr>
              <a:buFont typeface="Arial"/>
              <a:buChar char="–"/>
              <a:tabLst>
                <a:tab pos="526415" algn="l"/>
              </a:tabLst>
            </a:pPr>
            <a:r>
              <a:rPr lang="en-US" spc="-5" dirty="0">
                <a:cs typeface="Arial"/>
              </a:rPr>
              <a:t>bi</a:t>
            </a:r>
            <a:r>
              <a:rPr lang="en-US" dirty="0">
                <a:cs typeface="Arial"/>
              </a:rPr>
              <a:t>-</a:t>
            </a:r>
            <a:r>
              <a:rPr lang="en-US" spc="-5" dirty="0">
                <a:cs typeface="Arial"/>
              </a:rPr>
              <a:t>d</a:t>
            </a:r>
            <a:r>
              <a:rPr lang="en-US" spc="-10" dirty="0">
                <a:cs typeface="Arial"/>
              </a:rPr>
              <a:t>i</a:t>
            </a:r>
            <a:r>
              <a:rPr lang="en-US" dirty="0">
                <a:cs typeface="Arial"/>
              </a:rPr>
              <a:t>recti</a:t>
            </a:r>
            <a:r>
              <a:rPr lang="en-US" spc="-10" dirty="0">
                <a:cs typeface="Arial"/>
              </a:rPr>
              <a:t>o</a:t>
            </a:r>
            <a:r>
              <a:rPr lang="en-US" spc="-5" dirty="0">
                <a:cs typeface="Arial"/>
              </a:rPr>
              <a:t>n</a:t>
            </a:r>
            <a:r>
              <a:rPr lang="en-US" spc="-10" dirty="0">
                <a:cs typeface="Arial"/>
              </a:rPr>
              <a:t>a</a:t>
            </a:r>
            <a:r>
              <a:rPr lang="en-US" dirty="0">
                <a:cs typeface="Arial"/>
              </a:rPr>
              <a:t>l</a:t>
            </a:r>
            <a:r>
              <a:rPr lang="en-US" dirty="0">
                <a:cs typeface="Times New Roman"/>
              </a:rPr>
              <a:t> </a:t>
            </a:r>
            <a:r>
              <a:rPr lang="en-US" dirty="0">
                <a:cs typeface="Arial"/>
              </a:rPr>
              <a:t>se</a:t>
            </a:r>
            <a:r>
              <a:rPr lang="en-US" spc="-10" dirty="0">
                <a:cs typeface="Arial"/>
              </a:rPr>
              <a:t>a</a:t>
            </a:r>
            <a:r>
              <a:rPr lang="en-US" dirty="0">
                <a:cs typeface="Arial"/>
              </a:rPr>
              <a:t>rch</a:t>
            </a:r>
            <a:endParaRPr lang="en-US" dirty="0"/>
          </a:p>
        </p:txBody>
      </p:sp>
      <p:sp>
        <p:nvSpPr>
          <p:cNvPr id="8" name="TextBox 7">
            <a:extLst>
              <a:ext uri="{FF2B5EF4-FFF2-40B4-BE49-F238E27FC236}">
                <a16:creationId xmlns:a16="http://schemas.microsoft.com/office/drawing/2014/main" id="{BF7466EB-D361-9535-87EE-F644D6AD547C}"/>
              </a:ext>
            </a:extLst>
          </p:cNvPr>
          <p:cNvSpPr txBox="1"/>
          <p:nvPr/>
        </p:nvSpPr>
        <p:spPr>
          <a:xfrm>
            <a:off x="7509184" y="4400005"/>
            <a:ext cx="2969245" cy="1051570"/>
          </a:xfrm>
          <a:prstGeom prst="rect">
            <a:avLst/>
          </a:prstGeom>
          <a:noFill/>
          <a:ln>
            <a:solidFill>
              <a:schemeClr val="accent1"/>
            </a:solidFill>
          </a:ln>
        </p:spPr>
        <p:txBody>
          <a:bodyPr wrap="square" rtlCol="0">
            <a:spAutoFit/>
          </a:bodyPr>
          <a:lstStyle/>
          <a:p>
            <a:pPr marL="239395">
              <a:lnSpc>
                <a:spcPct val="100000"/>
              </a:lnSpc>
              <a:spcBef>
                <a:spcPts val="515"/>
              </a:spcBef>
              <a:buClr>
                <a:srgbClr val="000098"/>
              </a:buClr>
              <a:tabLst>
                <a:tab pos="526415" algn="l"/>
              </a:tabLst>
            </a:pPr>
            <a:r>
              <a:rPr lang="en-US" spc="-5" dirty="0">
                <a:cs typeface="Arial"/>
              </a:rPr>
              <a:t>(Heuristic Search)</a:t>
            </a:r>
          </a:p>
          <a:p>
            <a:pPr marL="525780" indent="-286385">
              <a:lnSpc>
                <a:spcPct val="100000"/>
              </a:lnSpc>
              <a:spcBef>
                <a:spcPts val="515"/>
              </a:spcBef>
              <a:buClr>
                <a:srgbClr val="000098"/>
              </a:buClr>
              <a:buFont typeface="Arial"/>
              <a:buChar char="–"/>
              <a:tabLst>
                <a:tab pos="526415" algn="l"/>
              </a:tabLst>
            </a:pPr>
            <a:r>
              <a:rPr lang="en-US" spc="-5" dirty="0">
                <a:cs typeface="Arial"/>
              </a:rPr>
              <a:t>Greedy best-first</a:t>
            </a:r>
          </a:p>
          <a:p>
            <a:pPr marL="525780" indent="-286385">
              <a:lnSpc>
                <a:spcPct val="100000"/>
              </a:lnSpc>
              <a:spcBef>
                <a:spcPts val="515"/>
              </a:spcBef>
              <a:buClr>
                <a:srgbClr val="000098"/>
              </a:buClr>
              <a:buFont typeface="Arial"/>
              <a:buChar char="–"/>
              <a:tabLst>
                <a:tab pos="526415" algn="l"/>
              </a:tabLst>
            </a:pPr>
            <a:r>
              <a:rPr lang="en-US" spc="-5" dirty="0">
                <a:cs typeface="Arial"/>
              </a:rPr>
              <a:t>A*</a:t>
            </a:r>
          </a:p>
        </p:txBody>
      </p:sp>
      <p:sp>
        <p:nvSpPr>
          <p:cNvPr id="9" name="TextBox 8">
            <a:extLst>
              <a:ext uri="{FF2B5EF4-FFF2-40B4-BE49-F238E27FC236}">
                <a16:creationId xmlns:a16="http://schemas.microsoft.com/office/drawing/2014/main" id="{8FD11EF5-B9F8-7045-AF94-23EDD6EF85F2}"/>
              </a:ext>
            </a:extLst>
          </p:cNvPr>
          <p:cNvSpPr txBox="1"/>
          <p:nvPr/>
        </p:nvSpPr>
        <p:spPr>
          <a:xfrm>
            <a:off x="0" y="4405581"/>
            <a:ext cx="2263698" cy="2031325"/>
          </a:xfrm>
          <a:prstGeom prst="rect">
            <a:avLst/>
          </a:prstGeom>
          <a:noFill/>
          <a:ln>
            <a:solidFill>
              <a:schemeClr val="accent1"/>
            </a:solidFill>
          </a:ln>
        </p:spPr>
        <p:txBody>
          <a:bodyPr wrap="square" rtlCol="0">
            <a:spAutoFit/>
          </a:bodyPr>
          <a:lstStyle/>
          <a:p>
            <a:pPr marL="285750" indent="-285750">
              <a:buFont typeface="Arial" panose="020B0604020202020204" pitchFamily="34" charset="0"/>
              <a:buChar char="•"/>
            </a:pPr>
            <a:r>
              <a:rPr lang="en-US" dirty="0"/>
              <a:t>number of steps, path cost unknown</a:t>
            </a:r>
          </a:p>
          <a:p>
            <a:pPr marL="285750" indent="-285750">
              <a:buFont typeface="Arial" panose="020B0604020202020204" pitchFamily="34" charset="0"/>
              <a:buChar char="•"/>
            </a:pPr>
            <a:r>
              <a:rPr lang="en-US" dirty="0"/>
              <a:t>agent knows when it reaches a goal</a:t>
            </a:r>
          </a:p>
          <a:p>
            <a:endParaRPr lang="en-US" dirty="0"/>
          </a:p>
        </p:txBody>
      </p:sp>
      <p:sp>
        <p:nvSpPr>
          <p:cNvPr id="10" name="TextBox 9">
            <a:extLst>
              <a:ext uri="{FF2B5EF4-FFF2-40B4-BE49-F238E27FC236}">
                <a16:creationId xmlns:a16="http://schemas.microsoft.com/office/drawing/2014/main" id="{30882CD5-C2EC-8ED7-8532-EFE3448FBAF9}"/>
              </a:ext>
            </a:extLst>
          </p:cNvPr>
          <p:cNvSpPr txBox="1"/>
          <p:nvPr/>
        </p:nvSpPr>
        <p:spPr>
          <a:xfrm>
            <a:off x="7509184" y="5575968"/>
            <a:ext cx="3541675" cy="1200329"/>
          </a:xfrm>
          <a:prstGeom prst="rect">
            <a:avLst/>
          </a:prstGeom>
          <a:noFill/>
          <a:ln>
            <a:solidFill>
              <a:schemeClr val="accent1"/>
            </a:solidFill>
          </a:ln>
        </p:spPr>
        <p:txBody>
          <a:bodyPr wrap="square" rtlCol="0">
            <a:spAutoFit/>
          </a:bodyPr>
          <a:lstStyle/>
          <a:p>
            <a:pPr marL="285750" indent="-285750">
              <a:buFont typeface="Arial" panose="020B0604020202020204" pitchFamily="34" charset="0"/>
              <a:buChar char="•"/>
            </a:pPr>
            <a:r>
              <a:rPr lang="en-US" dirty="0"/>
              <a:t>agent has background information about the problem</a:t>
            </a:r>
          </a:p>
          <a:p>
            <a:endParaRPr lang="en-US" dirty="0"/>
          </a:p>
        </p:txBody>
      </p:sp>
    </p:spTree>
    <p:extLst>
      <p:ext uri="{BB962C8B-B14F-4D97-AF65-F5344CB8AC3E}">
        <p14:creationId xmlns:p14="http://schemas.microsoft.com/office/powerpoint/2010/main" val="5186642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B02C7-6D24-E87C-9906-DA3382BE7684}"/>
              </a:ext>
            </a:extLst>
          </p:cNvPr>
          <p:cNvSpPr>
            <a:spLocks noGrp="1"/>
          </p:cNvSpPr>
          <p:nvPr>
            <p:ph type="title"/>
          </p:nvPr>
        </p:nvSpPr>
        <p:spPr/>
        <p:txBody>
          <a:bodyPr/>
          <a:lstStyle/>
          <a:p>
            <a:r>
              <a:rPr lang="en-US" dirty="0"/>
              <a:t>Uninformed (Blind) Search</a:t>
            </a:r>
          </a:p>
        </p:txBody>
      </p:sp>
      <p:sp>
        <p:nvSpPr>
          <p:cNvPr id="3" name="Content Placeholder 2">
            <a:extLst>
              <a:ext uri="{FF2B5EF4-FFF2-40B4-BE49-F238E27FC236}">
                <a16:creationId xmlns:a16="http://schemas.microsoft.com/office/drawing/2014/main" id="{3E33077A-5C69-2BD8-479C-B4F7A8BE290D}"/>
              </a:ext>
            </a:extLst>
          </p:cNvPr>
          <p:cNvSpPr>
            <a:spLocks noGrp="1"/>
          </p:cNvSpPr>
          <p:nvPr>
            <p:ph idx="1"/>
          </p:nvPr>
        </p:nvSpPr>
        <p:spPr/>
        <p:txBody>
          <a:bodyPr>
            <a:normAutofit/>
          </a:bodyPr>
          <a:lstStyle/>
          <a:p>
            <a:r>
              <a:rPr lang="en-US" dirty="0"/>
              <a:t>The Uninformed Search does not contain any </a:t>
            </a:r>
            <a:r>
              <a:rPr lang="en-US" b="1" dirty="0"/>
              <a:t>domain</a:t>
            </a:r>
            <a:r>
              <a:rPr lang="en-US" dirty="0"/>
              <a:t> </a:t>
            </a:r>
            <a:r>
              <a:rPr lang="en-US" b="1" dirty="0"/>
              <a:t>knowledge</a:t>
            </a:r>
            <a:r>
              <a:rPr lang="en-US" dirty="0"/>
              <a:t> such as closeness or location of  goal.</a:t>
            </a:r>
          </a:p>
          <a:p>
            <a:r>
              <a:rPr lang="en-US" dirty="0"/>
              <a:t>It operates in a </a:t>
            </a:r>
            <a:r>
              <a:rPr lang="en-US" b="1" dirty="0"/>
              <a:t>brute</a:t>
            </a:r>
            <a:r>
              <a:rPr lang="en-US" dirty="0"/>
              <a:t> </a:t>
            </a:r>
            <a:r>
              <a:rPr lang="en-US" b="1" dirty="0"/>
              <a:t>force</a:t>
            </a:r>
            <a:r>
              <a:rPr lang="en-US" dirty="0"/>
              <a:t> way, as it only includes  information about </a:t>
            </a:r>
            <a:r>
              <a:rPr lang="en-US" b="1" dirty="0"/>
              <a:t>how</a:t>
            </a:r>
            <a:r>
              <a:rPr lang="en-US" dirty="0"/>
              <a:t> </a:t>
            </a:r>
            <a:r>
              <a:rPr lang="en-US" b="1" dirty="0"/>
              <a:t>to</a:t>
            </a:r>
            <a:r>
              <a:rPr lang="en-US" dirty="0"/>
              <a:t> </a:t>
            </a:r>
            <a:r>
              <a:rPr lang="en-US" b="1" dirty="0"/>
              <a:t>traverse</a:t>
            </a:r>
            <a:r>
              <a:rPr lang="en-US" dirty="0"/>
              <a:t> the tree and how  to </a:t>
            </a:r>
            <a:r>
              <a:rPr lang="en-US" b="1" dirty="0"/>
              <a:t>identify</a:t>
            </a:r>
            <a:r>
              <a:rPr lang="en-US" dirty="0"/>
              <a:t> </a:t>
            </a:r>
            <a:r>
              <a:rPr lang="en-US" b="1" dirty="0"/>
              <a:t>leaf</a:t>
            </a:r>
            <a:r>
              <a:rPr lang="en-US" dirty="0"/>
              <a:t> </a:t>
            </a:r>
            <a:r>
              <a:rPr lang="en-US" b="1" dirty="0"/>
              <a:t>and</a:t>
            </a:r>
            <a:r>
              <a:rPr lang="en-US" dirty="0"/>
              <a:t> </a:t>
            </a:r>
            <a:r>
              <a:rPr lang="en-US" b="1" dirty="0"/>
              <a:t>goal</a:t>
            </a:r>
            <a:r>
              <a:rPr lang="en-US" dirty="0"/>
              <a:t> </a:t>
            </a:r>
            <a:r>
              <a:rPr lang="en-US" b="1" dirty="0"/>
              <a:t>nodes</a:t>
            </a:r>
            <a:r>
              <a:rPr lang="en-US" dirty="0"/>
              <a:t>.</a:t>
            </a:r>
          </a:p>
          <a:p>
            <a:endParaRPr lang="en-US" dirty="0"/>
          </a:p>
          <a:p>
            <a:r>
              <a:rPr lang="en-US" dirty="0"/>
              <a:t>Uninformed Search applies a way in which the search tree is searched without any information, so it is  called </a:t>
            </a:r>
            <a:r>
              <a:rPr lang="en-US" b="1" dirty="0"/>
              <a:t>blind</a:t>
            </a:r>
            <a:r>
              <a:rPr lang="en-US" dirty="0"/>
              <a:t> </a:t>
            </a:r>
            <a:r>
              <a:rPr lang="en-US" b="1" dirty="0"/>
              <a:t>search</a:t>
            </a:r>
            <a:r>
              <a:rPr lang="en-US" dirty="0"/>
              <a:t>.</a:t>
            </a:r>
          </a:p>
          <a:p>
            <a:endParaRPr lang="en-US" dirty="0"/>
          </a:p>
          <a:p>
            <a:r>
              <a:rPr lang="en-US" dirty="0"/>
              <a:t>It examines each node until it reaches the goal node.</a:t>
            </a:r>
          </a:p>
        </p:txBody>
      </p:sp>
    </p:spTree>
    <p:extLst>
      <p:ext uri="{BB962C8B-B14F-4D97-AF65-F5344CB8AC3E}">
        <p14:creationId xmlns:p14="http://schemas.microsoft.com/office/powerpoint/2010/main" val="20843333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5ECE9F-06E2-5B34-66D2-1ECD077092D1}"/>
              </a:ext>
            </a:extLst>
          </p:cNvPr>
          <p:cNvSpPr>
            <a:spLocks noGrp="1"/>
          </p:cNvSpPr>
          <p:nvPr>
            <p:ph type="title"/>
          </p:nvPr>
        </p:nvSpPr>
        <p:spPr/>
        <p:txBody>
          <a:bodyPr/>
          <a:lstStyle/>
          <a:p>
            <a:r>
              <a:rPr lang="en-US" dirty="0"/>
              <a:t>Informed (Heuristic) Search</a:t>
            </a:r>
          </a:p>
        </p:txBody>
      </p:sp>
      <p:sp>
        <p:nvSpPr>
          <p:cNvPr id="3" name="Content Placeholder 2">
            <a:extLst>
              <a:ext uri="{FF2B5EF4-FFF2-40B4-BE49-F238E27FC236}">
                <a16:creationId xmlns:a16="http://schemas.microsoft.com/office/drawing/2014/main" id="{B2E8F28D-C925-1FF3-B4B2-15FB21991AC6}"/>
              </a:ext>
            </a:extLst>
          </p:cNvPr>
          <p:cNvSpPr>
            <a:spLocks noGrp="1"/>
          </p:cNvSpPr>
          <p:nvPr>
            <p:ph idx="1"/>
          </p:nvPr>
        </p:nvSpPr>
        <p:spPr/>
        <p:txBody>
          <a:bodyPr/>
          <a:lstStyle/>
          <a:p>
            <a:r>
              <a:rPr lang="en-US" dirty="0"/>
              <a:t>Searches involving or enabling discovery or problem-solving through methods such as </a:t>
            </a:r>
            <a:r>
              <a:rPr lang="en-US" b="1" dirty="0"/>
              <a:t>experimentation</a:t>
            </a:r>
            <a:r>
              <a:rPr lang="en-US" dirty="0"/>
              <a:t>, </a:t>
            </a:r>
            <a:r>
              <a:rPr lang="en-US" b="1" dirty="0"/>
              <a:t>evaluation</a:t>
            </a:r>
            <a:r>
              <a:rPr lang="en-US" dirty="0"/>
              <a:t>, and </a:t>
            </a:r>
            <a:r>
              <a:rPr lang="en-US" b="1" dirty="0"/>
              <a:t>trial</a:t>
            </a:r>
            <a:r>
              <a:rPr lang="en-US" dirty="0"/>
              <a:t> </a:t>
            </a:r>
            <a:r>
              <a:rPr lang="en-US" b="1" dirty="0"/>
              <a:t>and</a:t>
            </a:r>
            <a:r>
              <a:rPr lang="en-US" dirty="0"/>
              <a:t> </a:t>
            </a:r>
            <a:r>
              <a:rPr lang="en-US" b="1" dirty="0"/>
              <a:t>error</a:t>
            </a:r>
            <a:r>
              <a:rPr lang="en-US" dirty="0"/>
              <a:t>.</a:t>
            </a:r>
          </a:p>
        </p:txBody>
      </p:sp>
    </p:spTree>
    <p:extLst>
      <p:ext uri="{BB962C8B-B14F-4D97-AF65-F5344CB8AC3E}">
        <p14:creationId xmlns:p14="http://schemas.microsoft.com/office/powerpoint/2010/main" val="20149741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B598DA-BF5B-2DA6-06F9-112DD7BAFFAE}"/>
              </a:ext>
            </a:extLst>
          </p:cNvPr>
          <p:cNvSpPr>
            <a:spLocks noGrp="1"/>
          </p:cNvSpPr>
          <p:nvPr>
            <p:ph type="title"/>
          </p:nvPr>
        </p:nvSpPr>
        <p:spPr/>
        <p:txBody>
          <a:bodyPr/>
          <a:lstStyle/>
          <a:p>
            <a:r>
              <a:rPr lang="en-US" dirty="0"/>
              <a:t>Evaluation of Search Strategies</a:t>
            </a:r>
          </a:p>
        </p:txBody>
      </p:sp>
      <p:sp>
        <p:nvSpPr>
          <p:cNvPr id="3" name="Content Placeholder 2">
            <a:extLst>
              <a:ext uri="{FF2B5EF4-FFF2-40B4-BE49-F238E27FC236}">
                <a16:creationId xmlns:a16="http://schemas.microsoft.com/office/drawing/2014/main" id="{D324D3C5-DB80-91A3-D633-DE56134463B7}"/>
              </a:ext>
            </a:extLst>
          </p:cNvPr>
          <p:cNvSpPr>
            <a:spLocks noGrp="1"/>
          </p:cNvSpPr>
          <p:nvPr>
            <p:ph idx="1"/>
          </p:nvPr>
        </p:nvSpPr>
        <p:spPr>
          <a:xfrm>
            <a:off x="818712" y="2222287"/>
            <a:ext cx="10554574" cy="4390386"/>
          </a:xfrm>
        </p:spPr>
        <p:txBody>
          <a:bodyPr/>
          <a:lstStyle/>
          <a:p>
            <a:r>
              <a:rPr lang="en-US" b="1" dirty="0"/>
              <a:t>Completeness</a:t>
            </a:r>
            <a:r>
              <a:rPr lang="en-US" dirty="0"/>
              <a:t>: if there is a solution, will it be found</a:t>
            </a:r>
          </a:p>
          <a:p>
            <a:r>
              <a:rPr lang="en-US" b="1" dirty="0"/>
              <a:t>Time</a:t>
            </a:r>
            <a:r>
              <a:rPr lang="en-US" dirty="0"/>
              <a:t> </a:t>
            </a:r>
            <a:r>
              <a:rPr lang="en-US" b="1" dirty="0"/>
              <a:t>complexity</a:t>
            </a:r>
            <a:r>
              <a:rPr lang="en-US" dirty="0"/>
              <a:t>: How long does it takes to find the solution</a:t>
            </a:r>
          </a:p>
          <a:p>
            <a:r>
              <a:rPr lang="en-US" b="1" dirty="0"/>
              <a:t>Space</a:t>
            </a:r>
            <a:r>
              <a:rPr lang="en-US" dirty="0"/>
              <a:t> </a:t>
            </a:r>
            <a:r>
              <a:rPr lang="en-US" b="1" dirty="0"/>
              <a:t>complexity</a:t>
            </a:r>
            <a:r>
              <a:rPr lang="en-US" dirty="0"/>
              <a:t>: memory required for the search</a:t>
            </a:r>
          </a:p>
          <a:p>
            <a:r>
              <a:rPr lang="en-US" b="1" dirty="0"/>
              <a:t>Optimality</a:t>
            </a:r>
            <a:r>
              <a:rPr lang="en-US" dirty="0"/>
              <a:t>: will the best solution be found</a:t>
            </a:r>
          </a:p>
          <a:p>
            <a:pPr marL="0" indent="0">
              <a:buNone/>
            </a:pPr>
            <a:endParaRPr lang="en-US" dirty="0"/>
          </a:p>
          <a:p>
            <a:pPr marL="0" indent="0">
              <a:buNone/>
            </a:pPr>
            <a:r>
              <a:rPr lang="en-US" dirty="0"/>
              <a:t>Time and space complexity are measured in  terms of</a:t>
            </a:r>
          </a:p>
          <a:p>
            <a:r>
              <a:rPr lang="en-US" b="1" dirty="0"/>
              <a:t>b:</a:t>
            </a:r>
            <a:r>
              <a:rPr lang="en-US" dirty="0"/>
              <a:t> maximum branching factor of the search tree</a:t>
            </a:r>
          </a:p>
          <a:p>
            <a:r>
              <a:rPr lang="en-US" b="1" dirty="0"/>
              <a:t>d: </a:t>
            </a:r>
            <a:r>
              <a:rPr lang="en-US" dirty="0"/>
              <a:t>depth of the least-cost solution</a:t>
            </a:r>
          </a:p>
          <a:p>
            <a:r>
              <a:rPr lang="en-US" b="1" dirty="0"/>
              <a:t>m: </a:t>
            </a:r>
            <a:r>
              <a:rPr lang="en-US" dirty="0"/>
              <a:t>maximum depth of the state space (may be ∞)</a:t>
            </a:r>
          </a:p>
        </p:txBody>
      </p:sp>
    </p:spTree>
    <p:extLst>
      <p:ext uri="{BB962C8B-B14F-4D97-AF65-F5344CB8AC3E}">
        <p14:creationId xmlns:p14="http://schemas.microsoft.com/office/powerpoint/2010/main" val="32425634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E7309-72BB-9C76-7AED-44570A26F631}"/>
              </a:ext>
            </a:extLst>
          </p:cNvPr>
          <p:cNvSpPr>
            <a:spLocks noGrp="1"/>
          </p:cNvSpPr>
          <p:nvPr>
            <p:ph type="title"/>
          </p:nvPr>
        </p:nvSpPr>
        <p:spPr/>
        <p:txBody>
          <a:bodyPr/>
          <a:lstStyle/>
          <a:p>
            <a:r>
              <a:rPr lang="en-US" dirty="0"/>
              <a:t>Search Trees</a:t>
            </a:r>
          </a:p>
        </p:txBody>
      </p:sp>
      <p:sp>
        <p:nvSpPr>
          <p:cNvPr id="3" name="Content Placeholder 2">
            <a:extLst>
              <a:ext uri="{FF2B5EF4-FFF2-40B4-BE49-F238E27FC236}">
                <a16:creationId xmlns:a16="http://schemas.microsoft.com/office/drawing/2014/main" id="{A92B4BE8-828B-7CFB-6923-878567A4059D}"/>
              </a:ext>
            </a:extLst>
          </p:cNvPr>
          <p:cNvSpPr>
            <a:spLocks noGrp="1"/>
          </p:cNvSpPr>
          <p:nvPr>
            <p:ph idx="1"/>
          </p:nvPr>
        </p:nvSpPr>
        <p:spPr/>
        <p:txBody>
          <a:bodyPr/>
          <a:lstStyle/>
          <a:p>
            <a:r>
              <a:rPr lang="en-US" dirty="0"/>
              <a:t>We us algorithms that superimpose a </a:t>
            </a:r>
            <a:r>
              <a:rPr lang="en-US" b="1" dirty="0"/>
              <a:t>search</a:t>
            </a:r>
            <a:r>
              <a:rPr lang="en-US" dirty="0"/>
              <a:t> </a:t>
            </a:r>
            <a:r>
              <a:rPr lang="en-US" b="1" dirty="0"/>
              <a:t>tree</a:t>
            </a:r>
            <a:r>
              <a:rPr lang="en-US" dirty="0"/>
              <a:t> over the </a:t>
            </a:r>
            <a:r>
              <a:rPr lang="en-US" b="1" dirty="0"/>
              <a:t>state</a:t>
            </a:r>
            <a:r>
              <a:rPr lang="en-US" dirty="0"/>
              <a:t> </a:t>
            </a:r>
            <a:r>
              <a:rPr lang="en-US" b="1" dirty="0"/>
              <a:t>space</a:t>
            </a:r>
            <a:r>
              <a:rPr lang="en-US" dirty="0"/>
              <a:t> graph, forming various paths </a:t>
            </a:r>
            <a:r>
              <a:rPr lang="en-US" b="1" dirty="0"/>
              <a:t>from</a:t>
            </a:r>
            <a:r>
              <a:rPr lang="en-US" dirty="0"/>
              <a:t> </a:t>
            </a:r>
            <a:r>
              <a:rPr lang="en-US" b="1" dirty="0"/>
              <a:t>the</a:t>
            </a:r>
            <a:r>
              <a:rPr lang="en-US" dirty="0"/>
              <a:t> </a:t>
            </a:r>
            <a:r>
              <a:rPr lang="en-US" b="1" dirty="0"/>
              <a:t>initial</a:t>
            </a:r>
            <a:r>
              <a:rPr lang="en-US" dirty="0"/>
              <a:t> </a:t>
            </a:r>
            <a:r>
              <a:rPr lang="en-US" b="1" dirty="0"/>
              <a:t>state</a:t>
            </a:r>
            <a:r>
              <a:rPr lang="en-US" dirty="0"/>
              <a:t>, trying to find a path that </a:t>
            </a:r>
            <a:r>
              <a:rPr lang="en-US" b="1" dirty="0"/>
              <a:t>reaches</a:t>
            </a:r>
            <a:r>
              <a:rPr lang="en-US" dirty="0"/>
              <a:t> </a:t>
            </a:r>
            <a:r>
              <a:rPr lang="en-US" b="1" dirty="0"/>
              <a:t>a</a:t>
            </a:r>
            <a:r>
              <a:rPr lang="en-US" dirty="0"/>
              <a:t> </a:t>
            </a:r>
            <a:r>
              <a:rPr lang="en-US" b="1" dirty="0"/>
              <a:t>goal</a:t>
            </a:r>
            <a:r>
              <a:rPr lang="en-US" dirty="0"/>
              <a:t> </a:t>
            </a:r>
            <a:r>
              <a:rPr lang="en-US" b="1" dirty="0"/>
              <a:t>state</a:t>
            </a:r>
            <a:r>
              <a:rPr lang="en-US" dirty="0"/>
              <a:t>.</a:t>
            </a:r>
          </a:p>
          <a:p>
            <a:endParaRPr lang="en-US" dirty="0"/>
          </a:p>
          <a:p>
            <a:r>
              <a:rPr lang="en-US" dirty="0"/>
              <a:t>Each </a:t>
            </a:r>
            <a:r>
              <a:rPr lang="en-US" b="1" dirty="0">
                <a:solidFill>
                  <a:schemeClr val="accent1"/>
                </a:solidFill>
              </a:rPr>
              <a:t>node</a:t>
            </a:r>
            <a:r>
              <a:rPr lang="en-US" dirty="0"/>
              <a:t> in the search tree corresponds to a </a:t>
            </a:r>
            <a:r>
              <a:rPr lang="en-US" b="1" dirty="0">
                <a:solidFill>
                  <a:schemeClr val="accent1"/>
                </a:solidFill>
              </a:rPr>
              <a:t>state</a:t>
            </a:r>
            <a:r>
              <a:rPr lang="en-US" dirty="0"/>
              <a:t> in the </a:t>
            </a:r>
            <a:r>
              <a:rPr lang="en-US" b="1" dirty="0"/>
              <a:t>state</a:t>
            </a:r>
            <a:r>
              <a:rPr lang="en-US" dirty="0"/>
              <a:t> </a:t>
            </a:r>
            <a:r>
              <a:rPr lang="en-US" b="1" dirty="0"/>
              <a:t>space</a:t>
            </a:r>
            <a:r>
              <a:rPr lang="en-US" dirty="0"/>
              <a:t> and the </a:t>
            </a:r>
            <a:r>
              <a:rPr lang="en-US" b="1" dirty="0">
                <a:solidFill>
                  <a:schemeClr val="accent3"/>
                </a:solidFill>
              </a:rPr>
              <a:t>edges</a:t>
            </a:r>
            <a:r>
              <a:rPr lang="en-US" dirty="0"/>
              <a:t> in the search tree correspond to </a:t>
            </a:r>
            <a:r>
              <a:rPr lang="en-US" b="1" dirty="0">
                <a:solidFill>
                  <a:schemeClr val="accent3"/>
                </a:solidFill>
              </a:rPr>
              <a:t>actions</a:t>
            </a:r>
            <a:r>
              <a:rPr lang="en-US" dirty="0"/>
              <a:t>. The root of the tree corresponds to the initial state of the problem.</a:t>
            </a:r>
          </a:p>
        </p:txBody>
      </p:sp>
    </p:spTree>
    <p:extLst>
      <p:ext uri="{BB962C8B-B14F-4D97-AF65-F5344CB8AC3E}">
        <p14:creationId xmlns:p14="http://schemas.microsoft.com/office/powerpoint/2010/main" val="12824933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F7582A-4BE3-07F7-9BB5-13DDC27A2213}"/>
              </a:ext>
            </a:extLst>
          </p:cNvPr>
          <p:cNvSpPr>
            <a:spLocks noGrp="1"/>
          </p:cNvSpPr>
          <p:nvPr>
            <p:ph type="title"/>
          </p:nvPr>
        </p:nvSpPr>
        <p:spPr/>
        <p:txBody>
          <a:bodyPr/>
          <a:lstStyle/>
          <a:p>
            <a:r>
              <a:rPr lang="en-US" dirty="0"/>
              <a:t>Search Tree – Romania Problem</a:t>
            </a:r>
          </a:p>
        </p:txBody>
      </p:sp>
      <p:pic>
        <p:nvPicPr>
          <p:cNvPr id="5" name="Content Placeholder 4">
            <a:extLst>
              <a:ext uri="{FF2B5EF4-FFF2-40B4-BE49-F238E27FC236}">
                <a16:creationId xmlns:a16="http://schemas.microsoft.com/office/drawing/2014/main" id="{E774714A-AA17-7DCA-5D01-C02DE5EEB800}"/>
              </a:ext>
            </a:extLst>
          </p:cNvPr>
          <p:cNvPicPr>
            <a:picLocks noGrp="1" noChangeAspect="1"/>
          </p:cNvPicPr>
          <p:nvPr>
            <p:ph idx="1"/>
          </p:nvPr>
        </p:nvPicPr>
        <p:blipFill>
          <a:blip r:embed="rId2"/>
          <a:stretch>
            <a:fillRect/>
          </a:stretch>
        </p:blipFill>
        <p:spPr>
          <a:xfrm>
            <a:off x="2683726" y="1887219"/>
            <a:ext cx="6824546" cy="4970781"/>
          </a:xfrm>
          <a:prstGeom prst="rect">
            <a:avLst/>
          </a:prstGeom>
          <a:effectLst>
            <a:outerShdw blurRad="50800" dir="14400000">
              <a:srgbClr val="000000">
                <a:alpha val="40000"/>
              </a:srgbClr>
            </a:outerShdw>
          </a:effectLst>
        </p:spPr>
      </p:pic>
    </p:spTree>
    <p:extLst>
      <p:ext uri="{BB962C8B-B14F-4D97-AF65-F5344CB8AC3E}">
        <p14:creationId xmlns:p14="http://schemas.microsoft.com/office/powerpoint/2010/main" val="12430522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968FEA-D0BF-303C-6309-F75B8D47C2F9}"/>
              </a:ext>
            </a:extLst>
          </p:cNvPr>
          <p:cNvSpPr>
            <a:spLocks noGrp="1"/>
          </p:cNvSpPr>
          <p:nvPr>
            <p:ph type="title"/>
          </p:nvPr>
        </p:nvSpPr>
        <p:spPr/>
        <p:txBody>
          <a:bodyPr/>
          <a:lstStyle/>
          <a:p>
            <a:r>
              <a:rPr lang="en-US" dirty="0"/>
              <a:t>Search Tree – Romania Problem</a:t>
            </a:r>
          </a:p>
        </p:txBody>
      </p:sp>
      <p:pic>
        <p:nvPicPr>
          <p:cNvPr id="5" name="Content Placeholder 4">
            <a:extLst>
              <a:ext uri="{FF2B5EF4-FFF2-40B4-BE49-F238E27FC236}">
                <a16:creationId xmlns:a16="http://schemas.microsoft.com/office/drawing/2014/main" id="{177841FD-A00C-91BE-935B-9847AE213923}"/>
              </a:ext>
            </a:extLst>
          </p:cNvPr>
          <p:cNvPicPr>
            <a:picLocks noGrp="1" noChangeAspect="1"/>
          </p:cNvPicPr>
          <p:nvPr>
            <p:ph idx="1"/>
          </p:nvPr>
        </p:nvPicPr>
        <p:blipFill>
          <a:blip r:embed="rId2"/>
          <a:stretch>
            <a:fillRect/>
          </a:stretch>
        </p:blipFill>
        <p:spPr>
          <a:xfrm>
            <a:off x="1937757" y="3012138"/>
            <a:ext cx="8316486" cy="2057687"/>
          </a:xfrm>
          <a:prstGeom prst="rect">
            <a:avLst/>
          </a:prstGeom>
          <a:effectLst>
            <a:outerShdw blurRad="50800" dir="14400000">
              <a:srgbClr val="000000">
                <a:alpha val="40000"/>
              </a:srgbClr>
            </a:outerShdw>
          </a:effectLst>
        </p:spPr>
      </p:pic>
    </p:spTree>
    <p:extLst>
      <p:ext uri="{BB962C8B-B14F-4D97-AF65-F5344CB8AC3E}">
        <p14:creationId xmlns:p14="http://schemas.microsoft.com/office/powerpoint/2010/main" val="7907470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FA84A-B171-C3C9-EC05-582C9F67D241}"/>
              </a:ext>
            </a:extLst>
          </p:cNvPr>
          <p:cNvSpPr>
            <a:spLocks noGrp="1"/>
          </p:cNvSpPr>
          <p:nvPr>
            <p:ph type="title"/>
          </p:nvPr>
        </p:nvSpPr>
        <p:spPr/>
        <p:txBody>
          <a:bodyPr/>
          <a:lstStyle/>
          <a:p>
            <a:r>
              <a:rPr lang="en-US" dirty="0"/>
              <a:t>Searching for Solutions (steps)</a:t>
            </a:r>
          </a:p>
        </p:txBody>
      </p:sp>
      <p:sp>
        <p:nvSpPr>
          <p:cNvPr id="3" name="Content Placeholder 2">
            <a:extLst>
              <a:ext uri="{FF2B5EF4-FFF2-40B4-BE49-F238E27FC236}">
                <a16:creationId xmlns:a16="http://schemas.microsoft.com/office/drawing/2014/main" id="{24076A23-72B0-F33B-D6D2-B7E943E205F0}"/>
              </a:ext>
            </a:extLst>
          </p:cNvPr>
          <p:cNvSpPr>
            <a:spLocks noGrp="1"/>
          </p:cNvSpPr>
          <p:nvPr>
            <p:ph idx="1"/>
          </p:nvPr>
        </p:nvSpPr>
        <p:spPr>
          <a:xfrm>
            <a:off x="334537" y="1906860"/>
            <a:ext cx="11038749" cy="4951140"/>
          </a:xfrm>
        </p:spPr>
        <p:txBody>
          <a:bodyPr>
            <a:normAutofit/>
          </a:bodyPr>
          <a:lstStyle/>
          <a:p>
            <a:r>
              <a:rPr lang="en-US" b="1" dirty="0"/>
              <a:t>Traversal of the search space</a:t>
            </a:r>
          </a:p>
          <a:p>
            <a:pPr lvl="1"/>
            <a:r>
              <a:rPr lang="en-US" dirty="0"/>
              <a:t>From the </a:t>
            </a:r>
            <a:r>
              <a:rPr lang="en-US" b="1" dirty="0">
                <a:solidFill>
                  <a:schemeClr val="accent3"/>
                </a:solidFill>
              </a:rPr>
              <a:t>initial</a:t>
            </a:r>
            <a:r>
              <a:rPr lang="en-US" dirty="0"/>
              <a:t> </a:t>
            </a:r>
            <a:r>
              <a:rPr lang="en-US" b="1" dirty="0">
                <a:solidFill>
                  <a:schemeClr val="accent3"/>
                </a:solidFill>
              </a:rPr>
              <a:t>state</a:t>
            </a:r>
            <a:r>
              <a:rPr lang="en-US" dirty="0"/>
              <a:t> to a </a:t>
            </a:r>
            <a:r>
              <a:rPr lang="en-US" b="1" dirty="0">
                <a:solidFill>
                  <a:schemeClr val="accent3"/>
                </a:solidFill>
              </a:rPr>
              <a:t>goal</a:t>
            </a:r>
            <a:r>
              <a:rPr lang="en-US" dirty="0"/>
              <a:t> </a:t>
            </a:r>
            <a:r>
              <a:rPr lang="en-US" b="1" dirty="0">
                <a:solidFill>
                  <a:schemeClr val="accent3"/>
                </a:solidFill>
              </a:rPr>
              <a:t>state</a:t>
            </a:r>
            <a:r>
              <a:rPr lang="en-US" dirty="0"/>
              <a:t>.</a:t>
            </a:r>
          </a:p>
          <a:p>
            <a:pPr lvl="1"/>
            <a:r>
              <a:rPr lang="en-US" b="1" dirty="0">
                <a:solidFill>
                  <a:schemeClr val="accent3"/>
                </a:solidFill>
              </a:rPr>
              <a:t>Legal</a:t>
            </a:r>
            <a:r>
              <a:rPr lang="en-US" dirty="0"/>
              <a:t> </a:t>
            </a:r>
            <a:r>
              <a:rPr lang="en-US" b="1" dirty="0">
                <a:solidFill>
                  <a:schemeClr val="accent3"/>
                </a:solidFill>
              </a:rPr>
              <a:t>sequence</a:t>
            </a:r>
            <a:r>
              <a:rPr lang="en-US" dirty="0"/>
              <a:t> of actions as defined by </a:t>
            </a:r>
            <a:r>
              <a:rPr lang="en-US" b="1" dirty="0">
                <a:solidFill>
                  <a:schemeClr val="accent3"/>
                </a:solidFill>
              </a:rPr>
              <a:t>successor</a:t>
            </a:r>
            <a:r>
              <a:rPr lang="en-US" dirty="0"/>
              <a:t> </a:t>
            </a:r>
            <a:r>
              <a:rPr lang="en-US" b="1" dirty="0">
                <a:solidFill>
                  <a:schemeClr val="accent3"/>
                </a:solidFill>
              </a:rPr>
              <a:t>function</a:t>
            </a:r>
            <a:r>
              <a:rPr lang="en-US" dirty="0"/>
              <a:t>.</a:t>
            </a:r>
          </a:p>
          <a:p>
            <a:r>
              <a:rPr lang="en-US" b="1" dirty="0"/>
              <a:t>General procedure</a:t>
            </a:r>
          </a:p>
          <a:p>
            <a:pPr lvl="1"/>
            <a:r>
              <a:rPr lang="en-US" b="1" dirty="0">
                <a:solidFill>
                  <a:schemeClr val="accent3"/>
                </a:solidFill>
              </a:rPr>
              <a:t>Check</a:t>
            </a:r>
            <a:r>
              <a:rPr lang="en-US" dirty="0"/>
              <a:t> for </a:t>
            </a:r>
            <a:r>
              <a:rPr lang="en-US" b="1" dirty="0">
                <a:solidFill>
                  <a:schemeClr val="accent3"/>
                </a:solidFill>
              </a:rPr>
              <a:t>goal state</a:t>
            </a:r>
          </a:p>
          <a:p>
            <a:pPr lvl="1"/>
            <a:r>
              <a:rPr lang="en-US" b="1" dirty="0">
                <a:solidFill>
                  <a:schemeClr val="accent3"/>
                </a:solidFill>
              </a:rPr>
              <a:t>Expand</a:t>
            </a:r>
            <a:r>
              <a:rPr lang="en-US" dirty="0"/>
              <a:t> the </a:t>
            </a:r>
            <a:r>
              <a:rPr lang="en-US" b="1" dirty="0">
                <a:solidFill>
                  <a:schemeClr val="accent3"/>
                </a:solidFill>
              </a:rPr>
              <a:t>current</a:t>
            </a:r>
            <a:r>
              <a:rPr lang="en-US" dirty="0"/>
              <a:t> </a:t>
            </a:r>
            <a:r>
              <a:rPr lang="en-US" b="1" dirty="0">
                <a:solidFill>
                  <a:schemeClr val="accent3"/>
                </a:solidFill>
              </a:rPr>
              <a:t>state</a:t>
            </a:r>
          </a:p>
          <a:p>
            <a:pPr lvl="2"/>
            <a:r>
              <a:rPr lang="en-US" dirty="0"/>
              <a:t>Determine the </a:t>
            </a:r>
            <a:r>
              <a:rPr lang="en-US" b="1" dirty="0">
                <a:solidFill>
                  <a:schemeClr val="accent3"/>
                </a:solidFill>
              </a:rPr>
              <a:t>set</a:t>
            </a:r>
            <a:r>
              <a:rPr lang="en-US" dirty="0"/>
              <a:t> </a:t>
            </a:r>
            <a:r>
              <a:rPr lang="en-US" b="1" dirty="0">
                <a:solidFill>
                  <a:schemeClr val="accent3"/>
                </a:solidFill>
              </a:rPr>
              <a:t>of</a:t>
            </a:r>
            <a:r>
              <a:rPr lang="en-US" dirty="0"/>
              <a:t> </a:t>
            </a:r>
            <a:r>
              <a:rPr lang="en-US" b="1" dirty="0">
                <a:solidFill>
                  <a:schemeClr val="accent3"/>
                </a:solidFill>
              </a:rPr>
              <a:t>reachable</a:t>
            </a:r>
            <a:r>
              <a:rPr lang="en-US" dirty="0"/>
              <a:t> </a:t>
            </a:r>
            <a:r>
              <a:rPr lang="en-US" b="1" dirty="0">
                <a:solidFill>
                  <a:schemeClr val="accent3"/>
                </a:solidFill>
              </a:rPr>
              <a:t>states</a:t>
            </a:r>
          </a:p>
          <a:p>
            <a:pPr lvl="2"/>
            <a:r>
              <a:rPr lang="en-US" dirty="0"/>
              <a:t>Return “</a:t>
            </a:r>
            <a:r>
              <a:rPr lang="en-US" b="1" dirty="0">
                <a:solidFill>
                  <a:schemeClr val="accent3"/>
                </a:solidFill>
              </a:rPr>
              <a:t>failure</a:t>
            </a:r>
            <a:r>
              <a:rPr lang="en-US" dirty="0"/>
              <a:t>” if the set is empty</a:t>
            </a:r>
          </a:p>
          <a:p>
            <a:pPr lvl="1"/>
            <a:r>
              <a:rPr lang="en-US" b="1" dirty="0">
                <a:solidFill>
                  <a:schemeClr val="accent3"/>
                </a:solidFill>
              </a:rPr>
              <a:t>Select</a:t>
            </a:r>
            <a:r>
              <a:rPr lang="en-US" dirty="0"/>
              <a:t> </a:t>
            </a:r>
            <a:r>
              <a:rPr lang="en-US" b="1" dirty="0">
                <a:solidFill>
                  <a:schemeClr val="accent3"/>
                </a:solidFill>
              </a:rPr>
              <a:t>one</a:t>
            </a:r>
            <a:r>
              <a:rPr lang="en-US" dirty="0"/>
              <a:t> from the </a:t>
            </a:r>
            <a:r>
              <a:rPr lang="en-US" b="1" dirty="0">
                <a:solidFill>
                  <a:schemeClr val="accent3"/>
                </a:solidFill>
              </a:rPr>
              <a:t>set</a:t>
            </a:r>
            <a:r>
              <a:rPr lang="en-US" dirty="0"/>
              <a:t> </a:t>
            </a:r>
            <a:r>
              <a:rPr lang="en-US" b="1" dirty="0">
                <a:solidFill>
                  <a:schemeClr val="accent3"/>
                </a:solidFill>
              </a:rPr>
              <a:t>of</a:t>
            </a:r>
            <a:r>
              <a:rPr lang="en-US" dirty="0"/>
              <a:t> </a:t>
            </a:r>
            <a:r>
              <a:rPr lang="en-US" b="1" dirty="0">
                <a:solidFill>
                  <a:schemeClr val="accent3"/>
                </a:solidFill>
              </a:rPr>
              <a:t>reachable</a:t>
            </a:r>
            <a:r>
              <a:rPr lang="en-US" dirty="0"/>
              <a:t> </a:t>
            </a:r>
            <a:r>
              <a:rPr lang="en-US" b="1" dirty="0">
                <a:solidFill>
                  <a:schemeClr val="accent3"/>
                </a:solidFill>
              </a:rPr>
              <a:t>states</a:t>
            </a:r>
          </a:p>
          <a:p>
            <a:pPr lvl="1"/>
            <a:r>
              <a:rPr lang="en-US" dirty="0"/>
              <a:t>Move to the </a:t>
            </a:r>
            <a:r>
              <a:rPr lang="en-US" b="1" dirty="0">
                <a:solidFill>
                  <a:schemeClr val="accent3"/>
                </a:solidFill>
              </a:rPr>
              <a:t>selected</a:t>
            </a:r>
            <a:r>
              <a:rPr lang="en-US" dirty="0"/>
              <a:t> </a:t>
            </a:r>
            <a:r>
              <a:rPr lang="en-US" b="1" dirty="0">
                <a:solidFill>
                  <a:schemeClr val="accent3"/>
                </a:solidFill>
              </a:rPr>
              <a:t>state</a:t>
            </a:r>
            <a:endParaRPr lang="en-US" dirty="0">
              <a:solidFill>
                <a:schemeClr val="accent3"/>
              </a:solidFill>
            </a:endParaRPr>
          </a:p>
          <a:p>
            <a:r>
              <a:rPr lang="en-US" b="1" dirty="0"/>
              <a:t>A search tree is generated</a:t>
            </a:r>
          </a:p>
          <a:p>
            <a:pPr lvl="1"/>
            <a:r>
              <a:rPr lang="en-US" b="1" dirty="0">
                <a:solidFill>
                  <a:schemeClr val="accent3"/>
                </a:solidFill>
              </a:rPr>
              <a:t>Nodes</a:t>
            </a:r>
            <a:r>
              <a:rPr lang="en-US" dirty="0"/>
              <a:t> are </a:t>
            </a:r>
            <a:r>
              <a:rPr lang="en-US" b="1" dirty="0">
                <a:solidFill>
                  <a:schemeClr val="accent3"/>
                </a:solidFill>
              </a:rPr>
              <a:t>added</a:t>
            </a:r>
            <a:r>
              <a:rPr lang="en-US" dirty="0"/>
              <a:t> as </a:t>
            </a:r>
            <a:r>
              <a:rPr lang="en-US" b="1" dirty="0">
                <a:solidFill>
                  <a:schemeClr val="accent3"/>
                </a:solidFill>
              </a:rPr>
              <a:t>more</a:t>
            </a:r>
            <a:r>
              <a:rPr lang="en-US" dirty="0"/>
              <a:t> </a:t>
            </a:r>
            <a:r>
              <a:rPr lang="en-US" b="1" dirty="0">
                <a:solidFill>
                  <a:schemeClr val="accent3"/>
                </a:solidFill>
              </a:rPr>
              <a:t>states</a:t>
            </a:r>
            <a:r>
              <a:rPr lang="en-US" dirty="0"/>
              <a:t> </a:t>
            </a:r>
            <a:r>
              <a:rPr lang="en-US" b="1" dirty="0">
                <a:solidFill>
                  <a:schemeClr val="accent3"/>
                </a:solidFill>
              </a:rPr>
              <a:t>are</a:t>
            </a:r>
            <a:r>
              <a:rPr lang="en-US" dirty="0"/>
              <a:t> </a:t>
            </a:r>
            <a:r>
              <a:rPr lang="en-US" b="1" dirty="0">
                <a:solidFill>
                  <a:schemeClr val="accent3"/>
                </a:solidFill>
              </a:rPr>
              <a:t>visited</a:t>
            </a:r>
          </a:p>
        </p:txBody>
      </p:sp>
    </p:spTree>
    <p:extLst>
      <p:ext uri="{BB962C8B-B14F-4D97-AF65-F5344CB8AC3E}">
        <p14:creationId xmlns:p14="http://schemas.microsoft.com/office/powerpoint/2010/main" val="26155753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6F995-2240-087F-67B8-FF2DCA1837A5}"/>
              </a:ext>
            </a:extLst>
          </p:cNvPr>
          <p:cNvSpPr>
            <a:spLocks noGrp="1"/>
          </p:cNvSpPr>
          <p:nvPr>
            <p:ph type="title"/>
          </p:nvPr>
        </p:nvSpPr>
        <p:spPr/>
        <p:txBody>
          <a:bodyPr/>
          <a:lstStyle/>
          <a:p>
            <a:r>
              <a:rPr lang="en-US" dirty="0"/>
              <a:t>Search Tree</a:t>
            </a:r>
          </a:p>
        </p:txBody>
      </p:sp>
      <p:sp>
        <p:nvSpPr>
          <p:cNvPr id="3" name="Content Placeholder 2">
            <a:extLst>
              <a:ext uri="{FF2B5EF4-FFF2-40B4-BE49-F238E27FC236}">
                <a16:creationId xmlns:a16="http://schemas.microsoft.com/office/drawing/2014/main" id="{245F072E-3C7E-A9CC-66E9-30887C79CB43}"/>
              </a:ext>
            </a:extLst>
          </p:cNvPr>
          <p:cNvSpPr>
            <a:spLocks noGrp="1"/>
          </p:cNvSpPr>
          <p:nvPr>
            <p:ph idx="1"/>
          </p:nvPr>
        </p:nvSpPr>
        <p:spPr>
          <a:xfrm>
            <a:off x="646566" y="2018370"/>
            <a:ext cx="10437746" cy="4839629"/>
          </a:xfrm>
        </p:spPr>
        <p:txBody>
          <a:bodyPr>
            <a:normAutofit/>
          </a:bodyPr>
          <a:lstStyle/>
          <a:p>
            <a:r>
              <a:rPr lang="en-US" sz="2000" b="1" dirty="0">
                <a:solidFill>
                  <a:schemeClr val="accent3"/>
                </a:solidFill>
              </a:rPr>
              <a:t>Generated</a:t>
            </a:r>
            <a:r>
              <a:rPr lang="en-US" sz="2000" dirty="0"/>
              <a:t> as the </a:t>
            </a:r>
            <a:r>
              <a:rPr lang="en-US" sz="2000" b="1" dirty="0">
                <a:solidFill>
                  <a:schemeClr val="accent3"/>
                </a:solidFill>
              </a:rPr>
              <a:t>search</a:t>
            </a:r>
            <a:r>
              <a:rPr lang="en-US" sz="2000" dirty="0"/>
              <a:t> </a:t>
            </a:r>
            <a:r>
              <a:rPr lang="en-US" sz="2000" b="1" dirty="0">
                <a:solidFill>
                  <a:schemeClr val="accent3"/>
                </a:solidFill>
              </a:rPr>
              <a:t>space</a:t>
            </a:r>
            <a:r>
              <a:rPr lang="en-US" sz="2000" dirty="0"/>
              <a:t> is </a:t>
            </a:r>
            <a:r>
              <a:rPr lang="en-US" sz="2000" b="1" dirty="0">
                <a:solidFill>
                  <a:schemeClr val="accent3"/>
                </a:solidFill>
              </a:rPr>
              <a:t>traversed</a:t>
            </a:r>
          </a:p>
          <a:p>
            <a:pPr lvl="1"/>
            <a:r>
              <a:rPr lang="en-US" sz="1800" dirty="0"/>
              <a:t>The search space itself is </a:t>
            </a:r>
            <a:r>
              <a:rPr lang="en-US" sz="1800" b="1" dirty="0"/>
              <a:t>not</a:t>
            </a:r>
            <a:r>
              <a:rPr lang="en-US" sz="1800" dirty="0"/>
              <a:t> </a:t>
            </a:r>
            <a:r>
              <a:rPr lang="en-US" sz="1800" b="1" dirty="0"/>
              <a:t>necessarily</a:t>
            </a:r>
            <a:r>
              <a:rPr lang="en-US" sz="1800" dirty="0"/>
              <a:t> a </a:t>
            </a:r>
            <a:r>
              <a:rPr lang="en-US" sz="1800" b="1" dirty="0"/>
              <a:t>tree</a:t>
            </a:r>
            <a:r>
              <a:rPr lang="en-US" sz="1800" dirty="0"/>
              <a:t>, </a:t>
            </a:r>
            <a:r>
              <a:rPr lang="en-US" sz="1800" b="1" dirty="0"/>
              <a:t>frequently</a:t>
            </a:r>
            <a:r>
              <a:rPr lang="en-US" sz="1800" dirty="0"/>
              <a:t> it is </a:t>
            </a:r>
            <a:r>
              <a:rPr lang="en-US" sz="1800" b="1" dirty="0"/>
              <a:t>a graph</a:t>
            </a:r>
          </a:p>
          <a:p>
            <a:pPr lvl="1"/>
            <a:r>
              <a:rPr lang="en-US" sz="1800" dirty="0"/>
              <a:t>The </a:t>
            </a:r>
            <a:r>
              <a:rPr lang="en-US" sz="1800" b="1" dirty="0"/>
              <a:t>tree</a:t>
            </a:r>
            <a:r>
              <a:rPr lang="en-US" sz="1800" dirty="0"/>
              <a:t> specifies </a:t>
            </a:r>
            <a:r>
              <a:rPr lang="en-US" sz="1800" b="1" dirty="0"/>
              <a:t>possible</a:t>
            </a:r>
            <a:r>
              <a:rPr lang="en-US" sz="1800" dirty="0"/>
              <a:t> </a:t>
            </a:r>
            <a:r>
              <a:rPr lang="en-US" sz="1800" b="1" dirty="0"/>
              <a:t>paths</a:t>
            </a:r>
            <a:r>
              <a:rPr lang="en-US" sz="1800" dirty="0"/>
              <a:t> </a:t>
            </a:r>
            <a:r>
              <a:rPr lang="en-US" sz="1800" b="1" dirty="0"/>
              <a:t>through</a:t>
            </a:r>
            <a:r>
              <a:rPr lang="en-US" sz="1800" dirty="0"/>
              <a:t> </a:t>
            </a:r>
            <a:r>
              <a:rPr lang="en-US" sz="1800" b="1" dirty="0"/>
              <a:t>the</a:t>
            </a:r>
            <a:r>
              <a:rPr lang="en-US" sz="1800" dirty="0"/>
              <a:t> </a:t>
            </a:r>
            <a:r>
              <a:rPr lang="en-US" sz="1800" b="1" dirty="0"/>
              <a:t>search</a:t>
            </a:r>
            <a:r>
              <a:rPr lang="en-US" sz="1800" dirty="0"/>
              <a:t> </a:t>
            </a:r>
            <a:r>
              <a:rPr lang="en-US" sz="1800" b="1" dirty="0"/>
              <a:t>space</a:t>
            </a:r>
          </a:p>
          <a:p>
            <a:r>
              <a:rPr lang="en-US" sz="2000" b="1" dirty="0">
                <a:solidFill>
                  <a:schemeClr val="accent3"/>
                </a:solidFill>
              </a:rPr>
              <a:t>Expansion</a:t>
            </a:r>
            <a:r>
              <a:rPr lang="en-US" sz="2000" dirty="0"/>
              <a:t> of </a:t>
            </a:r>
            <a:r>
              <a:rPr lang="en-US" sz="2000" b="1" dirty="0">
                <a:solidFill>
                  <a:schemeClr val="accent3"/>
                </a:solidFill>
              </a:rPr>
              <a:t>nodes</a:t>
            </a:r>
          </a:p>
          <a:p>
            <a:pPr lvl="1"/>
            <a:r>
              <a:rPr lang="en-US" sz="1800" dirty="0"/>
              <a:t>As states are explored, the </a:t>
            </a:r>
            <a:r>
              <a:rPr lang="en-US" sz="1800" b="1" dirty="0"/>
              <a:t>corresponding</a:t>
            </a:r>
            <a:r>
              <a:rPr lang="en-US" sz="1800" dirty="0"/>
              <a:t> </a:t>
            </a:r>
            <a:r>
              <a:rPr lang="en-US" sz="1800" b="1" dirty="0"/>
              <a:t>nodes</a:t>
            </a:r>
            <a:r>
              <a:rPr lang="en-US" sz="1800" dirty="0"/>
              <a:t> are </a:t>
            </a:r>
            <a:r>
              <a:rPr lang="en-US" sz="1800" b="1" dirty="0"/>
              <a:t>expanded</a:t>
            </a:r>
            <a:r>
              <a:rPr lang="en-US" sz="1800" dirty="0"/>
              <a:t> by </a:t>
            </a:r>
            <a:r>
              <a:rPr lang="en-US" sz="1800" b="1" dirty="0"/>
              <a:t>applying</a:t>
            </a:r>
            <a:r>
              <a:rPr lang="en-US" sz="1800" dirty="0"/>
              <a:t> the </a:t>
            </a:r>
            <a:r>
              <a:rPr lang="en-US" sz="1800" b="1" dirty="0"/>
              <a:t>successor</a:t>
            </a:r>
            <a:r>
              <a:rPr lang="en-US" sz="1800" dirty="0"/>
              <a:t> </a:t>
            </a:r>
            <a:r>
              <a:rPr lang="en-US" sz="1800" b="1" dirty="0"/>
              <a:t>function</a:t>
            </a:r>
            <a:r>
              <a:rPr lang="en-US" sz="1800" dirty="0"/>
              <a:t>(or </a:t>
            </a:r>
            <a:r>
              <a:rPr lang="en-US" sz="1800" b="1" dirty="0"/>
              <a:t>action</a:t>
            </a:r>
            <a:r>
              <a:rPr lang="en-US" sz="1800" dirty="0"/>
              <a:t>), which </a:t>
            </a:r>
            <a:r>
              <a:rPr lang="en-US" sz="1800" b="1" dirty="0"/>
              <a:t>generates</a:t>
            </a:r>
            <a:r>
              <a:rPr lang="en-US" sz="1800" dirty="0"/>
              <a:t> a new set of (</a:t>
            </a:r>
            <a:r>
              <a:rPr lang="en-US" sz="1800" b="1" dirty="0"/>
              <a:t>child</a:t>
            </a:r>
            <a:r>
              <a:rPr lang="en-US" sz="1800" dirty="0"/>
              <a:t>) </a:t>
            </a:r>
            <a:r>
              <a:rPr lang="en-US" sz="1800" b="1" dirty="0"/>
              <a:t>nodes</a:t>
            </a:r>
          </a:p>
          <a:p>
            <a:pPr lvl="1"/>
            <a:r>
              <a:rPr lang="en-US" sz="1800" dirty="0"/>
              <a:t>The </a:t>
            </a:r>
            <a:r>
              <a:rPr lang="en-US" sz="1800" b="1" dirty="0"/>
              <a:t>frontier</a:t>
            </a:r>
            <a:r>
              <a:rPr lang="en-US" sz="1800" dirty="0"/>
              <a:t> (</a:t>
            </a:r>
            <a:r>
              <a:rPr lang="en-US" sz="1800" b="1" dirty="0"/>
              <a:t>fringe</a:t>
            </a:r>
            <a:r>
              <a:rPr lang="en-US" sz="1800" dirty="0"/>
              <a:t>/</a:t>
            </a:r>
            <a:r>
              <a:rPr lang="en-US" sz="1800" b="1" dirty="0"/>
              <a:t>queue</a:t>
            </a:r>
            <a:r>
              <a:rPr lang="en-US" sz="1800" dirty="0"/>
              <a:t>) is the </a:t>
            </a:r>
            <a:r>
              <a:rPr lang="en-US" sz="1800" b="1" dirty="0"/>
              <a:t>set</a:t>
            </a:r>
            <a:r>
              <a:rPr lang="en-US" sz="1800" dirty="0"/>
              <a:t> of </a:t>
            </a:r>
            <a:r>
              <a:rPr lang="en-US" sz="1800" b="1" dirty="0"/>
              <a:t>nodes</a:t>
            </a:r>
            <a:r>
              <a:rPr lang="en-US" sz="1800" dirty="0"/>
              <a:t> </a:t>
            </a:r>
            <a:r>
              <a:rPr lang="en-US" sz="1800" b="1" dirty="0"/>
              <a:t>not</a:t>
            </a:r>
            <a:r>
              <a:rPr lang="en-US" sz="1800" dirty="0"/>
              <a:t> </a:t>
            </a:r>
            <a:r>
              <a:rPr lang="en-US" sz="1800" b="1" dirty="0"/>
              <a:t>yet</a:t>
            </a:r>
            <a:r>
              <a:rPr lang="en-US" sz="1800" dirty="0"/>
              <a:t> </a:t>
            </a:r>
            <a:r>
              <a:rPr lang="en-US" sz="1800" b="1" dirty="0"/>
              <a:t>visited</a:t>
            </a:r>
            <a:r>
              <a:rPr lang="en-US" sz="1800" dirty="0"/>
              <a:t>. Newly generated nodes are added to the frontier.</a:t>
            </a:r>
          </a:p>
          <a:p>
            <a:r>
              <a:rPr lang="en-US" sz="2000" b="1" dirty="0">
                <a:solidFill>
                  <a:schemeClr val="accent3"/>
                </a:solidFill>
              </a:rPr>
              <a:t>Search</a:t>
            </a:r>
            <a:r>
              <a:rPr lang="en-US" sz="2000" dirty="0"/>
              <a:t> </a:t>
            </a:r>
            <a:r>
              <a:rPr lang="en-US" sz="2000" b="1" dirty="0">
                <a:solidFill>
                  <a:schemeClr val="accent3"/>
                </a:solidFill>
              </a:rPr>
              <a:t>strategy</a:t>
            </a:r>
          </a:p>
          <a:p>
            <a:pPr lvl="1"/>
            <a:r>
              <a:rPr lang="en-US" sz="1800" b="1" dirty="0"/>
              <a:t>Determines</a:t>
            </a:r>
            <a:r>
              <a:rPr lang="en-US" sz="1800" dirty="0"/>
              <a:t> the </a:t>
            </a:r>
            <a:r>
              <a:rPr lang="en-US" sz="1800" b="1" dirty="0"/>
              <a:t>selection</a:t>
            </a:r>
            <a:r>
              <a:rPr lang="en-US" sz="1800" dirty="0"/>
              <a:t> of the </a:t>
            </a:r>
            <a:r>
              <a:rPr lang="en-US" sz="1800" b="1" dirty="0"/>
              <a:t>next</a:t>
            </a:r>
            <a:r>
              <a:rPr lang="en-US" sz="1800" dirty="0"/>
              <a:t> </a:t>
            </a:r>
            <a:r>
              <a:rPr lang="en-US" sz="1800" b="1" dirty="0"/>
              <a:t>node</a:t>
            </a:r>
            <a:r>
              <a:rPr lang="en-US" sz="1800" dirty="0"/>
              <a:t> to be </a:t>
            </a:r>
            <a:r>
              <a:rPr lang="en-US" sz="1800" b="1" dirty="0"/>
              <a:t>expanded</a:t>
            </a:r>
          </a:p>
          <a:p>
            <a:pPr lvl="1"/>
            <a:r>
              <a:rPr lang="en-US" sz="1800" dirty="0"/>
              <a:t>Can be achieved by ordering the nodes in the frontier</a:t>
            </a:r>
          </a:p>
          <a:p>
            <a:pPr lvl="2"/>
            <a:r>
              <a:rPr lang="en-US" sz="1600" dirty="0"/>
              <a:t>e.g. </a:t>
            </a:r>
            <a:r>
              <a:rPr lang="en-US" sz="1600" b="1" dirty="0"/>
              <a:t>queue</a:t>
            </a:r>
            <a:r>
              <a:rPr lang="en-US" sz="1600" dirty="0"/>
              <a:t> (</a:t>
            </a:r>
            <a:r>
              <a:rPr lang="en-US" sz="1600" b="1" dirty="0"/>
              <a:t>FIFO</a:t>
            </a:r>
            <a:r>
              <a:rPr lang="en-US" sz="1600" dirty="0"/>
              <a:t>), </a:t>
            </a:r>
            <a:r>
              <a:rPr lang="en-US" sz="1600" b="1" dirty="0"/>
              <a:t>stack</a:t>
            </a:r>
            <a:r>
              <a:rPr lang="en-US" sz="1600" dirty="0"/>
              <a:t> (</a:t>
            </a:r>
            <a:r>
              <a:rPr lang="en-US" sz="1600" b="1" dirty="0"/>
              <a:t>LIFO</a:t>
            </a:r>
            <a:r>
              <a:rPr lang="en-US" sz="1600" dirty="0"/>
              <a:t>), “best” node </a:t>
            </a:r>
            <a:r>
              <a:rPr lang="en-US" sz="1600" dirty="0" err="1"/>
              <a:t>w.r.t.</a:t>
            </a:r>
            <a:r>
              <a:rPr lang="en-US" sz="1600" dirty="0"/>
              <a:t> some measure (cost) (</a:t>
            </a:r>
            <a:r>
              <a:rPr lang="en-US" sz="1600" b="1" dirty="0"/>
              <a:t>Priority</a:t>
            </a:r>
            <a:r>
              <a:rPr lang="en-US" sz="1600" dirty="0"/>
              <a:t> </a:t>
            </a:r>
            <a:r>
              <a:rPr lang="en-US" sz="1600" b="1" dirty="0"/>
              <a:t>Queue</a:t>
            </a:r>
            <a:r>
              <a:rPr lang="en-US" sz="1600" dirty="0"/>
              <a:t>)</a:t>
            </a:r>
          </a:p>
        </p:txBody>
      </p:sp>
    </p:spTree>
    <p:extLst>
      <p:ext uri="{BB962C8B-B14F-4D97-AF65-F5344CB8AC3E}">
        <p14:creationId xmlns:p14="http://schemas.microsoft.com/office/powerpoint/2010/main" val="28583605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4DA750-9BFD-8C12-11EC-19F908F856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155DF3-B56C-D0D5-D43A-FC21C1A3908E}"/>
              </a:ext>
            </a:extLst>
          </p:cNvPr>
          <p:cNvSpPr>
            <a:spLocks noGrp="1"/>
          </p:cNvSpPr>
          <p:nvPr>
            <p:ph type="title"/>
          </p:nvPr>
        </p:nvSpPr>
        <p:spPr/>
        <p:txBody>
          <a:bodyPr/>
          <a:lstStyle/>
          <a:p>
            <a:r>
              <a:rPr lang="en-US" dirty="0"/>
              <a:t>Let’s Apply the Terms on This One!</a:t>
            </a:r>
          </a:p>
        </p:txBody>
      </p:sp>
      <p:pic>
        <p:nvPicPr>
          <p:cNvPr id="5" name="Content Placeholder 4">
            <a:extLst>
              <a:ext uri="{FF2B5EF4-FFF2-40B4-BE49-F238E27FC236}">
                <a16:creationId xmlns:a16="http://schemas.microsoft.com/office/drawing/2014/main" id="{1A695BF7-822E-3AD6-4751-3C15A2CFAF31}"/>
              </a:ext>
            </a:extLst>
          </p:cNvPr>
          <p:cNvPicPr>
            <a:picLocks noGrp="1" noChangeAspect="1"/>
          </p:cNvPicPr>
          <p:nvPr>
            <p:ph idx="1"/>
          </p:nvPr>
        </p:nvPicPr>
        <p:blipFill>
          <a:blip r:embed="rId2"/>
          <a:stretch>
            <a:fillRect/>
          </a:stretch>
        </p:blipFill>
        <p:spPr>
          <a:xfrm>
            <a:off x="2306453" y="1895707"/>
            <a:ext cx="7579093" cy="4962293"/>
          </a:xfrm>
          <a:prstGeom prst="rect">
            <a:avLst/>
          </a:prstGeom>
          <a:effectLst>
            <a:outerShdw blurRad="50800" dir="14400000">
              <a:srgbClr val="000000">
                <a:alpha val="40000"/>
              </a:srgbClr>
            </a:outerShdw>
          </a:effectLst>
        </p:spPr>
      </p:pic>
    </p:spTree>
    <p:extLst>
      <p:ext uri="{BB962C8B-B14F-4D97-AF65-F5344CB8AC3E}">
        <p14:creationId xmlns:p14="http://schemas.microsoft.com/office/powerpoint/2010/main" val="7899358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C7636D-E031-EF65-01B6-8BDA288E3A71}"/>
              </a:ext>
            </a:extLst>
          </p:cNvPr>
          <p:cNvSpPr>
            <a:spLocks noGrp="1"/>
          </p:cNvSpPr>
          <p:nvPr>
            <p:ph type="title"/>
          </p:nvPr>
        </p:nvSpPr>
        <p:spPr/>
        <p:txBody>
          <a:bodyPr/>
          <a:lstStyle/>
          <a:p>
            <a:r>
              <a:rPr lang="en-US" dirty="0"/>
              <a:t>Breadth-First Search/Depth-First Search</a:t>
            </a:r>
          </a:p>
        </p:txBody>
      </p:sp>
      <p:pic>
        <p:nvPicPr>
          <p:cNvPr id="3074" name="Picture 2" descr="Distinguishing BFS and DFS. Breadth First Search and Depth First… | by  Ashley Gaskins | Medium">
            <a:extLst>
              <a:ext uri="{FF2B5EF4-FFF2-40B4-BE49-F238E27FC236}">
                <a16:creationId xmlns:a16="http://schemas.microsoft.com/office/drawing/2014/main" id="{284605B5-74DB-1291-3431-313754EF9C95}"/>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775493" y="2322861"/>
            <a:ext cx="8641011" cy="3636963"/>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55C6DBD1-5C59-B37B-FCF4-DBF31BEFABBA}"/>
              </a:ext>
            </a:extLst>
          </p:cNvPr>
          <p:cNvSpPr txBox="1"/>
          <p:nvPr/>
        </p:nvSpPr>
        <p:spPr>
          <a:xfrm>
            <a:off x="2118732" y="6226146"/>
            <a:ext cx="8006575" cy="646331"/>
          </a:xfrm>
          <a:prstGeom prst="rect">
            <a:avLst/>
          </a:prstGeom>
          <a:noFill/>
        </p:spPr>
        <p:txBody>
          <a:bodyPr wrap="square" rtlCol="0">
            <a:spAutoFit/>
          </a:bodyPr>
          <a:lstStyle/>
          <a:p>
            <a:r>
              <a:rPr lang="en-US" b="1" dirty="0"/>
              <a:t>Completeness, Time &amp; Space Complexity, Optimality for BFS and DFS?</a:t>
            </a:r>
            <a:br>
              <a:rPr lang="en-US" b="1" dirty="0"/>
            </a:br>
            <a:r>
              <a:rPr lang="en-US" b="1" dirty="0"/>
              <a:t>(See slide notes for some quick reference when studying)</a:t>
            </a:r>
          </a:p>
        </p:txBody>
      </p:sp>
    </p:spTree>
    <p:extLst>
      <p:ext uri="{BB962C8B-B14F-4D97-AF65-F5344CB8AC3E}">
        <p14:creationId xmlns:p14="http://schemas.microsoft.com/office/powerpoint/2010/main" val="36869529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0F5618-A901-C9E2-8C59-15F3586AAE24}"/>
              </a:ext>
            </a:extLst>
          </p:cNvPr>
          <p:cNvSpPr>
            <a:spLocks noGrp="1"/>
          </p:cNvSpPr>
          <p:nvPr>
            <p:ph type="title"/>
          </p:nvPr>
        </p:nvSpPr>
        <p:spPr/>
        <p:txBody>
          <a:bodyPr/>
          <a:lstStyle/>
          <a:p>
            <a:r>
              <a:rPr lang="en-US" dirty="0"/>
              <a:t>Uniform Cost Search</a:t>
            </a:r>
          </a:p>
        </p:txBody>
      </p:sp>
      <p:sp>
        <p:nvSpPr>
          <p:cNvPr id="3" name="Content Placeholder 2">
            <a:extLst>
              <a:ext uri="{FF2B5EF4-FFF2-40B4-BE49-F238E27FC236}">
                <a16:creationId xmlns:a16="http://schemas.microsoft.com/office/drawing/2014/main" id="{C6307453-5AC3-D39F-3614-D061519A1966}"/>
              </a:ext>
            </a:extLst>
          </p:cNvPr>
          <p:cNvSpPr>
            <a:spLocks noGrp="1"/>
          </p:cNvSpPr>
          <p:nvPr>
            <p:ph idx="1"/>
          </p:nvPr>
        </p:nvSpPr>
        <p:spPr>
          <a:xfrm>
            <a:off x="818711" y="2222287"/>
            <a:ext cx="10689347" cy="3636511"/>
          </a:xfrm>
        </p:spPr>
        <p:txBody>
          <a:bodyPr/>
          <a:lstStyle/>
          <a:p>
            <a:r>
              <a:rPr lang="en-US" dirty="0"/>
              <a:t>Remember </a:t>
            </a:r>
            <a:r>
              <a:rPr lang="en-US" b="1" dirty="0">
                <a:solidFill>
                  <a:schemeClr val="accent3"/>
                </a:solidFill>
              </a:rPr>
              <a:t>Dijkstra’s Algorithm</a:t>
            </a:r>
            <a:r>
              <a:rPr lang="en-US" dirty="0"/>
              <a:t>? It’s pretty similar to that, but with a minor difference.</a:t>
            </a:r>
          </a:p>
          <a:p>
            <a:endParaRPr lang="en-US" dirty="0"/>
          </a:p>
          <a:p>
            <a:r>
              <a:rPr lang="en-US" dirty="0"/>
              <a:t>The primary goal of the uniform-cost search is to </a:t>
            </a:r>
            <a:r>
              <a:rPr lang="en-US" b="1" dirty="0">
                <a:solidFill>
                  <a:schemeClr val="accent3"/>
                </a:solidFill>
              </a:rPr>
              <a:t>find a path to the goal node which has the lowest cumulative cost</a:t>
            </a:r>
            <a:r>
              <a:rPr lang="en-US" dirty="0"/>
              <a:t>.</a:t>
            </a:r>
          </a:p>
          <a:p>
            <a:r>
              <a:rPr lang="en-US" dirty="0"/>
              <a:t>Uniform-cost search </a:t>
            </a:r>
            <a:r>
              <a:rPr lang="en-US" b="1" dirty="0">
                <a:solidFill>
                  <a:schemeClr val="accent3"/>
                </a:solidFill>
              </a:rPr>
              <a:t>expands nodes according to their path costs form the root node</a:t>
            </a:r>
            <a:r>
              <a:rPr lang="en-US" dirty="0"/>
              <a:t>.</a:t>
            </a:r>
          </a:p>
          <a:p>
            <a:r>
              <a:rPr lang="en-US" dirty="0"/>
              <a:t> It can be </a:t>
            </a:r>
            <a:r>
              <a:rPr lang="en-US" b="1" dirty="0"/>
              <a:t>used to solve any graph/tree where the optimal cost is in demand</a:t>
            </a:r>
            <a:r>
              <a:rPr lang="en-US" dirty="0"/>
              <a:t>. </a:t>
            </a:r>
          </a:p>
          <a:p>
            <a:endParaRPr lang="en-US" dirty="0"/>
          </a:p>
          <a:p>
            <a:r>
              <a:rPr lang="en-US" dirty="0"/>
              <a:t>Uniform cost search is </a:t>
            </a:r>
            <a:r>
              <a:rPr lang="en-US" b="1" dirty="0"/>
              <a:t>equivalent</a:t>
            </a:r>
            <a:r>
              <a:rPr lang="en-US" dirty="0"/>
              <a:t> to </a:t>
            </a:r>
            <a:r>
              <a:rPr lang="en-US" b="1" dirty="0"/>
              <a:t>BFS</a:t>
            </a:r>
            <a:r>
              <a:rPr lang="en-US" dirty="0"/>
              <a:t> </a:t>
            </a:r>
            <a:r>
              <a:rPr lang="en-US" b="1" dirty="0"/>
              <a:t>algorithm</a:t>
            </a:r>
            <a:r>
              <a:rPr lang="en-US" dirty="0"/>
              <a:t> if the </a:t>
            </a:r>
            <a:r>
              <a:rPr lang="en-US" b="1" dirty="0"/>
              <a:t>path</a:t>
            </a:r>
            <a:r>
              <a:rPr lang="en-US" dirty="0"/>
              <a:t> </a:t>
            </a:r>
            <a:r>
              <a:rPr lang="en-US" b="1" dirty="0"/>
              <a:t>cost</a:t>
            </a:r>
            <a:r>
              <a:rPr lang="en-US" dirty="0"/>
              <a:t> of </a:t>
            </a:r>
            <a:r>
              <a:rPr lang="en-US" b="1" dirty="0"/>
              <a:t>all</a:t>
            </a:r>
            <a:r>
              <a:rPr lang="en-US" dirty="0"/>
              <a:t> </a:t>
            </a:r>
            <a:r>
              <a:rPr lang="en-US" b="1" dirty="0"/>
              <a:t>edges</a:t>
            </a:r>
            <a:r>
              <a:rPr lang="en-US" dirty="0"/>
              <a:t> are the same.</a:t>
            </a:r>
          </a:p>
        </p:txBody>
      </p:sp>
    </p:spTree>
    <p:extLst>
      <p:ext uri="{BB962C8B-B14F-4D97-AF65-F5344CB8AC3E}">
        <p14:creationId xmlns:p14="http://schemas.microsoft.com/office/powerpoint/2010/main" val="13405097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76B9B0-52C0-25F8-A41D-9F9C6A081E41}"/>
              </a:ext>
            </a:extLst>
          </p:cNvPr>
          <p:cNvSpPr>
            <a:spLocks noGrp="1"/>
          </p:cNvSpPr>
          <p:nvPr>
            <p:ph type="title"/>
          </p:nvPr>
        </p:nvSpPr>
        <p:spPr/>
        <p:txBody>
          <a:bodyPr/>
          <a:lstStyle/>
          <a:p>
            <a:r>
              <a:rPr lang="en-US" dirty="0"/>
              <a:t>Uniform Cost Search</a:t>
            </a:r>
          </a:p>
        </p:txBody>
      </p:sp>
      <p:sp>
        <p:nvSpPr>
          <p:cNvPr id="47" name="object 2">
            <a:extLst>
              <a:ext uri="{FF2B5EF4-FFF2-40B4-BE49-F238E27FC236}">
                <a16:creationId xmlns:a16="http://schemas.microsoft.com/office/drawing/2014/main" id="{78974BEE-DDED-2C1F-6246-5748950361E5}"/>
              </a:ext>
            </a:extLst>
          </p:cNvPr>
          <p:cNvSpPr txBox="1"/>
          <p:nvPr/>
        </p:nvSpPr>
        <p:spPr>
          <a:xfrm>
            <a:off x="993444" y="2310486"/>
            <a:ext cx="5665470" cy="709930"/>
          </a:xfrm>
          <a:prstGeom prst="rect">
            <a:avLst/>
          </a:prstGeom>
        </p:spPr>
        <p:txBody>
          <a:bodyPr vert="horz" wrap="square" lIns="0" tIns="67945" rIns="0" bIns="0" rtlCol="0">
            <a:spAutoFit/>
          </a:bodyPr>
          <a:lstStyle/>
          <a:p>
            <a:pPr marL="12700">
              <a:lnSpc>
                <a:spcPct val="100000"/>
              </a:lnSpc>
              <a:spcBef>
                <a:spcPts val="535"/>
              </a:spcBef>
            </a:pPr>
            <a:r>
              <a:rPr sz="2000" b="1" dirty="0">
                <a:solidFill>
                  <a:srgbClr val="CC3300"/>
                </a:solidFill>
                <a:latin typeface="Courier New"/>
                <a:cs typeface="Courier New"/>
              </a:rPr>
              <a:t>generalSearch(problem,</a:t>
            </a:r>
            <a:r>
              <a:rPr sz="2000" b="1" spc="-120" dirty="0">
                <a:solidFill>
                  <a:srgbClr val="CC3300"/>
                </a:solidFill>
                <a:latin typeface="Courier New"/>
                <a:cs typeface="Courier New"/>
              </a:rPr>
              <a:t> </a:t>
            </a:r>
            <a:r>
              <a:rPr sz="2000" b="1" spc="-10" dirty="0">
                <a:solidFill>
                  <a:srgbClr val="FF5050"/>
                </a:solidFill>
                <a:latin typeface="Courier New"/>
                <a:cs typeface="Courier New"/>
              </a:rPr>
              <a:t>priorityQueue</a:t>
            </a:r>
            <a:r>
              <a:rPr sz="2000" b="1" spc="-10" dirty="0">
                <a:solidFill>
                  <a:srgbClr val="CC3300"/>
                </a:solidFill>
                <a:latin typeface="Courier New"/>
                <a:cs typeface="Courier New"/>
              </a:rPr>
              <a:t>)</a:t>
            </a:r>
            <a:endParaRPr sz="2000" dirty="0">
              <a:latin typeface="Courier New"/>
              <a:cs typeface="Courier New"/>
            </a:endParaRPr>
          </a:p>
          <a:p>
            <a:pPr marL="12700">
              <a:lnSpc>
                <a:spcPct val="100000"/>
              </a:lnSpc>
              <a:spcBef>
                <a:spcPts val="390"/>
              </a:spcBef>
            </a:pPr>
            <a:r>
              <a:rPr sz="1800" dirty="0">
                <a:solidFill>
                  <a:srgbClr val="1F487C"/>
                </a:solidFill>
                <a:latin typeface="Arial MT"/>
                <a:cs typeface="Arial MT"/>
              </a:rPr>
              <a:t>#</a:t>
            </a:r>
            <a:r>
              <a:rPr sz="1800" spc="-25" dirty="0">
                <a:solidFill>
                  <a:srgbClr val="1F487C"/>
                </a:solidFill>
                <a:latin typeface="Arial MT"/>
                <a:cs typeface="Arial MT"/>
              </a:rPr>
              <a:t> </a:t>
            </a:r>
            <a:r>
              <a:rPr sz="1800" dirty="0">
                <a:solidFill>
                  <a:srgbClr val="1F487C"/>
                </a:solidFill>
                <a:latin typeface="Arial MT"/>
                <a:cs typeface="Arial MT"/>
              </a:rPr>
              <a:t>of</a:t>
            </a:r>
            <a:r>
              <a:rPr sz="1800" spc="-20" dirty="0">
                <a:solidFill>
                  <a:srgbClr val="1F487C"/>
                </a:solidFill>
                <a:latin typeface="Arial MT"/>
                <a:cs typeface="Arial MT"/>
              </a:rPr>
              <a:t> </a:t>
            </a:r>
            <a:r>
              <a:rPr sz="1800" dirty="0">
                <a:solidFill>
                  <a:srgbClr val="1F487C"/>
                </a:solidFill>
                <a:latin typeface="Arial MT"/>
                <a:cs typeface="Arial MT"/>
              </a:rPr>
              <a:t>nodes</a:t>
            </a:r>
            <a:r>
              <a:rPr sz="1800" spc="-15" dirty="0">
                <a:solidFill>
                  <a:srgbClr val="1F487C"/>
                </a:solidFill>
                <a:latin typeface="Arial MT"/>
                <a:cs typeface="Arial MT"/>
              </a:rPr>
              <a:t> </a:t>
            </a:r>
            <a:r>
              <a:rPr sz="1800" dirty="0">
                <a:solidFill>
                  <a:srgbClr val="1F487C"/>
                </a:solidFill>
                <a:latin typeface="Arial MT"/>
                <a:cs typeface="Arial MT"/>
              </a:rPr>
              <a:t>tested:</a:t>
            </a:r>
            <a:r>
              <a:rPr sz="1800" spc="-25" dirty="0">
                <a:solidFill>
                  <a:srgbClr val="1F487C"/>
                </a:solidFill>
                <a:latin typeface="Arial MT"/>
                <a:cs typeface="Arial MT"/>
              </a:rPr>
              <a:t> </a:t>
            </a:r>
            <a:r>
              <a:rPr sz="1800" dirty="0">
                <a:latin typeface="Arial MT"/>
                <a:cs typeface="Arial MT"/>
              </a:rPr>
              <a:t>0</a:t>
            </a:r>
            <a:r>
              <a:rPr sz="1800" dirty="0">
                <a:solidFill>
                  <a:srgbClr val="1F487C"/>
                </a:solidFill>
                <a:latin typeface="Arial MT"/>
                <a:cs typeface="Arial MT"/>
              </a:rPr>
              <a:t>,</a:t>
            </a:r>
            <a:r>
              <a:rPr sz="1800" spc="-15" dirty="0">
                <a:solidFill>
                  <a:srgbClr val="1F487C"/>
                </a:solidFill>
                <a:latin typeface="Arial MT"/>
                <a:cs typeface="Arial MT"/>
              </a:rPr>
              <a:t> </a:t>
            </a:r>
            <a:r>
              <a:rPr sz="1800" dirty="0">
                <a:solidFill>
                  <a:srgbClr val="1F487C"/>
                </a:solidFill>
                <a:latin typeface="Arial MT"/>
                <a:cs typeface="Arial MT"/>
              </a:rPr>
              <a:t>expanded:</a:t>
            </a:r>
            <a:r>
              <a:rPr sz="1800" spc="15" dirty="0">
                <a:solidFill>
                  <a:srgbClr val="1F487C"/>
                </a:solidFill>
                <a:latin typeface="Arial MT"/>
                <a:cs typeface="Arial MT"/>
              </a:rPr>
              <a:t> </a:t>
            </a:r>
            <a:r>
              <a:rPr sz="1800" spc="-50" dirty="0">
                <a:latin typeface="Arial MT"/>
                <a:cs typeface="Arial MT"/>
              </a:rPr>
              <a:t>0</a:t>
            </a:r>
            <a:endParaRPr sz="1800" dirty="0">
              <a:latin typeface="Arial MT"/>
              <a:cs typeface="Arial MT"/>
            </a:endParaRPr>
          </a:p>
        </p:txBody>
      </p:sp>
      <p:graphicFrame>
        <p:nvGraphicFramePr>
          <p:cNvPr id="48" name="object 4">
            <a:extLst>
              <a:ext uri="{FF2B5EF4-FFF2-40B4-BE49-F238E27FC236}">
                <a16:creationId xmlns:a16="http://schemas.microsoft.com/office/drawing/2014/main" id="{11F6CCB8-4311-91B3-F8F3-34079FB262D5}"/>
              </a:ext>
            </a:extLst>
          </p:cNvPr>
          <p:cNvGraphicFramePr>
            <a:graphicFrameLocks noGrp="1"/>
          </p:cNvGraphicFramePr>
          <p:nvPr>
            <p:extLst>
              <p:ext uri="{D42A27DB-BD31-4B8C-83A1-F6EECF244321}">
                <p14:modId xmlns:p14="http://schemas.microsoft.com/office/powerpoint/2010/main" val="3212340979"/>
              </p:ext>
            </p:extLst>
          </p:nvPr>
        </p:nvGraphicFramePr>
        <p:xfrm>
          <a:off x="990600" y="3105150"/>
          <a:ext cx="3505835" cy="877570"/>
        </p:xfrm>
        <a:graphic>
          <a:graphicData uri="http://schemas.openxmlformats.org/drawingml/2006/table">
            <a:tbl>
              <a:tblPr firstRow="1" bandRow="1">
                <a:tableStyleId>{2D5ABB26-0587-4C30-8999-92F81FD0307C}</a:tableStyleId>
              </a:tblPr>
              <a:tblGrid>
                <a:gridCol w="1471930">
                  <a:extLst>
                    <a:ext uri="{9D8B030D-6E8A-4147-A177-3AD203B41FA5}">
                      <a16:colId xmlns:a16="http://schemas.microsoft.com/office/drawing/2014/main" val="20000"/>
                    </a:ext>
                  </a:extLst>
                </a:gridCol>
                <a:gridCol w="2033905">
                  <a:extLst>
                    <a:ext uri="{9D8B030D-6E8A-4147-A177-3AD203B41FA5}">
                      <a16:colId xmlns:a16="http://schemas.microsoft.com/office/drawing/2014/main" val="20001"/>
                    </a:ext>
                  </a:extLst>
                </a:gridCol>
              </a:tblGrid>
              <a:tr h="575945">
                <a:tc>
                  <a:txBody>
                    <a:bodyPr/>
                    <a:lstStyle/>
                    <a:p>
                      <a:pPr marL="91440" marR="610870">
                        <a:lnSpc>
                          <a:spcPct val="100000"/>
                        </a:lnSpc>
                        <a:spcBef>
                          <a:spcPts val="30"/>
                        </a:spcBef>
                      </a:pPr>
                      <a:r>
                        <a:rPr sz="1800" b="1" spc="-10" dirty="0">
                          <a:solidFill>
                            <a:srgbClr val="111111"/>
                          </a:solidFill>
                          <a:latin typeface="Arial"/>
                          <a:cs typeface="Arial"/>
                        </a:rPr>
                        <a:t>Closed </a:t>
                      </a:r>
                      <a:r>
                        <a:rPr sz="1800" b="1" spc="-20" dirty="0">
                          <a:solidFill>
                            <a:srgbClr val="111111"/>
                          </a:solidFill>
                          <a:latin typeface="Arial"/>
                          <a:cs typeface="Arial"/>
                        </a:rPr>
                        <a:t>Node</a:t>
                      </a:r>
                      <a:endParaRPr sz="1800">
                        <a:latin typeface="Arial"/>
                        <a:cs typeface="Arial"/>
                      </a:endParaRPr>
                    </a:p>
                  </a:txBody>
                  <a:tcPr marL="0" marR="0" marT="3810" marB="0">
                    <a:lnR w="12700">
                      <a:solidFill>
                        <a:srgbClr val="000000"/>
                      </a:solidFill>
                      <a:prstDash val="solid"/>
                    </a:lnR>
                    <a:lnT w="38100">
                      <a:solidFill>
                        <a:srgbClr val="000000"/>
                      </a:solidFill>
                      <a:prstDash val="solid"/>
                    </a:lnT>
                    <a:lnB w="12700">
                      <a:solidFill>
                        <a:srgbClr val="000000"/>
                      </a:solidFill>
                      <a:prstDash val="solid"/>
                    </a:lnB>
                  </a:tcPr>
                </a:tc>
                <a:tc>
                  <a:txBody>
                    <a:bodyPr/>
                    <a:lstStyle/>
                    <a:p>
                      <a:pPr marL="91440">
                        <a:lnSpc>
                          <a:spcPct val="100000"/>
                        </a:lnSpc>
                        <a:spcBef>
                          <a:spcPts val="30"/>
                        </a:spcBef>
                      </a:pPr>
                      <a:r>
                        <a:rPr sz="1800" b="1" dirty="0">
                          <a:solidFill>
                            <a:srgbClr val="111111"/>
                          </a:solidFill>
                          <a:latin typeface="Arial"/>
                          <a:cs typeface="Arial"/>
                        </a:rPr>
                        <a:t>Open</a:t>
                      </a:r>
                      <a:r>
                        <a:rPr sz="1800" b="1" spc="-10" dirty="0">
                          <a:solidFill>
                            <a:srgbClr val="111111"/>
                          </a:solidFill>
                          <a:latin typeface="Arial"/>
                          <a:cs typeface="Arial"/>
                        </a:rPr>
                        <a:t> </a:t>
                      </a:r>
                      <a:r>
                        <a:rPr sz="1800" b="1" spc="-20" dirty="0">
                          <a:solidFill>
                            <a:srgbClr val="111111"/>
                          </a:solidFill>
                          <a:latin typeface="Arial"/>
                          <a:cs typeface="Arial"/>
                        </a:rPr>
                        <a:t>Node</a:t>
                      </a:r>
                      <a:endParaRPr sz="1800">
                        <a:latin typeface="Arial"/>
                        <a:cs typeface="Arial"/>
                      </a:endParaRPr>
                    </a:p>
                  </a:txBody>
                  <a:tcPr marL="0" marR="0" marT="3810" marB="0">
                    <a:lnL w="12700">
                      <a:solidFill>
                        <a:srgbClr val="000000"/>
                      </a:solidFill>
                      <a:prstDash val="solid"/>
                    </a:lnL>
                    <a:lnT w="381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301625">
                <a:tc>
                  <a:txBody>
                    <a:bodyPr/>
                    <a:lstStyle/>
                    <a:p>
                      <a:pPr>
                        <a:lnSpc>
                          <a:spcPct val="100000"/>
                        </a:lnSpc>
                      </a:pPr>
                      <a:endParaRPr sz="1800" dirty="0">
                        <a:latin typeface="Times New Roman"/>
                        <a:cs typeface="Times New Roman"/>
                      </a:endParaRPr>
                    </a:p>
                  </a:txBody>
                  <a:tcPr marL="0" marR="0" marT="0" marB="0">
                    <a:lnR w="12700">
                      <a:solidFill>
                        <a:srgbClr val="000000"/>
                      </a:solidFill>
                      <a:prstDash val="solid"/>
                    </a:lnR>
                    <a:lnT w="12700">
                      <a:solidFill>
                        <a:srgbClr val="000000"/>
                      </a:solidFill>
                      <a:prstDash val="solid"/>
                    </a:lnT>
                    <a:lnB w="38100">
                      <a:solidFill>
                        <a:srgbClr val="000000"/>
                      </a:solidFill>
                      <a:prstDash val="solid"/>
                    </a:lnB>
                  </a:tcPr>
                </a:tc>
                <a:tc>
                  <a:txBody>
                    <a:bodyPr/>
                    <a:lstStyle/>
                    <a:p>
                      <a:pPr marL="91440">
                        <a:lnSpc>
                          <a:spcPct val="100000"/>
                        </a:lnSpc>
                        <a:spcBef>
                          <a:spcPts val="30"/>
                        </a:spcBef>
                      </a:pPr>
                      <a:r>
                        <a:rPr sz="1800" spc="-25" dirty="0">
                          <a:solidFill>
                            <a:srgbClr val="111111"/>
                          </a:solidFill>
                          <a:latin typeface="Arial MT"/>
                          <a:cs typeface="Arial MT"/>
                        </a:rPr>
                        <a:t>{S}</a:t>
                      </a:r>
                      <a:endParaRPr sz="1800" dirty="0">
                        <a:latin typeface="Arial MT"/>
                        <a:cs typeface="Arial MT"/>
                      </a:endParaRPr>
                    </a:p>
                  </a:txBody>
                  <a:tcPr marL="0" marR="0" marT="3810" marB="0">
                    <a:lnL w="12700">
                      <a:solidFill>
                        <a:srgbClr val="000000"/>
                      </a:solidFill>
                      <a:prstDash val="solid"/>
                    </a:lnL>
                    <a:lnT w="12700">
                      <a:solidFill>
                        <a:srgbClr val="000000"/>
                      </a:solidFill>
                      <a:prstDash val="solid"/>
                    </a:lnT>
                    <a:lnB w="38100">
                      <a:solidFill>
                        <a:srgbClr val="000000"/>
                      </a:solidFill>
                      <a:prstDash val="solid"/>
                    </a:lnB>
                  </a:tcPr>
                </a:tc>
                <a:extLst>
                  <a:ext uri="{0D108BD9-81ED-4DB2-BD59-A6C34878D82A}">
                    <a16:rowId xmlns:a16="http://schemas.microsoft.com/office/drawing/2014/main" val="10001"/>
                  </a:ext>
                </a:extLst>
              </a:tr>
            </a:tbl>
          </a:graphicData>
        </a:graphic>
      </p:graphicFrame>
      <p:sp>
        <p:nvSpPr>
          <p:cNvPr id="49" name="object 5">
            <a:extLst>
              <a:ext uri="{FF2B5EF4-FFF2-40B4-BE49-F238E27FC236}">
                <a16:creationId xmlns:a16="http://schemas.microsoft.com/office/drawing/2014/main" id="{4A03BDE8-A765-2A32-E5D3-D858CD5240D9}"/>
              </a:ext>
            </a:extLst>
          </p:cNvPr>
          <p:cNvSpPr txBox="1"/>
          <p:nvPr/>
        </p:nvSpPr>
        <p:spPr>
          <a:xfrm>
            <a:off x="6251828" y="3304413"/>
            <a:ext cx="153035" cy="299720"/>
          </a:xfrm>
          <a:prstGeom prst="rect">
            <a:avLst/>
          </a:prstGeom>
        </p:spPr>
        <p:txBody>
          <a:bodyPr vert="horz" wrap="square" lIns="0" tIns="12700" rIns="0" bIns="0" rtlCol="0">
            <a:spAutoFit/>
          </a:bodyPr>
          <a:lstStyle/>
          <a:p>
            <a:pPr marL="12700">
              <a:lnSpc>
                <a:spcPct val="100000"/>
              </a:lnSpc>
              <a:spcBef>
                <a:spcPts val="100"/>
              </a:spcBef>
            </a:pPr>
            <a:r>
              <a:rPr sz="1800" b="1" spc="-50" dirty="0">
                <a:latin typeface="Arial"/>
                <a:cs typeface="Arial"/>
              </a:rPr>
              <a:t>5</a:t>
            </a:r>
            <a:endParaRPr sz="1800">
              <a:latin typeface="Arial"/>
              <a:cs typeface="Arial"/>
            </a:endParaRPr>
          </a:p>
        </p:txBody>
      </p:sp>
      <p:sp>
        <p:nvSpPr>
          <p:cNvPr id="50" name="object 6">
            <a:extLst>
              <a:ext uri="{FF2B5EF4-FFF2-40B4-BE49-F238E27FC236}">
                <a16:creationId xmlns:a16="http://schemas.microsoft.com/office/drawing/2014/main" id="{78C6E95A-E763-392F-5F4C-27D0875FA4BC}"/>
              </a:ext>
            </a:extLst>
          </p:cNvPr>
          <p:cNvSpPr txBox="1"/>
          <p:nvPr/>
        </p:nvSpPr>
        <p:spPr>
          <a:xfrm>
            <a:off x="7242809" y="3304413"/>
            <a:ext cx="153035" cy="299720"/>
          </a:xfrm>
          <a:prstGeom prst="rect">
            <a:avLst/>
          </a:prstGeom>
        </p:spPr>
        <p:txBody>
          <a:bodyPr vert="horz" wrap="square" lIns="0" tIns="12700" rIns="0" bIns="0" rtlCol="0">
            <a:spAutoFit/>
          </a:bodyPr>
          <a:lstStyle/>
          <a:p>
            <a:pPr marL="12700">
              <a:lnSpc>
                <a:spcPct val="100000"/>
              </a:lnSpc>
              <a:spcBef>
                <a:spcPts val="100"/>
              </a:spcBef>
            </a:pPr>
            <a:r>
              <a:rPr sz="1800" b="1" spc="-50" dirty="0">
                <a:latin typeface="Arial"/>
                <a:cs typeface="Arial"/>
              </a:rPr>
              <a:t>2</a:t>
            </a:r>
            <a:endParaRPr sz="1800">
              <a:latin typeface="Arial"/>
              <a:cs typeface="Arial"/>
            </a:endParaRPr>
          </a:p>
        </p:txBody>
      </p:sp>
      <p:sp>
        <p:nvSpPr>
          <p:cNvPr id="51" name="object 7">
            <a:extLst>
              <a:ext uri="{FF2B5EF4-FFF2-40B4-BE49-F238E27FC236}">
                <a16:creationId xmlns:a16="http://schemas.microsoft.com/office/drawing/2014/main" id="{6FE44C5B-6F73-3B34-2AC0-FBB65404C4E9}"/>
              </a:ext>
            </a:extLst>
          </p:cNvPr>
          <p:cNvSpPr txBox="1"/>
          <p:nvPr/>
        </p:nvSpPr>
        <p:spPr>
          <a:xfrm>
            <a:off x="5337428" y="4447794"/>
            <a:ext cx="153035" cy="299720"/>
          </a:xfrm>
          <a:prstGeom prst="rect">
            <a:avLst/>
          </a:prstGeom>
        </p:spPr>
        <p:txBody>
          <a:bodyPr vert="horz" wrap="square" lIns="0" tIns="12700" rIns="0" bIns="0" rtlCol="0">
            <a:spAutoFit/>
          </a:bodyPr>
          <a:lstStyle/>
          <a:p>
            <a:pPr marL="12700">
              <a:lnSpc>
                <a:spcPct val="100000"/>
              </a:lnSpc>
              <a:spcBef>
                <a:spcPts val="100"/>
              </a:spcBef>
            </a:pPr>
            <a:r>
              <a:rPr sz="1800" b="1" spc="-50" dirty="0">
                <a:latin typeface="Arial"/>
                <a:cs typeface="Arial"/>
              </a:rPr>
              <a:t>9</a:t>
            </a:r>
            <a:endParaRPr sz="1800">
              <a:latin typeface="Arial"/>
              <a:cs typeface="Arial"/>
            </a:endParaRPr>
          </a:p>
        </p:txBody>
      </p:sp>
      <p:sp>
        <p:nvSpPr>
          <p:cNvPr id="52" name="object 8">
            <a:extLst>
              <a:ext uri="{FF2B5EF4-FFF2-40B4-BE49-F238E27FC236}">
                <a16:creationId xmlns:a16="http://schemas.microsoft.com/office/drawing/2014/main" id="{25C7A797-EC17-6BB6-E083-1F0F0330A7ED}"/>
              </a:ext>
            </a:extLst>
          </p:cNvPr>
          <p:cNvSpPr txBox="1"/>
          <p:nvPr/>
        </p:nvSpPr>
        <p:spPr>
          <a:xfrm>
            <a:off x="6785229" y="4828794"/>
            <a:ext cx="153035" cy="299720"/>
          </a:xfrm>
          <a:prstGeom prst="rect">
            <a:avLst/>
          </a:prstGeom>
        </p:spPr>
        <p:txBody>
          <a:bodyPr vert="horz" wrap="square" lIns="0" tIns="12700" rIns="0" bIns="0" rtlCol="0">
            <a:spAutoFit/>
          </a:bodyPr>
          <a:lstStyle/>
          <a:p>
            <a:pPr marL="12700">
              <a:lnSpc>
                <a:spcPct val="100000"/>
              </a:lnSpc>
              <a:spcBef>
                <a:spcPts val="100"/>
              </a:spcBef>
            </a:pPr>
            <a:r>
              <a:rPr sz="1800" b="1" spc="-50" dirty="0">
                <a:latin typeface="Arial"/>
                <a:cs typeface="Arial"/>
              </a:rPr>
              <a:t>6</a:t>
            </a:r>
            <a:endParaRPr sz="1800">
              <a:latin typeface="Arial"/>
              <a:cs typeface="Arial"/>
            </a:endParaRPr>
          </a:p>
        </p:txBody>
      </p:sp>
      <p:sp>
        <p:nvSpPr>
          <p:cNvPr id="53" name="object 9">
            <a:extLst>
              <a:ext uri="{FF2B5EF4-FFF2-40B4-BE49-F238E27FC236}">
                <a16:creationId xmlns:a16="http://schemas.microsoft.com/office/drawing/2014/main" id="{59104AE0-CDCC-CBF7-8D75-F7AA9335FA48}"/>
              </a:ext>
            </a:extLst>
          </p:cNvPr>
          <p:cNvSpPr txBox="1"/>
          <p:nvPr/>
        </p:nvSpPr>
        <p:spPr>
          <a:xfrm>
            <a:off x="6099428" y="4447794"/>
            <a:ext cx="153035" cy="299720"/>
          </a:xfrm>
          <a:prstGeom prst="rect">
            <a:avLst/>
          </a:prstGeom>
        </p:spPr>
        <p:txBody>
          <a:bodyPr vert="horz" wrap="square" lIns="0" tIns="12700" rIns="0" bIns="0" rtlCol="0">
            <a:spAutoFit/>
          </a:bodyPr>
          <a:lstStyle/>
          <a:p>
            <a:pPr marL="12700">
              <a:lnSpc>
                <a:spcPct val="100000"/>
              </a:lnSpc>
              <a:spcBef>
                <a:spcPts val="100"/>
              </a:spcBef>
            </a:pPr>
            <a:r>
              <a:rPr sz="1800" b="1" spc="-50" dirty="0">
                <a:latin typeface="Arial"/>
                <a:cs typeface="Arial"/>
              </a:rPr>
              <a:t>4</a:t>
            </a:r>
            <a:endParaRPr sz="1800">
              <a:latin typeface="Arial"/>
              <a:cs typeface="Arial"/>
            </a:endParaRPr>
          </a:p>
        </p:txBody>
      </p:sp>
      <p:sp>
        <p:nvSpPr>
          <p:cNvPr id="54" name="object 10">
            <a:extLst>
              <a:ext uri="{FF2B5EF4-FFF2-40B4-BE49-F238E27FC236}">
                <a16:creationId xmlns:a16="http://schemas.microsoft.com/office/drawing/2014/main" id="{A09E21D9-22E1-9C19-9CF1-4F6DFF41D76F}"/>
              </a:ext>
            </a:extLst>
          </p:cNvPr>
          <p:cNvSpPr txBox="1"/>
          <p:nvPr/>
        </p:nvSpPr>
        <p:spPr>
          <a:xfrm>
            <a:off x="7928609" y="3304413"/>
            <a:ext cx="153035" cy="299720"/>
          </a:xfrm>
          <a:prstGeom prst="rect">
            <a:avLst/>
          </a:prstGeom>
        </p:spPr>
        <p:txBody>
          <a:bodyPr vert="horz" wrap="square" lIns="0" tIns="12700" rIns="0" bIns="0" rtlCol="0">
            <a:spAutoFit/>
          </a:bodyPr>
          <a:lstStyle/>
          <a:p>
            <a:pPr marL="12700">
              <a:lnSpc>
                <a:spcPct val="100000"/>
              </a:lnSpc>
              <a:spcBef>
                <a:spcPts val="100"/>
              </a:spcBef>
            </a:pPr>
            <a:r>
              <a:rPr sz="1800" b="1" spc="-50" dirty="0">
                <a:latin typeface="Arial"/>
                <a:cs typeface="Arial"/>
              </a:rPr>
              <a:t>4</a:t>
            </a:r>
            <a:endParaRPr sz="1800">
              <a:latin typeface="Arial"/>
              <a:cs typeface="Arial"/>
            </a:endParaRPr>
          </a:p>
        </p:txBody>
      </p:sp>
      <p:sp>
        <p:nvSpPr>
          <p:cNvPr id="55" name="object 11">
            <a:extLst>
              <a:ext uri="{FF2B5EF4-FFF2-40B4-BE49-F238E27FC236}">
                <a16:creationId xmlns:a16="http://schemas.microsoft.com/office/drawing/2014/main" id="{385DE1FB-F3AC-5558-1D3A-36914DD0DAB6}"/>
              </a:ext>
            </a:extLst>
          </p:cNvPr>
          <p:cNvSpPr txBox="1"/>
          <p:nvPr/>
        </p:nvSpPr>
        <p:spPr>
          <a:xfrm>
            <a:off x="8385809" y="4447794"/>
            <a:ext cx="153035" cy="299720"/>
          </a:xfrm>
          <a:prstGeom prst="rect">
            <a:avLst/>
          </a:prstGeom>
        </p:spPr>
        <p:txBody>
          <a:bodyPr vert="horz" wrap="square" lIns="0" tIns="12700" rIns="0" bIns="0" rtlCol="0">
            <a:spAutoFit/>
          </a:bodyPr>
          <a:lstStyle/>
          <a:p>
            <a:pPr marL="12700">
              <a:lnSpc>
                <a:spcPct val="100000"/>
              </a:lnSpc>
              <a:spcBef>
                <a:spcPts val="100"/>
              </a:spcBef>
            </a:pPr>
            <a:r>
              <a:rPr sz="1800" b="1" spc="-50" dirty="0">
                <a:latin typeface="Arial"/>
                <a:cs typeface="Arial"/>
              </a:rPr>
              <a:t>2</a:t>
            </a:r>
            <a:endParaRPr sz="1800">
              <a:latin typeface="Arial"/>
              <a:cs typeface="Arial"/>
            </a:endParaRPr>
          </a:p>
        </p:txBody>
      </p:sp>
      <p:sp>
        <p:nvSpPr>
          <p:cNvPr id="56" name="object 12">
            <a:extLst>
              <a:ext uri="{FF2B5EF4-FFF2-40B4-BE49-F238E27FC236}">
                <a16:creationId xmlns:a16="http://schemas.microsoft.com/office/drawing/2014/main" id="{FE7BB4E7-FB91-DCA5-8022-F45E0DD3A1BF}"/>
              </a:ext>
            </a:extLst>
          </p:cNvPr>
          <p:cNvSpPr txBox="1"/>
          <p:nvPr/>
        </p:nvSpPr>
        <p:spPr>
          <a:xfrm>
            <a:off x="7928609" y="4828794"/>
            <a:ext cx="153035" cy="299720"/>
          </a:xfrm>
          <a:prstGeom prst="rect">
            <a:avLst/>
          </a:prstGeom>
        </p:spPr>
        <p:txBody>
          <a:bodyPr vert="horz" wrap="square" lIns="0" tIns="12700" rIns="0" bIns="0" rtlCol="0">
            <a:spAutoFit/>
          </a:bodyPr>
          <a:lstStyle/>
          <a:p>
            <a:pPr marL="12700">
              <a:lnSpc>
                <a:spcPct val="100000"/>
              </a:lnSpc>
              <a:spcBef>
                <a:spcPts val="100"/>
              </a:spcBef>
            </a:pPr>
            <a:r>
              <a:rPr sz="1800" b="1" spc="-50" dirty="0">
                <a:latin typeface="Arial"/>
                <a:cs typeface="Arial"/>
              </a:rPr>
              <a:t>1</a:t>
            </a:r>
            <a:endParaRPr sz="1800">
              <a:latin typeface="Arial"/>
              <a:cs typeface="Arial"/>
            </a:endParaRPr>
          </a:p>
        </p:txBody>
      </p:sp>
      <p:sp>
        <p:nvSpPr>
          <p:cNvPr id="57" name="object 13">
            <a:extLst>
              <a:ext uri="{FF2B5EF4-FFF2-40B4-BE49-F238E27FC236}">
                <a16:creationId xmlns:a16="http://schemas.microsoft.com/office/drawing/2014/main" id="{13C6E47A-0F49-411E-D3E4-5F45F0577575}"/>
              </a:ext>
            </a:extLst>
          </p:cNvPr>
          <p:cNvSpPr txBox="1"/>
          <p:nvPr/>
        </p:nvSpPr>
        <p:spPr>
          <a:xfrm>
            <a:off x="5185028" y="5591047"/>
            <a:ext cx="153035" cy="299720"/>
          </a:xfrm>
          <a:prstGeom prst="rect">
            <a:avLst/>
          </a:prstGeom>
        </p:spPr>
        <p:txBody>
          <a:bodyPr vert="horz" wrap="square" lIns="0" tIns="12700" rIns="0" bIns="0" rtlCol="0">
            <a:spAutoFit/>
          </a:bodyPr>
          <a:lstStyle/>
          <a:p>
            <a:pPr marL="12700">
              <a:lnSpc>
                <a:spcPct val="100000"/>
              </a:lnSpc>
              <a:spcBef>
                <a:spcPts val="100"/>
              </a:spcBef>
            </a:pPr>
            <a:r>
              <a:rPr sz="1800" b="1" spc="-50" dirty="0">
                <a:latin typeface="Arial"/>
                <a:cs typeface="Arial"/>
              </a:rPr>
              <a:t>7</a:t>
            </a:r>
            <a:endParaRPr sz="1800">
              <a:latin typeface="Arial"/>
              <a:cs typeface="Arial"/>
            </a:endParaRPr>
          </a:p>
        </p:txBody>
      </p:sp>
      <p:pic>
        <p:nvPicPr>
          <p:cNvPr id="58" name="object 14">
            <a:extLst>
              <a:ext uri="{FF2B5EF4-FFF2-40B4-BE49-F238E27FC236}">
                <a16:creationId xmlns:a16="http://schemas.microsoft.com/office/drawing/2014/main" id="{07A05404-90A0-217E-0F79-CAFEF98767EC}"/>
              </a:ext>
            </a:extLst>
          </p:cNvPr>
          <p:cNvPicPr/>
          <p:nvPr/>
        </p:nvPicPr>
        <p:blipFill>
          <a:blip r:embed="rId2" cstate="print"/>
          <a:stretch>
            <a:fillRect/>
          </a:stretch>
        </p:blipFill>
        <p:spPr>
          <a:xfrm>
            <a:off x="5017261" y="2502661"/>
            <a:ext cx="3911599" cy="4140200"/>
          </a:xfrm>
          <a:prstGeom prst="rect">
            <a:avLst/>
          </a:prstGeom>
        </p:spPr>
      </p:pic>
      <p:sp>
        <p:nvSpPr>
          <p:cNvPr id="59" name="object 15">
            <a:extLst>
              <a:ext uri="{FF2B5EF4-FFF2-40B4-BE49-F238E27FC236}">
                <a16:creationId xmlns:a16="http://schemas.microsoft.com/office/drawing/2014/main" id="{8ACA0973-D045-ED94-6B6D-03CDDDE11894}"/>
              </a:ext>
            </a:extLst>
          </p:cNvPr>
          <p:cNvSpPr txBox="1"/>
          <p:nvPr/>
        </p:nvSpPr>
        <p:spPr>
          <a:xfrm>
            <a:off x="7195566" y="2545842"/>
            <a:ext cx="470534" cy="535940"/>
          </a:xfrm>
          <a:prstGeom prst="rect">
            <a:avLst/>
          </a:prstGeom>
        </p:spPr>
        <p:txBody>
          <a:bodyPr vert="horz" wrap="square" lIns="0" tIns="13335" rIns="0" bIns="0" rtlCol="0">
            <a:spAutoFit/>
          </a:bodyPr>
          <a:lstStyle/>
          <a:p>
            <a:pPr algn="ctr">
              <a:lnSpc>
                <a:spcPts val="2130"/>
              </a:lnSpc>
              <a:spcBef>
                <a:spcPts val="105"/>
              </a:spcBef>
            </a:pPr>
            <a:r>
              <a:rPr sz="2000" b="1" spc="-50" dirty="0">
                <a:latin typeface="Arial"/>
                <a:cs typeface="Arial"/>
              </a:rPr>
              <a:t>S</a:t>
            </a:r>
            <a:endParaRPr sz="2000">
              <a:latin typeface="Arial"/>
              <a:cs typeface="Arial"/>
            </a:endParaRPr>
          </a:p>
          <a:p>
            <a:pPr algn="ctr">
              <a:lnSpc>
                <a:spcPts val="1889"/>
              </a:lnSpc>
            </a:pPr>
            <a:r>
              <a:rPr sz="1800" spc="-10" dirty="0">
                <a:solidFill>
                  <a:srgbClr val="FFFFFF"/>
                </a:solidFill>
                <a:latin typeface="Arial MT"/>
                <a:cs typeface="Arial MT"/>
              </a:rPr>
              <a:t>start</a:t>
            </a:r>
            <a:endParaRPr sz="1800">
              <a:latin typeface="Arial MT"/>
              <a:cs typeface="Arial MT"/>
            </a:endParaRPr>
          </a:p>
        </p:txBody>
      </p:sp>
      <p:sp>
        <p:nvSpPr>
          <p:cNvPr id="60" name="object 23">
            <a:extLst>
              <a:ext uri="{FF2B5EF4-FFF2-40B4-BE49-F238E27FC236}">
                <a16:creationId xmlns:a16="http://schemas.microsoft.com/office/drawing/2014/main" id="{34C4E198-506E-5E1E-B83E-06129B2D4890}"/>
              </a:ext>
            </a:extLst>
          </p:cNvPr>
          <p:cNvSpPr txBox="1"/>
          <p:nvPr/>
        </p:nvSpPr>
        <p:spPr>
          <a:xfrm>
            <a:off x="5267325" y="6139412"/>
            <a:ext cx="209550" cy="309880"/>
          </a:xfrm>
          <a:prstGeom prst="rect">
            <a:avLst/>
          </a:prstGeom>
        </p:spPr>
        <p:txBody>
          <a:bodyPr vert="horz" wrap="square" lIns="0" tIns="0" rIns="0" bIns="0" rtlCol="0">
            <a:spAutoFit/>
          </a:bodyPr>
          <a:lstStyle/>
          <a:p>
            <a:pPr marL="12700">
              <a:lnSpc>
                <a:spcPts val="2315"/>
              </a:lnSpc>
            </a:pPr>
            <a:r>
              <a:rPr sz="2000" b="1" spc="-50" dirty="0">
                <a:latin typeface="Arial"/>
                <a:cs typeface="Arial"/>
              </a:rPr>
              <a:t>H</a:t>
            </a:r>
            <a:endParaRPr sz="2000">
              <a:latin typeface="Arial"/>
              <a:cs typeface="Arial"/>
            </a:endParaRPr>
          </a:p>
        </p:txBody>
      </p:sp>
      <p:sp>
        <p:nvSpPr>
          <p:cNvPr id="61" name="object 16">
            <a:extLst>
              <a:ext uri="{FF2B5EF4-FFF2-40B4-BE49-F238E27FC236}">
                <a16:creationId xmlns:a16="http://schemas.microsoft.com/office/drawing/2014/main" id="{E1442C54-F2C6-4F65-8986-A3612346091D}"/>
              </a:ext>
            </a:extLst>
          </p:cNvPr>
          <p:cNvSpPr txBox="1"/>
          <p:nvPr/>
        </p:nvSpPr>
        <p:spPr>
          <a:xfrm>
            <a:off x="6181725" y="3828363"/>
            <a:ext cx="209550" cy="331470"/>
          </a:xfrm>
          <a:prstGeom prst="rect">
            <a:avLst/>
          </a:prstGeom>
        </p:spPr>
        <p:txBody>
          <a:bodyPr vert="horz" wrap="square" lIns="0" tIns="13335" rIns="0" bIns="0" rtlCol="0">
            <a:spAutoFit/>
          </a:bodyPr>
          <a:lstStyle/>
          <a:p>
            <a:pPr marL="12700">
              <a:lnSpc>
                <a:spcPct val="100000"/>
              </a:lnSpc>
              <a:spcBef>
                <a:spcPts val="105"/>
              </a:spcBef>
            </a:pPr>
            <a:r>
              <a:rPr sz="2000" b="1" spc="-50" dirty="0">
                <a:latin typeface="Arial"/>
                <a:cs typeface="Arial"/>
              </a:rPr>
              <a:t>A</a:t>
            </a:r>
            <a:endParaRPr sz="2000">
              <a:latin typeface="Arial"/>
              <a:cs typeface="Arial"/>
            </a:endParaRPr>
          </a:p>
        </p:txBody>
      </p:sp>
      <p:sp>
        <p:nvSpPr>
          <p:cNvPr id="62" name="object 17">
            <a:extLst>
              <a:ext uri="{FF2B5EF4-FFF2-40B4-BE49-F238E27FC236}">
                <a16:creationId xmlns:a16="http://schemas.microsoft.com/office/drawing/2014/main" id="{64450159-2B7D-E202-E7B6-37F88B022433}"/>
              </a:ext>
            </a:extLst>
          </p:cNvPr>
          <p:cNvSpPr txBox="1"/>
          <p:nvPr/>
        </p:nvSpPr>
        <p:spPr>
          <a:xfrm>
            <a:off x="6189726" y="4972050"/>
            <a:ext cx="195580" cy="330835"/>
          </a:xfrm>
          <a:prstGeom prst="rect">
            <a:avLst/>
          </a:prstGeom>
        </p:spPr>
        <p:txBody>
          <a:bodyPr vert="horz" wrap="square" lIns="0" tIns="12700" rIns="0" bIns="0" rtlCol="0">
            <a:spAutoFit/>
          </a:bodyPr>
          <a:lstStyle/>
          <a:p>
            <a:pPr marL="12700">
              <a:lnSpc>
                <a:spcPct val="100000"/>
              </a:lnSpc>
              <a:spcBef>
                <a:spcPts val="100"/>
              </a:spcBef>
            </a:pPr>
            <a:r>
              <a:rPr sz="2000" b="1" spc="-50" dirty="0">
                <a:latin typeface="Arial"/>
                <a:cs typeface="Arial"/>
              </a:rPr>
              <a:t>E</a:t>
            </a:r>
            <a:endParaRPr sz="2000">
              <a:latin typeface="Arial"/>
              <a:cs typeface="Arial"/>
            </a:endParaRPr>
          </a:p>
        </p:txBody>
      </p:sp>
      <p:sp>
        <p:nvSpPr>
          <p:cNvPr id="63" name="object 18">
            <a:extLst>
              <a:ext uri="{FF2B5EF4-FFF2-40B4-BE49-F238E27FC236}">
                <a16:creationId xmlns:a16="http://schemas.microsoft.com/office/drawing/2014/main" id="{3E71288D-CF20-1364-0656-1FD8CCAF27D2}"/>
              </a:ext>
            </a:extLst>
          </p:cNvPr>
          <p:cNvSpPr txBox="1"/>
          <p:nvPr/>
        </p:nvSpPr>
        <p:spPr>
          <a:xfrm>
            <a:off x="5267325" y="4972050"/>
            <a:ext cx="209550" cy="330835"/>
          </a:xfrm>
          <a:prstGeom prst="rect">
            <a:avLst/>
          </a:prstGeom>
        </p:spPr>
        <p:txBody>
          <a:bodyPr vert="horz" wrap="square" lIns="0" tIns="12700" rIns="0" bIns="0" rtlCol="0">
            <a:spAutoFit/>
          </a:bodyPr>
          <a:lstStyle/>
          <a:p>
            <a:pPr marL="12700">
              <a:lnSpc>
                <a:spcPct val="100000"/>
              </a:lnSpc>
              <a:spcBef>
                <a:spcPts val="100"/>
              </a:spcBef>
            </a:pPr>
            <a:r>
              <a:rPr sz="2000" b="1" spc="-50" dirty="0">
                <a:latin typeface="Arial"/>
                <a:cs typeface="Arial"/>
              </a:rPr>
              <a:t>D</a:t>
            </a:r>
            <a:endParaRPr sz="2000">
              <a:latin typeface="Arial"/>
              <a:cs typeface="Arial"/>
            </a:endParaRPr>
          </a:p>
        </p:txBody>
      </p:sp>
      <p:sp>
        <p:nvSpPr>
          <p:cNvPr id="64" name="object 19">
            <a:extLst>
              <a:ext uri="{FF2B5EF4-FFF2-40B4-BE49-F238E27FC236}">
                <a16:creationId xmlns:a16="http://schemas.microsoft.com/office/drawing/2014/main" id="{371C3436-7718-3995-EC77-3CE4F03BB108}"/>
              </a:ext>
            </a:extLst>
          </p:cNvPr>
          <p:cNvSpPr txBox="1"/>
          <p:nvPr/>
        </p:nvSpPr>
        <p:spPr>
          <a:xfrm>
            <a:off x="8483600" y="4972050"/>
            <a:ext cx="180975" cy="330835"/>
          </a:xfrm>
          <a:prstGeom prst="rect">
            <a:avLst/>
          </a:prstGeom>
        </p:spPr>
        <p:txBody>
          <a:bodyPr vert="horz" wrap="square" lIns="0" tIns="12700" rIns="0" bIns="0" rtlCol="0">
            <a:spAutoFit/>
          </a:bodyPr>
          <a:lstStyle/>
          <a:p>
            <a:pPr marL="12700">
              <a:lnSpc>
                <a:spcPct val="100000"/>
              </a:lnSpc>
              <a:spcBef>
                <a:spcPts val="100"/>
              </a:spcBef>
            </a:pPr>
            <a:r>
              <a:rPr sz="2000" b="1" spc="-50" dirty="0">
                <a:latin typeface="Arial"/>
                <a:cs typeface="Arial"/>
              </a:rPr>
              <a:t>F</a:t>
            </a:r>
            <a:endParaRPr sz="2000">
              <a:latin typeface="Arial"/>
              <a:cs typeface="Arial"/>
            </a:endParaRPr>
          </a:p>
        </p:txBody>
      </p:sp>
      <p:sp>
        <p:nvSpPr>
          <p:cNvPr id="65" name="object 20">
            <a:extLst>
              <a:ext uri="{FF2B5EF4-FFF2-40B4-BE49-F238E27FC236}">
                <a16:creationId xmlns:a16="http://schemas.microsoft.com/office/drawing/2014/main" id="{0FE1CDA2-285C-DDC0-AEF5-9B1377FBFFF9}"/>
              </a:ext>
            </a:extLst>
          </p:cNvPr>
          <p:cNvSpPr txBox="1"/>
          <p:nvPr/>
        </p:nvSpPr>
        <p:spPr>
          <a:xfrm>
            <a:off x="7325106" y="3828363"/>
            <a:ext cx="209550" cy="331470"/>
          </a:xfrm>
          <a:prstGeom prst="rect">
            <a:avLst/>
          </a:prstGeom>
        </p:spPr>
        <p:txBody>
          <a:bodyPr vert="horz" wrap="square" lIns="0" tIns="13335" rIns="0" bIns="0" rtlCol="0">
            <a:spAutoFit/>
          </a:bodyPr>
          <a:lstStyle/>
          <a:p>
            <a:pPr marL="12700">
              <a:lnSpc>
                <a:spcPct val="100000"/>
              </a:lnSpc>
              <a:spcBef>
                <a:spcPts val="105"/>
              </a:spcBef>
            </a:pPr>
            <a:r>
              <a:rPr sz="2000" b="1" spc="-50" dirty="0">
                <a:latin typeface="Arial"/>
                <a:cs typeface="Arial"/>
              </a:rPr>
              <a:t>B</a:t>
            </a:r>
            <a:endParaRPr sz="2000">
              <a:latin typeface="Arial"/>
              <a:cs typeface="Arial"/>
            </a:endParaRPr>
          </a:p>
        </p:txBody>
      </p:sp>
      <p:sp>
        <p:nvSpPr>
          <p:cNvPr id="66" name="object 21">
            <a:extLst>
              <a:ext uri="{FF2B5EF4-FFF2-40B4-BE49-F238E27FC236}">
                <a16:creationId xmlns:a16="http://schemas.microsoft.com/office/drawing/2014/main" id="{C8B1C558-FA91-FD7E-A787-13E6E4442E71}"/>
              </a:ext>
            </a:extLst>
          </p:cNvPr>
          <p:cNvSpPr txBox="1"/>
          <p:nvPr/>
        </p:nvSpPr>
        <p:spPr>
          <a:xfrm>
            <a:off x="7203185" y="4355624"/>
            <a:ext cx="455295" cy="997585"/>
          </a:xfrm>
          <a:prstGeom prst="rect">
            <a:avLst/>
          </a:prstGeom>
        </p:spPr>
        <p:txBody>
          <a:bodyPr vert="horz" wrap="square" lIns="0" tIns="104775" rIns="0" bIns="0" rtlCol="0">
            <a:spAutoFit/>
          </a:bodyPr>
          <a:lstStyle/>
          <a:p>
            <a:pPr marL="52069">
              <a:lnSpc>
                <a:spcPct val="100000"/>
              </a:lnSpc>
              <a:spcBef>
                <a:spcPts val="825"/>
              </a:spcBef>
            </a:pPr>
            <a:r>
              <a:rPr sz="1800" b="1" spc="-50" dirty="0">
                <a:latin typeface="Arial"/>
                <a:cs typeface="Arial"/>
              </a:rPr>
              <a:t>6</a:t>
            </a:r>
            <a:endParaRPr sz="1800">
              <a:latin typeface="Arial"/>
              <a:cs typeface="Arial"/>
            </a:endParaRPr>
          </a:p>
          <a:p>
            <a:pPr marL="128270">
              <a:lnSpc>
                <a:spcPts val="2100"/>
              </a:lnSpc>
              <a:spcBef>
                <a:spcPts val="810"/>
              </a:spcBef>
            </a:pPr>
            <a:r>
              <a:rPr sz="2000" b="1" spc="-50" dirty="0">
                <a:latin typeface="Arial"/>
                <a:cs typeface="Arial"/>
              </a:rPr>
              <a:t>G</a:t>
            </a:r>
            <a:endParaRPr sz="2000">
              <a:latin typeface="Arial"/>
              <a:cs typeface="Arial"/>
            </a:endParaRPr>
          </a:p>
          <a:p>
            <a:pPr marL="12700">
              <a:lnSpc>
                <a:spcPts val="1860"/>
              </a:lnSpc>
            </a:pPr>
            <a:r>
              <a:rPr sz="1800" spc="-20" dirty="0">
                <a:solidFill>
                  <a:srgbClr val="FFFFFF"/>
                </a:solidFill>
                <a:latin typeface="Arial MT"/>
                <a:cs typeface="Arial MT"/>
              </a:rPr>
              <a:t>goal</a:t>
            </a:r>
            <a:endParaRPr sz="1800">
              <a:latin typeface="Arial MT"/>
              <a:cs typeface="Arial MT"/>
            </a:endParaRPr>
          </a:p>
        </p:txBody>
      </p:sp>
      <p:sp>
        <p:nvSpPr>
          <p:cNvPr id="67" name="object 22">
            <a:extLst>
              <a:ext uri="{FF2B5EF4-FFF2-40B4-BE49-F238E27FC236}">
                <a16:creationId xmlns:a16="http://schemas.microsoft.com/office/drawing/2014/main" id="{88B07478-17B4-24EF-03EA-AB9AACDF254E}"/>
              </a:ext>
            </a:extLst>
          </p:cNvPr>
          <p:cNvSpPr txBox="1"/>
          <p:nvPr/>
        </p:nvSpPr>
        <p:spPr>
          <a:xfrm>
            <a:off x="8468359" y="3828363"/>
            <a:ext cx="209550" cy="331470"/>
          </a:xfrm>
          <a:prstGeom prst="rect">
            <a:avLst/>
          </a:prstGeom>
        </p:spPr>
        <p:txBody>
          <a:bodyPr vert="horz" wrap="square" lIns="0" tIns="13335" rIns="0" bIns="0" rtlCol="0">
            <a:spAutoFit/>
          </a:bodyPr>
          <a:lstStyle/>
          <a:p>
            <a:pPr marL="12700">
              <a:lnSpc>
                <a:spcPct val="100000"/>
              </a:lnSpc>
              <a:spcBef>
                <a:spcPts val="105"/>
              </a:spcBef>
            </a:pPr>
            <a:r>
              <a:rPr sz="2000" b="1" spc="-50" dirty="0">
                <a:latin typeface="Arial"/>
                <a:cs typeface="Arial"/>
              </a:rPr>
              <a:t>C</a:t>
            </a:r>
            <a:endParaRPr sz="2000">
              <a:latin typeface="Arial"/>
              <a:cs typeface="Arial"/>
            </a:endParaRPr>
          </a:p>
        </p:txBody>
      </p:sp>
    </p:spTree>
    <p:extLst>
      <p:ext uri="{BB962C8B-B14F-4D97-AF65-F5344CB8AC3E}">
        <p14:creationId xmlns:p14="http://schemas.microsoft.com/office/powerpoint/2010/main" val="22920256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F42E5-03D1-ADAE-DE19-E2E513F0F3AD}"/>
              </a:ext>
            </a:extLst>
          </p:cNvPr>
          <p:cNvSpPr>
            <a:spLocks noGrp="1"/>
          </p:cNvSpPr>
          <p:nvPr>
            <p:ph type="title"/>
          </p:nvPr>
        </p:nvSpPr>
        <p:spPr/>
        <p:txBody>
          <a:bodyPr/>
          <a:lstStyle/>
          <a:p>
            <a:r>
              <a:rPr lang="en-US" dirty="0"/>
              <a:t>Uniform Cost Search</a:t>
            </a:r>
          </a:p>
        </p:txBody>
      </p:sp>
      <p:sp>
        <p:nvSpPr>
          <p:cNvPr id="25" name="object 3">
            <a:extLst>
              <a:ext uri="{FF2B5EF4-FFF2-40B4-BE49-F238E27FC236}">
                <a16:creationId xmlns:a16="http://schemas.microsoft.com/office/drawing/2014/main" id="{0F05FE33-D64B-8F37-88CD-147CAA3FB808}"/>
              </a:ext>
            </a:extLst>
          </p:cNvPr>
          <p:cNvSpPr txBox="1"/>
          <p:nvPr/>
        </p:nvSpPr>
        <p:spPr>
          <a:xfrm>
            <a:off x="6251828" y="3304413"/>
            <a:ext cx="153035" cy="299720"/>
          </a:xfrm>
          <a:prstGeom prst="rect">
            <a:avLst/>
          </a:prstGeom>
        </p:spPr>
        <p:txBody>
          <a:bodyPr vert="horz" wrap="square" lIns="0" tIns="12700" rIns="0" bIns="0" rtlCol="0">
            <a:spAutoFit/>
          </a:bodyPr>
          <a:lstStyle/>
          <a:p>
            <a:pPr marL="12700">
              <a:lnSpc>
                <a:spcPct val="100000"/>
              </a:lnSpc>
              <a:spcBef>
                <a:spcPts val="100"/>
              </a:spcBef>
            </a:pPr>
            <a:r>
              <a:rPr sz="1800" b="1" spc="-50" dirty="0">
                <a:latin typeface="Arial"/>
                <a:cs typeface="Arial"/>
              </a:rPr>
              <a:t>5</a:t>
            </a:r>
            <a:endParaRPr sz="1800">
              <a:latin typeface="Arial"/>
              <a:cs typeface="Arial"/>
            </a:endParaRPr>
          </a:p>
        </p:txBody>
      </p:sp>
      <p:sp>
        <p:nvSpPr>
          <p:cNvPr id="26" name="object 4">
            <a:extLst>
              <a:ext uri="{FF2B5EF4-FFF2-40B4-BE49-F238E27FC236}">
                <a16:creationId xmlns:a16="http://schemas.microsoft.com/office/drawing/2014/main" id="{30D71BAE-FA3A-6B05-5A9C-1108253DCCF7}"/>
              </a:ext>
            </a:extLst>
          </p:cNvPr>
          <p:cNvSpPr txBox="1"/>
          <p:nvPr/>
        </p:nvSpPr>
        <p:spPr>
          <a:xfrm>
            <a:off x="7242809" y="3304413"/>
            <a:ext cx="153035" cy="299720"/>
          </a:xfrm>
          <a:prstGeom prst="rect">
            <a:avLst/>
          </a:prstGeom>
        </p:spPr>
        <p:txBody>
          <a:bodyPr vert="horz" wrap="square" lIns="0" tIns="12700" rIns="0" bIns="0" rtlCol="0">
            <a:spAutoFit/>
          </a:bodyPr>
          <a:lstStyle/>
          <a:p>
            <a:pPr marL="12700">
              <a:lnSpc>
                <a:spcPct val="100000"/>
              </a:lnSpc>
              <a:spcBef>
                <a:spcPts val="100"/>
              </a:spcBef>
            </a:pPr>
            <a:r>
              <a:rPr sz="1800" b="1" spc="-50" dirty="0">
                <a:latin typeface="Arial"/>
                <a:cs typeface="Arial"/>
              </a:rPr>
              <a:t>2</a:t>
            </a:r>
            <a:endParaRPr sz="1800">
              <a:latin typeface="Arial"/>
              <a:cs typeface="Arial"/>
            </a:endParaRPr>
          </a:p>
        </p:txBody>
      </p:sp>
      <p:sp>
        <p:nvSpPr>
          <p:cNvPr id="27" name="object 5">
            <a:extLst>
              <a:ext uri="{FF2B5EF4-FFF2-40B4-BE49-F238E27FC236}">
                <a16:creationId xmlns:a16="http://schemas.microsoft.com/office/drawing/2014/main" id="{B9BAECB1-1AA0-1590-1387-A89A8B6861AD}"/>
              </a:ext>
            </a:extLst>
          </p:cNvPr>
          <p:cNvSpPr txBox="1"/>
          <p:nvPr/>
        </p:nvSpPr>
        <p:spPr>
          <a:xfrm>
            <a:off x="5337428" y="4447794"/>
            <a:ext cx="153035" cy="299720"/>
          </a:xfrm>
          <a:prstGeom prst="rect">
            <a:avLst/>
          </a:prstGeom>
        </p:spPr>
        <p:txBody>
          <a:bodyPr vert="horz" wrap="square" lIns="0" tIns="12700" rIns="0" bIns="0" rtlCol="0">
            <a:spAutoFit/>
          </a:bodyPr>
          <a:lstStyle/>
          <a:p>
            <a:pPr marL="12700">
              <a:lnSpc>
                <a:spcPct val="100000"/>
              </a:lnSpc>
              <a:spcBef>
                <a:spcPts val="100"/>
              </a:spcBef>
            </a:pPr>
            <a:r>
              <a:rPr sz="1800" b="1" spc="-50" dirty="0">
                <a:latin typeface="Arial"/>
                <a:cs typeface="Arial"/>
              </a:rPr>
              <a:t>9</a:t>
            </a:r>
            <a:endParaRPr sz="1800">
              <a:latin typeface="Arial"/>
              <a:cs typeface="Arial"/>
            </a:endParaRPr>
          </a:p>
        </p:txBody>
      </p:sp>
      <p:sp>
        <p:nvSpPr>
          <p:cNvPr id="28" name="object 6">
            <a:extLst>
              <a:ext uri="{FF2B5EF4-FFF2-40B4-BE49-F238E27FC236}">
                <a16:creationId xmlns:a16="http://schemas.microsoft.com/office/drawing/2014/main" id="{1EC0AE19-E8B1-DA64-E21E-C023BA00AC37}"/>
              </a:ext>
            </a:extLst>
          </p:cNvPr>
          <p:cNvSpPr txBox="1"/>
          <p:nvPr/>
        </p:nvSpPr>
        <p:spPr>
          <a:xfrm>
            <a:off x="6785229" y="4828794"/>
            <a:ext cx="153035" cy="299720"/>
          </a:xfrm>
          <a:prstGeom prst="rect">
            <a:avLst/>
          </a:prstGeom>
        </p:spPr>
        <p:txBody>
          <a:bodyPr vert="horz" wrap="square" lIns="0" tIns="12700" rIns="0" bIns="0" rtlCol="0">
            <a:spAutoFit/>
          </a:bodyPr>
          <a:lstStyle/>
          <a:p>
            <a:pPr marL="12700">
              <a:lnSpc>
                <a:spcPct val="100000"/>
              </a:lnSpc>
              <a:spcBef>
                <a:spcPts val="100"/>
              </a:spcBef>
            </a:pPr>
            <a:r>
              <a:rPr sz="1800" b="1" spc="-50" dirty="0">
                <a:latin typeface="Arial"/>
                <a:cs typeface="Arial"/>
              </a:rPr>
              <a:t>6</a:t>
            </a:r>
            <a:endParaRPr sz="1800">
              <a:latin typeface="Arial"/>
              <a:cs typeface="Arial"/>
            </a:endParaRPr>
          </a:p>
        </p:txBody>
      </p:sp>
      <p:sp>
        <p:nvSpPr>
          <p:cNvPr id="29" name="object 7">
            <a:extLst>
              <a:ext uri="{FF2B5EF4-FFF2-40B4-BE49-F238E27FC236}">
                <a16:creationId xmlns:a16="http://schemas.microsoft.com/office/drawing/2014/main" id="{81594D50-71FD-3B93-94B0-33D51494804E}"/>
              </a:ext>
            </a:extLst>
          </p:cNvPr>
          <p:cNvSpPr txBox="1"/>
          <p:nvPr/>
        </p:nvSpPr>
        <p:spPr>
          <a:xfrm>
            <a:off x="6099428" y="4447794"/>
            <a:ext cx="153035" cy="299720"/>
          </a:xfrm>
          <a:prstGeom prst="rect">
            <a:avLst/>
          </a:prstGeom>
        </p:spPr>
        <p:txBody>
          <a:bodyPr vert="horz" wrap="square" lIns="0" tIns="12700" rIns="0" bIns="0" rtlCol="0">
            <a:spAutoFit/>
          </a:bodyPr>
          <a:lstStyle/>
          <a:p>
            <a:pPr marL="12700">
              <a:lnSpc>
                <a:spcPct val="100000"/>
              </a:lnSpc>
              <a:spcBef>
                <a:spcPts val="100"/>
              </a:spcBef>
            </a:pPr>
            <a:r>
              <a:rPr sz="1800" b="1" spc="-50" dirty="0">
                <a:latin typeface="Arial"/>
                <a:cs typeface="Arial"/>
              </a:rPr>
              <a:t>4</a:t>
            </a:r>
            <a:endParaRPr sz="1800">
              <a:latin typeface="Arial"/>
              <a:cs typeface="Arial"/>
            </a:endParaRPr>
          </a:p>
        </p:txBody>
      </p:sp>
      <p:sp>
        <p:nvSpPr>
          <p:cNvPr id="30" name="object 8">
            <a:extLst>
              <a:ext uri="{FF2B5EF4-FFF2-40B4-BE49-F238E27FC236}">
                <a16:creationId xmlns:a16="http://schemas.microsoft.com/office/drawing/2014/main" id="{89BCD27B-7B94-9110-0CF4-2232A1D3C470}"/>
              </a:ext>
            </a:extLst>
          </p:cNvPr>
          <p:cNvSpPr txBox="1"/>
          <p:nvPr/>
        </p:nvSpPr>
        <p:spPr>
          <a:xfrm>
            <a:off x="7928609" y="3304413"/>
            <a:ext cx="153035" cy="299720"/>
          </a:xfrm>
          <a:prstGeom prst="rect">
            <a:avLst/>
          </a:prstGeom>
        </p:spPr>
        <p:txBody>
          <a:bodyPr vert="horz" wrap="square" lIns="0" tIns="12700" rIns="0" bIns="0" rtlCol="0">
            <a:spAutoFit/>
          </a:bodyPr>
          <a:lstStyle/>
          <a:p>
            <a:pPr marL="12700">
              <a:lnSpc>
                <a:spcPct val="100000"/>
              </a:lnSpc>
              <a:spcBef>
                <a:spcPts val="100"/>
              </a:spcBef>
            </a:pPr>
            <a:r>
              <a:rPr sz="1800" b="1" spc="-50" dirty="0">
                <a:latin typeface="Arial"/>
                <a:cs typeface="Arial"/>
              </a:rPr>
              <a:t>4</a:t>
            </a:r>
            <a:endParaRPr sz="1800">
              <a:latin typeface="Arial"/>
              <a:cs typeface="Arial"/>
            </a:endParaRPr>
          </a:p>
        </p:txBody>
      </p:sp>
      <p:sp>
        <p:nvSpPr>
          <p:cNvPr id="31" name="object 9">
            <a:extLst>
              <a:ext uri="{FF2B5EF4-FFF2-40B4-BE49-F238E27FC236}">
                <a16:creationId xmlns:a16="http://schemas.microsoft.com/office/drawing/2014/main" id="{6D2E09E5-05AE-97D7-4CC9-588C6CF25469}"/>
              </a:ext>
            </a:extLst>
          </p:cNvPr>
          <p:cNvSpPr txBox="1"/>
          <p:nvPr/>
        </p:nvSpPr>
        <p:spPr>
          <a:xfrm>
            <a:off x="8385809" y="4447794"/>
            <a:ext cx="153035" cy="299720"/>
          </a:xfrm>
          <a:prstGeom prst="rect">
            <a:avLst/>
          </a:prstGeom>
        </p:spPr>
        <p:txBody>
          <a:bodyPr vert="horz" wrap="square" lIns="0" tIns="12700" rIns="0" bIns="0" rtlCol="0">
            <a:spAutoFit/>
          </a:bodyPr>
          <a:lstStyle/>
          <a:p>
            <a:pPr marL="12700">
              <a:lnSpc>
                <a:spcPct val="100000"/>
              </a:lnSpc>
              <a:spcBef>
                <a:spcPts val="100"/>
              </a:spcBef>
            </a:pPr>
            <a:r>
              <a:rPr sz="1800" b="1" spc="-50" dirty="0">
                <a:latin typeface="Arial"/>
                <a:cs typeface="Arial"/>
              </a:rPr>
              <a:t>2</a:t>
            </a:r>
            <a:endParaRPr sz="1800">
              <a:latin typeface="Arial"/>
              <a:cs typeface="Arial"/>
            </a:endParaRPr>
          </a:p>
        </p:txBody>
      </p:sp>
      <p:sp>
        <p:nvSpPr>
          <p:cNvPr id="32" name="object 10">
            <a:extLst>
              <a:ext uri="{FF2B5EF4-FFF2-40B4-BE49-F238E27FC236}">
                <a16:creationId xmlns:a16="http://schemas.microsoft.com/office/drawing/2014/main" id="{CA1C831E-0F1C-F91D-1824-D305ABDE2CD6}"/>
              </a:ext>
            </a:extLst>
          </p:cNvPr>
          <p:cNvSpPr txBox="1"/>
          <p:nvPr/>
        </p:nvSpPr>
        <p:spPr>
          <a:xfrm>
            <a:off x="7928609" y="4828794"/>
            <a:ext cx="153035" cy="299720"/>
          </a:xfrm>
          <a:prstGeom prst="rect">
            <a:avLst/>
          </a:prstGeom>
        </p:spPr>
        <p:txBody>
          <a:bodyPr vert="horz" wrap="square" lIns="0" tIns="12700" rIns="0" bIns="0" rtlCol="0">
            <a:spAutoFit/>
          </a:bodyPr>
          <a:lstStyle/>
          <a:p>
            <a:pPr marL="12700">
              <a:lnSpc>
                <a:spcPct val="100000"/>
              </a:lnSpc>
              <a:spcBef>
                <a:spcPts val="100"/>
              </a:spcBef>
            </a:pPr>
            <a:r>
              <a:rPr sz="1800" b="1" spc="-50" dirty="0">
                <a:latin typeface="Arial"/>
                <a:cs typeface="Arial"/>
              </a:rPr>
              <a:t>1</a:t>
            </a:r>
            <a:endParaRPr sz="1800">
              <a:latin typeface="Arial"/>
              <a:cs typeface="Arial"/>
            </a:endParaRPr>
          </a:p>
        </p:txBody>
      </p:sp>
      <p:sp>
        <p:nvSpPr>
          <p:cNvPr id="33" name="object 11">
            <a:extLst>
              <a:ext uri="{FF2B5EF4-FFF2-40B4-BE49-F238E27FC236}">
                <a16:creationId xmlns:a16="http://schemas.microsoft.com/office/drawing/2014/main" id="{448F456A-F522-47AE-4386-27BA28B6865A}"/>
              </a:ext>
            </a:extLst>
          </p:cNvPr>
          <p:cNvSpPr txBox="1"/>
          <p:nvPr/>
        </p:nvSpPr>
        <p:spPr>
          <a:xfrm>
            <a:off x="5185028" y="5591047"/>
            <a:ext cx="153035" cy="299720"/>
          </a:xfrm>
          <a:prstGeom prst="rect">
            <a:avLst/>
          </a:prstGeom>
        </p:spPr>
        <p:txBody>
          <a:bodyPr vert="horz" wrap="square" lIns="0" tIns="12700" rIns="0" bIns="0" rtlCol="0">
            <a:spAutoFit/>
          </a:bodyPr>
          <a:lstStyle/>
          <a:p>
            <a:pPr marL="12700">
              <a:lnSpc>
                <a:spcPct val="100000"/>
              </a:lnSpc>
              <a:spcBef>
                <a:spcPts val="100"/>
              </a:spcBef>
            </a:pPr>
            <a:r>
              <a:rPr sz="1800" b="1" spc="-50" dirty="0">
                <a:latin typeface="Arial"/>
                <a:cs typeface="Arial"/>
              </a:rPr>
              <a:t>7</a:t>
            </a:r>
            <a:endParaRPr sz="1800">
              <a:latin typeface="Arial"/>
              <a:cs typeface="Arial"/>
            </a:endParaRPr>
          </a:p>
        </p:txBody>
      </p:sp>
      <p:sp>
        <p:nvSpPr>
          <p:cNvPr id="34" name="object 12">
            <a:extLst>
              <a:ext uri="{FF2B5EF4-FFF2-40B4-BE49-F238E27FC236}">
                <a16:creationId xmlns:a16="http://schemas.microsoft.com/office/drawing/2014/main" id="{36743DBB-7A38-3DAC-3842-22797078A093}"/>
              </a:ext>
            </a:extLst>
          </p:cNvPr>
          <p:cNvSpPr txBox="1"/>
          <p:nvPr/>
        </p:nvSpPr>
        <p:spPr>
          <a:xfrm>
            <a:off x="993444" y="2310486"/>
            <a:ext cx="5665470" cy="709930"/>
          </a:xfrm>
          <a:prstGeom prst="rect">
            <a:avLst/>
          </a:prstGeom>
        </p:spPr>
        <p:txBody>
          <a:bodyPr vert="horz" wrap="square" lIns="0" tIns="67945" rIns="0" bIns="0" rtlCol="0">
            <a:spAutoFit/>
          </a:bodyPr>
          <a:lstStyle/>
          <a:p>
            <a:pPr marL="12700">
              <a:lnSpc>
                <a:spcPct val="100000"/>
              </a:lnSpc>
              <a:spcBef>
                <a:spcPts val="535"/>
              </a:spcBef>
            </a:pPr>
            <a:r>
              <a:rPr sz="2000" b="1" dirty="0">
                <a:solidFill>
                  <a:srgbClr val="CC3300"/>
                </a:solidFill>
                <a:latin typeface="Courier New"/>
                <a:cs typeface="Courier New"/>
              </a:rPr>
              <a:t>generalSearch(problem,</a:t>
            </a:r>
            <a:r>
              <a:rPr sz="2000" b="1" spc="-120" dirty="0">
                <a:solidFill>
                  <a:srgbClr val="CC3300"/>
                </a:solidFill>
                <a:latin typeface="Courier New"/>
                <a:cs typeface="Courier New"/>
              </a:rPr>
              <a:t> </a:t>
            </a:r>
            <a:r>
              <a:rPr sz="2000" b="1" spc="-10" dirty="0">
                <a:solidFill>
                  <a:srgbClr val="FF5050"/>
                </a:solidFill>
                <a:latin typeface="Courier New"/>
                <a:cs typeface="Courier New"/>
              </a:rPr>
              <a:t>priorityQueue</a:t>
            </a:r>
            <a:r>
              <a:rPr sz="2000" b="1" spc="-10" dirty="0">
                <a:solidFill>
                  <a:srgbClr val="CC3300"/>
                </a:solidFill>
                <a:latin typeface="Courier New"/>
                <a:cs typeface="Courier New"/>
              </a:rPr>
              <a:t>)</a:t>
            </a:r>
            <a:endParaRPr sz="2000">
              <a:latin typeface="Courier New"/>
              <a:cs typeface="Courier New"/>
            </a:endParaRPr>
          </a:p>
          <a:p>
            <a:pPr marL="12700">
              <a:lnSpc>
                <a:spcPct val="100000"/>
              </a:lnSpc>
              <a:spcBef>
                <a:spcPts val="390"/>
              </a:spcBef>
            </a:pPr>
            <a:r>
              <a:rPr sz="1800" dirty="0">
                <a:solidFill>
                  <a:srgbClr val="1F487C"/>
                </a:solidFill>
                <a:latin typeface="Arial MT"/>
                <a:cs typeface="Arial MT"/>
              </a:rPr>
              <a:t>#</a:t>
            </a:r>
            <a:r>
              <a:rPr sz="1800" spc="-25" dirty="0">
                <a:solidFill>
                  <a:srgbClr val="1F487C"/>
                </a:solidFill>
                <a:latin typeface="Arial MT"/>
                <a:cs typeface="Arial MT"/>
              </a:rPr>
              <a:t> </a:t>
            </a:r>
            <a:r>
              <a:rPr sz="1800" dirty="0">
                <a:solidFill>
                  <a:srgbClr val="1F487C"/>
                </a:solidFill>
                <a:latin typeface="Arial MT"/>
                <a:cs typeface="Arial MT"/>
              </a:rPr>
              <a:t>of</a:t>
            </a:r>
            <a:r>
              <a:rPr sz="1800" spc="-20" dirty="0">
                <a:solidFill>
                  <a:srgbClr val="1F487C"/>
                </a:solidFill>
                <a:latin typeface="Arial MT"/>
                <a:cs typeface="Arial MT"/>
              </a:rPr>
              <a:t> </a:t>
            </a:r>
            <a:r>
              <a:rPr sz="1800" dirty="0">
                <a:solidFill>
                  <a:srgbClr val="1F487C"/>
                </a:solidFill>
                <a:latin typeface="Arial MT"/>
                <a:cs typeface="Arial MT"/>
              </a:rPr>
              <a:t>nodes</a:t>
            </a:r>
            <a:r>
              <a:rPr sz="1800" spc="-15" dirty="0">
                <a:solidFill>
                  <a:srgbClr val="1F487C"/>
                </a:solidFill>
                <a:latin typeface="Arial MT"/>
                <a:cs typeface="Arial MT"/>
              </a:rPr>
              <a:t> </a:t>
            </a:r>
            <a:r>
              <a:rPr sz="1800" dirty="0">
                <a:solidFill>
                  <a:srgbClr val="1F487C"/>
                </a:solidFill>
                <a:latin typeface="Arial MT"/>
                <a:cs typeface="Arial MT"/>
              </a:rPr>
              <a:t>tested:</a:t>
            </a:r>
            <a:r>
              <a:rPr sz="1800" spc="-25" dirty="0">
                <a:solidFill>
                  <a:srgbClr val="1F487C"/>
                </a:solidFill>
                <a:latin typeface="Arial MT"/>
                <a:cs typeface="Arial MT"/>
              </a:rPr>
              <a:t> </a:t>
            </a:r>
            <a:r>
              <a:rPr sz="1800" dirty="0">
                <a:latin typeface="Arial MT"/>
                <a:cs typeface="Arial MT"/>
              </a:rPr>
              <a:t>1</a:t>
            </a:r>
            <a:r>
              <a:rPr sz="1800" dirty="0">
                <a:solidFill>
                  <a:srgbClr val="1F487C"/>
                </a:solidFill>
                <a:latin typeface="Arial MT"/>
                <a:cs typeface="Arial MT"/>
              </a:rPr>
              <a:t>,</a:t>
            </a:r>
            <a:r>
              <a:rPr sz="1800" spc="-15" dirty="0">
                <a:solidFill>
                  <a:srgbClr val="1F487C"/>
                </a:solidFill>
                <a:latin typeface="Arial MT"/>
                <a:cs typeface="Arial MT"/>
              </a:rPr>
              <a:t> </a:t>
            </a:r>
            <a:r>
              <a:rPr sz="1800" dirty="0">
                <a:solidFill>
                  <a:srgbClr val="1F487C"/>
                </a:solidFill>
                <a:latin typeface="Arial MT"/>
                <a:cs typeface="Arial MT"/>
              </a:rPr>
              <a:t>expanded:</a:t>
            </a:r>
            <a:r>
              <a:rPr sz="1800" spc="15" dirty="0">
                <a:solidFill>
                  <a:srgbClr val="1F487C"/>
                </a:solidFill>
                <a:latin typeface="Arial MT"/>
                <a:cs typeface="Arial MT"/>
              </a:rPr>
              <a:t> </a:t>
            </a:r>
            <a:r>
              <a:rPr sz="1800" spc="-50" dirty="0">
                <a:latin typeface="Arial MT"/>
                <a:cs typeface="Arial MT"/>
              </a:rPr>
              <a:t>1</a:t>
            </a:r>
            <a:endParaRPr sz="1800">
              <a:latin typeface="Arial MT"/>
              <a:cs typeface="Arial MT"/>
            </a:endParaRPr>
          </a:p>
        </p:txBody>
      </p:sp>
      <p:graphicFrame>
        <p:nvGraphicFramePr>
          <p:cNvPr id="35" name="object 13">
            <a:extLst>
              <a:ext uri="{FF2B5EF4-FFF2-40B4-BE49-F238E27FC236}">
                <a16:creationId xmlns:a16="http://schemas.microsoft.com/office/drawing/2014/main" id="{284486AF-D526-0B91-2693-54D5AE87D3E6}"/>
              </a:ext>
            </a:extLst>
          </p:cNvPr>
          <p:cNvGraphicFramePr>
            <a:graphicFrameLocks noGrp="1"/>
          </p:cNvGraphicFramePr>
          <p:nvPr/>
        </p:nvGraphicFramePr>
        <p:xfrm>
          <a:off x="990600" y="3105150"/>
          <a:ext cx="3505835" cy="1179195"/>
        </p:xfrm>
        <a:graphic>
          <a:graphicData uri="http://schemas.openxmlformats.org/drawingml/2006/table">
            <a:tbl>
              <a:tblPr firstRow="1" bandRow="1">
                <a:tableStyleId>{2D5ABB26-0587-4C30-8999-92F81FD0307C}</a:tableStyleId>
              </a:tblPr>
              <a:tblGrid>
                <a:gridCol w="1471930">
                  <a:extLst>
                    <a:ext uri="{9D8B030D-6E8A-4147-A177-3AD203B41FA5}">
                      <a16:colId xmlns:a16="http://schemas.microsoft.com/office/drawing/2014/main" val="20000"/>
                    </a:ext>
                  </a:extLst>
                </a:gridCol>
                <a:gridCol w="2033905">
                  <a:extLst>
                    <a:ext uri="{9D8B030D-6E8A-4147-A177-3AD203B41FA5}">
                      <a16:colId xmlns:a16="http://schemas.microsoft.com/office/drawing/2014/main" val="20001"/>
                    </a:ext>
                  </a:extLst>
                </a:gridCol>
              </a:tblGrid>
              <a:tr h="575945">
                <a:tc>
                  <a:txBody>
                    <a:bodyPr/>
                    <a:lstStyle/>
                    <a:p>
                      <a:pPr marL="91440" marR="610870">
                        <a:lnSpc>
                          <a:spcPct val="100000"/>
                        </a:lnSpc>
                        <a:spcBef>
                          <a:spcPts val="30"/>
                        </a:spcBef>
                      </a:pPr>
                      <a:r>
                        <a:rPr sz="1800" b="1" spc="-10" dirty="0">
                          <a:solidFill>
                            <a:srgbClr val="111111"/>
                          </a:solidFill>
                          <a:latin typeface="Arial"/>
                          <a:cs typeface="Arial"/>
                        </a:rPr>
                        <a:t>Closed </a:t>
                      </a:r>
                      <a:r>
                        <a:rPr sz="1800" b="1" spc="-20" dirty="0">
                          <a:solidFill>
                            <a:srgbClr val="111111"/>
                          </a:solidFill>
                          <a:latin typeface="Arial"/>
                          <a:cs typeface="Arial"/>
                        </a:rPr>
                        <a:t>Node</a:t>
                      </a:r>
                      <a:endParaRPr sz="1800">
                        <a:latin typeface="Arial"/>
                        <a:cs typeface="Arial"/>
                      </a:endParaRPr>
                    </a:p>
                  </a:txBody>
                  <a:tcPr marL="0" marR="0" marT="3810" marB="0">
                    <a:lnR w="12700">
                      <a:solidFill>
                        <a:srgbClr val="000000"/>
                      </a:solidFill>
                      <a:prstDash val="solid"/>
                    </a:lnR>
                    <a:lnT w="38100">
                      <a:solidFill>
                        <a:srgbClr val="000000"/>
                      </a:solidFill>
                      <a:prstDash val="solid"/>
                    </a:lnT>
                    <a:lnB w="12700">
                      <a:solidFill>
                        <a:srgbClr val="000000"/>
                      </a:solidFill>
                      <a:prstDash val="solid"/>
                    </a:lnB>
                  </a:tcPr>
                </a:tc>
                <a:tc>
                  <a:txBody>
                    <a:bodyPr/>
                    <a:lstStyle/>
                    <a:p>
                      <a:pPr marL="91440">
                        <a:lnSpc>
                          <a:spcPct val="100000"/>
                        </a:lnSpc>
                        <a:spcBef>
                          <a:spcPts val="30"/>
                        </a:spcBef>
                      </a:pPr>
                      <a:r>
                        <a:rPr sz="1800" b="1" dirty="0">
                          <a:solidFill>
                            <a:srgbClr val="111111"/>
                          </a:solidFill>
                          <a:latin typeface="Arial"/>
                          <a:cs typeface="Arial"/>
                        </a:rPr>
                        <a:t>Open</a:t>
                      </a:r>
                      <a:r>
                        <a:rPr sz="1800" b="1" spc="-10" dirty="0">
                          <a:solidFill>
                            <a:srgbClr val="111111"/>
                          </a:solidFill>
                          <a:latin typeface="Arial"/>
                          <a:cs typeface="Arial"/>
                        </a:rPr>
                        <a:t> </a:t>
                      </a:r>
                      <a:r>
                        <a:rPr sz="1800" b="1" spc="-20" dirty="0">
                          <a:solidFill>
                            <a:srgbClr val="111111"/>
                          </a:solidFill>
                          <a:latin typeface="Arial"/>
                          <a:cs typeface="Arial"/>
                        </a:rPr>
                        <a:t>Node</a:t>
                      </a:r>
                      <a:endParaRPr sz="1800">
                        <a:latin typeface="Arial"/>
                        <a:cs typeface="Arial"/>
                      </a:endParaRPr>
                    </a:p>
                  </a:txBody>
                  <a:tcPr marL="0" marR="0" marT="3810" marB="0">
                    <a:lnL w="12700">
                      <a:solidFill>
                        <a:srgbClr val="000000"/>
                      </a:solidFill>
                      <a:prstDash val="solid"/>
                    </a:lnL>
                    <a:lnT w="381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301625">
                <a:tc>
                  <a:txBody>
                    <a:bodyPr/>
                    <a:lstStyle/>
                    <a:p>
                      <a:pPr>
                        <a:lnSpc>
                          <a:spcPct val="100000"/>
                        </a:lnSpc>
                      </a:pPr>
                      <a:endParaRPr sz="1800">
                        <a:latin typeface="Times New Roman"/>
                        <a:cs typeface="Times New Roman"/>
                      </a:endParaRPr>
                    </a:p>
                  </a:txBody>
                  <a:tcPr marL="0" marR="0" marT="0" marB="0">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30"/>
                        </a:spcBef>
                      </a:pPr>
                      <a:r>
                        <a:rPr sz="1800" spc="-10" dirty="0">
                          <a:solidFill>
                            <a:srgbClr val="111111"/>
                          </a:solidFill>
                          <a:latin typeface="Arial MT"/>
                          <a:cs typeface="Arial MT"/>
                        </a:rPr>
                        <a:t>{S:0}</a:t>
                      </a:r>
                      <a:endParaRPr sz="1800">
                        <a:latin typeface="Arial MT"/>
                        <a:cs typeface="Arial MT"/>
                      </a:endParaRPr>
                    </a:p>
                  </a:txBody>
                  <a:tcPr marL="0" marR="0" marT="3810" marB="0">
                    <a:lnL w="12700">
                      <a:solidFill>
                        <a:srgbClr val="000000"/>
                      </a:solidFill>
                      <a:prstDash val="solid"/>
                    </a:lnL>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301625">
                <a:tc>
                  <a:txBody>
                    <a:bodyPr/>
                    <a:lstStyle/>
                    <a:p>
                      <a:pPr marL="91440">
                        <a:lnSpc>
                          <a:spcPct val="100000"/>
                        </a:lnSpc>
                        <a:spcBef>
                          <a:spcPts val="30"/>
                        </a:spcBef>
                      </a:pPr>
                      <a:r>
                        <a:rPr sz="1800" dirty="0">
                          <a:solidFill>
                            <a:srgbClr val="111111"/>
                          </a:solidFill>
                          <a:latin typeface="Arial MT"/>
                          <a:cs typeface="Arial MT"/>
                        </a:rPr>
                        <a:t>S</a:t>
                      </a:r>
                      <a:r>
                        <a:rPr sz="1800" spc="-10" dirty="0">
                          <a:solidFill>
                            <a:srgbClr val="111111"/>
                          </a:solidFill>
                          <a:latin typeface="Arial MT"/>
                          <a:cs typeface="Arial MT"/>
                        </a:rPr>
                        <a:t> </a:t>
                      </a:r>
                      <a:r>
                        <a:rPr sz="1800" dirty="0">
                          <a:solidFill>
                            <a:srgbClr val="FF7B80"/>
                          </a:solidFill>
                          <a:latin typeface="Arial MT"/>
                          <a:cs typeface="Arial MT"/>
                        </a:rPr>
                        <a:t>not </a:t>
                      </a:r>
                      <a:r>
                        <a:rPr sz="1800" spc="-20" dirty="0">
                          <a:solidFill>
                            <a:srgbClr val="FF7B80"/>
                          </a:solidFill>
                          <a:latin typeface="Arial MT"/>
                          <a:cs typeface="Arial MT"/>
                        </a:rPr>
                        <a:t>goal</a:t>
                      </a:r>
                      <a:endParaRPr sz="1800">
                        <a:latin typeface="Arial MT"/>
                        <a:cs typeface="Arial MT"/>
                      </a:endParaRPr>
                    </a:p>
                  </a:txBody>
                  <a:tcPr marL="0" marR="0" marT="3810" marB="0">
                    <a:lnR w="12700">
                      <a:solidFill>
                        <a:srgbClr val="000000"/>
                      </a:solidFill>
                      <a:prstDash val="solid"/>
                    </a:lnR>
                    <a:lnT w="12700">
                      <a:solidFill>
                        <a:srgbClr val="000000"/>
                      </a:solidFill>
                      <a:prstDash val="solid"/>
                    </a:lnT>
                    <a:lnB w="38100">
                      <a:solidFill>
                        <a:srgbClr val="000000"/>
                      </a:solidFill>
                      <a:prstDash val="solid"/>
                    </a:lnB>
                  </a:tcPr>
                </a:tc>
                <a:tc>
                  <a:txBody>
                    <a:bodyPr/>
                    <a:lstStyle/>
                    <a:p>
                      <a:pPr marL="91440">
                        <a:lnSpc>
                          <a:spcPct val="100000"/>
                        </a:lnSpc>
                        <a:spcBef>
                          <a:spcPts val="30"/>
                        </a:spcBef>
                      </a:pPr>
                      <a:r>
                        <a:rPr sz="1800" spc="-10" dirty="0">
                          <a:solidFill>
                            <a:srgbClr val="111111"/>
                          </a:solidFill>
                          <a:latin typeface="Arial MT"/>
                          <a:cs typeface="Arial MT"/>
                        </a:rPr>
                        <a:t>{</a:t>
                      </a:r>
                      <a:r>
                        <a:rPr sz="1800" spc="-10" dirty="0">
                          <a:solidFill>
                            <a:srgbClr val="C0504D"/>
                          </a:solidFill>
                          <a:latin typeface="Arial MT"/>
                          <a:cs typeface="Arial MT"/>
                        </a:rPr>
                        <a:t>B:2,C:4,A:5</a:t>
                      </a:r>
                      <a:r>
                        <a:rPr sz="1800" spc="-10" dirty="0">
                          <a:solidFill>
                            <a:srgbClr val="111111"/>
                          </a:solidFill>
                          <a:latin typeface="Arial MT"/>
                          <a:cs typeface="Arial MT"/>
                        </a:rPr>
                        <a:t>}</a:t>
                      </a:r>
                      <a:endParaRPr sz="1800">
                        <a:latin typeface="Arial MT"/>
                        <a:cs typeface="Arial MT"/>
                      </a:endParaRPr>
                    </a:p>
                  </a:txBody>
                  <a:tcPr marL="0" marR="0" marT="3810" marB="0">
                    <a:lnL w="12700">
                      <a:solidFill>
                        <a:srgbClr val="000000"/>
                      </a:solidFill>
                      <a:prstDash val="solid"/>
                    </a:lnL>
                    <a:lnT w="12700">
                      <a:solidFill>
                        <a:srgbClr val="000000"/>
                      </a:solidFill>
                      <a:prstDash val="solid"/>
                    </a:lnT>
                    <a:lnB w="38100">
                      <a:solidFill>
                        <a:srgbClr val="000000"/>
                      </a:solidFill>
                      <a:prstDash val="solid"/>
                    </a:lnB>
                  </a:tcPr>
                </a:tc>
                <a:extLst>
                  <a:ext uri="{0D108BD9-81ED-4DB2-BD59-A6C34878D82A}">
                    <a16:rowId xmlns:a16="http://schemas.microsoft.com/office/drawing/2014/main" val="10002"/>
                  </a:ext>
                </a:extLst>
              </a:tr>
            </a:tbl>
          </a:graphicData>
        </a:graphic>
      </p:graphicFrame>
      <p:pic>
        <p:nvPicPr>
          <p:cNvPr id="36" name="object 14">
            <a:extLst>
              <a:ext uri="{FF2B5EF4-FFF2-40B4-BE49-F238E27FC236}">
                <a16:creationId xmlns:a16="http://schemas.microsoft.com/office/drawing/2014/main" id="{C11C512B-F168-F2F4-ACDA-44A6B555A92B}"/>
              </a:ext>
            </a:extLst>
          </p:cNvPr>
          <p:cNvPicPr/>
          <p:nvPr/>
        </p:nvPicPr>
        <p:blipFill>
          <a:blip r:embed="rId2" cstate="print"/>
          <a:stretch>
            <a:fillRect/>
          </a:stretch>
        </p:blipFill>
        <p:spPr>
          <a:xfrm>
            <a:off x="5017261" y="2502661"/>
            <a:ext cx="3911599" cy="4140200"/>
          </a:xfrm>
          <a:prstGeom prst="rect">
            <a:avLst/>
          </a:prstGeom>
        </p:spPr>
      </p:pic>
      <p:sp>
        <p:nvSpPr>
          <p:cNvPr id="37" name="object 15">
            <a:extLst>
              <a:ext uri="{FF2B5EF4-FFF2-40B4-BE49-F238E27FC236}">
                <a16:creationId xmlns:a16="http://schemas.microsoft.com/office/drawing/2014/main" id="{76865A66-E3A3-9705-0870-65341ECE29F6}"/>
              </a:ext>
            </a:extLst>
          </p:cNvPr>
          <p:cNvSpPr txBox="1"/>
          <p:nvPr/>
        </p:nvSpPr>
        <p:spPr>
          <a:xfrm>
            <a:off x="7195566" y="2545842"/>
            <a:ext cx="470534" cy="535940"/>
          </a:xfrm>
          <a:prstGeom prst="rect">
            <a:avLst/>
          </a:prstGeom>
        </p:spPr>
        <p:txBody>
          <a:bodyPr vert="horz" wrap="square" lIns="0" tIns="13335" rIns="0" bIns="0" rtlCol="0">
            <a:spAutoFit/>
          </a:bodyPr>
          <a:lstStyle/>
          <a:p>
            <a:pPr algn="ctr">
              <a:lnSpc>
                <a:spcPts val="2130"/>
              </a:lnSpc>
              <a:spcBef>
                <a:spcPts val="105"/>
              </a:spcBef>
            </a:pPr>
            <a:r>
              <a:rPr sz="2000" b="1" spc="-50" dirty="0">
                <a:latin typeface="Arial"/>
                <a:cs typeface="Arial"/>
              </a:rPr>
              <a:t>S</a:t>
            </a:r>
            <a:endParaRPr sz="2000">
              <a:latin typeface="Arial"/>
              <a:cs typeface="Arial"/>
            </a:endParaRPr>
          </a:p>
          <a:p>
            <a:pPr algn="ctr">
              <a:lnSpc>
                <a:spcPts val="1889"/>
              </a:lnSpc>
            </a:pPr>
            <a:r>
              <a:rPr sz="1800" spc="-10" dirty="0">
                <a:solidFill>
                  <a:srgbClr val="FFFFFF"/>
                </a:solidFill>
                <a:latin typeface="Arial MT"/>
                <a:cs typeface="Arial MT"/>
              </a:rPr>
              <a:t>start</a:t>
            </a:r>
            <a:endParaRPr sz="1800">
              <a:latin typeface="Arial MT"/>
              <a:cs typeface="Arial MT"/>
            </a:endParaRPr>
          </a:p>
        </p:txBody>
      </p:sp>
      <p:sp>
        <p:nvSpPr>
          <p:cNvPr id="38" name="object 23">
            <a:extLst>
              <a:ext uri="{FF2B5EF4-FFF2-40B4-BE49-F238E27FC236}">
                <a16:creationId xmlns:a16="http://schemas.microsoft.com/office/drawing/2014/main" id="{EFA508D9-6FF5-57F3-BDCD-C95CB2CF1426}"/>
              </a:ext>
            </a:extLst>
          </p:cNvPr>
          <p:cNvSpPr txBox="1"/>
          <p:nvPr/>
        </p:nvSpPr>
        <p:spPr>
          <a:xfrm>
            <a:off x="5267325" y="6139412"/>
            <a:ext cx="209550" cy="309880"/>
          </a:xfrm>
          <a:prstGeom prst="rect">
            <a:avLst/>
          </a:prstGeom>
        </p:spPr>
        <p:txBody>
          <a:bodyPr vert="horz" wrap="square" lIns="0" tIns="0" rIns="0" bIns="0" rtlCol="0">
            <a:spAutoFit/>
          </a:bodyPr>
          <a:lstStyle/>
          <a:p>
            <a:pPr marL="12700">
              <a:lnSpc>
                <a:spcPts val="2315"/>
              </a:lnSpc>
            </a:pPr>
            <a:r>
              <a:rPr sz="2000" b="1" spc="-50" dirty="0">
                <a:latin typeface="Arial"/>
                <a:cs typeface="Arial"/>
              </a:rPr>
              <a:t>H</a:t>
            </a:r>
            <a:endParaRPr sz="2000">
              <a:latin typeface="Arial"/>
              <a:cs typeface="Arial"/>
            </a:endParaRPr>
          </a:p>
        </p:txBody>
      </p:sp>
      <p:sp>
        <p:nvSpPr>
          <p:cNvPr id="39" name="object 16">
            <a:extLst>
              <a:ext uri="{FF2B5EF4-FFF2-40B4-BE49-F238E27FC236}">
                <a16:creationId xmlns:a16="http://schemas.microsoft.com/office/drawing/2014/main" id="{1453D115-1A41-B390-F88B-C7D37E00D2EC}"/>
              </a:ext>
            </a:extLst>
          </p:cNvPr>
          <p:cNvSpPr txBox="1"/>
          <p:nvPr/>
        </p:nvSpPr>
        <p:spPr>
          <a:xfrm>
            <a:off x="6181725" y="3828363"/>
            <a:ext cx="209550" cy="331470"/>
          </a:xfrm>
          <a:prstGeom prst="rect">
            <a:avLst/>
          </a:prstGeom>
        </p:spPr>
        <p:txBody>
          <a:bodyPr vert="horz" wrap="square" lIns="0" tIns="13335" rIns="0" bIns="0" rtlCol="0">
            <a:spAutoFit/>
          </a:bodyPr>
          <a:lstStyle/>
          <a:p>
            <a:pPr marL="12700">
              <a:lnSpc>
                <a:spcPct val="100000"/>
              </a:lnSpc>
              <a:spcBef>
                <a:spcPts val="105"/>
              </a:spcBef>
            </a:pPr>
            <a:r>
              <a:rPr sz="2000" b="1" spc="-50" dirty="0">
                <a:latin typeface="Arial"/>
                <a:cs typeface="Arial"/>
              </a:rPr>
              <a:t>A</a:t>
            </a:r>
            <a:endParaRPr sz="2000">
              <a:latin typeface="Arial"/>
              <a:cs typeface="Arial"/>
            </a:endParaRPr>
          </a:p>
        </p:txBody>
      </p:sp>
      <p:sp>
        <p:nvSpPr>
          <p:cNvPr id="40" name="object 17">
            <a:extLst>
              <a:ext uri="{FF2B5EF4-FFF2-40B4-BE49-F238E27FC236}">
                <a16:creationId xmlns:a16="http://schemas.microsoft.com/office/drawing/2014/main" id="{99B7C154-A3C8-681C-E609-1C480F297FBE}"/>
              </a:ext>
            </a:extLst>
          </p:cNvPr>
          <p:cNvSpPr txBox="1"/>
          <p:nvPr/>
        </p:nvSpPr>
        <p:spPr>
          <a:xfrm>
            <a:off x="6189726" y="4972050"/>
            <a:ext cx="195580" cy="330835"/>
          </a:xfrm>
          <a:prstGeom prst="rect">
            <a:avLst/>
          </a:prstGeom>
        </p:spPr>
        <p:txBody>
          <a:bodyPr vert="horz" wrap="square" lIns="0" tIns="12700" rIns="0" bIns="0" rtlCol="0">
            <a:spAutoFit/>
          </a:bodyPr>
          <a:lstStyle/>
          <a:p>
            <a:pPr marL="12700">
              <a:lnSpc>
                <a:spcPct val="100000"/>
              </a:lnSpc>
              <a:spcBef>
                <a:spcPts val="100"/>
              </a:spcBef>
            </a:pPr>
            <a:r>
              <a:rPr sz="2000" b="1" spc="-50" dirty="0">
                <a:latin typeface="Arial"/>
                <a:cs typeface="Arial"/>
              </a:rPr>
              <a:t>E</a:t>
            </a:r>
            <a:endParaRPr sz="2000">
              <a:latin typeface="Arial"/>
              <a:cs typeface="Arial"/>
            </a:endParaRPr>
          </a:p>
        </p:txBody>
      </p:sp>
      <p:sp>
        <p:nvSpPr>
          <p:cNvPr id="41" name="object 18">
            <a:extLst>
              <a:ext uri="{FF2B5EF4-FFF2-40B4-BE49-F238E27FC236}">
                <a16:creationId xmlns:a16="http://schemas.microsoft.com/office/drawing/2014/main" id="{A668979C-C6C8-1982-9DBD-A8F04A4127EA}"/>
              </a:ext>
            </a:extLst>
          </p:cNvPr>
          <p:cNvSpPr txBox="1"/>
          <p:nvPr/>
        </p:nvSpPr>
        <p:spPr>
          <a:xfrm>
            <a:off x="5267325" y="4972050"/>
            <a:ext cx="209550" cy="330835"/>
          </a:xfrm>
          <a:prstGeom prst="rect">
            <a:avLst/>
          </a:prstGeom>
        </p:spPr>
        <p:txBody>
          <a:bodyPr vert="horz" wrap="square" lIns="0" tIns="12700" rIns="0" bIns="0" rtlCol="0">
            <a:spAutoFit/>
          </a:bodyPr>
          <a:lstStyle/>
          <a:p>
            <a:pPr marL="12700">
              <a:lnSpc>
                <a:spcPct val="100000"/>
              </a:lnSpc>
              <a:spcBef>
                <a:spcPts val="100"/>
              </a:spcBef>
            </a:pPr>
            <a:r>
              <a:rPr sz="2000" b="1" spc="-50" dirty="0">
                <a:latin typeface="Arial"/>
                <a:cs typeface="Arial"/>
              </a:rPr>
              <a:t>D</a:t>
            </a:r>
            <a:endParaRPr sz="2000">
              <a:latin typeface="Arial"/>
              <a:cs typeface="Arial"/>
            </a:endParaRPr>
          </a:p>
        </p:txBody>
      </p:sp>
      <p:sp>
        <p:nvSpPr>
          <p:cNvPr id="42" name="object 19">
            <a:extLst>
              <a:ext uri="{FF2B5EF4-FFF2-40B4-BE49-F238E27FC236}">
                <a16:creationId xmlns:a16="http://schemas.microsoft.com/office/drawing/2014/main" id="{8D063F80-C663-A230-1650-221057F74AA7}"/>
              </a:ext>
            </a:extLst>
          </p:cNvPr>
          <p:cNvSpPr txBox="1"/>
          <p:nvPr/>
        </p:nvSpPr>
        <p:spPr>
          <a:xfrm>
            <a:off x="8483600" y="4972050"/>
            <a:ext cx="180975" cy="330835"/>
          </a:xfrm>
          <a:prstGeom prst="rect">
            <a:avLst/>
          </a:prstGeom>
        </p:spPr>
        <p:txBody>
          <a:bodyPr vert="horz" wrap="square" lIns="0" tIns="12700" rIns="0" bIns="0" rtlCol="0">
            <a:spAutoFit/>
          </a:bodyPr>
          <a:lstStyle/>
          <a:p>
            <a:pPr marL="12700">
              <a:lnSpc>
                <a:spcPct val="100000"/>
              </a:lnSpc>
              <a:spcBef>
                <a:spcPts val="100"/>
              </a:spcBef>
            </a:pPr>
            <a:r>
              <a:rPr sz="2000" b="1" spc="-50" dirty="0">
                <a:latin typeface="Arial"/>
                <a:cs typeface="Arial"/>
              </a:rPr>
              <a:t>F</a:t>
            </a:r>
            <a:endParaRPr sz="2000">
              <a:latin typeface="Arial"/>
              <a:cs typeface="Arial"/>
            </a:endParaRPr>
          </a:p>
        </p:txBody>
      </p:sp>
      <p:sp>
        <p:nvSpPr>
          <p:cNvPr id="43" name="object 20">
            <a:extLst>
              <a:ext uri="{FF2B5EF4-FFF2-40B4-BE49-F238E27FC236}">
                <a16:creationId xmlns:a16="http://schemas.microsoft.com/office/drawing/2014/main" id="{016EAB78-4847-A376-D352-44DD5250CEE1}"/>
              </a:ext>
            </a:extLst>
          </p:cNvPr>
          <p:cNvSpPr txBox="1"/>
          <p:nvPr/>
        </p:nvSpPr>
        <p:spPr>
          <a:xfrm>
            <a:off x="7325106" y="3828363"/>
            <a:ext cx="209550" cy="331470"/>
          </a:xfrm>
          <a:prstGeom prst="rect">
            <a:avLst/>
          </a:prstGeom>
        </p:spPr>
        <p:txBody>
          <a:bodyPr vert="horz" wrap="square" lIns="0" tIns="13335" rIns="0" bIns="0" rtlCol="0">
            <a:spAutoFit/>
          </a:bodyPr>
          <a:lstStyle/>
          <a:p>
            <a:pPr marL="12700">
              <a:lnSpc>
                <a:spcPct val="100000"/>
              </a:lnSpc>
              <a:spcBef>
                <a:spcPts val="105"/>
              </a:spcBef>
            </a:pPr>
            <a:r>
              <a:rPr sz="2000" b="1" spc="-50" dirty="0">
                <a:latin typeface="Arial"/>
                <a:cs typeface="Arial"/>
              </a:rPr>
              <a:t>B</a:t>
            </a:r>
            <a:endParaRPr sz="2000">
              <a:latin typeface="Arial"/>
              <a:cs typeface="Arial"/>
            </a:endParaRPr>
          </a:p>
        </p:txBody>
      </p:sp>
      <p:sp>
        <p:nvSpPr>
          <p:cNvPr id="44" name="object 21">
            <a:extLst>
              <a:ext uri="{FF2B5EF4-FFF2-40B4-BE49-F238E27FC236}">
                <a16:creationId xmlns:a16="http://schemas.microsoft.com/office/drawing/2014/main" id="{987BF208-6D8E-A77C-37D7-4BA8CD9615E9}"/>
              </a:ext>
            </a:extLst>
          </p:cNvPr>
          <p:cNvSpPr txBox="1"/>
          <p:nvPr/>
        </p:nvSpPr>
        <p:spPr>
          <a:xfrm>
            <a:off x="7203185" y="4355624"/>
            <a:ext cx="455295" cy="997585"/>
          </a:xfrm>
          <a:prstGeom prst="rect">
            <a:avLst/>
          </a:prstGeom>
        </p:spPr>
        <p:txBody>
          <a:bodyPr vert="horz" wrap="square" lIns="0" tIns="104775" rIns="0" bIns="0" rtlCol="0">
            <a:spAutoFit/>
          </a:bodyPr>
          <a:lstStyle/>
          <a:p>
            <a:pPr marL="52069">
              <a:lnSpc>
                <a:spcPct val="100000"/>
              </a:lnSpc>
              <a:spcBef>
                <a:spcPts val="825"/>
              </a:spcBef>
            </a:pPr>
            <a:r>
              <a:rPr sz="1800" b="1" spc="-50" dirty="0">
                <a:latin typeface="Arial"/>
                <a:cs typeface="Arial"/>
              </a:rPr>
              <a:t>6</a:t>
            </a:r>
            <a:endParaRPr sz="1800">
              <a:latin typeface="Arial"/>
              <a:cs typeface="Arial"/>
            </a:endParaRPr>
          </a:p>
          <a:p>
            <a:pPr marL="128270">
              <a:lnSpc>
                <a:spcPts val="2100"/>
              </a:lnSpc>
              <a:spcBef>
                <a:spcPts val="810"/>
              </a:spcBef>
            </a:pPr>
            <a:r>
              <a:rPr sz="2000" b="1" spc="-50" dirty="0">
                <a:latin typeface="Arial"/>
                <a:cs typeface="Arial"/>
              </a:rPr>
              <a:t>G</a:t>
            </a:r>
            <a:endParaRPr sz="2000">
              <a:latin typeface="Arial"/>
              <a:cs typeface="Arial"/>
            </a:endParaRPr>
          </a:p>
          <a:p>
            <a:pPr marL="12700">
              <a:lnSpc>
                <a:spcPts val="1860"/>
              </a:lnSpc>
            </a:pPr>
            <a:r>
              <a:rPr sz="1800" spc="-20" dirty="0">
                <a:solidFill>
                  <a:srgbClr val="FFFFFF"/>
                </a:solidFill>
                <a:latin typeface="Arial MT"/>
                <a:cs typeface="Arial MT"/>
              </a:rPr>
              <a:t>goal</a:t>
            </a:r>
            <a:endParaRPr sz="1800">
              <a:latin typeface="Arial MT"/>
              <a:cs typeface="Arial MT"/>
            </a:endParaRPr>
          </a:p>
        </p:txBody>
      </p:sp>
      <p:sp>
        <p:nvSpPr>
          <p:cNvPr id="45" name="object 22">
            <a:extLst>
              <a:ext uri="{FF2B5EF4-FFF2-40B4-BE49-F238E27FC236}">
                <a16:creationId xmlns:a16="http://schemas.microsoft.com/office/drawing/2014/main" id="{0D4FA09D-50FF-8BB1-3C9D-2902FCFC3A25}"/>
              </a:ext>
            </a:extLst>
          </p:cNvPr>
          <p:cNvSpPr txBox="1"/>
          <p:nvPr/>
        </p:nvSpPr>
        <p:spPr>
          <a:xfrm>
            <a:off x="8468359" y="3828363"/>
            <a:ext cx="209550" cy="331470"/>
          </a:xfrm>
          <a:prstGeom prst="rect">
            <a:avLst/>
          </a:prstGeom>
        </p:spPr>
        <p:txBody>
          <a:bodyPr vert="horz" wrap="square" lIns="0" tIns="13335" rIns="0" bIns="0" rtlCol="0">
            <a:spAutoFit/>
          </a:bodyPr>
          <a:lstStyle/>
          <a:p>
            <a:pPr marL="12700">
              <a:lnSpc>
                <a:spcPct val="100000"/>
              </a:lnSpc>
              <a:spcBef>
                <a:spcPts val="105"/>
              </a:spcBef>
            </a:pPr>
            <a:r>
              <a:rPr sz="2000" b="1" spc="-50" dirty="0">
                <a:latin typeface="Arial"/>
                <a:cs typeface="Arial"/>
              </a:rPr>
              <a:t>C</a:t>
            </a:r>
            <a:endParaRPr sz="2000">
              <a:latin typeface="Arial"/>
              <a:cs typeface="Arial"/>
            </a:endParaRPr>
          </a:p>
        </p:txBody>
      </p:sp>
    </p:spTree>
    <p:extLst>
      <p:ext uri="{BB962C8B-B14F-4D97-AF65-F5344CB8AC3E}">
        <p14:creationId xmlns:p14="http://schemas.microsoft.com/office/powerpoint/2010/main" val="10297097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E494F8-B85E-9164-5575-91773143CD9B}"/>
              </a:ext>
            </a:extLst>
          </p:cNvPr>
          <p:cNvSpPr>
            <a:spLocks noGrp="1"/>
          </p:cNvSpPr>
          <p:nvPr>
            <p:ph type="title"/>
          </p:nvPr>
        </p:nvSpPr>
        <p:spPr/>
        <p:txBody>
          <a:bodyPr/>
          <a:lstStyle/>
          <a:p>
            <a:r>
              <a:rPr lang="en-US" dirty="0"/>
              <a:t>Uniform Cost Search</a:t>
            </a:r>
          </a:p>
        </p:txBody>
      </p:sp>
      <p:sp>
        <p:nvSpPr>
          <p:cNvPr id="4" name="object 2">
            <a:extLst>
              <a:ext uri="{FF2B5EF4-FFF2-40B4-BE49-F238E27FC236}">
                <a16:creationId xmlns:a16="http://schemas.microsoft.com/office/drawing/2014/main" id="{D7EA7F8E-E597-E075-AE18-5308ED3CCFAC}"/>
              </a:ext>
            </a:extLst>
          </p:cNvPr>
          <p:cNvSpPr txBox="1"/>
          <p:nvPr/>
        </p:nvSpPr>
        <p:spPr>
          <a:xfrm>
            <a:off x="6251828" y="3304413"/>
            <a:ext cx="153035" cy="299720"/>
          </a:xfrm>
          <a:prstGeom prst="rect">
            <a:avLst/>
          </a:prstGeom>
        </p:spPr>
        <p:txBody>
          <a:bodyPr vert="horz" wrap="square" lIns="0" tIns="12700" rIns="0" bIns="0" rtlCol="0">
            <a:spAutoFit/>
          </a:bodyPr>
          <a:lstStyle/>
          <a:p>
            <a:pPr marL="12700">
              <a:lnSpc>
                <a:spcPct val="100000"/>
              </a:lnSpc>
              <a:spcBef>
                <a:spcPts val="100"/>
              </a:spcBef>
            </a:pPr>
            <a:r>
              <a:rPr sz="1800" b="1" spc="-50" dirty="0">
                <a:latin typeface="Arial"/>
                <a:cs typeface="Arial"/>
              </a:rPr>
              <a:t>5</a:t>
            </a:r>
            <a:endParaRPr sz="1800">
              <a:latin typeface="Arial"/>
              <a:cs typeface="Arial"/>
            </a:endParaRPr>
          </a:p>
        </p:txBody>
      </p:sp>
      <p:sp>
        <p:nvSpPr>
          <p:cNvPr id="5" name="object 3">
            <a:extLst>
              <a:ext uri="{FF2B5EF4-FFF2-40B4-BE49-F238E27FC236}">
                <a16:creationId xmlns:a16="http://schemas.microsoft.com/office/drawing/2014/main" id="{CD41B0B3-F912-636E-F625-E2F108B3B4A9}"/>
              </a:ext>
            </a:extLst>
          </p:cNvPr>
          <p:cNvSpPr txBox="1"/>
          <p:nvPr/>
        </p:nvSpPr>
        <p:spPr>
          <a:xfrm>
            <a:off x="7242809" y="3304413"/>
            <a:ext cx="153035" cy="299720"/>
          </a:xfrm>
          <a:prstGeom prst="rect">
            <a:avLst/>
          </a:prstGeom>
        </p:spPr>
        <p:txBody>
          <a:bodyPr vert="horz" wrap="square" lIns="0" tIns="12700" rIns="0" bIns="0" rtlCol="0">
            <a:spAutoFit/>
          </a:bodyPr>
          <a:lstStyle/>
          <a:p>
            <a:pPr marL="12700">
              <a:lnSpc>
                <a:spcPct val="100000"/>
              </a:lnSpc>
              <a:spcBef>
                <a:spcPts val="100"/>
              </a:spcBef>
            </a:pPr>
            <a:r>
              <a:rPr sz="1800" b="1" spc="-50" dirty="0">
                <a:latin typeface="Arial"/>
                <a:cs typeface="Arial"/>
              </a:rPr>
              <a:t>2</a:t>
            </a:r>
            <a:endParaRPr sz="1800">
              <a:latin typeface="Arial"/>
              <a:cs typeface="Arial"/>
            </a:endParaRPr>
          </a:p>
        </p:txBody>
      </p:sp>
      <p:sp>
        <p:nvSpPr>
          <p:cNvPr id="6" name="object 4">
            <a:extLst>
              <a:ext uri="{FF2B5EF4-FFF2-40B4-BE49-F238E27FC236}">
                <a16:creationId xmlns:a16="http://schemas.microsoft.com/office/drawing/2014/main" id="{012B8FA2-1F94-B090-8E5D-3BAE406FA3D5}"/>
              </a:ext>
            </a:extLst>
          </p:cNvPr>
          <p:cNvSpPr txBox="1"/>
          <p:nvPr/>
        </p:nvSpPr>
        <p:spPr>
          <a:xfrm>
            <a:off x="5337428" y="4447794"/>
            <a:ext cx="153035" cy="299720"/>
          </a:xfrm>
          <a:prstGeom prst="rect">
            <a:avLst/>
          </a:prstGeom>
        </p:spPr>
        <p:txBody>
          <a:bodyPr vert="horz" wrap="square" lIns="0" tIns="12700" rIns="0" bIns="0" rtlCol="0">
            <a:spAutoFit/>
          </a:bodyPr>
          <a:lstStyle/>
          <a:p>
            <a:pPr marL="12700">
              <a:lnSpc>
                <a:spcPct val="100000"/>
              </a:lnSpc>
              <a:spcBef>
                <a:spcPts val="100"/>
              </a:spcBef>
            </a:pPr>
            <a:r>
              <a:rPr sz="1800" b="1" spc="-50" dirty="0">
                <a:latin typeface="Arial"/>
                <a:cs typeface="Arial"/>
              </a:rPr>
              <a:t>9</a:t>
            </a:r>
            <a:endParaRPr sz="1800">
              <a:latin typeface="Arial"/>
              <a:cs typeface="Arial"/>
            </a:endParaRPr>
          </a:p>
        </p:txBody>
      </p:sp>
      <p:sp>
        <p:nvSpPr>
          <p:cNvPr id="7" name="object 5">
            <a:extLst>
              <a:ext uri="{FF2B5EF4-FFF2-40B4-BE49-F238E27FC236}">
                <a16:creationId xmlns:a16="http://schemas.microsoft.com/office/drawing/2014/main" id="{E92E1CEF-9669-C143-4FBB-D705B615821A}"/>
              </a:ext>
            </a:extLst>
          </p:cNvPr>
          <p:cNvSpPr txBox="1"/>
          <p:nvPr/>
        </p:nvSpPr>
        <p:spPr>
          <a:xfrm>
            <a:off x="6785229" y="4828794"/>
            <a:ext cx="153035" cy="299720"/>
          </a:xfrm>
          <a:prstGeom prst="rect">
            <a:avLst/>
          </a:prstGeom>
        </p:spPr>
        <p:txBody>
          <a:bodyPr vert="horz" wrap="square" lIns="0" tIns="12700" rIns="0" bIns="0" rtlCol="0">
            <a:spAutoFit/>
          </a:bodyPr>
          <a:lstStyle/>
          <a:p>
            <a:pPr marL="12700">
              <a:lnSpc>
                <a:spcPct val="100000"/>
              </a:lnSpc>
              <a:spcBef>
                <a:spcPts val="100"/>
              </a:spcBef>
            </a:pPr>
            <a:r>
              <a:rPr sz="1800" b="1" spc="-50" dirty="0">
                <a:latin typeface="Arial"/>
                <a:cs typeface="Arial"/>
              </a:rPr>
              <a:t>6</a:t>
            </a:r>
            <a:endParaRPr sz="1800">
              <a:latin typeface="Arial"/>
              <a:cs typeface="Arial"/>
            </a:endParaRPr>
          </a:p>
        </p:txBody>
      </p:sp>
      <p:sp>
        <p:nvSpPr>
          <p:cNvPr id="8" name="object 6">
            <a:extLst>
              <a:ext uri="{FF2B5EF4-FFF2-40B4-BE49-F238E27FC236}">
                <a16:creationId xmlns:a16="http://schemas.microsoft.com/office/drawing/2014/main" id="{2A3F8110-4936-6DE2-1633-B3C940ADE694}"/>
              </a:ext>
            </a:extLst>
          </p:cNvPr>
          <p:cNvSpPr txBox="1"/>
          <p:nvPr/>
        </p:nvSpPr>
        <p:spPr>
          <a:xfrm>
            <a:off x="6099428" y="4447794"/>
            <a:ext cx="153035" cy="299720"/>
          </a:xfrm>
          <a:prstGeom prst="rect">
            <a:avLst/>
          </a:prstGeom>
        </p:spPr>
        <p:txBody>
          <a:bodyPr vert="horz" wrap="square" lIns="0" tIns="12700" rIns="0" bIns="0" rtlCol="0">
            <a:spAutoFit/>
          </a:bodyPr>
          <a:lstStyle/>
          <a:p>
            <a:pPr marL="12700">
              <a:lnSpc>
                <a:spcPct val="100000"/>
              </a:lnSpc>
              <a:spcBef>
                <a:spcPts val="100"/>
              </a:spcBef>
            </a:pPr>
            <a:r>
              <a:rPr sz="1800" b="1" spc="-50" dirty="0">
                <a:latin typeface="Arial"/>
                <a:cs typeface="Arial"/>
              </a:rPr>
              <a:t>4</a:t>
            </a:r>
            <a:endParaRPr sz="1800">
              <a:latin typeface="Arial"/>
              <a:cs typeface="Arial"/>
            </a:endParaRPr>
          </a:p>
        </p:txBody>
      </p:sp>
      <p:sp>
        <p:nvSpPr>
          <p:cNvPr id="9" name="object 7">
            <a:extLst>
              <a:ext uri="{FF2B5EF4-FFF2-40B4-BE49-F238E27FC236}">
                <a16:creationId xmlns:a16="http://schemas.microsoft.com/office/drawing/2014/main" id="{97E22B89-2818-53A7-0F46-D2A2DFE9AA51}"/>
              </a:ext>
            </a:extLst>
          </p:cNvPr>
          <p:cNvSpPr txBox="1"/>
          <p:nvPr/>
        </p:nvSpPr>
        <p:spPr>
          <a:xfrm>
            <a:off x="7928609" y="3304413"/>
            <a:ext cx="153035" cy="299720"/>
          </a:xfrm>
          <a:prstGeom prst="rect">
            <a:avLst/>
          </a:prstGeom>
        </p:spPr>
        <p:txBody>
          <a:bodyPr vert="horz" wrap="square" lIns="0" tIns="12700" rIns="0" bIns="0" rtlCol="0">
            <a:spAutoFit/>
          </a:bodyPr>
          <a:lstStyle/>
          <a:p>
            <a:pPr marL="12700">
              <a:lnSpc>
                <a:spcPct val="100000"/>
              </a:lnSpc>
              <a:spcBef>
                <a:spcPts val="100"/>
              </a:spcBef>
            </a:pPr>
            <a:r>
              <a:rPr sz="1800" b="1" spc="-50" dirty="0">
                <a:latin typeface="Arial"/>
                <a:cs typeface="Arial"/>
              </a:rPr>
              <a:t>4</a:t>
            </a:r>
            <a:endParaRPr sz="1800">
              <a:latin typeface="Arial"/>
              <a:cs typeface="Arial"/>
            </a:endParaRPr>
          </a:p>
        </p:txBody>
      </p:sp>
      <p:sp>
        <p:nvSpPr>
          <p:cNvPr id="10" name="object 8">
            <a:extLst>
              <a:ext uri="{FF2B5EF4-FFF2-40B4-BE49-F238E27FC236}">
                <a16:creationId xmlns:a16="http://schemas.microsoft.com/office/drawing/2014/main" id="{8436E144-9E76-7708-BCAF-C85E7DA0D7E5}"/>
              </a:ext>
            </a:extLst>
          </p:cNvPr>
          <p:cNvSpPr txBox="1"/>
          <p:nvPr/>
        </p:nvSpPr>
        <p:spPr>
          <a:xfrm>
            <a:off x="8385809" y="4447794"/>
            <a:ext cx="153035" cy="299720"/>
          </a:xfrm>
          <a:prstGeom prst="rect">
            <a:avLst/>
          </a:prstGeom>
        </p:spPr>
        <p:txBody>
          <a:bodyPr vert="horz" wrap="square" lIns="0" tIns="12700" rIns="0" bIns="0" rtlCol="0">
            <a:spAutoFit/>
          </a:bodyPr>
          <a:lstStyle/>
          <a:p>
            <a:pPr marL="12700">
              <a:lnSpc>
                <a:spcPct val="100000"/>
              </a:lnSpc>
              <a:spcBef>
                <a:spcPts val="100"/>
              </a:spcBef>
            </a:pPr>
            <a:r>
              <a:rPr sz="1800" b="1" spc="-50" dirty="0">
                <a:latin typeface="Arial"/>
                <a:cs typeface="Arial"/>
              </a:rPr>
              <a:t>2</a:t>
            </a:r>
            <a:endParaRPr sz="1800">
              <a:latin typeface="Arial"/>
              <a:cs typeface="Arial"/>
            </a:endParaRPr>
          </a:p>
        </p:txBody>
      </p:sp>
      <p:sp>
        <p:nvSpPr>
          <p:cNvPr id="11" name="object 9">
            <a:extLst>
              <a:ext uri="{FF2B5EF4-FFF2-40B4-BE49-F238E27FC236}">
                <a16:creationId xmlns:a16="http://schemas.microsoft.com/office/drawing/2014/main" id="{01263B17-D842-CCA3-89D6-5C2CD73B09DA}"/>
              </a:ext>
            </a:extLst>
          </p:cNvPr>
          <p:cNvSpPr txBox="1"/>
          <p:nvPr/>
        </p:nvSpPr>
        <p:spPr>
          <a:xfrm>
            <a:off x="7928609" y="4828794"/>
            <a:ext cx="153035" cy="299720"/>
          </a:xfrm>
          <a:prstGeom prst="rect">
            <a:avLst/>
          </a:prstGeom>
        </p:spPr>
        <p:txBody>
          <a:bodyPr vert="horz" wrap="square" lIns="0" tIns="12700" rIns="0" bIns="0" rtlCol="0">
            <a:spAutoFit/>
          </a:bodyPr>
          <a:lstStyle/>
          <a:p>
            <a:pPr marL="12700">
              <a:lnSpc>
                <a:spcPct val="100000"/>
              </a:lnSpc>
              <a:spcBef>
                <a:spcPts val="100"/>
              </a:spcBef>
            </a:pPr>
            <a:r>
              <a:rPr sz="1800" b="1" spc="-50" dirty="0">
                <a:latin typeface="Arial"/>
                <a:cs typeface="Arial"/>
              </a:rPr>
              <a:t>1</a:t>
            </a:r>
            <a:endParaRPr sz="1800">
              <a:latin typeface="Arial"/>
              <a:cs typeface="Arial"/>
            </a:endParaRPr>
          </a:p>
        </p:txBody>
      </p:sp>
      <p:sp>
        <p:nvSpPr>
          <p:cNvPr id="12" name="object 10">
            <a:extLst>
              <a:ext uri="{FF2B5EF4-FFF2-40B4-BE49-F238E27FC236}">
                <a16:creationId xmlns:a16="http://schemas.microsoft.com/office/drawing/2014/main" id="{A1D8C69C-418C-BD3D-42CC-D00522992EC1}"/>
              </a:ext>
            </a:extLst>
          </p:cNvPr>
          <p:cNvSpPr txBox="1"/>
          <p:nvPr/>
        </p:nvSpPr>
        <p:spPr>
          <a:xfrm>
            <a:off x="5185028" y="5591047"/>
            <a:ext cx="153035" cy="299720"/>
          </a:xfrm>
          <a:prstGeom prst="rect">
            <a:avLst/>
          </a:prstGeom>
        </p:spPr>
        <p:txBody>
          <a:bodyPr vert="horz" wrap="square" lIns="0" tIns="12700" rIns="0" bIns="0" rtlCol="0">
            <a:spAutoFit/>
          </a:bodyPr>
          <a:lstStyle/>
          <a:p>
            <a:pPr marL="12700">
              <a:lnSpc>
                <a:spcPct val="100000"/>
              </a:lnSpc>
              <a:spcBef>
                <a:spcPts val="100"/>
              </a:spcBef>
            </a:pPr>
            <a:r>
              <a:rPr sz="1800" b="1" spc="-50" dirty="0">
                <a:latin typeface="Arial"/>
                <a:cs typeface="Arial"/>
              </a:rPr>
              <a:t>7</a:t>
            </a:r>
            <a:endParaRPr sz="1800">
              <a:latin typeface="Arial"/>
              <a:cs typeface="Arial"/>
            </a:endParaRPr>
          </a:p>
        </p:txBody>
      </p:sp>
      <p:sp>
        <p:nvSpPr>
          <p:cNvPr id="13" name="object 11">
            <a:extLst>
              <a:ext uri="{FF2B5EF4-FFF2-40B4-BE49-F238E27FC236}">
                <a16:creationId xmlns:a16="http://schemas.microsoft.com/office/drawing/2014/main" id="{DA7D1DDE-52AA-B619-0663-25C99C10F142}"/>
              </a:ext>
            </a:extLst>
          </p:cNvPr>
          <p:cNvSpPr txBox="1"/>
          <p:nvPr/>
        </p:nvSpPr>
        <p:spPr>
          <a:xfrm>
            <a:off x="993444" y="2310486"/>
            <a:ext cx="5665470" cy="709930"/>
          </a:xfrm>
          <a:prstGeom prst="rect">
            <a:avLst/>
          </a:prstGeom>
        </p:spPr>
        <p:txBody>
          <a:bodyPr vert="horz" wrap="square" lIns="0" tIns="67945" rIns="0" bIns="0" rtlCol="0">
            <a:spAutoFit/>
          </a:bodyPr>
          <a:lstStyle/>
          <a:p>
            <a:pPr marL="12700">
              <a:lnSpc>
                <a:spcPct val="100000"/>
              </a:lnSpc>
              <a:spcBef>
                <a:spcPts val="535"/>
              </a:spcBef>
            </a:pPr>
            <a:r>
              <a:rPr sz="2000" b="1" dirty="0">
                <a:solidFill>
                  <a:srgbClr val="CC3300"/>
                </a:solidFill>
                <a:latin typeface="Courier New"/>
                <a:cs typeface="Courier New"/>
              </a:rPr>
              <a:t>generalSearch(problem,</a:t>
            </a:r>
            <a:r>
              <a:rPr sz="2000" b="1" spc="-120" dirty="0">
                <a:solidFill>
                  <a:srgbClr val="CC3300"/>
                </a:solidFill>
                <a:latin typeface="Courier New"/>
                <a:cs typeface="Courier New"/>
              </a:rPr>
              <a:t> </a:t>
            </a:r>
            <a:r>
              <a:rPr sz="2000" b="1" spc="-10" dirty="0">
                <a:solidFill>
                  <a:srgbClr val="FF5050"/>
                </a:solidFill>
                <a:latin typeface="Courier New"/>
                <a:cs typeface="Courier New"/>
              </a:rPr>
              <a:t>priorityQueue</a:t>
            </a:r>
            <a:r>
              <a:rPr sz="2000" b="1" spc="-10" dirty="0">
                <a:solidFill>
                  <a:srgbClr val="CC3300"/>
                </a:solidFill>
                <a:latin typeface="Courier New"/>
                <a:cs typeface="Courier New"/>
              </a:rPr>
              <a:t>)</a:t>
            </a:r>
            <a:endParaRPr sz="2000">
              <a:latin typeface="Courier New"/>
              <a:cs typeface="Courier New"/>
            </a:endParaRPr>
          </a:p>
          <a:p>
            <a:pPr marL="12700">
              <a:lnSpc>
                <a:spcPct val="100000"/>
              </a:lnSpc>
              <a:spcBef>
                <a:spcPts val="390"/>
              </a:spcBef>
            </a:pPr>
            <a:r>
              <a:rPr sz="1800" dirty="0">
                <a:solidFill>
                  <a:srgbClr val="1F487C"/>
                </a:solidFill>
                <a:latin typeface="Arial MT"/>
                <a:cs typeface="Arial MT"/>
              </a:rPr>
              <a:t>#</a:t>
            </a:r>
            <a:r>
              <a:rPr sz="1800" spc="-25" dirty="0">
                <a:solidFill>
                  <a:srgbClr val="1F487C"/>
                </a:solidFill>
                <a:latin typeface="Arial MT"/>
                <a:cs typeface="Arial MT"/>
              </a:rPr>
              <a:t> </a:t>
            </a:r>
            <a:r>
              <a:rPr sz="1800" dirty="0">
                <a:solidFill>
                  <a:srgbClr val="1F487C"/>
                </a:solidFill>
                <a:latin typeface="Arial MT"/>
                <a:cs typeface="Arial MT"/>
              </a:rPr>
              <a:t>of</a:t>
            </a:r>
            <a:r>
              <a:rPr sz="1800" spc="-20" dirty="0">
                <a:solidFill>
                  <a:srgbClr val="1F487C"/>
                </a:solidFill>
                <a:latin typeface="Arial MT"/>
                <a:cs typeface="Arial MT"/>
              </a:rPr>
              <a:t> </a:t>
            </a:r>
            <a:r>
              <a:rPr sz="1800" dirty="0">
                <a:solidFill>
                  <a:srgbClr val="1F487C"/>
                </a:solidFill>
                <a:latin typeface="Arial MT"/>
                <a:cs typeface="Arial MT"/>
              </a:rPr>
              <a:t>nodes</a:t>
            </a:r>
            <a:r>
              <a:rPr sz="1800" spc="-15" dirty="0">
                <a:solidFill>
                  <a:srgbClr val="1F487C"/>
                </a:solidFill>
                <a:latin typeface="Arial MT"/>
                <a:cs typeface="Arial MT"/>
              </a:rPr>
              <a:t> </a:t>
            </a:r>
            <a:r>
              <a:rPr sz="1800" dirty="0">
                <a:solidFill>
                  <a:srgbClr val="1F487C"/>
                </a:solidFill>
                <a:latin typeface="Arial MT"/>
                <a:cs typeface="Arial MT"/>
              </a:rPr>
              <a:t>tested:</a:t>
            </a:r>
            <a:r>
              <a:rPr sz="1800" spc="-25" dirty="0">
                <a:solidFill>
                  <a:srgbClr val="1F487C"/>
                </a:solidFill>
                <a:latin typeface="Arial MT"/>
                <a:cs typeface="Arial MT"/>
              </a:rPr>
              <a:t> </a:t>
            </a:r>
            <a:r>
              <a:rPr sz="1800" dirty="0">
                <a:latin typeface="Arial MT"/>
                <a:cs typeface="Arial MT"/>
              </a:rPr>
              <a:t>2</a:t>
            </a:r>
            <a:r>
              <a:rPr sz="1800" dirty="0">
                <a:solidFill>
                  <a:srgbClr val="1F487C"/>
                </a:solidFill>
                <a:latin typeface="Arial MT"/>
                <a:cs typeface="Arial MT"/>
              </a:rPr>
              <a:t>,</a:t>
            </a:r>
            <a:r>
              <a:rPr sz="1800" spc="-15" dirty="0">
                <a:solidFill>
                  <a:srgbClr val="1F487C"/>
                </a:solidFill>
                <a:latin typeface="Arial MT"/>
                <a:cs typeface="Arial MT"/>
              </a:rPr>
              <a:t> </a:t>
            </a:r>
            <a:r>
              <a:rPr sz="1800" dirty="0">
                <a:solidFill>
                  <a:srgbClr val="1F487C"/>
                </a:solidFill>
                <a:latin typeface="Arial MT"/>
                <a:cs typeface="Arial MT"/>
              </a:rPr>
              <a:t>expanded:</a:t>
            </a:r>
            <a:r>
              <a:rPr sz="1800" spc="15" dirty="0">
                <a:solidFill>
                  <a:srgbClr val="1F487C"/>
                </a:solidFill>
                <a:latin typeface="Arial MT"/>
                <a:cs typeface="Arial MT"/>
              </a:rPr>
              <a:t> </a:t>
            </a:r>
            <a:r>
              <a:rPr sz="1800" spc="-50" dirty="0">
                <a:latin typeface="Arial MT"/>
                <a:cs typeface="Arial MT"/>
              </a:rPr>
              <a:t>2</a:t>
            </a:r>
            <a:endParaRPr sz="1800">
              <a:latin typeface="Arial MT"/>
              <a:cs typeface="Arial MT"/>
            </a:endParaRPr>
          </a:p>
        </p:txBody>
      </p:sp>
      <p:graphicFrame>
        <p:nvGraphicFramePr>
          <p:cNvPr id="14" name="object 13">
            <a:extLst>
              <a:ext uri="{FF2B5EF4-FFF2-40B4-BE49-F238E27FC236}">
                <a16:creationId xmlns:a16="http://schemas.microsoft.com/office/drawing/2014/main" id="{76A5FCEC-E287-EB47-2899-7203C4D6DA8E}"/>
              </a:ext>
            </a:extLst>
          </p:cNvPr>
          <p:cNvGraphicFramePr>
            <a:graphicFrameLocks noGrp="1"/>
          </p:cNvGraphicFramePr>
          <p:nvPr/>
        </p:nvGraphicFramePr>
        <p:xfrm>
          <a:off x="990600" y="3105150"/>
          <a:ext cx="3505835" cy="1484630"/>
        </p:xfrm>
        <a:graphic>
          <a:graphicData uri="http://schemas.openxmlformats.org/drawingml/2006/table">
            <a:tbl>
              <a:tblPr firstRow="1" bandRow="1">
                <a:tableStyleId>{2D5ABB26-0587-4C30-8999-92F81FD0307C}</a:tableStyleId>
              </a:tblPr>
              <a:tblGrid>
                <a:gridCol w="1471930">
                  <a:extLst>
                    <a:ext uri="{9D8B030D-6E8A-4147-A177-3AD203B41FA5}">
                      <a16:colId xmlns:a16="http://schemas.microsoft.com/office/drawing/2014/main" val="20000"/>
                    </a:ext>
                  </a:extLst>
                </a:gridCol>
                <a:gridCol w="2033905">
                  <a:extLst>
                    <a:ext uri="{9D8B030D-6E8A-4147-A177-3AD203B41FA5}">
                      <a16:colId xmlns:a16="http://schemas.microsoft.com/office/drawing/2014/main" val="20001"/>
                    </a:ext>
                  </a:extLst>
                </a:gridCol>
              </a:tblGrid>
              <a:tr h="575945">
                <a:tc>
                  <a:txBody>
                    <a:bodyPr/>
                    <a:lstStyle/>
                    <a:p>
                      <a:pPr marL="91440" marR="610870">
                        <a:lnSpc>
                          <a:spcPct val="100000"/>
                        </a:lnSpc>
                        <a:spcBef>
                          <a:spcPts val="30"/>
                        </a:spcBef>
                      </a:pPr>
                      <a:r>
                        <a:rPr sz="1800" b="1" spc="-10" dirty="0">
                          <a:solidFill>
                            <a:srgbClr val="111111"/>
                          </a:solidFill>
                          <a:latin typeface="Arial"/>
                          <a:cs typeface="Arial"/>
                        </a:rPr>
                        <a:t>Closed </a:t>
                      </a:r>
                      <a:r>
                        <a:rPr sz="1800" b="1" spc="-20" dirty="0">
                          <a:solidFill>
                            <a:srgbClr val="111111"/>
                          </a:solidFill>
                          <a:latin typeface="Arial"/>
                          <a:cs typeface="Arial"/>
                        </a:rPr>
                        <a:t>Node</a:t>
                      </a:r>
                      <a:endParaRPr sz="1800">
                        <a:latin typeface="Arial"/>
                        <a:cs typeface="Arial"/>
                      </a:endParaRPr>
                    </a:p>
                  </a:txBody>
                  <a:tcPr marL="0" marR="0" marT="3810" marB="0">
                    <a:lnR w="12700">
                      <a:solidFill>
                        <a:srgbClr val="000000"/>
                      </a:solidFill>
                      <a:prstDash val="solid"/>
                    </a:lnR>
                    <a:lnT w="38100">
                      <a:solidFill>
                        <a:srgbClr val="000000"/>
                      </a:solidFill>
                      <a:prstDash val="solid"/>
                    </a:lnT>
                    <a:lnB w="12700">
                      <a:solidFill>
                        <a:srgbClr val="000000"/>
                      </a:solidFill>
                      <a:prstDash val="solid"/>
                    </a:lnB>
                  </a:tcPr>
                </a:tc>
                <a:tc>
                  <a:txBody>
                    <a:bodyPr/>
                    <a:lstStyle/>
                    <a:p>
                      <a:pPr marL="91440">
                        <a:lnSpc>
                          <a:spcPct val="100000"/>
                        </a:lnSpc>
                        <a:spcBef>
                          <a:spcPts val="30"/>
                        </a:spcBef>
                      </a:pPr>
                      <a:r>
                        <a:rPr sz="1800" b="1" dirty="0">
                          <a:solidFill>
                            <a:srgbClr val="111111"/>
                          </a:solidFill>
                          <a:latin typeface="Arial"/>
                          <a:cs typeface="Arial"/>
                        </a:rPr>
                        <a:t>Open</a:t>
                      </a:r>
                      <a:r>
                        <a:rPr sz="1800" b="1" spc="-10" dirty="0">
                          <a:solidFill>
                            <a:srgbClr val="111111"/>
                          </a:solidFill>
                          <a:latin typeface="Arial"/>
                          <a:cs typeface="Arial"/>
                        </a:rPr>
                        <a:t> </a:t>
                      </a:r>
                      <a:r>
                        <a:rPr sz="1800" b="1" spc="-20" dirty="0">
                          <a:solidFill>
                            <a:srgbClr val="111111"/>
                          </a:solidFill>
                          <a:latin typeface="Arial"/>
                          <a:cs typeface="Arial"/>
                        </a:rPr>
                        <a:t>Node</a:t>
                      </a:r>
                      <a:endParaRPr sz="1800">
                        <a:latin typeface="Arial"/>
                        <a:cs typeface="Arial"/>
                      </a:endParaRPr>
                    </a:p>
                  </a:txBody>
                  <a:tcPr marL="0" marR="0" marT="3810" marB="0">
                    <a:lnL w="12700">
                      <a:solidFill>
                        <a:srgbClr val="000000"/>
                      </a:solidFill>
                      <a:prstDash val="solid"/>
                    </a:lnL>
                    <a:lnT w="381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301625">
                <a:tc>
                  <a:txBody>
                    <a:bodyPr/>
                    <a:lstStyle/>
                    <a:p>
                      <a:pPr>
                        <a:lnSpc>
                          <a:spcPct val="100000"/>
                        </a:lnSpc>
                      </a:pPr>
                      <a:endParaRPr sz="1800">
                        <a:latin typeface="Times New Roman"/>
                        <a:cs typeface="Times New Roman"/>
                      </a:endParaRPr>
                    </a:p>
                  </a:txBody>
                  <a:tcPr marL="0" marR="0" marT="0" marB="0">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30"/>
                        </a:spcBef>
                      </a:pPr>
                      <a:r>
                        <a:rPr sz="1800" spc="-25" dirty="0">
                          <a:solidFill>
                            <a:srgbClr val="111111"/>
                          </a:solidFill>
                          <a:latin typeface="Arial MT"/>
                          <a:cs typeface="Arial MT"/>
                        </a:rPr>
                        <a:t>{S}</a:t>
                      </a:r>
                      <a:endParaRPr sz="1800">
                        <a:latin typeface="Arial MT"/>
                        <a:cs typeface="Arial MT"/>
                      </a:endParaRPr>
                    </a:p>
                  </a:txBody>
                  <a:tcPr marL="0" marR="0" marT="3810" marB="0">
                    <a:lnL w="12700">
                      <a:solidFill>
                        <a:srgbClr val="000000"/>
                      </a:solidFill>
                      <a:prstDash val="solid"/>
                    </a:lnL>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301625">
                <a:tc>
                  <a:txBody>
                    <a:bodyPr/>
                    <a:lstStyle/>
                    <a:p>
                      <a:pPr marL="91440">
                        <a:lnSpc>
                          <a:spcPct val="100000"/>
                        </a:lnSpc>
                        <a:spcBef>
                          <a:spcPts val="30"/>
                        </a:spcBef>
                      </a:pPr>
                      <a:r>
                        <a:rPr sz="1800" spc="-50" dirty="0">
                          <a:solidFill>
                            <a:srgbClr val="111111"/>
                          </a:solidFill>
                          <a:latin typeface="Arial MT"/>
                          <a:cs typeface="Arial MT"/>
                        </a:rPr>
                        <a:t>S</a:t>
                      </a:r>
                      <a:endParaRPr sz="1800">
                        <a:latin typeface="Arial MT"/>
                        <a:cs typeface="Arial MT"/>
                      </a:endParaRPr>
                    </a:p>
                  </a:txBody>
                  <a:tcPr marL="0" marR="0" marT="3810" marB="0">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30"/>
                        </a:spcBef>
                      </a:pPr>
                      <a:r>
                        <a:rPr sz="1800" spc="-10" dirty="0">
                          <a:solidFill>
                            <a:srgbClr val="111111"/>
                          </a:solidFill>
                          <a:latin typeface="Arial MT"/>
                          <a:cs typeface="Arial MT"/>
                        </a:rPr>
                        <a:t>{B:2,C:4,A:5}</a:t>
                      </a:r>
                      <a:endParaRPr sz="1800">
                        <a:latin typeface="Arial MT"/>
                        <a:cs typeface="Arial MT"/>
                      </a:endParaRPr>
                    </a:p>
                  </a:txBody>
                  <a:tcPr marL="0" marR="0" marT="3810" marB="0">
                    <a:lnL w="12700">
                      <a:solidFill>
                        <a:srgbClr val="000000"/>
                      </a:solidFill>
                      <a:prstDash val="solid"/>
                    </a:lnL>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305435">
                <a:tc>
                  <a:txBody>
                    <a:bodyPr/>
                    <a:lstStyle/>
                    <a:p>
                      <a:pPr marL="91440">
                        <a:lnSpc>
                          <a:spcPct val="100000"/>
                        </a:lnSpc>
                        <a:spcBef>
                          <a:spcPts val="30"/>
                        </a:spcBef>
                      </a:pPr>
                      <a:r>
                        <a:rPr sz="1800" dirty="0">
                          <a:solidFill>
                            <a:srgbClr val="111111"/>
                          </a:solidFill>
                          <a:latin typeface="Arial MT"/>
                          <a:cs typeface="Arial MT"/>
                        </a:rPr>
                        <a:t>B</a:t>
                      </a:r>
                      <a:r>
                        <a:rPr sz="1800" spc="-10" dirty="0">
                          <a:solidFill>
                            <a:srgbClr val="111111"/>
                          </a:solidFill>
                          <a:latin typeface="Arial MT"/>
                          <a:cs typeface="Arial MT"/>
                        </a:rPr>
                        <a:t> </a:t>
                      </a:r>
                      <a:r>
                        <a:rPr sz="1800" dirty="0">
                          <a:solidFill>
                            <a:srgbClr val="FF7B80"/>
                          </a:solidFill>
                          <a:latin typeface="Arial MT"/>
                          <a:cs typeface="Arial MT"/>
                        </a:rPr>
                        <a:t>not</a:t>
                      </a:r>
                      <a:r>
                        <a:rPr sz="1800" spc="-10" dirty="0">
                          <a:solidFill>
                            <a:srgbClr val="FF7B80"/>
                          </a:solidFill>
                          <a:latin typeface="Arial MT"/>
                          <a:cs typeface="Arial MT"/>
                        </a:rPr>
                        <a:t> </a:t>
                      </a:r>
                      <a:r>
                        <a:rPr sz="1800" spc="-20" dirty="0">
                          <a:solidFill>
                            <a:srgbClr val="FF7B80"/>
                          </a:solidFill>
                          <a:latin typeface="Arial MT"/>
                          <a:cs typeface="Arial MT"/>
                        </a:rPr>
                        <a:t>goal</a:t>
                      </a:r>
                      <a:endParaRPr sz="1800">
                        <a:latin typeface="Arial MT"/>
                        <a:cs typeface="Arial MT"/>
                      </a:endParaRPr>
                    </a:p>
                  </a:txBody>
                  <a:tcPr marL="0" marR="0" marT="3810" marB="0">
                    <a:lnR w="12700">
                      <a:solidFill>
                        <a:srgbClr val="000000"/>
                      </a:solidFill>
                      <a:prstDash val="solid"/>
                    </a:lnR>
                    <a:lnT w="12700">
                      <a:solidFill>
                        <a:srgbClr val="000000"/>
                      </a:solidFill>
                      <a:prstDash val="solid"/>
                    </a:lnT>
                    <a:lnB w="38100">
                      <a:solidFill>
                        <a:srgbClr val="000000"/>
                      </a:solidFill>
                      <a:prstDash val="solid"/>
                    </a:lnB>
                  </a:tcPr>
                </a:tc>
                <a:tc>
                  <a:txBody>
                    <a:bodyPr/>
                    <a:lstStyle/>
                    <a:p>
                      <a:pPr marL="91440">
                        <a:lnSpc>
                          <a:spcPct val="100000"/>
                        </a:lnSpc>
                        <a:spcBef>
                          <a:spcPts val="30"/>
                        </a:spcBef>
                      </a:pPr>
                      <a:r>
                        <a:rPr sz="1800" spc="-10" dirty="0">
                          <a:solidFill>
                            <a:srgbClr val="111111"/>
                          </a:solidFill>
                          <a:latin typeface="Arial MT"/>
                          <a:cs typeface="Arial MT"/>
                        </a:rPr>
                        <a:t>{C:4,A:5</a:t>
                      </a:r>
                      <a:r>
                        <a:rPr sz="1800" spc="-10" dirty="0">
                          <a:solidFill>
                            <a:srgbClr val="C0504D"/>
                          </a:solidFill>
                          <a:latin typeface="Arial MT"/>
                          <a:cs typeface="Arial MT"/>
                        </a:rPr>
                        <a:t>,G:2+6</a:t>
                      </a:r>
                      <a:r>
                        <a:rPr sz="1800" spc="-10" dirty="0">
                          <a:solidFill>
                            <a:srgbClr val="111111"/>
                          </a:solidFill>
                          <a:latin typeface="Arial MT"/>
                          <a:cs typeface="Arial MT"/>
                        </a:rPr>
                        <a:t>}</a:t>
                      </a:r>
                      <a:endParaRPr sz="1800">
                        <a:latin typeface="Arial MT"/>
                        <a:cs typeface="Arial MT"/>
                      </a:endParaRPr>
                    </a:p>
                  </a:txBody>
                  <a:tcPr marL="0" marR="0" marT="3810" marB="0">
                    <a:lnL w="12700">
                      <a:solidFill>
                        <a:srgbClr val="000000"/>
                      </a:solidFill>
                      <a:prstDash val="solid"/>
                    </a:lnL>
                    <a:lnT w="12700">
                      <a:solidFill>
                        <a:srgbClr val="000000"/>
                      </a:solidFill>
                      <a:prstDash val="solid"/>
                    </a:lnT>
                    <a:lnB w="38100">
                      <a:solidFill>
                        <a:srgbClr val="000000"/>
                      </a:solidFill>
                      <a:prstDash val="solid"/>
                    </a:lnB>
                  </a:tcPr>
                </a:tc>
                <a:extLst>
                  <a:ext uri="{0D108BD9-81ED-4DB2-BD59-A6C34878D82A}">
                    <a16:rowId xmlns:a16="http://schemas.microsoft.com/office/drawing/2014/main" val="10003"/>
                  </a:ext>
                </a:extLst>
              </a:tr>
            </a:tbl>
          </a:graphicData>
        </a:graphic>
      </p:graphicFrame>
      <p:pic>
        <p:nvPicPr>
          <p:cNvPr id="15" name="object 14">
            <a:extLst>
              <a:ext uri="{FF2B5EF4-FFF2-40B4-BE49-F238E27FC236}">
                <a16:creationId xmlns:a16="http://schemas.microsoft.com/office/drawing/2014/main" id="{F4DA2C75-D328-551F-66D4-0D88BE41E4E1}"/>
              </a:ext>
            </a:extLst>
          </p:cNvPr>
          <p:cNvPicPr/>
          <p:nvPr/>
        </p:nvPicPr>
        <p:blipFill>
          <a:blip r:embed="rId2" cstate="print"/>
          <a:stretch>
            <a:fillRect/>
          </a:stretch>
        </p:blipFill>
        <p:spPr>
          <a:xfrm>
            <a:off x="5017261" y="2502661"/>
            <a:ext cx="3911599" cy="4140200"/>
          </a:xfrm>
          <a:prstGeom prst="rect">
            <a:avLst/>
          </a:prstGeom>
        </p:spPr>
      </p:pic>
      <p:sp>
        <p:nvSpPr>
          <p:cNvPr id="16" name="object 15">
            <a:extLst>
              <a:ext uri="{FF2B5EF4-FFF2-40B4-BE49-F238E27FC236}">
                <a16:creationId xmlns:a16="http://schemas.microsoft.com/office/drawing/2014/main" id="{8E924E91-3A20-3544-E8AF-CB1719A61B2E}"/>
              </a:ext>
            </a:extLst>
          </p:cNvPr>
          <p:cNvSpPr txBox="1"/>
          <p:nvPr/>
        </p:nvSpPr>
        <p:spPr>
          <a:xfrm>
            <a:off x="7195566" y="2545842"/>
            <a:ext cx="470534" cy="535940"/>
          </a:xfrm>
          <a:prstGeom prst="rect">
            <a:avLst/>
          </a:prstGeom>
        </p:spPr>
        <p:txBody>
          <a:bodyPr vert="horz" wrap="square" lIns="0" tIns="13335" rIns="0" bIns="0" rtlCol="0">
            <a:spAutoFit/>
          </a:bodyPr>
          <a:lstStyle/>
          <a:p>
            <a:pPr algn="ctr">
              <a:lnSpc>
                <a:spcPts val="2130"/>
              </a:lnSpc>
              <a:spcBef>
                <a:spcPts val="105"/>
              </a:spcBef>
            </a:pPr>
            <a:r>
              <a:rPr sz="2000" b="1" spc="-50" dirty="0">
                <a:latin typeface="Arial"/>
                <a:cs typeface="Arial"/>
              </a:rPr>
              <a:t>S</a:t>
            </a:r>
            <a:endParaRPr sz="2000">
              <a:latin typeface="Arial"/>
              <a:cs typeface="Arial"/>
            </a:endParaRPr>
          </a:p>
          <a:p>
            <a:pPr algn="ctr">
              <a:lnSpc>
                <a:spcPts val="1889"/>
              </a:lnSpc>
            </a:pPr>
            <a:r>
              <a:rPr sz="1800" spc="-10" dirty="0">
                <a:solidFill>
                  <a:srgbClr val="FFFFFF"/>
                </a:solidFill>
                <a:latin typeface="Arial MT"/>
                <a:cs typeface="Arial MT"/>
              </a:rPr>
              <a:t>start</a:t>
            </a:r>
            <a:endParaRPr sz="1800">
              <a:latin typeface="Arial MT"/>
              <a:cs typeface="Arial MT"/>
            </a:endParaRPr>
          </a:p>
        </p:txBody>
      </p:sp>
      <p:sp>
        <p:nvSpPr>
          <p:cNvPr id="17" name="object 23">
            <a:extLst>
              <a:ext uri="{FF2B5EF4-FFF2-40B4-BE49-F238E27FC236}">
                <a16:creationId xmlns:a16="http://schemas.microsoft.com/office/drawing/2014/main" id="{E3DB54D0-BD28-23DC-C87D-DEA248836A96}"/>
              </a:ext>
            </a:extLst>
          </p:cNvPr>
          <p:cNvSpPr txBox="1"/>
          <p:nvPr/>
        </p:nvSpPr>
        <p:spPr>
          <a:xfrm>
            <a:off x="5267325" y="6139412"/>
            <a:ext cx="209550" cy="309880"/>
          </a:xfrm>
          <a:prstGeom prst="rect">
            <a:avLst/>
          </a:prstGeom>
        </p:spPr>
        <p:txBody>
          <a:bodyPr vert="horz" wrap="square" lIns="0" tIns="0" rIns="0" bIns="0" rtlCol="0">
            <a:spAutoFit/>
          </a:bodyPr>
          <a:lstStyle/>
          <a:p>
            <a:pPr marL="12700">
              <a:lnSpc>
                <a:spcPts val="2315"/>
              </a:lnSpc>
            </a:pPr>
            <a:r>
              <a:rPr sz="2000" b="1" spc="-50" dirty="0">
                <a:latin typeface="Arial"/>
                <a:cs typeface="Arial"/>
              </a:rPr>
              <a:t>H</a:t>
            </a:r>
            <a:endParaRPr sz="2000">
              <a:latin typeface="Arial"/>
              <a:cs typeface="Arial"/>
            </a:endParaRPr>
          </a:p>
        </p:txBody>
      </p:sp>
      <p:sp>
        <p:nvSpPr>
          <p:cNvPr id="18" name="object 16">
            <a:extLst>
              <a:ext uri="{FF2B5EF4-FFF2-40B4-BE49-F238E27FC236}">
                <a16:creationId xmlns:a16="http://schemas.microsoft.com/office/drawing/2014/main" id="{0225CC59-99F8-4CDB-8EFE-D8C0B24FB7AD}"/>
              </a:ext>
            </a:extLst>
          </p:cNvPr>
          <p:cNvSpPr txBox="1"/>
          <p:nvPr/>
        </p:nvSpPr>
        <p:spPr>
          <a:xfrm>
            <a:off x="6181725" y="3828363"/>
            <a:ext cx="209550" cy="331470"/>
          </a:xfrm>
          <a:prstGeom prst="rect">
            <a:avLst/>
          </a:prstGeom>
        </p:spPr>
        <p:txBody>
          <a:bodyPr vert="horz" wrap="square" lIns="0" tIns="13335" rIns="0" bIns="0" rtlCol="0">
            <a:spAutoFit/>
          </a:bodyPr>
          <a:lstStyle/>
          <a:p>
            <a:pPr marL="12700">
              <a:lnSpc>
                <a:spcPct val="100000"/>
              </a:lnSpc>
              <a:spcBef>
                <a:spcPts val="105"/>
              </a:spcBef>
            </a:pPr>
            <a:r>
              <a:rPr sz="2000" b="1" spc="-50" dirty="0">
                <a:latin typeface="Arial"/>
                <a:cs typeface="Arial"/>
              </a:rPr>
              <a:t>A</a:t>
            </a:r>
            <a:endParaRPr sz="2000">
              <a:latin typeface="Arial"/>
              <a:cs typeface="Arial"/>
            </a:endParaRPr>
          </a:p>
        </p:txBody>
      </p:sp>
      <p:sp>
        <p:nvSpPr>
          <p:cNvPr id="19" name="object 17">
            <a:extLst>
              <a:ext uri="{FF2B5EF4-FFF2-40B4-BE49-F238E27FC236}">
                <a16:creationId xmlns:a16="http://schemas.microsoft.com/office/drawing/2014/main" id="{AD53F87C-B78B-4C16-273E-16C7B27C262B}"/>
              </a:ext>
            </a:extLst>
          </p:cNvPr>
          <p:cNvSpPr txBox="1"/>
          <p:nvPr/>
        </p:nvSpPr>
        <p:spPr>
          <a:xfrm>
            <a:off x="6189726" y="4972050"/>
            <a:ext cx="195580" cy="330835"/>
          </a:xfrm>
          <a:prstGeom prst="rect">
            <a:avLst/>
          </a:prstGeom>
        </p:spPr>
        <p:txBody>
          <a:bodyPr vert="horz" wrap="square" lIns="0" tIns="12700" rIns="0" bIns="0" rtlCol="0">
            <a:spAutoFit/>
          </a:bodyPr>
          <a:lstStyle/>
          <a:p>
            <a:pPr marL="12700">
              <a:lnSpc>
                <a:spcPct val="100000"/>
              </a:lnSpc>
              <a:spcBef>
                <a:spcPts val="100"/>
              </a:spcBef>
            </a:pPr>
            <a:r>
              <a:rPr sz="2000" b="1" spc="-50" dirty="0">
                <a:latin typeface="Arial"/>
                <a:cs typeface="Arial"/>
              </a:rPr>
              <a:t>E</a:t>
            </a:r>
            <a:endParaRPr sz="2000">
              <a:latin typeface="Arial"/>
              <a:cs typeface="Arial"/>
            </a:endParaRPr>
          </a:p>
        </p:txBody>
      </p:sp>
      <p:sp>
        <p:nvSpPr>
          <p:cNvPr id="20" name="object 18">
            <a:extLst>
              <a:ext uri="{FF2B5EF4-FFF2-40B4-BE49-F238E27FC236}">
                <a16:creationId xmlns:a16="http://schemas.microsoft.com/office/drawing/2014/main" id="{E349BF0A-2244-D433-5A9B-E2CE90D09C14}"/>
              </a:ext>
            </a:extLst>
          </p:cNvPr>
          <p:cNvSpPr txBox="1"/>
          <p:nvPr/>
        </p:nvSpPr>
        <p:spPr>
          <a:xfrm>
            <a:off x="5267325" y="4972050"/>
            <a:ext cx="209550" cy="330835"/>
          </a:xfrm>
          <a:prstGeom prst="rect">
            <a:avLst/>
          </a:prstGeom>
        </p:spPr>
        <p:txBody>
          <a:bodyPr vert="horz" wrap="square" lIns="0" tIns="12700" rIns="0" bIns="0" rtlCol="0">
            <a:spAutoFit/>
          </a:bodyPr>
          <a:lstStyle/>
          <a:p>
            <a:pPr marL="12700">
              <a:lnSpc>
                <a:spcPct val="100000"/>
              </a:lnSpc>
              <a:spcBef>
                <a:spcPts val="100"/>
              </a:spcBef>
            </a:pPr>
            <a:r>
              <a:rPr sz="2000" b="1" spc="-50" dirty="0">
                <a:latin typeface="Arial"/>
                <a:cs typeface="Arial"/>
              </a:rPr>
              <a:t>D</a:t>
            </a:r>
            <a:endParaRPr sz="2000">
              <a:latin typeface="Arial"/>
              <a:cs typeface="Arial"/>
            </a:endParaRPr>
          </a:p>
        </p:txBody>
      </p:sp>
      <p:sp>
        <p:nvSpPr>
          <p:cNvPr id="21" name="object 19">
            <a:extLst>
              <a:ext uri="{FF2B5EF4-FFF2-40B4-BE49-F238E27FC236}">
                <a16:creationId xmlns:a16="http://schemas.microsoft.com/office/drawing/2014/main" id="{2FE94096-9AA8-C65B-ED5F-FA62D0CBB919}"/>
              </a:ext>
            </a:extLst>
          </p:cNvPr>
          <p:cNvSpPr txBox="1"/>
          <p:nvPr/>
        </p:nvSpPr>
        <p:spPr>
          <a:xfrm>
            <a:off x="8483600" y="4972050"/>
            <a:ext cx="180975" cy="330835"/>
          </a:xfrm>
          <a:prstGeom prst="rect">
            <a:avLst/>
          </a:prstGeom>
        </p:spPr>
        <p:txBody>
          <a:bodyPr vert="horz" wrap="square" lIns="0" tIns="12700" rIns="0" bIns="0" rtlCol="0">
            <a:spAutoFit/>
          </a:bodyPr>
          <a:lstStyle/>
          <a:p>
            <a:pPr marL="12700">
              <a:lnSpc>
                <a:spcPct val="100000"/>
              </a:lnSpc>
              <a:spcBef>
                <a:spcPts val="100"/>
              </a:spcBef>
            </a:pPr>
            <a:r>
              <a:rPr sz="2000" b="1" spc="-50" dirty="0">
                <a:latin typeface="Arial"/>
                <a:cs typeface="Arial"/>
              </a:rPr>
              <a:t>F</a:t>
            </a:r>
            <a:endParaRPr sz="2000">
              <a:latin typeface="Arial"/>
              <a:cs typeface="Arial"/>
            </a:endParaRPr>
          </a:p>
        </p:txBody>
      </p:sp>
      <p:sp>
        <p:nvSpPr>
          <p:cNvPr id="22" name="object 20">
            <a:extLst>
              <a:ext uri="{FF2B5EF4-FFF2-40B4-BE49-F238E27FC236}">
                <a16:creationId xmlns:a16="http://schemas.microsoft.com/office/drawing/2014/main" id="{0207ADD9-B2AB-0733-F5EA-8064A0C69179}"/>
              </a:ext>
            </a:extLst>
          </p:cNvPr>
          <p:cNvSpPr txBox="1"/>
          <p:nvPr/>
        </p:nvSpPr>
        <p:spPr>
          <a:xfrm>
            <a:off x="7325106" y="3828363"/>
            <a:ext cx="209550" cy="331470"/>
          </a:xfrm>
          <a:prstGeom prst="rect">
            <a:avLst/>
          </a:prstGeom>
        </p:spPr>
        <p:txBody>
          <a:bodyPr vert="horz" wrap="square" lIns="0" tIns="13335" rIns="0" bIns="0" rtlCol="0">
            <a:spAutoFit/>
          </a:bodyPr>
          <a:lstStyle/>
          <a:p>
            <a:pPr marL="12700">
              <a:lnSpc>
                <a:spcPct val="100000"/>
              </a:lnSpc>
              <a:spcBef>
                <a:spcPts val="105"/>
              </a:spcBef>
            </a:pPr>
            <a:r>
              <a:rPr sz="2000" b="1" spc="-50" dirty="0">
                <a:latin typeface="Arial"/>
                <a:cs typeface="Arial"/>
              </a:rPr>
              <a:t>B</a:t>
            </a:r>
            <a:endParaRPr sz="2000">
              <a:latin typeface="Arial"/>
              <a:cs typeface="Arial"/>
            </a:endParaRPr>
          </a:p>
        </p:txBody>
      </p:sp>
      <p:sp>
        <p:nvSpPr>
          <p:cNvPr id="23" name="object 21">
            <a:extLst>
              <a:ext uri="{FF2B5EF4-FFF2-40B4-BE49-F238E27FC236}">
                <a16:creationId xmlns:a16="http://schemas.microsoft.com/office/drawing/2014/main" id="{2E172AD8-76DD-E3D2-30F5-9EC41F58FA4A}"/>
              </a:ext>
            </a:extLst>
          </p:cNvPr>
          <p:cNvSpPr txBox="1"/>
          <p:nvPr/>
        </p:nvSpPr>
        <p:spPr>
          <a:xfrm>
            <a:off x="7203185" y="4355624"/>
            <a:ext cx="455295" cy="997585"/>
          </a:xfrm>
          <a:prstGeom prst="rect">
            <a:avLst/>
          </a:prstGeom>
        </p:spPr>
        <p:txBody>
          <a:bodyPr vert="horz" wrap="square" lIns="0" tIns="104775" rIns="0" bIns="0" rtlCol="0">
            <a:spAutoFit/>
          </a:bodyPr>
          <a:lstStyle/>
          <a:p>
            <a:pPr marL="52069">
              <a:lnSpc>
                <a:spcPct val="100000"/>
              </a:lnSpc>
              <a:spcBef>
                <a:spcPts val="825"/>
              </a:spcBef>
            </a:pPr>
            <a:r>
              <a:rPr sz="1800" b="1" spc="-50" dirty="0">
                <a:latin typeface="Arial"/>
                <a:cs typeface="Arial"/>
              </a:rPr>
              <a:t>6</a:t>
            </a:r>
            <a:endParaRPr sz="1800" dirty="0">
              <a:latin typeface="Arial"/>
              <a:cs typeface="Arial"/>
            </a:endParaRPr>
          </a:p>
          <a:p>
            <a:pPr marL="128270">
              <a:lnSpc>
                <a:spcPts val="2100"/>
              </a:lnSpc>
              <a:spcBef>
                <a:spcPts val="810"/>
              </a:spcBef>
            </a:pPr>
            <a:r>
              <a:rPr sz="2000" b="1" spc="-50" dirty="0">
                <a:latin typeface="Arial"/>
                <a:cs typeface="Arial"/>
              </a:rPr>
              <a:t>G</a:t>
            </a:r>
            <a:endParaRPr sz="2000" dirty="0">
              <a:latin typeface="Arial"/>
              <a:cs typeface="Arial"/>
            </a:endParaRPr>
          </a:p>
          <a:p>
            <a:pPr marL="12700">
              <a:lnSpc>
                <a:spcPts val="1860"/>
              </a:lnSpc>
            </a:pPr>
            <a:r>
              <a:rPr sz="1800" spc="-20" dirty="0">
                <a:solidFill>
                  <a:srgbClr val="FFFFFF"/>
                </a:solidFill>
                <a:latin typeface="Arial MT"/>
                <a:cs typeface="Arial MT"/>
              </a:rPr>
              <a:t>goal</a:t>
            </a:r>
            <a:endParaRPr sz="1800" dirty="0">
              <a:latin typeface="Arial MT"/>
              <a:cs typeface="Arial MT"/>
            </a:endParaRPr>
          </a:p>
        </p:txBody>
      </p:sp>
      <p:sp>
        <p:nvSpPr>
          <p:cNvPr id="24" name="object 22">
            <a:extLst>
              <a:ext uri="{FF2B5EF4-FFF2-40B4-BE49-F238E27FC236}">
                <a16:creationId xmlns:a16="http://schemas.microsoft.com/office/drawing/2014/main" id="{C2608131-3F28-1FE0-0FB0-018E1F747AB4}"/>
              </a:ext>
            </a:extLst>
          </p:cNvPr>
          <p:cNvSpPr txBox="1"/>
          <p:nvPr/>
        </p:nvSpPr>
        <p:spPr>
          <a:xfrm>
            <a:off x="8468359" y="3828363"/>
            <a:ext cx="209550" cy="331470"/>
          </a:xfrm>
          <a:prstGeom prst="rect">
            <a:avLst/>
          </a:prstGeom>
        </p:spPr>
        <p:txBody>
          <a:bodyPr vert="horz" wrap="square" lIns="0" tIns="13335" rIns="0" bIns="0" rtlCol="0">
            <a:spAutoFit/>
          </a:bodyPr>
          <a:lstStyle/>
          <a:p>
            <a:pPr marL="12700">
              <a:lnSpc>
                <a:spcPct val="100000"/>
              </a:lnSpc>
              <a:spcBef>
                <a:spcPts val="105"/>
              </a:spcBef>
            </a:pPr>
            <a:r>
              <a:rPr sz="2000" b="1" spc="-50" dirty="0">
                <a:latin typeface="Arial"/>
                <a:cs typeface="Arial"/>
              </a:rPr>
              <a:t>C</a:t>
            </a:r>
            <a:endParaRPr sz="2000">
              <a:latin typeface="Arial"/>
              <a:cs typeface="Arial"/>
            </a:endParaRPr>
          </a:p>
        </p:txBody>
      </p:sp>
    </p:spTree>
    <p:extLst>
      <p:ext uri="{BB962C8B-B14F-4D97-AF65-F5344CB8AC3E}">
        <p14:creationId xmlns:p14="http://schemas.microsoft.com/office/powerpoint/2010/main" val="40429333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CAB198-8DE9-1FDA-B3E3-ACC8EE84093D}"/>
              </a:ext>
            </a:extLst>
          </p:cNvPr>
          <p:cNvSpPr>
            <a:spLocks noGrp="1"/>
          </p:cNvSpPr>
          <p:nvPr>
            <p:ph type="title"/>
          </p:nvPr>
        </p:nvSpPr>
        <p:spPr/>
        <p:txBody>
          <a:bodyPr/>
          <a:lstStyle/>
          <a:p>
            <a:r>
              <a:rPr lang="en-US" dirty="0"/>
              <a:t>Uniform Cost Search</a:t>
            </a:r>
          </a:p>
        </p:txBody>
      </p:sp>
      <p:sp>
        <p:nvSpPr>
          <p:cNvPr id="4" name="object 2">
            <a:extLst>
              <a:ext uri="{FF2B5EF4-FFF2-40B4-BE49-F238E27FC236}">
                <a16:creationId xmlns:a16="http://schemas.microsoft.com/office/drawing/2014/main" id="{37D610AB-6365-F6F5-CCD6-58AF02F5AC11}"/>
              </a:ext>
            </a:extLst>
          </p:cNvPr>
          <p:cNvSpPr txBox="1"/>
          <p:nvPr/>
        </p:nvSpPr>
        <p:spPr>
          <a:xfrm>
            <a:off x="6251828" y="3304413"/>
            <a:ext cx="153035" cy="299720"/>
          </a:xfrm>
          <a:prstGeom prst="rect">
            <a:avLst/>
          </a:prstGeom>
        </p:spPr>
        <p:txBody>
          <a:bodyPr vert="horz" wrap="square" lIns="0" tIns="12700" rIns="0" bIns="0" rtlCol="0">
            <a:spAutoFit/>
          </a:bodyPr>
          <a:lstStyle/>
          <a:p>
            <a:pPr marL="12700">
              <a:lnSpc>
                <a:spcPct val="100000"/>
              </a:lnSpc>
              <a:spcBef>
                <a:spcPts val="100"/>
              </a:spcBef>
            </a:pPr>
            <a:r>
              <a:rPr sz="1800" b="1" spc="-50" dirty="0">
                <a:latin typeface="Arial"/>
                <a:cs typeface="Arial"/>
              </a:rPr>
              <a:t>5</a:t>
            </a:r>
            <a:endParaRPr sz="1800">
              <a:latin typeface="Arial"/>
              <a:cs typeface="Arial"/>
            </a:endParaRPr>
          </a:p>
        </p:txBody>
      </p:sp>
      <p:sp>
        <p:nvSpPr>
          <p:cNvPr id="5" name="object 3">
            <a:extLst>
              <a:ext uri="{FF2B5EF4-FFF2-40B4-BE49-F238E27FC236}">
                <a16:creationId xmlns:a16="http://schemas.microsoft.com/office/drawing/2014/main" id="{9A4208DF-54B0-CC70-627F-F42BC37B1B05}"/>
              </a:ext>
            </a:extLst>
          </p:cNvPr>
          <p:cNvSpPr txBox="1"/>
          <p:nvPr/>
        </p:nvSpPr>
        <p:spPr>
          <a:xfrm>
            <a:off x="7242809" y="3304413"/>
            <a:ext cx="153035" cy="299720"/>
          </a:xfrm>
          <a:prstGeom prst="rect">
            <a:avLst/>
          </a:prstGeom>
        </p:spPr>
        <p:txBody>
          <a:bodyPr vert="horz" wrap="square" lIns="0" tIns="12700" rIns="0" bIns="0" rtlCol="0">
            <a:spAutoFit/>
          </a:bodyPr>
          <a:lstStyle/>
          <a:p>
            <a:pPr marL="12700">
              <a:lnSpc>
                <a:spcPct val="100000"/>
              </a:lnSpc>
              <a:spcBef>
                <a:spcPts val="100"/>
              </a:spcBef>
            </a:pPr>
            <a:r>
              <a:rPr sz="1800" b="1" spc="-50" dirty="0">
                <a:latin typeface="Arial"/>
                <a:cs typeface="Arial"/>
              </a:rPr>
              <a:t>2</a:t>
            </a:r>
            <a:endParaRPr sz="1800">
              <a:latin typeface="Arial"/>
              <a:cs typeface="Arial"/>
            </a:endParaRPr>
          </a:p>
        </p:txBody>
      </p:sp>
      <p:sp>
        <p:nvSpPr>
          <p:cNvPr id="6" name="object 4">
            <a:extLst>
              <a:ext uri="{FF2B5EF4-FFF2-40B4-BE49-F238E27FC236}">
                <a16:creationId xmlns:a16="http://schemas.microsoft.com/office/drawing/2014/main" id="{95451835-A606-CBA7-1074-AE661D62984E}"/>
              </a:ext>
            </a:extLst>
          </p:cNvPr>
          <p:cNvSpPr txBox="1"/>
          <p:nvPr/>
        </p:nvSpPr>
        <p:spPr>
          <a:xfrm>
            <a:off x="5337428" y="4447794"/>
            <a:ext cx="153035" cy="299720"/>
          </a:xfrm>
          <a:prstGeom prst="rect">
            <a:avLst/>
          </a:prstGeom>
        </p:spPr>
        <p:txBody>
          <a:bodyPr vert="horz" wrap="square" lIns="0" tIns="12700" rIns="0" bIns="0" rtlCol="0">
            <a:spAutoFit/>
          </a:bodyPr>
          <a:lstStyle/>
          <a:p>
            <a:pPr marL="12700">
              <a:lnSpc>
                <a:spcPct val="100000"/>
              </a:lnSpc>
              <a:spcBef>
                <a:spcPts val="100"/>
              </a:spcBef>
            </a:pPr>
            <a:r>
              <a:rPr sz="1800" b="1" spc="-50" dirty="0">
                <a:latin typeface="Arial"/>
                <a:cs typeface="Arial"/>
              </a:rPr>
              <a:t>9</a:t>
            </a:r>
            <a:endParaRPr sz="1800">
              <a:latin typeface="Arial"/>
              <a:cs typeface="Arial"/>
            </a:endParaRPr>
          </a:p>
        </p:txBody>
      </p:sp>
      <p:sp>
        <p:nvSpPr>
          <p:cNvPr id="7" name="object 5">
            <a:extLst>
              <a:ext uri="{FF2B5EF4-FFF2-40B4-BE49-F238E27FC236}">
                <a16:creationId xmlns:a16="http://schemas.microsoft.com/office/drawing/2014/main" id="{07DF9870-6EAA-EFB8-ED0D-8FC1FB0E16EE}"/>
              </a:ext>
            </a:extLst>
          </p:cNvPr>
          <p:cNvSpPr txBox="1"/>
          <p:nvPr/>
        </p:nvSpPr>
        <p:spPr>
          <a:xfrm>
            <a:off x="6785229" y="4828794"/>
            <a:ext cx="153035" cy="299720"/>
          </a:xfrm>
          <a:prstGeom prst="rect">
            <a:avLst/>
          </a:prstGeom>
        </p:spPr>
        <p:txBody>
          <a:bodyPr vert="horz" wrap="square" lIns="0" tIns="12700" rIns="0" bIns="0" rtlCol="0">
            <a:spAutoFit/>
          </a:bodyPr>
          <a:lstStyle/>
          <a:p>
            <a:pPr marL="12700">
              <a:lnSpc>
                <a:spcPct val="100000"/>
              </a:lnSpc>
              <a:spcBef>
                <a:spcPts val="100"/>
              </a:spcBef>
            </a:pPr>
            <a:r>
              <a:rPr sz="1800" b="1" spc="-50" dirty="0">
                <a:latin typeface="Arial"/>
                <a:cs typeface="Arial"/>
              </a:rPr>
              <a:t>6</a:t>
            </a:r>
            <a:endParaRPr sz="1800">
              <a:latin typeface="Arial"/>
              <a:cs typeface="Arial"/>
            </a:endParaRPr>
          </a:p>
        </p:txBody>
      </p:sp>
      <p:sp>
        <p:nvSpPr>
          <p:cNvPr id="8" name="object 6">
            <a:extLst>
              <a:ext uri="{FF2B5EF4-FFF2-40B4-BE49-F238E27FC236}">
                <a16:creationId xmlns:a16="http://schemas.microsoft.com/office/drawing/2014/main" id="{CA20B75D-E0EF-6E19-FCF6-0DB2EAF0E7FB}"/>
              </a:ext>
            </a:extLst>
          </p:cNvPr>
          <p:cNvSpPr txBox="1"/>
          <p:nvPr/>
        </p:nvSpPr>
        <p:spPr>
          <a:xfrm>
            <a:off x="6099428" y="4447794"/>
            <a:ext cx="153035" cy="299720"/>
          </a:xfrm>
          <a:prstGeom prst="rect">
            <a:avLst/>
          </a:prstGeom>
        </p:spPr>
        <p:txBody>
          <a:bodyPr vert="horz" wrap="square" lIns="0" tIns="12700" rIns="0" bIns="0" rtlCol="0">
            <a:spAutoFit/>
          </a:bodyPr>
          <a:lstStyle/>
          <a:p>
            <a:pPr marL="12700">
              <a:lnSpc>
                <a:spcPct val="100000"/>
              </a:lnSpc>
              <a:spcBef>
                <a:spcPts val="100"/>
              </a:spcBef>
            </a:pPr>
            <a:r>
              <a:rPr sz="1800" b="1" spc="-50" dirty="0">
                <a:latin typeface="Arial"/>
                <a:cs typeface="Arial"/>
              </a:rPr>
              <a:t>4</a:t>
            </a:r>
            <a:endParaRPr sz="1800">
              <a:latin typeface="Arial"/>
              <a:cs typeface="Arial"/>
            </a:endParaRPr>
          </a:p>
        </p:txBody>
      </p:sp>
      <p:sp>
        <p:nvSpPr>
          <p:cNvPr id="9" name="object 7">
            <a:extLst>
              <a:ext uri="{FF2B5EF4-FFF2-40B4-BE49-F238E27FC236}">
                <a16:creationId xmlns:a16="http://schemas.microsoft.com/office/drawing/2014/main" id="{26AACAB1-847C-E95F-C7EA-14C33E68DC28}"/>
              </a:ext>
            </a:extLst>
          </p:cNvPr>
          <p:cNvSpPr txBox="1"/>
          <p:nvPr/>
        </p:nvSpPr>
        <p:spPr>
          <a:xfrm>
            <a:off x="7928609" y="3304413"/>
            <a:ext cx="153035" cy="299720"/>
          </a:xfrm>
          <a:prstGeom prst="rect">
            <a:avLst/>
          </a:prstGeom>
        </p:spPr>
        <p:txBody>
          <a:bodyPr vert="horz" wrap="square" lIns="0" tIns="12700" rIns="0" bIns="0" rtlCol="0">
            <a:spAutoFit/>
          </a:bodyPr>
          <a:lstStyle/>
          <a:p>
            <a:pPr marL="12700">
              <a:lnSpc>
                <a:spcPct val="100000"/>
              </a:lnSpc>
              <a:spcBef>
                <a:spcPts val="100"/>
              </a:spcBef>
            </a:pPr>
            <a:r>
              <a:rPr sz="1800" b="1" spc="-50" dirty="0">
                <a:latin typeface="Arial"/>
                <a:cs typeface="Arial"/>
              </a:rPr>
              <a:t>4</a:t>
            </a:r>
            <a:endParaRPr sz="1800">
              <a:latin typeface="Arial"/>
              <a:cs typeface="Arial"/>
            </a:endParaRPr>
          </a:p>
        </p:txBody>
      </p:sp>
      <p:sp>
        <p:nvSpPr>
          <p:cNvPr id="10" name="object 8">
            <a:extLst>
              <a:ext uri="{FF2B5EF4-FFF2-40B4-BE49-F238E27FC236}">
                <a16:creationId xmlns:a16="http://schemas.microsoft.com/office/drawing/2014/main" id="{266D2DEA-EAE4-E7AD-277A-43F2CD8FE4C0}"/>
              </a:ext>
            </a:extLst>
          </p:cNvPr>
          <p:cNvSpPr txBox="1"/>
          <p:nvPr/>
        </p:nvSpPr>
        <p:spPr>
          <a:xfrm>
            <a:off x="8385809" y="4447794"/>
            <a:ext cx="153035" cy="299720"/>
          </a:xfrm>
          <a:prstGeom prst="rect">
            <a:avLst/>
          </a:prstGeom>
        </p:spPr>
        <p:txBody>
          <a:bodyPr vert="horz" wrap="square" lIns="0" tIns="12700" rIns="0" bIns="0" rtlCol="0">
            <a:spAutoFit/>
          </a:bodyPr>
          <a:lstStyle/>
          <a:p>
            <a:pPr marL="12700">
              <a:lnSpc>
                <a:spcPct val="100000"/>
              </a:lnSpc>
              <a:spcBef>
                <a:spcPts val="100"/>
              </a:spcBef>
            </a:pPr>
            <a:r>
              <a:rPr sz="1800" b="1" spc="-50" dirty="0">
                <a:latin typeface="Arial"/>
                <a:cs typeface="Arial"/>
              </a:rPr>
              <a:t>2</a:t>
            </a:r>
            <a:endParaRPr sz="1800">
              <a:latin typeface="Arial"/>
              <a:cs typeface="Arial"/>
            </a:endParaRPr>
          </a:p>
        </p:txBody>
      </p:sp>
      <p:sp>
        <p:nvSpPr>
          <p:cNvPr id="11" name="object 9">
            <a:extLst>
              <a:ext uri="{FF2B5EF4-FFF2-40B4-BE49-F238E27FC236}">
                <a16:creationId xmlns:a16="http://schemas.microsoft.com/office/drawing/2014/main" id="{EDABBA63-0A2E-F51E-A38C-A816DB7BFCF6}"/>
              </a:ext>
            </a:extLst>
          </p:cNvPr>
          <p:cNvSpPr txBox="1"/>
          <p:nvPr/>
        </p:nvSpPr>
        <p:spPr>
          <a:xfrm>
            <a:off x="7928609" y="4828794"/>
            <a:ext cx="153035" cy="299720"/>
          </a:xfrm>
          <a:prstGeom prst="rect">
            <a:avLst/>
          </a:prstGeom>
        </p:spPr>
        <p:txBody>
          <a:bodyPr vert="horz" wrap="square" lIns="0" tIns="12700" rIns="0" bIns="0" rtlCol="0">
            <a:spAutoFit/>
          </a:bodyPr>
          <a:lstStyle/>
          <a:p>
            <a:pPr marL="12700">
              <a:lnSpc>
                <a:spcPct val="100000"/>
              </a:lnSpc>
              <a:spcBef>
                <a:spcPts val="100"/>
              </a:spcBef>
            </a:pPr>
            <a:r>
              <a:rPr sz="1800" b="1" spc="-50" dirty="0">
                <a:latin typeface="Arial"/>
                <a:cs typeface="Arial"/>
              </a:rPr>
              <a:t>1</a:t>
            </a:r>
            <a:endParaRPr sz="1800">
              <a:latin typeface="Arial"/>
              <a:cs typeface="Arial"/>
            </a:endParaRPr>
          </a:p>
        </p:txBody>
      </p:sp>
      <p:sp>
        <p:nvSpPr>
          <p:cNvPr id="12" name="object 10">
            <a:extLst>
              <a:ext uri="{FF2B5EF4-FFF2-40B4-BE49-F238E27FC236}">
                <a16:creationId xmlns:a16="http://schemas.microsoft.com/office/drawing/2014/main" id="{F76C86D7-ABA4-0544-7503-6487492C53DB}"/>
              </a:ext>
            </a:extLst>
          </p:cNvPr>
          <p:cNvSpPr txBox="1"/>
          <p:nvPr/>
        </p:nvSpPr>
        <p:spPr>
          <a:xfrm>
            <a:off x="5185028" y="5591047"/>
            <a:ext cx="153035" cy="299720"/>
          </a:xfrm>
          <a:prstGeom prst="rect">
            <a:avLst/>
          </a:prstGeom>
        </p:spPr>
        <p:txBody>
          <a:bodyPr vert="horz" wrap="square" lIns="0" tIns="12700" rIns="0" bIns="0" rtlCol="0">
            <a:spAutoFit/>
          </a:bodyPr>
          <a:lstStyle/>
          <a:p>
            <a:pPr marL="12700">
              <a:lnSpc>
                <a:spcPct val="100000"/>
              </a:lnSpc>
              <a:spcBef>
                <a:spcPts val="100"/>
              </a:spcBef>
            </a:pPr>
            <a:r>
              <a:rPr sz="1800" b="1" spc="-50" dirty="0">
                <a:latin typeface="Arial"/>
                <a:cs typeface="Arial"/>
              </a:rPr>
              <a:t>7</a:t>
            </a:r>
            <a:endParaRPr sz="1800">
              <a:latin typeface="Arial"/>
              <a:cs typeface="Arial"/>
            </a:endParaRPr>
          </a:p>
        </p:txBody>
      </p:sp>
      <p:sp>
        <p:nvSpPr>
          <p:cNvPr id="13" name="object 11">
            <a:extLst>
              <a:ext uri="{FF2B5EF4-FFF2-40B4-BE49-F238E27FC236}">
                <a16:creationId xmlns:a16="http://schemas.microsoft.com/office/drawing/2014/main" id="{E56000BA-7D47-E2A2-DD79-6EBBAB0F7EF2}"/>
              </a:ext>
            </a:extLst>
          </p:cNvPr>
          <p:cNvSpPr txBox="1"/>
          <p:nvPr/>
        </p:nvSpPr>
        <p:spPr>
          <a:xfrm>
            <a:off x="993444" y="2310486"/>
            <a:ext cx="5665470" cy="709930"/>
          </a:xfrm>
          <a:prstGeom prst="rect">
            <a:avLst/>
          </a:prstGeom>
        </p:spPr>
        <p:txBody>
          <a:bodyPr vert="horz" wrap="square" lIns="0" tIns="67945" rIns="0" bIns="0" rtlCol="0">
            <a:spAutoFit/>
          </a:bodyPr>
          <a:lstStyle/>
          <a:p>
            <a:pPr marL="12700">
              <a:lnSpc>
                <a:spcPct val="100000"/>
              </a:lnSpc>
              <a:spcBef>
                <a:spcPts val="535"/>
              </a:spcBef>
            </a:pPr>
            <a:r>
              <a:rPr sz="2000" b="1" dirty="0">
                <a:solidFill>
                  <a:srgbClr val="CC3300"/>
                </a:solidFill>
                <a:latin typeface="Courier New"/>
                <a:cs typeface="Courier New"/>
              </a:rPr>
              <a:t>generalSearch(problem,</a:t>
            </a:r>
            <a:r>
              <a:rPr sz="2000" b="1" spc="-120" dirty="0">
                <a:solidFill>
                  <a:srgbClr val="CC3300"/>
                </a:solidFill>
                <a:latin typeface="Courier New"/>
                <a:cs typeface="Courier New"/>
              </a:rPr>
              <a:t> </a:t>
            </a:r>
            <a:r>
              <a:rPr sz="2000" b="1" spc="-10" dirty="0">
                <a:solidFill>
                  <a:srgbClr val="FF5050"/>
                </a:solidFill>
                <a:latin typeface="Courier New"/>
                <a:cs typeface="Courier New"/>
              </a:rPr>
              <a:t>priorityQueue</a:t>
            </a:r>
            <a:r>
              <a:rPr sz="2000" b="1" spc="-10" dirty="0">
                <a:solidFill>
                  <a:srgbClr val="CC3300"/>
                </a:solidFill>
                <a:latin typeface="Courier New"/>
                <a:cs typeface="Courier New"/>
              </a:rPr>
              <a:t>)</a:t>
            </a:r>
            <a:endParaRPr sz="2000">
              <a:latin typeface="Courier New"/>
              <a:cs typeface="Courier New"/>
            </a:endParaRPr>
          </a:p>
          <a:p>
            <a:pPr marL="12700">
              <a:lnSpc>
                <a:spcPct val="100000"/>
              </a:lnSpc>
              <a:spcBef>
                <a:spcPts val="390"/>
              </a:spcBef>
            </a:pPr>
            <a:r>
              <a:rPr sz="1800" dirty="0">
                <a:solidFill>
                  <a:srgbClr val="1F487C"/>
                </a:solidFill>
                <a:latin typeface="Arial MT"/>
                <a:cs typeface="Arial MT"/>
              </a:rPr>
              <a:t>#</a:t>
            </a:r>
            <a:r>
              <a:rPr sz="1800" spc="-25" dirty="0">
                <a:solidFill>
                  <a:srgbClr val="1F487C"/>
                </a:solidFill>
                <a:latin typeface="Arial MT"/>
                <a:cs typeface="Arial MT"/>
              </a:rPr>
              <a:t> </a:t>
            </a:r>
            <a:r>
              <a:rPr sz="1800" dirty="0">
                <a:solidFill>
                  <a:srgbClr val="1F487C"/>
                </a:solidFill>
                <a:latin typeface="Arial MT"/>
                <a:cs typeface="Arial MT"/>
              </a:rPr>
              <a:t>of</a:t>
            </a:r>
            <a:r>
              <a:rPr sz="1800" spc="-20" dirty="0">
                <a:solidFill>
                  <a:srgbClr val="1F487C"/>
                </a:solidFill>
                <a:latin typeface="Arial MT"/>
                <a:cs typeface="Arial MT"/>
              </a:rPr>
              <a:t> </a:t>
            </a:r>
            <a:r>
              <a:rPr sz="1800" dirty="0">
                <a:solidFill>
                  <a:srgbClr val="1F487C"/>
                </a:solidFill>
                <a:latin typeface="Arial MT"/>
                <a:cs typeface="Arial MT"/>
              </a:rPr>
              <a:t>nodes</a:t>
            </a:r>
            <a:r>
              <a:rPr sz="1800" spc="-15" dirty="0">
                <a:solidFill>
                  <a:srgbClr val="1F487C"/>
                </a:solidFill>
                <a:latin typeface="Arial MT"/>
                <a:cs typeface="Arial MT"/>
              </a:rPr>
              <a:t> </a:t>
            </a:r>
            <a:r>
              <a:rPr sz="1800" dirty="0">
                <a:solidFill>
                  <a:srgbClr val="1F487C"/>
                </a:solidFill>
                <a:latin typeface="Arial MT"/>
                <a:cs typeface="Arial MT"/>
              </a:rPr>
              <a:t>tested:</a:t>
            </a:r>
            <a:r>
              <a:rPr sz="1800" spc="-25" dirty="0">
                <a:solidFill>
                  <a:srgbClr val="1F487C"/>
                </a:solidFill>
                <a:latin typeface="Arial MT"/>
                <a:cs typeface="Arial MT"/>
              </a:rPr>
              <a:t> </a:t>
            </a:r>
            <a:r>
              <a:rPr sz="1800" dirty="0">
                <a:latin typeface="Arial MT"/>
                <a:cs typeface="Arial MT"/>
              </a:rPr>
              <a:t>3</a:t>
            </a:r>
            <a:r>
              <a:rPr sz="1800" dirty="0">
                <a:solidFill>
                  <a:srgbClr val="1F487C"/>
                </a:solidFill>
                <a:latin typeface="Arial MT"/>
                <a:cs typeface="Arial MT"/>
              </a:rPr>
              <a:t>,</a:t>
            </a:r>
            <a:r>
              <a:rPr sz="1800" spc="-15" dirty="0">
                <a:solidFill>
                  <a:srgbClr val="1F487C"/>
                </a:solidFill>
                <a:latin typeface="Arial MT"/>
                <a:cs typeface="Arial MT"/>
              </a:rPr>
              <a:t> </a:t>
            </a:r>
            <a:r>
              <a:rPr sz="1800" dirty="0">
                <a:solidFill>
                  <a:srgbClr val="1F487C"/>
                </a:solidFill>
                <a:latin typeface="Arial MT"/>
                <a:cs typeface="Arial MT"/>
              </a:rPr>
              <a:t>expanded:</a:t>
            </a:r>
            <a:r>
              <a:rPr sz="1800" spc="15" dirty="0">
                <a:solidFill>
                  <a:srgbClr val="1F487C"/>
                </a:solidFill>
                <a:latin typeface="Arial MT"/>
                <a:cs typeface="Arial MT"/>
              </a:rPr>
              <a:t> </a:t>
            </a:r>
            <a:r>
              <a:rPr sz="1800" spc="-50" dirty="0">
                <a:latin typeface="Arial MT"/>
                <a:cs typeface="Arial MT"/>
              </a:rPr>
              <a:t>3</a:t>
            </a:r>
            <a:endParaRPr sz="1800">
              <a:latin typeface="Arial MT"/>
              <a:cs typeface="Arial MT"/>
            </a:endParaRPr>
          </a:p>
        </p:txBody>
      </p:sp>
      <p:graphicFrame>
        <p:nvGraphicFramePr>
          <p:cNvPr id="14" name="object 13">
            <a:extLst>
              <a:ext uri="{FF2B5EF4-FFF2-40B4-BE49-F238E27FC236}">
                <a16:creationId xmlns:a16="http://schemas.microsoft.com/office/drawing/2014/main" id="{2B83A0C2-CF2E-7249-D1FE-755349807236}"/>
              </a:ext>
            </a:extLst>
          </p:cNvPr>
          <p:cNvGraphicFramePr>
            <a:graphicFrameLocks noGrp="1"/>
          </p:cNvGraphicFramePr>
          <p:nvPr/>
        </p:nvGraphicFramePr>
        <p:xfrm>
          <a:off x="990600" y="3105150"/>
          <a:ext cx="3505835" cy="1807210"/>
        </p:xfrm>
        <a:graphic>
          <a:graphicData uri="http://schemas.openxmlformats.org/drawingml/2006/table">
            <a:tbl>
              <a:tblPr firstRow="1" bandRow="1">
                <a:tableStyleId>{2D5ABB26-0587-4C30-8999-92F81FD0307C}</a:tableStyleId>
              </a:tblPr>
              <a:tblGrid>
                <a:gridCol w="1471930">
                  <a:extLst>
                    <a:ext uri="{9D8B030D-6E8A-4147-A177-3AD203B41FA5}">
                      <a16:colId xmlns:a16="http://schemas.microsoft.com/office/drawing/2014/main" val="20000"/>
                    </a:ext>
                  </a:extLst>
                </a:gridCol>
                <a:gridCol w="2033905">
                  <a:extLst>
                    <a:ext uri="{9D8B030D-6E8A-4147-A177-3AD203B41FA5}">
                      <a16:colId xmlns:a16="http://schemas.microsoft.com/office/drawing/2014/main" val="20001"/>
                    </a:ext>
                  </a:extLst>
                </a:gridCol>
              </a:tblGrid>
              <a:tr h="575945">
                <a:tc>
                  <a:txBody>
                    <a:bodyPr/>
                    <a:lstStyle/>
                    <a:p>
                      <a:pPr marL="91440" marR="610870">
                        <a:lnSpc>
                          <a:spcPct val="100000"/>
                        </a:lnSpc>
                        <a:spcBef>
                          <a:spcPts val="30"/>
                        </a:spcBef>
                      </a:pPr>
                      <a:r>
                        <a:rPr sz="1800" b="1" spc="-10" dirty="0">
                          <a:solidFill>
                            <a:srgbClr val="111111"/>
                          </a:solidFill>
                          <a:latin typeface="Arial"/>
                          <a:cs typeface="Arial"/>
                        </a:rPr>
                        <a:t>Closed </a:t>
                      </a:r>
                      <a:r>
                        <a:rPr sz="1800" b="1" spc="-20" dirty="0">
                          <a:solidFill>
                            <a:srgbClr val="111111"/>
                          </a:solidFill>
                          <a:latin typeface="Arial"/>
                          <a:cs typeface="Arial"/>
                        </a:rPr>
                        <a:t>Node</a:t>
                      </a:r>
                      <a:endParaRPr sz="1800">
                        <a:latin typeface="Arial"/>
                        <a:cs typeface="Arial"/>
                      </a:endParaRPr>
                    </a:p>
                  </a:txBody>
                  <a:tcPr marL="0" marR="0" marT="3810" marB="0">
                    <a:lnR w="12700">
                      <a:solidFill>
                        <a:srgbClr val="000000"/>
                      </a:solidFill>
                      <a:prstDash val="solid"/>
                    </a:lnR>
                    <a:lnT w="38100">
                      <a:solidFill>
                        <a:srgbClr val="000000"/>
                      </a:solidFill>
                      <a:prstDash val="solid"/>
                    </a:lnT>
                    <a:lnB w="12700">
                      <a:solidFill>
                        <a:srgbClr val="000000"/>
                      </a:solidFill>
                      <a:prstDash val="solid"/>
                    </a:lnB>
                  </a:tcPr>
                </a:tc>
                <a:tc>
                  <a:txBody>
                    <a:bodyPr/>
                    <a:lstStyle/>
                    <a:p>
                      <a:pPr marL="91440">
                        <a:lnSpc>
                          <a:spcPct val="100000"/>
                        </a:lnSpc>
                        <a:spcBef>
                          <a:spcPts val="30"/>
                        </a:spcBef>
                      </a:pPr>
                      <a:r>
                        <a:rPr sz="1800" b="1" dirty="0">
                          <a:solidFill>
                            <a:srgbClr val="111111"/>
                          </a:solidFill>
                          <a:latin typeface="Arial"/>
                          <a:cs typeface="Arial"/>
                        </a:rPr>
                        <a:t>Open</a:t>
                      </a:r>
                      <a:r>
                        <a:rPr sz="1800" b="1" spc="-10" dirty="0">
                          <a:solidFill>
                            <a:srgbClr val="111111"/>
                          </a:solidFill>
                          <a:latin typeface="Arial"/>
                          <a:cs typeface="Arial"/>
                        </a:rPr>
                        <a:t> </a:t>
                      </a:r>
                      <a:r>
                        <a:rPr sz="1800" b="1" spc="-20" dirty="0">
                          <a:solidFill>
                            <a:srgbClr val="111111"/>
                          </a:solidFill>
                          <a:latin typeface="Arial"/>
                          <a:cs typeface="Arial"/>
                        </a:rPr>
                        <a:t>Node</a:t>
                      </a:r>
                      <a:endParaRPr sz="1800">
                        <a:latin typeface="Arial"/>
                        <a:cs typeface="Arial"/>
                      </a:endParaRPr>
                    </a:p>
                  </a:txBody>
                  <a:tcPr marL="0" marR="0" marT="3810" marB="0">
                    <a:lnL w="12700">
                      <a:solidFill>
                        <a:srgbClr val="000000"/>
                      </a:solidFill>
                      <a:prstDash val="solid"/>
                    </a:lnL>
                    <a:lnT w="381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301625">
                <a:tc>
                  <a:txBody>
                    <a:bodyPr/>
                    <a:lstStyle/>
                    <a:p>
                      <a:pPr>
                        <a:lnSpc>
                          <a:spcPct val="100000"/>
                        </a:lnSpc>
                      </a:pPr>
                      <a:endParaRPr sz="1800">
                        <a:latin typeface="Times New Roman"/>
                        <a:cs typeface="Times New Roman"/>
                      </a:endParaRPr>
                    </a:p>
                  </a:txBody>
                  <a:tcPr marL="0" marR="0" marT="0" marB="0">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30"/>
                        </a:spcBef>
                      </a:pPr>
                      <a:r>
                        <a:rPr sz="1800" spc="-25" dirty="0">
                          <a:solidFill>
                            <a:srgbClr val="111111"/>
                          </a:solidFill>
                          <a:latin typeface="Arial MT"/>
                          <a:cs typeface="Arial MT"/>
                        </a:rPr>
                        <a:t>{S}</a:t>
                      </a:r>
                      <a:endParaRPr sz="1800">
                        <a:latin typeface="Arial MT"/>
                        <a:cs typeface="Arial MT"/>
                      </a:endParaRPr>
                    </a:p>
                  </a:txBody>
                  <a:tcPr marL="0" marR="0" marT="3810" marB="0">
                    <a:lnL w="12700">
                      <a:solidFill>
                        <a:srgbClr val="000000"/>
                      </a:solidFill>
                      <a:prstDash val="solid"/>
                    </a:lnL>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301625">
                <a:tc>
                  <a:txBody>
                    <a:bodyPr/>
                    <a:lstStyle/>
                    <a:p>
                      <a:pPr marL="91440">
                        <a:lnSpc>
                          <a:spcPct val="100000"/>
                        </a:lnSpc>
                        <a:spcBef>
                          <a:spcPts val="30"/>
                        </a:spcBef>
                      </a:pPr>
                      <a:r>
                        <a:rPr sz="1800" spc="-50" dirty="0">
                          <a:solidFill>
                            <a:srgbClr val="111111"/>
                          </a:solidFill>
                          <a:latin typeface="Arial MT"/>
                          <a:cs typeface="Arial MT"/>
                        </a:rPr>
                        <a:t>S</a:t>
                      </a:r>
                      <a:endParaRPr sz="1800">
                        <a:latin typeface="Arial MT"/>
                        <a:cs typeface="Arial MT"/>
                      </a:endParaRPr>
                    </a:p>
                  </a:txBody>
                  <a:tcPr marL="0" marR="0" marT="3810" marB="0">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30"/>
                        </a:spcBef>
                      </a:pPr>
                      <a:r>
                        <a:rPr sz="1800" spc="-10" dirty="0">
                          <a:solidFill>
                            <a:srgbClr val="111111"/>
                          </a:solidFill>
                          <a:latin typeface="Arial MT"/>
                          <a:cs typeface="Arial MT"/>
                        </a:rPr>
                        <a:t>{B:2,C:4,A:5}</a:t>
                      </a:r>
                      <a:endParaRPr sz="1800">
                        <a:latin typeface="Arial MT"/>
                        <a:cs typeface="Arial MT"/>
                      </a:endParaRPr>
                    </a:p>
                  </a:txBody>
                  <a:tcPr marL="0" marR="0" marT="3810" marB="0">
                    <a:lnL w="12700">
                      <a:solidFill>
                        <a:srgbClr val="000000"/>
                      </a:solidFill>
                      <a:prstDash val="solid"/>
                    </a:lnL>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306070">
                <a:tc>
                  <a:txBody>
                    <a:bodyPr/>
                    <a:lstStyle/>
                    <a:p>
                      <a:pPr marL="91440">
                        <a:lnSpc>
                          <a:spcPct val="100000"/>
                        </a:lnSpc>
                        <a:spcBef>
                          <a:spcPts val="35"/>
                        </a:spcBef>
                      </a:pPr>
                      <a:r>
                        <a:rPr sz="1800" spc="-50" dirty="0">
                          <a:solidFill>
                            <a:srgbClr val="111111"/>
                          </a:solidFill>
                          <a:latin typeface="Arial MT"/>
                          <a:cs typeface="Arial MT"/>
                        </a:rPr>
                        <a:t>B</a:t>
                      </a:r>
                      <a:endParaRPr sz="1800">
                        <a:latin typeface="Arial MT"/>
                        <a:cs typeface="Arial MT"/>
                      </a:endParaRPr>
                    </a:p>
                  </a:txBody>
                  <a:tcPr marL="0" marR="0" marT="4445" marB="0">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35"/>
                        </a:spcBef>
                      </a:pPr>
                      <a:r>
                        <a:rPr sz="1800" spc="-10" dirty="0">
                          <a:solidFill>
                            <a:srgbClr val="111111"/>
                          </a:solidFill>
                          <a:latin typeface="Arial MT"/>
                          <a:cs typeface="Arial MT"/>
                        </a:rPr>
                        <a:t>{C:4,A:5,G:8}</a:t>
                      </a:r>
                      <a:endParaRPr sz="1800">
                        <a:latin typeface="Arial MT"/>
                        <a:cs typeface="Arial MT"/>
                      </a:endParaRPr>
                    </a:p>
                  </a:txBody>
                  <a:tcPr marL="0" marR="0" marT="4445" marB="0">
                    <a:lnL w="12700">
                      <a:solidFill>
                        <a:srgbClr val="000000"/>
                      </a:solidFill>
                      <a:prstDash val="solid"/>
                    </a:lnL>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321945">
                <a:tc>
                  <a:txBody>
                    <a:bodyPr/>
                    <a:lstStyle/>
                    <a:p>
                      <a:pPr marL="91440">
                        <a:lnSpc>
                          <a:spcPct val="100000"/>
                        </a:lnSpc>
                        <a:spcBef>
                          <a:spcPts val="30"/>
                        </a:spcBef>
                      </a:pPr>
                      <a:r>
                        <a:rPr sz="1800" dirty="0">
                          <a:solidFill>
                            <a:srgbClr val="111111"/>
                          </a:solidFill>
                          <a:latin typeface="Arial MT"/>
                          <a:cs typeface="Arial MT"/>
                        </a:rPr>
                        <a:t>C</a:t>
                      </a:r>
                      <a:r>
                        <a:rPr sz="1800" spc="-15" dirty="0">
                          <a:solidFill>
                            <a:srgbClr val="111111"/>
                          </a:solidFill>
                          <a:latin typeface="Arial MT"/>
                          <a:cs typeface="Arial MT"/>
                        </a:rPr>
                        <a:t> </a:t>
                      </a:r>
                      <a:r>
                        <a:rPr sz="1800" dirty="0">
                          <a:solidFill>
                            <a:srgbClr val="FF7B80"/>
                          </a:solidFill>
                          <a:latin typeface="Arial MT"/>
                          <a:cs typeface="Arial MT"/>
                        </a:rPr>
                        <a:t>not</a:t>
                      </a:r>
                      <a:r>
                        <a:rPr sz="1800" spc="-10" dirty="0">
                          <a:solidFill>
                            <a:srgbClr val="FF7B80"/>
                          </a:solidFill>
                          <a:latin typeface="Arial MT"/>
                          <a:cs typeface="Arial MT"/>
                        </a:rPr>
                        <a:t> </a:t>
                      </a:r>
                      <a:r>
                        <a:rPr sz="1800" spc="-20" dirty="0">
                          <a:solidFill>
                            <a:srgbClr val="FF7B80"/>
                          </a:solidFill>
                          <a:latin typeface="Arial MT"/>
                          <a:cs typeface="Arial MT"/>
                        </a:rPr>
                        <a:t>goal</a:t>
                      </a:r>
                      <a:endParaRPr sz="1800">
                        <a:latin typeface="Arial MT"/>
                        <a:cs typeface="Arial MT"/>
                      </a:endParaRPr>
                    </a:p>
                  </a:txBody>
                  <a:tcPr marL="0" marR="0" marT="3810" marB="0">
                    <a:lnR w="12700">
                      <a:solidFill>
                        <a:srgbClr val="000000"/>
                      </a:solidFill>
                      <a:prstDash val="solid"/>
                    </a:lnR>
                    <a:lnT w="12700">
                      <a:solidFill>
                        <a:srgbClr val="000000"/>
                      </a:solidFill>
                      <a:prstDash val="solid"/>
                    </a:lnT>
                    <a:lnB w="38100">
                      <a:solidFill>
                        <a:srgbClr val="000000"/>
                      </a:solidFill>
                      <a:prstDash val="solid"/>
                    </a:lnB>
                  </a:tcPr>
                </a:tc>
                <a:tc>
                  <a:txBody>
                    <a:bodyPr/>
                    <a:lstStyle/>
                    <a:p>
                      <a:pPr marL="91440">
                        <a:lnSpc>
                          <a:spcPct val="100000"/>
                        </a:lnSpc>
                        <a:spcBef>
                          <a:spcPts val="30"/>
                        </a:spcBef>
                      </a:pPr>
                      <a:r>
                        <a:rPr sz="1800" spc="-10" dirty="0">
                          <a:solidFill>
                            <a:srgbClr val="111111"/>
                          </a:solidFill>
                          <a:latin typeface="Arial MT"/>
                          <a:cs typeface="Arial MT"/>
                        </a:rPr>
                        <a:t>{A:5</a:t>
                      </a:r>
                      <a:r>
                        <a:rPr sz="1800" spc="-10" dirty="0">
                          <a:solidFill>
                            <a:srgbClr val="C0504D"/>
                          </a:solidFill>
                          <a:latin typeface="Arial MT"/>
                          <a:cs typeface="Arial MT"/>
                        </a:rPr>
                        <a:t>,F:4+2</a:t>
                      </a:r>
                      <a:r>
                        <a:rPr sz="1800" spc="-10" dirty="0">
                          <a:solidFill>
                            <a:srgbClr val="111111"/>
                          </a:solidFill>
                          <a:latin typeface="Arial MT"/>
                          <a:cs typeface="Arial MT"/>
                        </a:rPr>
                        <a:t>,G:8}</a:t>
                      </a:r>
                      <a:endParaRPr sz="1800">
                        <a:latin typeface="Arial MT"/>
                        <a:cs typeface="Arial MT"/>
                      </a:endParaRPr>
                    </a:p>
                  </a:txBody>
                  <a:tcPr marL="0" marR="0" marT="3810" marB="0">
                    <a:lnL w="12700">
                      <a:solidFill>
                        <a:srgbClr val="000000"/>
                      </a:solidFill>
                      <a:prstDash val="solid"/>
                    </a:lnL>
                    <a:lnT w="12700">
                      <a:solidFill>
                        <a:srgbClr val="000000"/>
                      </a:solidFill>
                      <a:prstDash val="solid"/>
                    </a:lnT>
                    <a:lnB w="38100">
                      <a:solidFill>
                        <a:srgbClr val="000000"/>
                      </a:solidFill>
                      <a:prstDash val="solid"/>
                    </a:lnB>
                  </a:tcPr>
                </a:tc>
                <a:extLst>
                  <a:ext uri="{0D108BD9-81ED-4DB2-BD59-A6C34878D82A}">
                    <a16:rowId xmlns:a16="http://schemas.microsoft.com/office/drawing/2014/main" val="10004"/>
                  </a:ext>
                </a:extLst>
              </a:tr>
            </a:tbl>
          </a:graphicData>
        </a:graphic>
      </p:graphicFrame>
      <p:pic>
        <p:nvPicPr>
          <p:cNvPr id="15" name="object 14">
            <a:extLst>
              <a:ext uri="{FF2B5EF4-FFF2-40B4-BE49-F238E27FC236}">
                <a16:creationId xmlns:a16="http://schemas.microsoft.com/office/drawing/2014/main" id="{B3C5A870-85D3-6423-3BE6-332838033E90}"/>
              </a:ext>
            </a:extLst>
          </p:cNvPr>
          <p:cNvPicPr/>
          <p:nvPr/>
        </p:nvPicPr>
        <p:blipFill>
          <a:blip r:embed="rId2" cstate="print"/>
          <a:stretch>
            <a:fillRect/>
          </a:stretch>
        </p:blipFill>
        <p:spPr>
          <a:xfrm>
            <a:off x="5017261" y="2502661"/>
            <a:ext cx="3911599" cy="4140200"/>
          </a:xfrm>
          <a:prstGeom prst="rect">
            <a:avLst/>
          </a:prstGeom>
        </p:spPr>
      </p:pic>
      <p:sp>
        <p:nvSpPr>
          <p:cNvPr id="16" name="object 15">
            <a:extLst>
              <a:ext uri="{FF2B5EF4-FFF2-40B4-BE49-F238E27FC236}">
                <a16:creationId xmlns:a16="http://schemas.microsoft.com/office/drawing/2014/main" id="{EA9EA425-02D9-2FCD-AEE7-95BEA3AA65C1}"/>
              </a:ext>
            </a:extLst>
          </p:cNvPr>
          <p:cNvSpPr txBox="1"/>
          <p:nvPr/>
        </p:nvSpPr>
        <p:spPr>
          <a:xfrm>
            <a:off x="7195566" y="2545842"/>
            <a:ext cx="470534" cy="535940"/>
          </a:xfrm>
          <a:prstGeom prst="rect">
            <a:avLst/>
          </a:prstGeom>
        </p:spPr>
        <p:txBody>
          <a:bodyPr vert="horz" wrap="square" lIns="0" tIns="13335" rIns="0" bIns="0" rtlCol="0">
            <a:spAutoFit/>
          </a:bodyPr>
          <a:lstStyle/>
          <a:p>
            <a:pPr algn="ctr">
              <a:lnSpc>
                <a:spcPts val="2130"/>
              </a:lnSpc>
              <a:spcBef>
                <a:spcPts val="105"/>
              </a:spcBef>
            </a:pPr>
            <a:r>
              <a:rPr sz="2000" b="1" spc="-50" dirty="0">
                <a:latin typeface="Arial"/>
                <a:cs typeface="Arial"/>
              </a:rPr>
              <a:t>S</a:t>
            </a:r>
            <a:endParaRPr sz="2000">
              <a:latin typeface="Arial"/>
              <a:cs typeface="Arial"/>
            </a:endParaRPr>
          </a:p>
          <a:p>
            <a:pPr algn="ctr">
              <a:lnSpc>
                <a:spcPts val="1889"/>
              </a:lnSpc>
            </a:pPr>
            <a:r>
              <a:rPr sz="1800" spc="-10" dirty="0">
                <a:solidFill>
                  <a:srgbClr val="FFFFFF"/>
                </a:solidFill>
                <a:latin typeface="Arial MT"/>
                <a:cs typeface="Arial MT"/>
              </a:rPr>
              <a:t>start</a:t>
            </a:r>
            <a:endParaRPr sz="1800">
              <a:latin typeface="Arial MT"/>
              <a:cs typeface="Arial MT"/>
            </a:endParaRPr>
          </a:p>
        </p:txBody>
      </p:sp>
      <p:sp>
        <p:nvSpPr>
          <p:cNvPr id="17" name="object 23">
            <a:extLst>
              <a:ext uri="{FF2B5EF4-FFF2-40B4-BE49-F238E27FC236}">
                <a16:creationId xmlns:a16="http://schemas.microsoft.com/office/drawing/2014/main" id="{EDA2F8D4-EE2C-826B-C1FB-1068199819BA}"/>
              </a:ext>
            </a:extLst>
          </p:cNvPr>
          <p:cNvSpPr txBox="1"/>
          <p:nvPr/>
        </p:nvSpPr>
        <p:spPr>
          <a:xfrm>
            <a:off x="5267325" y="6139412"/>
            <a:ext cx="209550" cy="309880"/>
          </a:xfrm>
          <a:prstGeom prst="rect">
            <a:avLst/>
          </a:prstGeom>
        </p:spPr>
        <p:txBody>
          <a:bodyPr vert="horz" wrap="square" lIns="0" tIns="0" rIns="0" bIns="0" rtlCol="0">
            <a:spAutoFit/>
          </a:bodyPr>
          <a:lstStyle/>
          <a:p>
            <a:pPr marL="12700">
              <a:lnSpc>
                <a:spcPts val="2315"/>
              </a:lnSpc>
            </a:pPr>
            <a:r>
              <a:rPr sz="2000" b="1" spc="-50" dirty="0">
                <a:latin typeface="Arial"/>
                <a:cs typeface="Arial"/>
              </a:rPr>
              <a:t>H</a:t>
            </a:r>
            <a:endParaRPr sz="2000">
              <a:latin typeface="Arial"/>
              <a:cs typeface="Arial"/>
            </a:endParaRPr>
          </a:p>
        </p:txBody>
      </p:sp>
      <p:sp>
        <p:nvSpPr>
          <p:cNvPr id="18" name="object 16">
            <a:extLst>
              <a:ext uri="{FF2B5EF4-FFF2-40B4-BE49-F238E27FC236}">
                <a16:creationId xmlns:a16="http://schemas.microsoft.com/office/drawing/2014/main" id="{A36CA34A-B4AD-0099-4BDE-140A0B60A8F4}"/>
              </a:ext>
            </a:extLst>
          </p:cNvPr>
          <p:cNvSpPr txBox="1"/>
          <p:nvPr/>
        </p:nvSpPr>
        <p:spPr>
          <a:xfrm>
            <a:off x="6181725" y="3828363"/>
            <a:ext cx="209550" cy="331470"/>
          </a:xfrm>
          <a:prstGeom prst="rect">
            <a:avLst/>
          </a:prstGeom>
        </p:spPr>
        <p:txBody>
          <a:bodyPr vert="horz" wrap="square" lIns="0" tIns="13335" rIns="0" bIns="0" rtlCol="0">
            <a:spAutoFit/>
          </a:bodyPr>
          <a:lstStyle/>
          <a:p>
            <a:pPr marL="12700">
              <a:lnSpc>
                <a:spcPct val="100000"/>
              </a:lnSpc>
              <a:spcBef>
                <a:spcPts val="105"/>
              </a:spcBef>
            </a:pPr>
            <a:r>
              <a:rPr sz="2000" b="1" spc="-50" dirty="0">
                <a:latin typeface="Arial"/>
                <a:cs typeface="Arial"/>
              </a:rPr>
              <a:t>A</a:t>
            </a:r>
            <a:endParaRPr sz="2000">
              <a:latin typeface="Arial"/>
              <a:cs typeface="Arial"/>
            </a:endParaRPr>
          </a:p>
        </p:txBody>
      </p:sp>
      <p:sp>
        <p:nvSpPr>
          <p:cNvPr id="19" name="object 17">
            <a:extLst>
              <a:ext uri="{FF2B5EF4-FFF2-40B4-BE49-F238E27FC236}">
                <a16:creationId xmlns:a16="http://schemas.microsoft.com/office/drawing/2014/main" id="{B3A0D059-074D-C471-E86C-47F3E53DB985}"/>
              </a:ext>
            </a:extLst>
          </p:cNvPr>
          <p:cNvSpPr txBox="1"/>
          <p:nvPr/>
        </p:nvSpPr>
        <p:spPr>
          <a:xfrm>
            <a:off x="6189726" y="4972050"/>
            <a:ext cx="195580" cy="330835"/>
          </a:xfrm>
          <a:prstGeom prst="rect">
            <a:avLst/>
          </a:prstGeom>
        </p:spPr>
        <p:txBody>
          <a:bodyPr vert="horz" wrap="square" lIns="0" tIns="12700" rIns="0" bIns="0" rtlCol="0">
            <a:spAutoFit/>
          </a:bodyPr>
          <a:lstStyle/>
          <a:p>
            <a:pPr marL="12700">
              <a:lnSpc>
                <a:spcPct val="100000"/>
              </a:lnSpc>
              <a:spcBef>
                <a:spcPts val="100"/>
              </a:spcBef>
            </a:pPr>
            <a:r>
              <a:rPr sz="2000" b="1" spc="-50" dirty="0">
                <a:latin typeface="Arial"/>
                <a:cs typeface="Arial"/>
              </a:rPr>
              <a:t>E</a:t>
            </a:r>
            <a:endParaRPr sz="2000">
              <a:latin typeface="Arial"/>
              <a:cs typeface="Arial"/>
            </a:endParaRPr>
          </a:p>
        </p:txBody>
      </p:sp>
      <p:sp>
        <p:nvSpPr>
          <p:cNvPr id="20" name="object 18">
            <a:extLst>
              <a:ext uri="{FF2B5EF4-FFF2-40B4-BE49-F238E27FC236}">
                <a16:creationId xmlns:a16="http://schemas.microsoft.com/office/drawing/2014/main" id="{919383C0-BE60-3BB2-A232-2DC56FE1439E}"/>
              </a:ext>
            </a:extLst>
          </p:cNvPr>
          <p:cNvSpPr txBox="1"/>
          <p:nvPr/>
        </p:nvSpPr>
        <p:spPr>
          <a:xfrm>
            <a:off x="5267325" y="4972050"/>
            <a:ext cx="209550" cy="330835"/>
          </a:xfrm>
          <a:prstGeom prst="rect">
            <a:avLst/>
          </a:prstGeom>
        </p:spPr>
        <p:txBody>
          <a:bodyPr vert="horz" wrap="square" lIns="0" tIns="12700" rIns="0" bIns="0" rtlCol="0">
            <a:spAutoFit/>
          </a:bodyPr>
          <a:lstStyle/>
          <a:p>
            <a:pPr marL="12700">
              <a:lnSpc>
                <a:spcPct val="100000"/>
              </a:lnSpc>
              <a:spcBef>
                <a:spcPts val="100"/>
              </a:spcBef>
            </a:pPr>
            <a:r>
              <a:rPr sz="2000" b="1" spc="-50" dirty="0">
                <a:latin typeface="Arial"/>
                <a:cs typeface="Arial"/>
              </a:rPr>
              <a:t>D</a:t>
            </a:r>
            <a:endParaRPr sz="2000">
              <a:latin typeface="Arial"/>
              <a:cs typeface="Arial"/>
            </a:endParaRPr>
          </a:p>
        </p:txBody>
      </p:sp>
      <p:sp>
        <p:nvSpPr>
          <p:cNvPr id="21" name="object 19">
            <a:extLst>
              <a:ext uri="{FF2B5EF4-FFF2-40B4-BE49-F238E27FC236}">
                <a16:creationId xmlns:a16="http://schemas.microsoft.com/office/drawing/2014/main" id="{F7568F68-0BEB-1808-4CF4-8BB072CDDD6E}"/>
              </a:ext>
            </a:extLst>
          </p:cNvPr>
          <p:cNvSpPr txBox="1"/>
          <p:nvPr/>
        </p:nvSpPr>
        <p:spPr>
          <a:xfrm>
            <a:off x="8483600" y="4972050"/>
            <a:ext cx="180975" cy="330835"/>
          </a:xfrm>
          <a:prstGeom prst="rect">
            <a:avLst/>
          </a:prstGeom>
        </p:spPr>
        <p:txBody>
          <a:bodyPr vert="horz" wrap="square" lIns="0" tIns="12700" rIns="0" bIns="0" rtlCol="0">
            <a:spAutoFit/>
          </a:bodyPr>
          <a:lstStyle/>
          <a:p>
            <a:pPr marL="12700">
              <a:lnSpc>
                <a:spcPct val="100000"/>
              </a:lnSpc>
              <a:spcBef>
                <a:spcPts val="100"/>
              </a:spcBef>
            </a:pPr>
            <a:r>
              <a:rPr sz="2000" b="1" spc="-50" dirty="0">
                <a:latin typeface="Arial"/>
                <a:cs typeface="Arial"/>
              </a:rPr>
              <a:t>F</a:t>
            </a:r>
            <a:endParaRPr sz="2000">
              <a:latin typeface="Arial"/>
              <a:cs typeface="Arial"/>
            </a:endParaRPr>
          </a:p>
        </p:txBody>
      </p:sp>
      <p:sp>
        <p:nvSpPr>
          <p:cNvPr id="22" name="object 20">
            <a:extLst>
              <a:ext uri="{FF2B5EF4-FFF2-40B4-BE49-F238E27FC236}">
                <a16:creationId xmlns:a16="http://schemas.microsoft.com/office/drawing/2014/main" id="{A3841F7F-E096-FCD4-BB76-44947C98A247}"/>
              </a:ext>
            </a:extLst>
          </p:cNvPr>
          <p:cNvSpPr txBox="1"/>
          <p:nvPr/>
        </p:nvSpPr>
        <p:spPr>
          <a:xfrm>
            <a:off x="7325106" y="3828363"/>
            <a:ext cx="209550" cy="331470"/>
          </a:xfrm>
          <a:prstGeom prst="rect">
            <a:avLst/>
          </a:prstGeom>
        </p:spPr>
        <p:txBody>
          <a:bodyPr vert="horz" wrap="square" lIns="0" tIns="13335" rIns="0" bIns="0" rtlCol="0">
            <a:spAutoFit/>
          </a:bodyPr>
          <a:lstStyle/>
          <a:p>
            <a:pPr marL="12700">
              <a:lnSpc>
                <a:spcPct val="100000"/>
              </a:lnSpc>
              <a:spcBef>
                <a:spcPts val="105"/>
              </a:spcBef>
            </a:pPr>
            <a:r>
              <a:rPr sz="2000" b="1" spc="-50" dirty="0">
                <a:latin typeface="Arial"/>
                <a:cs typeface="Arial"/>
              </a:rPr>
              <a:t>B</a:t>
            </a:r>
            <a:endParaRPr sz="2000">
              <a:latin typeface="Arial"/>
              <a:cs typeface="Arial"/>
            </a:endParaRPr>
          </a:p>
        </p:txBody>
      </p:sp>
      <p:sp>
        <p:nvSpPr>
          <p:cNvPr id="23" name="object 21">
            <a:extLst>
              <a:ext uri="{FF2B5EF4-FFF2-40B4-BE49-F238E27FC236}">
                <a16:creationId xmlns:a16="http://schemas.microsoft.com/office/drawing/2014/main" id="{A143BBCB-1A0D-1BE7-AA2A-DDE5ABEA79AC}"/>
              </a:ext>
            </a:extLst>
          </p:cNvPr>
          <p:cNvSpPr txBox="1"/>
          <p:nvPr/>
        </p:nvSpPr>
        <p:spPr>
          <a:xfrm>
            <a:off x="7203185" y="4355624"/>
            <a:ext cx="455295" cy="997585"/>
          </a:xfrm>
          <a:prstGeom prst="rect">
            <a:avLst/>
          </a:prstGeom>
        </p:spPr>
        <p:txBody>
          <a:bodyPr vert="horz" wrap="square" lIns="0" tIns="104775" rIns="0" bIns="0" rtlCol="0">
            <a:spAutoFit/>
          </a:bodyPr>
          <a:lstStyle/>
          <a:p>
            <a:pPr marL="52069">
              <a:lnSpc>
                <a:spcPct val="100000"/>
              </a:lnSpc>
              <a:spcBef>
                <a:spcPts val="825"/>
              </a:spcBef>
            </a:pPr>
            <a:r>
              <a:rPr sz="1800" b="1" spc="-50" dirty="0">
                <a:latin typeface="Arial"/>
                <a:cs typeface="Arial"/>
              </a:rPr>
              <a:t>6</a:t>
            </a:r>
            <a:endParaRPr sz="1800">
              <a:latin typeface="Arial"/>
              <a:cs typeface="Arial"/>
            </a:endParaRPr>
          </a:p>
          <a:p>
            <a:pPr marL="128270">
              <a:lnSpc>
                <a:spcPts val="2100"/>
              </a:lnSpc>
              <a:spcBef>
                <a:spcPts val="810"/>
              </a:spcBef>
            </a:pPr>
            <a:r>
              <a:rPr sz="2000" b="1" spc="-50" dirty="0">
                <a:latin typeface="Arial"/>
                <a:cs typeface="Arial"/>
              </a:rPr>
              <a:t>G</a:t>
            </a:r>
            <a:endParaRPr sz="2000">
              <a:latin typeface="Arial"/>
              <a:cs typeface="Arial"/>
            </a:endParaRPr>
          </a:p>
          <a:p>
            <a:pPr marL="12700">
              <a:lnSpc>
                <a:spcPts val="1860"/>
              </a:lnSpc>
            </a:pPr>
            <a:r>
              <a:rPr sz="1800" spc="-20" dirty="0">
                <a:solidFill>
                  <a:srgbClr val="FFFFFF"/>
                </a:solidFill>
                <a:latin typeface="Arial MT"/>
                <a:cs typeface="Arial MT"/>
              </a:rPr>
              <a:t>goal</a:t>
            </a:r>
            <a:endParaRPr sz="1800">
              <a:latin typeface="Arial MT"/>
              <a:cs typeface="Arial MT"/>
            </a:endParaRPr>
          </a:p>
        </p:txBody>
      </p:sp>
      <p:sp>
        <p:nvSpPr>
          <p:cNvPr id="24" name="object 22">
            <a:extLst>
              <a:ext uri="{FF2B5EF4-FFF2-40B4-BE49-F238E27FC236}">
                <a16:creationId xmlns:a16="http://schemas.microsoft.com/office/drawing/2014/main" id="{7A8A0BF1-7408-B254-B552-8FAB63F8AF6F}"/>
              </a:ext>
            </a:extLst>
          </p:cNvPr>
          <p:cNvSpPr txBox="1"/>
          <p:nvPr/>
        </p:nvSpPr>
        <p:spPr>
          <a:xfrm>
            <a:off x="8468359" y="3828363"/>
            <a:ext cx="209550" cy="331470"/>
          </a:xfrm>
          <a:prstGeom prst="rect">
            <a:avLst/>
          </a:prstGeom>
        </p:spPr>
        <p:txBody>
          <a:bodyPr vert="horz" wrap="square" lIns="0" tIns="13335" rIns="0" bIns="0" rtlCol="0">
            <a:spAutoFit/>
          </a:bodyPr>
          <a:lstStyle/>
          <a:p>
            <a:pPr marL="12700">
              <a:lnSpc>
                <a:spcPct val="100000"/>
              </a:lnSpc>
              <a:spcBef>
                <a:spcPts val="105"/>
              </a:spcBef>
            </a:pPr>
            <a:r>
              <a:rPr sz="2000" b="1" spc="-50" dirty="0">
                <a:latin typeface="Arial"/>
                <a:cs typeface="Arial"/>
              </a:rPr>
              <a:t>C</a:t>
            </a:r>
            <a:endParaRPr sz="2000">
              <a:latin typeface="Arial"/>
              <a:cs typeface="Arial"/>
            </a:endParaRPr>
          </a:p>
        </p:txBody>
      </p:sp>
    </p:spTree>
    <p:extLst>
      <p:ext uri="{BB962C8B-B14F-4D97-AF65-F5344CB8AC3E}">
        <p14:creationId xmlns:p14="http://schemas.microsoft.com/office/powerpoint/2010/main" val="324086419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07F7F9-6313-DD15-6DF3-B6C81535E7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6DA97A-EDCF-6D1C-63ED-BBEE33AA4FA3}"/>
              </a:ext>
            </a:extLst>
          </p:cNvPr>
          <p:cNvSpPr>
            <a:spLocks noGrp="1"/>
          </p:cNvSpPr>
          <p:nvPr>
            <p:ph type="title"/>
          </p:nvPr>
        </p:nvSpPr>
        <p:spPr/>
        <p:txBody>
          <a:bodyPr/>
          <a:lstStyle/>
          <a:p>
            <a:r>
              <a:rPr lang="en-US" dirty="0"/>
              <a:t>Uniform Cost Search</a:t>
            </a:r>
          </a:p>
        </p:txBody>
      </p:sp>
      <p:sp>
        <p:nvSpPr>
          <p:cNvPr id="3" name="object 2">
            <a:extLst>
              <a:ext uri="{FF2B5EF4-FFF2-40B4-BE49-F238E27FC236}">
                <a16:creationId xmlns:a16="http://schemas.microsoft.com/office/drawing/2014/main" id="{BF955C37-CCC1-EB68-EF4D-A0B25B37AA72}"/>
              </a:ext>
            </a:extLst>
          </p:cNvPr>
          <p:cNvSpPr txBox="1"/>
          <p:nvPr/>
        </p:nvSpPr>
        <p:spPr>
          <a:xfrm>
            <a:off x="6251828" y="3304413"/>
            <a:ext cx="153035" cy="299720"/>
          </a:xfrm>
          <a:prstGeom prst="rect">
            <a:avLst/>
          </a:prstGeom>
        </p:spPr>
        <p:txBody>
          <a:bodyPr vert="horz" wrap="square" lIns="0" tIns="12700" rIns="0" bIns="0" rtlCol="0">
            <a:spAutoFit/>
          </a:bodyPr>
          <a:lstStyle/>
          <a:p>
            <a:pPr marL="12700">
              <a:lnSpc>
                <a:spcPct val="100000"/>
              </a:lnSpc>
              <a:spcBef>
                <a:spcPts val="100"/>
              </a:spcBef>
            </a:pPr>
            <a:r>
              <a:rPr sz="1800" b="1" spc="-50" dirty="0">
                <a:latin typeface="Arial"/>
                <a:cs typeface="Arial"/>
              </a:rPr>
              <a:t>5</a:t>
            </a:r>
            <a:endParaRPr sz="1800">
              <a:latin typeface="Arial"/>
              <a:cs typeface="Arial"/>
            </a:endParaRPr>
          </a:p>
        </p:txBody>
      </p:sp>
      <p:sp>
        <p:nvSpPr>
          <p:cNvPr id="4" name="object 3">
            <a:extLst>
              <a:ext uri="{FF2B5EF4-FFF2-40B4-BE49-F238E27FC236}">
                <a16:creationId xmlns:a16="http://schemas.microsoft.com/office/drawing/2014/main" id="{D8022C08-B0A1-E057-6779-DF8E94F56B63}"/>
              </a:ext>
            </a:extLst>
          </p:cNvPr>
          <p:cNvSpPr txBox="1"/>
          <p:nvPr/>
        </p:nvSpPr>
        <p:spPr>
          <a:xfrm>
            <a:off x="7242809" y="3304413"/>
            <a:ext cx="153035" cy="299720"/>
          </a:xfrm>
          <a:prstGeom prst="rect">
            <a:avLst/>
          </a:prstGeom>
        </p:spPr>
        <p:txBody>
          <a:bodyPr vert="horz" wrap="square" lIns="0" tIns="12700" rIns="0" bIns="0" rtlCol="0">
            <a:spAutoFit/>
          </a:bodyPr>
          <a:lstStyle/>
          <a:p>
            <a:pPr marL="12700">
              <a:lnSpc>
                <a:spcPct val="100000"/>
              </a:lnSpc>
              <a:spcBef>
                <a:spcPts val="100"/>
              </a:spcBef>
            </a:pPr>
            <a:r>
              <a:rPr sz="1800" b="1" spc="-50" dirty="0">
                <a:latin typeface="Arial"/>
                <a:cs typeface="Arial"/>
              </a:rPr>
              <a:t>2</a:t>
            </a:r>
            <a:endParaRPr sz="1800">
              <a:latin typeface="Arial"/>
              <a:cs typeface="Arial"/>
            </a:endParaRPr>
          </a:p>
        </p:txBody>
      </p:sp>
      <p:sp>
        <p:nvSpPr>
          <p:cNvPr id="5" name="object 4">
            <a:extLst>
              <a:ext uri="{FF2B5EF4-FFF2-40B4-BE49-F238E27FC236}">
                <a16:creationId xmlns:a16="http://schemas.microsoft.com/office/drawing/2014/main" id="{4939529B-36F6-850F-B636-9CF8D179BD7E}"/>
              </a:ext>
            </a:extLst>
          </p:cNvPr>
          <p:cNvSpPr txBox="1"/>
          <p:nvPr/>
        </p:nvSpPr>
        <p:spPr>
          <a:xfrm>
            <a:off x="5337428" y="4447794"/>
            <a:ext cx="153035" cy="299720"/>
          </a:xfrm>
          <a:prstGeom prst="rect">
            <a:avLst/>
          </a:prstGeom>
        </p:spPr>
        <p:txBody>
          <a:bodyPr vert="horz" wrap="square" lIns="0" tIns="12700" rIns="0" bIns="0" rtlCol="0">
            <a:spAutoFit/>
          </a:bodyPr>
          <a:lstStyle/>
          <a:p>
            <a:pPr marL="12700">
              <a:lnSpc>
                <a:spcPct val="100000"/>
              </a:lnSpc>
              <a:spcBef>
                <a:spcPts val="100"/>
              </a:spcBef>
            </a:pPr>
            <a:r>
              <a:rPr sz="1800" b="1" spc="-50" dirty="0">
                <a:latin typeface="Arial"/>
                <a:cs typeface="Arial"/>
              </a:rPr>
              <a:t>9</a:t>
            </a:r>
            <a:endParaRPr sz="1800">
              <a:latin typeface="Arial"/>
              <a:cs typeface="Arial"/>
            </a:endParaRPr>
          </a:p>
        </p:txBody>
      </p:sp>
      <p:sp>
        <p:nvSpPr>
          <p:cNvPr id="6" name="object 5">
            <a:extLst>
              <a:ext uri="{FF2B5EF4-FFF2-40B4-BE49-F238E27FC236}">
                <a16:creationId xmlns:a16="http://schemas.microsoft.com/office/drawing/2014/main" id="{9B119D4E-4D91-1532-854C-557000C2E2F9}"/>
              </a:ext>
            </a:extLst>
          </p:cNvPr>
          <p:cNvSpPr txBox="1"/>
          <p:nvPr/>
        </p:nvSpPr>
        <p:spPr>
          <a:xfrm>
            <a:off x="6785229" y="4828794"/>
            <a:ext cx="153035" cy="299720"/>
          </a:xfrm>
          <a:prstGeom prst="rect">
            <a:avLst/>
          </a:prstGeom>
        </p:spPr>
        <p:txBody>
          <a:bodyPr vert="horz" wrap="square" lIns="0" tIns="12700" rIns="0" bIns="0" rtlCol="0">
            <a:spAutoFit/>
          </a:bodyPr>
          <a:lstStyle/>
          <a:p>
            <a:pPr marL="12700">
              <a:lnSpc>
                <a:spcPct val="100000"/>
              </a:lnSpc>
              <a:spcBef>
                <a:spcPts val="100"/>
              </a:spcBef>
            </a:pPr>
            <a:r>
              <a:rPr sz="1800" b="1" spc="-50" dirty="0">
                <a:latin typeface="Arial"/>
                <a:cs typeface="Arial"/>
              </a:rPr>
              <a:t>6</a:t>
            </a:r>
            <a:endParaRPr sz="1800">
              <a:latin typeface="Arial"/>
              <a:cs typeface="Arial"/>
            </a:endParaRPr>
          </a:p>
        </p:txBody>
      </p:sp>
      <p:sp>
        <p:nvSpPr>
          <p:cNvPr id="7" name="object 6">
            <a:extLst>
              <a:ext uri="{FF2B5EF4-FFF2-40B4-BE49-F238E27FC236}">
                <a16:creationId xmlns:a16="http://schemas.microsoft.com/office/drawing/2014/main" id="{4B02F2EA-CF9F-448F-AFAA-06D28F6C2FF4}"/>
              </a:ext>
            </a:extLst>
          </p:cNvPr>
          <p:cNvSpPr txBox="1"/>
          <p:nvPr/>
        </p:nvSpPr>
        <p:spPr>
          <a:xfrm>
            <a:off x="6099428" y="4447794"/>
            <a:ext cx="153035" cy="299720"/>
          </a:xfrm>
          <a:prstGeom prst="rect">
            <a:avLst/>
          </a:prstGeom>
        </p:spPr>
        <p:txBody>
          <a:bodyPr vert="horz" wrap="square" lIns="0" tIns="12700" rIns="0" bIns="0" rtlCol="0">
            <a:spAutoFit/>
          </a:bodyPr>
          <a:lstStyle/>
          <a:p>
            <a:pPr marL="12700">
              <a:lnSpc>
                <a:spcPct val="100000"/>
              </a:lnSpc>
              <a:spcBef>
                <a:spcPts val="100"/>
              </a:spcBef>
            </a:pPr>
            <a:r>
              <a:rPr sz="1800" b="1" spc="-50" dirty="0">
                <a:latin typeface="Arial"/>
                <a:cs typeface="Arial"/>
              </a:rPr>
              <a:t>4</a:t>
            </a:r>
            <a:endParaRPr sz="1800">
              <a:latin typeface="Arial"/>
              <a:cs typeface="Arial"/>
            </a:endParaRPr>
          </a:p>
        </p:txBody>
      </p:sp>
      <p:sp>
        <p:nvSpPr>
          <p:cNvPr id="8" name="object 7">
            <a:extLst>
              <a:ext uri="{FF2B5EF4-FFF2-40B4-BE49-F238E27FC236}">
                <a16:creationId xmlns:a16="http://schemas.microsoft.com/office/drawing/2014/main" id="{8E8A1FC8-9959-E0BA-E7DD-14A91270A981}"/>
              </a:ext>
            </a:extLst>
          </p:cNvPr>
          <p:cNvSpPr txBox="1"/>
          <p:nvPr/>
        </p:nvSpPr>
        <p:spPr>
          <a:xfrm>
            <a:off x="7928609" y="3304413"/>
            <a:ext cx="153035" cy="299720"/>
          </a:xfrm>
          <a:prstGeom prst="rect">
            <a:avLst/>
          </a:prstGeom>
        </p:spPr>
        <p:txBody>
          <a:bodyPr vert="horz" wrap="square" lIns="0" tIns="12700" rIns="0" bIns="0" rtlCol="0">
            <a:spAutoFit/>
          </a:bodyPr>
          <a:lstStyle/>
          <a:p>
            <a:pPr marL="12700">
              <a:lnSpc>
                <a:spcPct val="100000"/>
              </a:lnSpc>
              <a:spcBef>
                <a:spcPts val="100"/>
              </a:spcBef>
            </a:pPr>
            <a:r>
              <a:rPr sz="1800" b="1" spc="-50" dirty="0">
                <a:latin typeface="Arial"/>
                <a:cs typeface="Arial"/>
              </a:rPr>
              <a:t>4</a:t>
            </a:r>
            <a:endParaRPr sz="1800">
              <a:latin typeface="Arial"/>
              <a:cs typeface="Arial"/>
            </a:endParaRPr>
          </a:p>
        </p:txBody>
      </p:sp>
      <p:sp>
        <p:nvSpPr>
          <p:cNvPr id="9" name="object 8">
            <a:extLst>
              <a:ext uri="{FF2B5EF4-FFF2-40B4-BE49-F238E27FC236}">
                <a16:creationId xmlns:a16="http://schemas.microsoft.com/office/drawing/2014/main" id="{3788D9BC-06FF-312C-8AC1-4AB3C84B5CAD}"/>
              </a:ext>
            </a:extLst>
          </p:cNvPr>
          <p:cNvSpPr txBox="1"/>
          <p:nvPr/>
        </p:nvSpPr>
        <p:spPr>
          <a:xfrm>
            <a:off x="8385809" y="4447794"/>
            <a:ext cx="153035" cy="299720"/>
          </a:xfrm>
          <a:prstGeom prst="rect">
            <a:avLst/>
          </a:prstGeom>
        </p:spPr>
        <p:txBody>
          <a:bodyPr vert="horz" wrap="square" lIns="0" tIns="12700" rIns="0" bIns="0" rtlCol="0">
            <a:spAutoFit/>
          </a:bodyPr>
          <a:lstStyle/>
          <a:p>
            <a:pPr marL="12700">
              <a:lnSpc>
                <a:spcPct val="100000"/>
              </a:lnSpc>
              <a:spcBef>
                <a:spcPts val="100"/>
              </a:spcBef>
            </a:pPr>
            <a:r>
              <a:rPr sz="1800" b="1" spc="-50" dirty="0">
                <a:latin typeface="Arial"/>
                <a:cs typeface="Arial"/>
              </a:rPr>
              <a:t>2</a:t>
            </a:r>
            <a:endParaRPr sz="1800">
              <a:latin typeface="Arial"/>
              <a:cs typeface="Arial"/>
            </a:endParaRPr>
          </a:p>
        </p:txBody>
      </p:sp>
      <p:sp>
        <p:nvSpPr>
          <p:cNvPr id="10" name="object 9">
            <a:extLst>
              <a:ext uri="{FF2B5EF4-FFF2-40B4-BE49-F238E27FC236}">
                <a16:creationId xmlns:a16="http://schemas.microsoft.com/office/drawing/2014/main" id="{91E5B833-63BC-3B78-6813-C7D3516F5717}"/>
              </a:ext>
            </a:extLst>
          </p:cNvPr>
          <p:cNvSpPr txBox="1"/>
          <p:nvPr/>
        </p:nvSpPr>
        <p:spPr>
          <a:xfrm>
            <a:off x="7928609" y="4828794"/>
            <a:ext cx="153035" cy="299720"/>
          </a:xfrm>
          <a:prstGeom prst="rect">
            <a:avLst/>
          </a:prstGeom>
        </p:spPr>
        <p:txBody>
          <a:bodyPr vert="horz" wrap="square" lIns="0" tIns="12700" rIns="0" bIns="0" rtlCol="0">
            <a:spAutoFit/>
          </a:bodyPr>
          <a:lstStyle/>
          <a:p>
            <a:pPr marL="12700">
              <a:lnSpc>
                <a:spcPct val="100000"/>
              </a:lnSpc>
              <a:spcBef>
                <a:spcPts val="100"/>
              </a:spcBef>
            </a:pPr>
            <a:r>
              <a:rPr sz="1800" b="1" spc="-50" dirty="0">
                <a:latin typeface="Arial"/>
                <a:cs typeface="Arial"/>
              </a:rPr>
              <a:t>1</a:t>
            </a:r>
            <a:endParaRPr sz="1800">
              <a:latin typeface="Arial"/>
              <a:cs typeface="Arial"/>
            </a:endParaRPr>
          </a:p>
        </p:txBody>
      </p:sp>
      <p:sp>
        <p:nvSpPr>
          <p:cNvPr id="11" name="object 10">
            <a:extLst>
              <a:ext uri="{FF2B5EF4-FFF2-40B4-BE49-F238E27FC236}">
                <a16:creationId xmlns:a16="http://schemas.microsoft.com/office/drawing/2014/main" id="{4DB20303-F83C-1411-0C84-7FB35E883628}"/>
              </a:ext>
            </a:extLst>
          </p:cNvPr>
          <p:cNvSpPr txBox="1"/>
          <p:nvPr/>
        </p:nvSpPr>
        <p:spPr>
          <a:xfrm>
            <a:off x="5185028" y="5591047"/>
            <a:ext cx="153035" cy="299720"/>
          </a:xfrm>
          <a:prstGeom prst="rect">
            <a:avLst/>
          </a:prstGeom>
        </p:spPr>
        <p:txBody>
          <a:bodyPr vert="horz" wrap="square" lIns="0" tIns="12700" rIns="0" bIns="0" rtlCol="0">
            <a:spAutoFit/>
          </a:bodyPr>
          <a:lstStyle/>
          <a:p>
            <a:pPr marL="12700">
              <a:lnSpc>
                <a:spcPct val="100000"/>
              </a:lnSpc>
              <a:spcBef>
                <a:spcPts val="100"/>
              </a:spcBef>
            </a:pPr>
            <a:r>
              <a:rPr sz="1800" b="1" spc="-50" dirty="0">
                <a:latin typeface="Arial"/>
                <a:cs typeface="Arial"/>
              </a:rPr>
              <a:t>7</a:t>
            </a:r>
            <a:endParaRPr sz="1800">
              <a:latin typeface="Arial"/>
              <a:cs typeface="Arial"/>
            </a:endParaRPr>
          </a:p>
        </p:txBody>
      </p:sp>
      <p:sp>
        <p:nvSpPr>
          <p:cNvPr id="12" name="object 11">
            <a:extLst>
              <a:ext uri="{FF2B5EF4-FFF2-40B4-BE49-F238E27FC236}">
                <a16:creationId xmlns:a16="http://schemas.microsoft.com/office/drawing/2014/main" id="{B847472C-6A8D-5FDD-C1BC-FB80EE29197B}"/>
              </a:ext>
            </a:extLst>
          </p:cNvPr>
          <p:cNvSpPr txBox="1"/>
          <p:nvPr/>
        </p:nvSpPr>
        <p:spPr>
          <a:xfrm>
            <a:off x="993444" y="2310486"/>
            <a:ext cx="5665470" cy="709930"/>
          </a:xfrm>
          <a:prstGeom prst="rect">
            <a:avLst/>
          </a:prstGeom>
        </p:spPr>
        <p:txBody>
          <a:bodyPr vert="horz" wrap="square" lIns="0" tIns="67945" rIns="0" bIns="0" rtlCol="0">
            <a:spAutoFit/>
          </a:bodyPr>
          <a:lstStyle/>
          <a:p>
            <a:pPr marL="12700">
              <a:lnSpc>
                <a:spcPct val="100000"/>
              </a:lnSpc>
              <a:spcBef>
                <a:spcPts val="535"/>
              </a:spcBef>
            </a:pPr>
            <a:r>
              <a:rPr sz="2000" b="1" dirty="0">
                <a:solidFill>
                  <a:srgbClr val="CC3300"/>
                </a:solidFill>
                <a:latin typeface="Courier New"/>
                <a:cs typeface="Courier New"/>
              </a:rPr>
              <a:t>generalSearch(problem,</a:t>
            </a:r>
            <a:r>
              <a:rPr sz="2000" b="1" spc="-120" dirty="0">
                <a:solidFill>
                  <a:srgbClr val="CC3300"/>
                </a:solidFill>
                <a:latin typeface="Courier New"/>
                <a:cs typeface="Courier New"/>
              </a:rPr>
              <a:t> </a:t>
            </a:r>
            <a:r>
              <a:rPr sz="2000" b="1" spc="-10" dirty="0">
                <a:solidFill>
                  <a:srgbClr val="FF5050"/>
                </a:solidFill>
                <a:latin typeface="Courier New"/>
                <a:cs typeface="Courier New"/>
              </a:rPr>
              <a:t>priorityQueue</a:t>
            </a:r>
            <a:r>
              <a:rPr sz="2000" b="1" spc="-10" dirty="0">
                <a:solidFill>
                  <a:srgbClr val="CC3300"/>
                </a:solidFill>
                <a:latin typeface="Courier New"/>
                <a:cs typeface="Courier New"/>
              </a:rPr>
              <a:t>)</a:t>
            </a:r>
            <a:endParaRPr sz="2000">
              <a:latin typeface="Courier New"/>
              <a:cs typeface="Courier New"/>
            </a:endParaRPr>
          </a:p>
          <a:p>
            <a:pPr marL="12700">
              <a:lnSpc>
                <a:spcPct val="100000"/>
              </a:lnSpc>
              <a:spcBef>
                <a:spcPts val="390"/>
              </a:spcBef>
            </a:pPr>
            <a:r>
              <a:rPr sz="1800" dirty="0">
                <a:solidFill>
                  <a:srgbClr val="1F487C"/>
                </a:solidFill>
                <a:latin typeface="Arial MT"/>
                <a:cs typeface="Arial MT"/>
              </a:rPr>
              <a:t>#</a:t>
            </a:r>
            <a:r>
              <a:rPr sz="1800" spc="-25" dirty="0">
                <a:solidFill>
                  <a:srgbClr val="1F487C"/>
                </a:solidFill>
                <a:latin typeface="Arial MT"/>
                <a:cs typeface="Arial MT"/>
              </a:rPr>
              <a:t> </a:t>
            </a:r>
            <a:r>
              <a:rPr sz="1800" dirty="0">
                <a:solidFill>
                  <a:srgbClr val="1F487C"/>
                </a:solidFill>
                <a:latin typeface="Arial MT"/>
                <a:cs typeface="Arial MT"/>
              </a:rPr>
              <a:t>of</a:t>
            </a:r>
            <a:r>
              <a:rPr sz="1800" spc="-20" dirty="0">
                <a:solidFill>
                  <a:srgbClr val="1F487C"/>
                </a:solidFill>
                <a:latin typeface="Arial MT"/>
                <a:cs typeface="Arial MT"/>
              </a:rPr>
              <a:t> </a:t>
            </a:r>
            <a:r>
              <a:rPr sz="1800" dirty="0">
                <a:solidFill>
                  <a:srgbClr val="1F487C"/>
                </a:solidFill>
                <a:latin typeface="Arial MT"/>
                <a:cs typeface="Arial MT"/>
              </a:rPr>
              <a:t>nodes</a:t>
            </a:r>
            <a:r>
              <a:rPr sz="1800" spc="-15" dirty="0">
                <a:solidFill>
                  <a:srgbClr val="1F487C"/>
                </a:solidFill>
                <a:latin typeface="Arial MT"/>
                <a:cs typeface="Arial MT"/>
              </a:rPr>
              <a:t> </a:t>
            </a:r>
            <a:r>
              <a:rPr sz="1800" dirty="0">
                <a:solidFill>
                  <a:srgbClr val="1F487C"/>
                </a:solidFill>
                <a:latin typeface="Arial MT"/>
                <a:cs typeface="Arial MT"/>
              </a:rPr>
              <a:t>tested:</a:t>
            </a:r>
            <a:r>
              <a:rPr sz="1800" spc="-25" dirty="0">
                <a:solidFill>
                  <a:srgbClr val="1F487C"/>
                </a:solidFill>
                <a:latin typeface="Arial MT"/>
                <a:cs typeface="Arial MT"/>
              </a:rPr>
              <a:t> </a:t>
            </a:r>
            <a:r>
              <a:rPr sz="1800" dirty="0">
                <a:latin typeface="Arial MT"/>
                <a:cs typeface="Arial MT"/>
              </a:rPr>
              <a:t>4</a:t>
            </a:r>
            <a:r>
              <a:rPr sz="1800" dirty="0">
                <a:solidFill>
                  <a:srgbClr val="1F487C"/>
                </a:solidFill>
                <a:latin typeface="Arial MT"/>
                <a:cs typeface="Arial MT"/>
              </a:rPr>
              <a:t>,</a:t>
            </a:r>
            <a:r>
              <a:rPr sz="1800" spc="-15" dirty="0">
                <a:solidFill>
                  <a:srgbClr val="1F487C"/>
                </a:solidFill>
                <a:latin typeface="Arial MT"/>
                <a:cs typeface="Arial MT"/>
              </a:rPr>
              <a:t> </a:t>
            </a:r>
            <a:r>
              <a:rPr sz="1800" dirty="0">
                <a:solidFill>
                  <a:srgbClr val="1F487C"/>
                </a:solidFill>
                <a:latin typeface="Arial MT"/>
                <a:cs typeface="Arial MT"/>
              </a:rPr>
              <a:t>expanded:</a:t>
            </a:r>
            <a:r>
              <a:rPr sz="1800" spc="15" dirty="0">
                <a:solidFill>
                  <a:srgbClr val="1F487C"/>
                </a:solidFill>
                <a:latin typeface="Arial MT"/>
                <a:cs typeface="Arial MT"/>
              </a:rPr>
              <a:t> </a:t>
            </a:r>
            <a:r>
              <a:rPr sz="1800" spc="-50" dirty="0">
                <a:latin typeface="Arial MT"/>
                <a:cs typeface="Arial MT"/>
              </a:rPr>
              <a:t>4</a:t>
            </a:r>
            <a:endParaRPr sz="1800">
              <a:latin typeface="Arial MT"/>
              <a:cs typeface="Arial MT"/>
            </a:endParaRPr>
          </a:p>
        </p:txBody>
      </p:sp>
      <p:graphicFrame>
        <p:nvGraphicFramePr>
          <p:cNvPr id="13" name="object 13">
            <a:extLst>
              <a:ext uri="{FF2B5EF4-FFF2-40B4-BE49-F238E27FC236}">
                <a16:creationId xmlns:a16="http://schemas.microsoft.com/office/drawing/2014/main" id="{99A15965-5F81-92B4-DB09-BB9A2CAF61C2}"/>
              </a:ext>
            </a:extLst>
          </p:cNvPr>
          <p:cNvGraphicFramePr>
            <a:graphicFrameLocks noGrp="1"/>
          </p:cNvGraphicFramePr>
          <p:nvPr/>
        </p:nvGraphicFramePr>
        <p:xfrm>
          <a:off x="990600" y="3105150"/>
          <a:ext cx="3505835" cy="2383155"/>
        </p:xfrm>
        <a:graphic>
          <a:graphicData uri="http://schemas.openxmlformats.org/drawingml/2006/table">
            <a:tbl>
              <a:tblPr firstRow="1" bandRow="1">
                <a:tableStyleId>{2D5ABB26-0587-4C30-8999-92F81FD0307C}</a:tableStyleId>
              </a:tblPr>
              <a:tblGrid>
                <a:gridCol w="1471930">
                  <a:extLst>
                    <a:ext uri="{9D8B030D-6E8A-4147-A177-3AD203B41FA5}">
                      <a16:colId xmlns:a16="http://schemas.microsoft.com/office/drawing/2014/main" val="20000"/>
                    </a:ext>
                  </a:extLst>
                </a:gridCol>
                <a:gridCol w="2033905">
                  <a:extLst>
                    <a:ext uri="{9D8B030D-6E8A-4147-A177-3AD203B41FA5}">
                      <a16:colId xmlns:a16="http://schemas.microsoft.com/office/drawing/2014/main" val="20001"/>
                    </a:ext>
                  </a:extLst>
                </a:gridCol>
              </a:tblGrid>
              <a:tr h="575945">
                <a:tc>
                  <a:txBody>
                    <a:bodyPr/>
                    <a:lstStyle/>
                    <a:p>
                      <a:pPr marL="91440" marR="610870">
                        <a:lnSpc>
                          <a:spcPct val="100000"/>
                        </a:lnSpc>
                        <a:spcBef>
                          <a:spcPts val="30"/>
                        </a:spcBef>
                      </a:pPr>
                      <a:r>
                        <a:rPr sz="1800" b="1" spc="-10" dirty="0">
                          <a:solidFill>
                            <a:srgbClr val="111111"/>
                          </a:solidFill>
                          <a:latin typeface="Arial"/>
                          <a:cs typeface="Arial"/>
                        </a:rPr>
                        <a:t>Closed </a:t>
                      </a:r>
                      <a:r>
                        <a:rPr sz="1800" b="1" spc="-20" dirty="0">
                          <a:solidFill>
                            <a:srgbClr val="111111"/>
                          </a:solidFill>
                          <a:latin typeface="Arial"/>
                          <a:cs typeface="Arial"/>
                        </a:rPr>
                        <a:t>Node</a:t>
                      </a:r>
                      <a:endParaRPr sz="1800">
                        <a:latin typeface="Arial"/>
                        <a:cs typeface="Arial"/>
                      </a:endParaRPr>
                    </a:p>
                  </a:txBody>
                  <a:tcPr marL="0" marR="0" marT="3810" marB="0">
                    <a:lnR w="12700">
                      <a:solidFill>
                        <a:srgbClr val="000000"/>
                      </a:solidFill>
                      <a:prstDash val="solid"/>
                    </a:lnR>
                    <a:lnT w="38100">
                      <a:solidFill>
                        <a:srgbClr val="000000"/>
                      </a:solidFill>
                      <a:prstDash val="solid"/>
                    </a:lnT>
                    <a:lnB w="12700">
                      <a:solidFill>
                        <a:srgbClr val="000000"/>
                      </a:solidFill>
                      <a:prstDash val="solid"/>
                    </a:lnB>
                  </a:tcPr>
                </a:tc>
                <a:tc>
                  <a:txBody>
                    <a:bodyPr/>
                    <a:lstStyle/>
                    <a:p>
                      <a:pPr marL="91440">
                        <a:lnSpc>
                          <a:spcPct val="100000"/>
                        </a:lnSpc>
                        <a:spcBef>
                          <a:spcPts val="30"/>
                        </a:spcBef>
                      </a:pPr>
                      <a:r>
                        <a:rPr sz="1800" b="1" dirty="0">
                          <a:solidFill>
                            <a:srgbClr val="111111"/>
                          </a:solidFill>
                          <a:latin typeface="Arial"/>
                          <a:cs typeface="Arial"/>
                        </a:rPr>
                        <a:t>Open</a:t>
                      </a:r>
                      <a:r>
                        <a:rPr sz="1800" b="1" spc="-10" dirty="0">
                          <a:solidFill>
                            <a:srgbClr val="111111"/>
                          </a:solidFill>
                          <a:latin typeface="Arial"/>
                          <a:cs typeface="Arial"/>
                        </a:rPr>
                        <a:t> </a:t>
                      </a:r>
                      <a:r>
                        <a:rPr sz="1800" b="1" spc="-20" dirty="0">
                          <a:solidFill>
                            <a:srgbClr val="111111"/>
                          </a:solidFill>
                          <a:latin typeface="Arial"/>
                          <a:cs typeface="Arial"/>
                        </a:rPr>
                        <a:t>Node</a:t>
                      </a:r>
                      <a:endParaRPr sz="1800">
                        <a:latin typeface="Arial"/>
                        <a:cs typeface="Arial"/>
                      </a:endParaRPr>
                    </a:p>
                  </a:txBody>
                  <a:tcPr marL="0" marR="0" marT="3810" marB="0">
                    <a:lnL w="12700">
                      <a:solidFill>
                        <a:srgbClr val="000000"/>
                      </a:solidFill>
                      <a:prstDash val="solid"/>
                    </a:lnL>
                    <a:lnT w="381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301625">
                <a:tc>
                  <a:txBody>
                    <a:bodyPr/>
                    <a:lstStyle/>
                    <a:p>
                      <a:pPr>
                        <a:lnSpc>
                          <a:spcPct val="100000"/>
                        </a:lnSpc>
                      </a:pPr>
                      <a:endParaRPr sz="1800">
                        <a:latin typeface="Times New Roman"/>
                        <a:cs typeface="Times New Roman"/>
                      </a:endParaRPr>
                    </a:p>
                  </a:txBody>
                  <a:tcPr marL="0" marR="0" marT="0" marB="0">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30"/>
                        </a:spcBef>
                      </a:pPr>
                      <a:r>
                        <a:rPr sz="1800" spc="-25" dirty="0">
                          <a:solidFill>
                            <a:srgbClr val="111111"/>
                          </a:solidFill>
                          <a:latin typeface="Arial MT"/>
                          <a:cs typeface="Arial MT"/>
                        </a:rPr>
                        <a:t>{S}</a:t>
                      </a:r>
                      <a:endParaRPr sz="1800">
                        <a:latin typeface="Arial MT"/>
                        <a:cs typeface="Arial MT"/>
                      </a:endParaRPr>
                    </a:p>
                  </a:txBody>
                  <a:tcPr marL="0" marR="0" marT="3810" marB="0">
                    <a:lnL w="12700">
                      <a:solidFill>
                        <a:srgbClr val="000000"/>
                      </a:solidFill>
                      <a:prstDash val="solid"/>
                    </a:lnL>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301625">
                <a:tc>
                  <a:txBody>
                    <a:bodyPr/>
                    <a:lstStyle/>
                    <a:p>
                      <a:pPr marL="91440">
                        <a:lnSpc>
                          <a:spcPct val="100000"/>
                        </a:lnSpc>
                        <a:spcBef>
                          <a:spcPts val="30"/>
                        </a:spcBef>
                      </a:pPr>
                      <a:r>
                        <a:rPr sz="1800" spc="-50" dirty="0">
                          <a:solidFill>
                            <a:srgbClr val="111111"/>
                          </a:solidFill>
                          <a:latin typeface="Arial MT"/>
                          <a:cs typeface="Arial MT"/>
                        </a:rPr>
                        <a:t>S</a:t>
                      </a:r>
                      <a:endParaRPr sz="1800">
                        <a:latin typeface="Arial MT"/>
                        <a:cs typeface="Arial MT"/>
                      </a:endParaRPr>
                    </a:p>
                  </a:txBody>
                  <a:tcPr marL="0" marR="0" marT="3810" marB="0">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30"/>
                        </a:spcBef>
                      </a:pPr>
                      <a:r>
                        <a:rPr sz="1800" spc="-10" dirty="0">
                          <a:solidFill>
                            <a:srgbClr val="111111"/>
                          </a:solidFill>
                          <a:latin typeface="Arial MT"/>
                          <a:cs typeface="Arial MT"/>
                        </a:rPr>
                        <a:t>{B:2,C:4,A:5}</a:t>
                      </a:r>
                      <a:endParaRPr sz="1800">
                        <a:latin typeface="Arial MT"/>
                        <a:cs typeface="Arial MT"/>
                      </a:endParaRPr>
                    </a:p>
                  </a:txBody>
                  <a:tcPr marL="0" marR="0" marT="3810" marB="0">
                    <a:lnL w="12700">
                      <a:solidFill>
                        <a:srgbClr val="000000"/>
                      </a:solidFill>
                      <a:prstDash val="solid"/>
                    </a:lnL>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306070">
                <a:tc>
                  <a:txBody>
                    <a:bodyPr/>
                    <a:lstStyle/>
                    <a:p>
                      <a:pPr marL="91440">
                        <a:lnSpc>
                          <a:spcPct val="100000"/>
                        </a:lnSpc>
                        <a:spcBef>
                          <a:spcPts val="35"/>
                        </a:spcBef>
                      </a:pPr>
                      <a:r>
                        <a:rPr sz="1800" spc="-50" dirty="0">
                          <a:solidFill>
                            <a:srgbClr val="111111"/>
                          </a:solidFill>
                          <a:latin typeface="Arial MT"/>
                          <a:cs typeface="Arial MT"/>
                        </a:rPr>
                        <a:t>B</a:t>
                      </a:r>
                      <a:endParaRPr sz="1800">
                        <a:latin typeface="Arial MT"/>
                        <a:cs typeface="Arial MT"/>
                      </a:endParaRPr>
                    </a:p>
                  </a:txBody>
                  <a:tcPr marL="0" marR="0" marT="4445" marB="0">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35"/>
                        </a:spcBef>
                      </a:pPr>
                      <a:r>
                        <a:rPr sz="1800" spc="-10" dirty="0">
                          <a:solidFill>
                            <a:srgbClr val="111111"/>
                          </a:solidFill>
                          <a:latin typeface="Arial MT"/>
                          <a:cs typeface="Arial MT"/>
                        </a:rPr>
                        <a:t>{C:4,A:5,G:8}</a:t>
                      </a:r>
                      <a:endParaRPr sz="1800">
                        <a:latin typeface="Arial MT"/>
                        <a:cs typeface="Arial MT"/>
                      </a:endParaRPr>
                    </a:p>
                  </a:txBody>
                  <a:tcPr marL="0" marR="0" marT="4445" marB="0">
                    <a:lnL w="12700">
                      <a:solidFill>
                        <a:srgbClr val="000000"/>
                      </a:solidFill>
                      <a:prstDash val="solid"/>
                    </a:lnL>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321945">
                <a:tc>
                  <a:txBody>
                    <a:bodyPr/>
                    <a:lstStyle/>
                    <a:p>
                      <a:pPr marL="91440">
                        <a:lnSpc>
                          <a:spcPct val="100000"/>
                        </a:lnSpc>
                        <a:spcBef>
                          <a:spcPts val="30"/>
                        </a:spcBef>
                      </a:pPr>
                      <a:r>
                        <a:rPr sz="1800" spc="-50" dirty="0">
                          <a:solidFill>
                            <a:srgbClr val="111111"/>
                          </a:solidFill>
                          <a:latin typeface="Arial MT"/>
                          <a:cs typeface="Arial MT"/>
                        </a:rPr>
                        <a:t>C</a:t>
                      </a:r>
                      <a:endParaRPr sz="1800">
                        <a:latin typeface="Arial MT"/>
                        <a:cs typeface="Arial MT"/>
                      </a:endParaRPr>
                    </a:p>
                  </a:txBody>
                  <a:tcPr marL="0" marR="0" marT="3810" marB="0">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30"/>
                        </a:spcBef>
                      </a:pPr>
                      <a:r>
                        <a:rPr sz="1800" spc="-10" dirty="0">
                          <a:solidFill>
                            <a:srgbClr val="111111"/>
                          </a:solidFill>
                          <a:latin typeface="Arial MT"/>
                          <a:cs typeface="Arial MT"/>
                        </a:rPr>
                        <a:t>{A:5,F:6,G:8}</a:t>
                      </a:r>
                      <a:endParaRPr sz="1800">
                        <a:latin typeface="Arial MT"/>
                        <a:cs typeface="Arial MT"/>
                      </a:endParaRPr>
                    </a:p>
                  </a:txBody>
                  <a:tcPr marL="0" marR="0" marT="3810" marB="0">
                    <a:lnL w="12700">
                      <a:solidFill>
                        <a:srgbClr val="000000"/>
                      </a:solidFill>
                      <a:prstDash val="solid"/>
                    </a:lnL>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r h="575945">
                <a:tc>
                  <a:txBody>
                    <a:bodyPr/>
                    <a:lstStyle/>
                    <a:p>
                      <a:pPr marL="91440">
                        <a:lnSpc>
                          <a:spcPct val="100000"/>
                        </a:lnSpc>
                        <a:spcBef>
                          <a:spcPts val="30"/>
                        </a:spcBef>
                      </a:pPr>
                      <a:r>
                        <a:rPr sz="1800" dirty="0">
                          <a:solidFill>
                            <a:srgbClr val="111111"/>
                          </a:solidFill>
                          <a:latin typeface="Arial MT"/>
                          <a:cs typeface="Arial MT"/>
                        </a:rPr>
                        <a:t>A</a:t>
                      </a:r>
                      <a:r>
                        <a:rPr sz="1800" spc="-120" dirty="0">
                          <a:solidFill>
                            <a:srgbClr val="111111"/>
                          </a:solidFill>
                          <a:latin typeface="Arial MT"/>
                          <a:cs typeface="Arial MT"/>
                        </a:rPr>
                        <a:t> </a:t>
                      </a:r>
                      <a:r>
                        <a:rPr sz="1800" dirty="0">
                          <a:solidFill>
                            <a:srgbClr val="FF7B80"/>
                          </a:solidFill>
                          <a:latin typeface="Arial MT"/>
                          <a:cs typeface="Arial MT"/>
                        </a:rPr>
                        <a:t>not </a:t>
                      </a:r>
                      <a:r>
                        <a:rPr sz="1800" spc="-20" dirty="0">
                          <a:solidFill>
                            <a:srgbClr val="FF7B80"/>
                          </a:solidFill>
                          <a:latin typeface="Arial MT"/>
                          <a:cs typeface="Arial MT"/>
                        </a:rPr>
                        <a:t>goal</a:t>
                      </a:r>
                      <a:endParaRPr sz="1800">
                        <a:latin typeface="Arial MT"/>
                        <a:cs typeface="Arial MT"/>
                      </a:endParaRPr>
                    </a:p>
                  </a:txBody>
                  <a:tcPr marL="0" marR="0" marT="3810" marB="0">
                    <a:lnR w="12700">
                      <a:solidFill>
                        <a:srgbClr val="000000"/>
                      </a:solidFill>
                      <a:prstDash val="solid"/>
                    </a:lnR>
                    <a:lnT w="12700">
                      <a:solidFill>
                        <a:srgbClr val="000000"/>
                      </a:solidFill>
                      <a:prstDash val="solid"/>
                    </a:lnT>
                    <a:lnB w="38100">
                      <a:solidFill>
                        <a:srgbClr val="000000"/>
                      </a:solidFill>
                      <a:prstDash val="solid"/>
                    </a:lnB>
                  </a:tcPr>
                </a:tc>
                <a:tc>
                  <a:txBody>
                    <a:bodyPr/>
                    <a:lstStyle/>
                    <a:p>
                      <a:pPr marL="91440" marR="362585">
                        <a:lnSpc>
                          <a:spcPct val="100000"/>
                        </a:lnSpc>
                        <a:spcBef>
                          <a:spcPts val="30"/>
                        </a:spcBef>
                      </a:pPr>
                      <a:r>
                        <a:rPr sz="1800" spc="-10" dirty="0">
                          <a:solidFill>
                            <a:srgbClr val="111111"/>
                          </a:solidFill>
                          <a:latin typeface="Arial MT"/>
                          <a:cs typeface="Arial MT"/>
                        </a:rPr>
                        <a:t>{F:6,G:8,</a:t>
                      </a:r>
                      <a:r>
                        <a:rPr sz="1800" spc="-10" dirty="0">
                          <a:solidFill>
                            <a:srgbClr val="C0504D"/>
                          </a:solidFill>
                          <a:latin typeface="Arial MT"/>
                          <a:cs typeface="Arial MT"/>
                        </a:rPr>
                        <a:t>E:5+4, D:5+9</a:t>
                      </a:r>
                      <a:r>
                        <a:rPr sz="1800" spc="-10" dirty="0">
                          <a:solidFill>
                            <a:srgbClr val="111111"/>
                          </a:solidFill>
                          <a:latin typeface="Arial MT"/>
                          <a:cs typeface="Arial MT"/>
                        </a:rPr>
                        <a:t>}</a:t>
                      </a:r>
                      <a:endParaRPr sz="1800">
                        <a:latin typeface="Arial MT"/>
                        <a:cs typeface="Arial MT"/>
                      </a:endParaRPr>
                    </a:p>
                  </a:txBody>
                  <a:tcPr marL="0" marR="0" marT="3810" marB="0">
                    <a:lnL w="12700">
                      <a:solidFill>
                        <a:srgbClr val="000000"/>
                      </a:solidFill>
                      <a:prstDash val="solid"/>
                    </a:lnL>
                    <a:lnT w="12700">
                      <a:solidFill>
                        <a:srgbClr val="000000"/>
                      </a:solidFill>
                      <a:prstDash val="solid"/>
                    </a:lnT>
                    <a:lnB w="38100">
                      <a:solidFill>
                        <a:srgbClr val="000000"/>
                      </a:solidFill>
                      <a:prstDash val="solid"/>
                    </a:lnB>
                  </a:tcPr>
                </a:tc>
                <a:extLst>
                  <a:ext uri="{0D108BD9-81ED-4DB2-BD59-A6C34878D82A}">
                    <a16:rowId xmlns:a16="http://schemas.microsoft.com/office/drawing/2014/main" val="10005"/>
                  </a:ext>
                </a:extLst>
              </a:tr>
            </a:tbl>
          </a:graphicData>
        </a:graphic>
      </p:graphicFrame>
      <p:pic>
        <p:nvPicPr>
          <p:cNvPr id="14" name="object 14">
            <a:extLst>
              <a:ext uri="{FF2B5EF4-FFF2-40B4-BE49-F238E27FC236}">
                <a16:creationId xmlns:a16="http://schemas.microsoft.com/office/drawing/2014/main" id="{C4B309D5-6971-CDEF-12C7-CBBB90A5C33D}"/>
              </a:ext>
            </a:extLst>
          </p:cNvPr>
          <p:cNvPicPr/>
          <p:nvPr/>
        </p:nvPicPr>
        <p:blipFill>
          <a:blip r:embed="rId2" cstate="print"/>
          <a:stretch>
            <a:fillRect/>
          </a:stretch>
        </p:blipFill>
        <p:spPr>
          <a:xfrm>
            <a:off x="5017261" y="2502661"/>
            <a:ext cx="3911599" cy="4140200"/>
          </a:xfrm>
          <a:prstGeom prst="rect">
            <a:avLst/>
          </a:prstGeom>
        </p:spPr>
      </p:pic>
      <p:sp>
        <p:nvSpPr>
          <p:cNvPr id="15" name="object 15">
            <a:extLst>
              <a:ext uri="{FF2B5EF4-FFF2-40B4-BE49-F238E27FC236}">
                <a16:creationId xmlns:a16="http://schemas.microsoft.com/office/drawing/2014/main" id="{BB58C818-24B4-B639-79DF-5478866E93F9}"/>
              </a:ext>
            </a:extLst>
          </p:cNvPr>
          <p:cNvSpPr txBox="1"/>
          <p:nvPr/>
        </p:nvSpPr>
        <p:spPr>
          <a:xfrm>
            <a:off x="7195566" y="2545842"/>
            <a:ext cx="470534" cy="535940"/>
          </a:xfrm>
          <a:prstGeom prst="rect">
            <a:avLst/>
          </a:prstGeom>
        </p:spPr>
        <p:txBody>
          <a:bodyPr vert="horz" wrap="square" lIns="0" tIns="13335" rIns="0" bIns="0" rtlCol="0">
            <a:spAutoFit/>
          </a:bodyPr>
          <a:lstStyle/>
          <a:p>
            <a:pPr algn="ctr">
              <a:lnSpc>
                <a:spcPts val="2130"/>
              </a:lnSpc>
              <a:spcBef>
                <a:spcPts val="105"/>
              </a:spcBef>
            </a:pPr>
            <a:r>
              <a:rPr sz="2000" b="1" spc="-50" dirty="0">
                <a:latin typeface="Arial"/>
                <a:cs typeface="Arial"/>
              </a:rPr>
              <a:t>S</a:t>
            </a:r>
            <a:endParaRPr sz="2000">
              <a:latin typeface="Arial"/>
              <a:cs typeface="Arial"/>
            </a:endParaRPr>
          </a:p>
          <a:p>
            <a:pPr algn="ctr">
              <a:lnSpc>
                <a:spcPts val="1889"/>
              </a:lnSpc>
            </a:pPr>
            <a:r>
              <a:rPr sz="1800" spc="-10" dirty="0">
                <a:solidFill>
                  <a:srgbClr val="FFFFFF"/>
                </a:solidFill>
                <a:latin typeface="Arial MT"/>
                <a:cs typeface="Arial MT"/>
              </a:rPr>
              <a:t>start</a:t>
            </a:r>
            <a:endParaRPr sz="1800">
              <a:latin typeface="Arial MT"/>
              <a:cs typeface="Arial MT"/>
            </a:endParaRPr>
          </a:p>
        </p:txBody>
      </p:sp>
      <p:sp>
        <p:nvSpPr>
          <p:cNvPr id="16" name="object 23">
            <a:extLst>
              <a:ext uri="{FF2B5EF4-FFF2-40B4-BE49-F238E27FC236}">
                <a16:creationId xmlns:a16="http://schemas.microsoft.com/office/drawing/2014/main" id="{C509BB15-17EB-1922-1B05-48861F9F7124}"/>
              </a:ext>
            </a:extLst>
          </p:cNvPr>
          <p:cNvSpPr txBox="1"/>
          <p:nvPr/>
        </p:nvSpPr>
        <p:spPr>
          <a:xfrm>
            <a:off x="5267325" y="6139412"/>
            <a:ext cx="209550" cy="309880"/>
          </a:xfrm>
          <a:prstGeom prst="rect">
            <a:avLst/>
          </a:prstGeom>
        </p:spPr>
        <p:txBody>
          <a:bodyPr vert="horz" wrap="square" lIns="0" tIns="0" rIns="0" bIns="0" rtlCol="0">
            <a:spAutoFit/>
          </a:bodyPr>
          <a:lstStyle/>
          <a:p>
            <a:pPr marL="12700">
              <a:lnSpc>
                <a:spcPts val="2315"/>
              </a:lnSpc>
            </a:pPr>
            <a:r>
              <a:rPr sz="2000" b="1" spc="-50" dirty="0">
                <a:latin typeface="Arial"/>
                <a:cs typeface="Arial"/>
              </a:rPr>
              <a:t>H</a:t>
            </a:r>
            <a:endParaRPr sz="2000">
              <a:latin typeface="Arial"/>
              <a:cs typeface="Arial"/>
            </a:endParaRPr>
          </a:p>
        </p:txBody>
      </p:sp>
      <p:sp>
        <p:nvSpPr>
          <p:cNvPr id="17" name="object 16">
            <a:extLst>
              <a:ext uri="{FF2B5EF4-FFF2-40B4-BE49-F238E27FC236}">
                <a16:creationId xmlns:a16="http://schemas.microsoft.com/office/drawing/2014/main" id="{899B7BDB-D1CF-D15A-95E6-6DF645C88252}"/>
              </a:ext>
            </a:extLst>
          </p:cNvPr>
          <p:cNvSpPr txBox="1"/>
          <p:nvPr/>
        </p:nvSpPr>
        <p:spPr>
          <a:xfrm>
            <a:off x="6181725" y="3828363"/>
            <a:ext cx="209550" cy="331470"/>
          </a:xfrm>
          <a:prstGeom prst="rect">
            <a:avLst/>
          </a:prstGeom>
        </p:spPr>
        <p:txBody>
          <a:bodyPr vert="horz" wrap="square" lIns="0" tIns="13335" rIns="0" bIns="0" rtlCol="0">
            <a:spAutoFit/>
          </a:bodyPr>
          <a:lstStyle/>
          <a:p>
            <a:pPr marL="12700">
              <a:lnSpc>
                <a:spcPct val="100000"/>
              </a:lnSpc>
              <a:spcBef>
                <a:spcPts val="105"/>
              </a:spcBef>
            </a:pPr>
            <a:r>
              <a:rPr sz="2000" b="1" spc="-50" dirty="0">
                <a:latin typeface="Arial"/>
                <a:cs typeface="Arial"/>
              </a:rPr>
              <a:t>A</a:t>
            </a:r>
            <a:endParaRPr sz="2000">
              <a:latin typeface="Arial"/>
              <a:cs typeface="Arial"/>
            </a:endParaRPr>
          </a:p>
        </p:txBody>
      </p:sp>
      <p:sp>
        <p:nvSpPr>
          <p:cNvPr id="18" name="object 17">
            <a:extLst>
              <a:ext uri="{FF2B5EF4-FFF2-40B4-BE49-F238E27FC236}">
                <a16:creationId xmlns:a16="http://schemas.microsoft.com/office/drawing/2014/main" id="{DFC55BF2-2F37-8AFC-CB7E-9034F0AFC241}"/>
              </a:ext>
            </a:extLst>
          </p:cNvPr>
          <p:cNvSpPr txBox="1"/>
          <p:nvPr/>
        </p:nvSpPr>
        <p:spPr>
          <a:xfrm>
            <a:off x="6189726" y="4972050"/>
            <a:ext cx="195580" cy="330835"/>
          </a:xfrm>
          <a:prstGeom prst="rect">
            <a:avLst/>
          </a:prstGeom>
        </p:spPr>
        <p:txBody>
          <a:bodyPr vert="horz" wrap="square" lIns="0" tIns="12700" rIns="0" bIns="0" rtlCol="0">
            <a:spAutoFit/>
          </a:bodyPr>
          <a:lstStyle/>
          <a:p>
            <a:pPr marL="12700">
              <a:lnSpc>
                <a:spcPct val="100000"/>
              </a:lnSpc>
              <a:spcBef>
                <a:spcPts val="100"/>
              </a:spcBef>
            </a:pPr>
            <a:r>
              <a:rPr sz="2000" b="1" spc="-50" dirty="0">
                <a:latin typeface="Arial"/>
                <a:cs typeface="Arial"/>
              </a:rPr>
              <a:t>E</a:t>
            </a:r>
            <a:endParaRPr sz="2000">
              <a:latin typeface="Arial"/>
              <a:cs typeface="Arial"/>
            </a:endParaRPr>
          </a:p>
        </p:txBody>
      </p:sp>
      <p:sp>
        <p:nvSpPr>
          <p:cNvPr id="19" name="object 18">
            <a:extLst>
              <a:ext uri="{FF2B5EF4-FFF2-40B4-BE49-F238E27FC236}">
                <a16:creationId xmlns:a16="http://schemas.microsoft.com/office/drawing/2014/main" id="{9B6B39C7-B1C4-C75D-49DB-C12CE576F90D}"/>
              </a:ext>
            </a:extLst>
          </p:cNvPr>
          <p:cNvSpPr txBox="1"/>
          <p:nvPr/>
        </p:nvSpPr>
        <p:spPr>
          <a:xfrm>
            <a:off x="5267325" y="4972050"/>
            <a:ext cx="209550" cy="330835"/>
          </a:xfrm>
          <a:prstGeom prst="rect">
            <a:avLst/>
          </a:prstGeom>
        </p:spPr>
        <p:txBody>
          <a:bodyPr vert="horz" wrap="square" lIns="0" tIns="12700" rIns="0" bIns="0" rtlCol="0">
            <a:spAutoFit/>
          </a:bodyPr>
          <a:lstStyle/>
          <a:p>
            <a:pPr marL="12700">
              <a:lnSpc>
                <a:spcPct val="100000"/>
              </a:lnSpc>
              <a:spcBef>
                <a:spcPts val="100"/>
              </a:spcBef>
            </a:pPr>
            <a:r>
              <a:rPr sz="2000" b="1" spc="-50" dirty="0">
                <a:latin typeface="Arial"/>
                <a:cs typeface="Arial"/>
              </a:rPr>
              <a:t>D</a:t>
            </a:r>
            <a:endParaRPr sz="2000">
              <a:latin typeface="Arial"/>
              <a:cs typeface="Arial"/>
            </a:endParaRPr>
          </a:p>
        </p:txBody>
      </p:sp>
      <p:sp>
        <p:nvSpPr>
          <p:cNvPr id="20" name="object 19">
            <a:extLst>
              <a:ext uri="{FF2B5EF4-FFF2-40B4-BE49-F238E27FC236}">
                <a16:creationId xmlns:a16="http://schemas.microsoft.com/office/drawing/2014/main" id="{8B57AAA5-EEAA-1734-CFFA-B17E0A691D36}"/>
              </a:ext>
            </a:extLst>
          </p:cNvPr>
          <p:cNvSpPr txBox="1"/>
          <p:nvPr/>
        </p:nvSpPr>
        <p:spPr>
          <a:xfrm>
            <a:off x="8483600" y="4972050"/>
            <a:ext cx="180975" cy="330835"/>
          </a:xfrm>
          <a:prstGeom prst="rect">
            <a:avLst/>
          </a:prstGeom>
        </p:spPr>
        <p:txBody>
          <a:bodyPr vert="horz" wrap="square" lIns="0" tIns="12700" rIns="0" bIns="0" rtlCol="0">
            <a:spAutoFit/>
          </a:bodyPr>
          <a:lstStyle/>
          <a:p>
            <a:pPr marL="12700">
              <a:lnSpc>
                <a:spcPct val="100000"/>
              </a:lnSpc>
              <a:spcBef>
                <a:spcPts val="100"/>
              </a:spcBef>
            </a:pPr>
            <a:r>
              <a:rPr sz="2000" b="1" spc="-50" dirty="0">
                <a:latin typeface="Arial"/>
                <a:cs typeface="Arial"/>
              </a:rPr>
              <a:t>F</a:t>
            </a:r>
            <a:endParaRPr sz="2000">
              <a:latin typeface="Arial"/>
              <a:cs typeface="Arial"/>
            </a:endParaRPr>
          </a:p>
        </p:txBody>
      </p:sp>
      <p:sp>
        <p:nvSpPr>
          <p:cNvPr id="21" name="object 20">
            <a:extLst>
              <a:ext uri="{FF2B5EF4-FFF2-40B4-BE49-F238E27FC236}">
                <a16:creationId xmlns:a16="http://schemas.microsoft.com/office/drawing/2014/main" id="{D914F627-7041-DFBA-7F79-006B7A422EA2}"/>
              </a:ext>
            </a:extLst>
          </p:cNvPr>
          <p:cNvSpPr txBox="1"/>
          <p:nvPr/>
        </p:nvSpPr>
        <p:spPr>
          <a:xfrm>
            <a:off x="7325106" y="3828363"/>
            <a:ext cx="209550" cy="331470"/>
          </a:xfrm>
          <a:prstGeom prst="rect">
            <a:avLst/>
          </a:prstGeom>
        </p:spPr>
        <p:txBody>
          <a:bodyPr vert="horz" wrap="square" lIns="0" tIns="13335" rIns="0" bIns="0" rtlCol="0">
            <a:spAutoFit/>
          </a:bodyPr>
          <a:lstStyle/>
          <a:p>
            <a:pPr marL="12700">
              <a:lnSpc>
                <a:spcPct val="100000"/>
              </a:lnSpc>
              <a:spcBef>
                <a:spcPts val="105"/>
              </a:spcBef>
            </a:pPr>
            <a:r>
              <a:rPr sz="2000" b="1" spc="-50" dirty="0">
                <a:latin typeface="Arial"/>
                <a:cs typeface="Arial"/>
              </a:rPr>
              <a:t>B</a:t>
            </a:r>
            <a:endParaRPr sz="2000">
              <a:latin typeface="Arial"/>
              <a:cs typeface="Arial"/>
            </a:endParaRPr>
          </a:p>
        </p:txBody>
      </p:sp>
      <p:sp>
        <p:nvSpPr>
          <p:cNvPr id="22" name="object 21">
            <a:extLst>
              <a:ext uri="{FF2B5EF4-FFF2-40B4-BE49-F238E27FC236}">
                <a16:creationId xmlns:a16="http://schemas.microsoft.com/office/drawing/2014/main" id="{6B25D38C-3D5B-B428-8A53-50EADD24E833}"/>
              </a:ext>
            </a:extLst>
          </p:cNvPr>
          <p:cNvSpPr txBox="1"/>
          <p:nvPr/>
        </p:nvSpPr>
        <p:spPr>
          <a:xfrm>
            <a:off x="7203185" y="4355624"/>
            <a:ext cx="455295" cy="997585"/>
          </a:xfrm>
          <a:prstGeom prst="rect">
            <a:avLst/>
          </a:prstGeom>
        </p:spPr>
        <p:txBody>
          <a:bodyPr vert="horz" wrap="square" lIns="0" tIns="104775" rIns="0" bIns="0" rtlCol="0">
            <a:spAutoFit/>
          </a:bodyPr>
          <a:lstStyle/>
          <a:p>
            <a:pPr marL="52069">
              <a:lnSpc>
                <a:spcPct val="100000"/>
              </a:lnSpc>
              <a:spcBef>
                <a:spcPts val="825"/>
              </a:spcBef>
            </a:pPr>
            <a:r>
              <a:rPr sz="1800" b="1" spc="-50" dirty="0">
                <a:latin typeface="Arial"/>
                <a:cs typeface="Arial"/>
              </a:rPr>
              <a:t>6</a:t>
            </a:r>
            <a:endParaRPr sz="1800">
              <a:latin typeface="Arial"/>
              <a:cs typeface="Arial"/>
            </a:endParaRPr>
          </a:p>
          <a:p>
            <a:pPr marL="128270">
              <a:lnSpc>
                <a:spcPts val="2100"/>
              </a:lnSpc>
              <a:spcBef>
                <a:spcPts val="810"/>
              </a:spcBef>
            </a:pPr>
            <a:r>
              <a:rPr sz="2000" b="1" spc="-50" dirty="0">
                <a:latin typeface="Arial"/>
                <a:cs typeface="Arial"/>
              </a:rPr>
              <a:t>G</a:t>
            </a:r>
            <a:endParaRPr sz="2000">
              <a:latin typeface="Arial"/>
              <a:cs typeface="Arial"/>
            </a:endParaRPr>
          </a:p>
          <a:p>
            <a:pPr marL="12700">
              <a:lnSpc>
                <a:spcPts val="1860"/>
              </a:lnSpc>
            </a:pPr>
            <a:r>
              <a:rPr sz="1800" spc="-20" dirty="0">
                <a:solidFill>
                  <a:srgbClr val="FFFFFF"/>
                </a:solidFill>
                <a:latin typeface="Arial MT"/>
                <a:cs typeface="Arial MT"/>
              </a:rPr>
              <a:t>goal</a:t>
            </a:r>
            <a:endParaRPr sz="1800">
              <a:latin typeface="Arial MT"/>
              <a:cs typeface="Arial MT"/>
            </a:endParaRPr>
          </a:p>
        </p:txBody>
      </p:sp>
      <p:sp>
        <p:nvSpPr>
          <p:cNvPr id="23" name="object 22">
            <a:extLst>
              <a:ext uri="{FF2B5EF4-FFF2-40B4-BE49-F238E27FC236}">
                <a16:creationId xmlns:a16="http://schemas.microsoft.com/office/drawing/2014/main" id="{225C6B5B-5378-C988-0179-268DB7DFC4BA}"/>
              </a:ext>
            </a:extLst>
          </p:cNvPr>
          <p:cNvSpPr txBox="1"/>
          <p:nvPr/>
        </p:nvSpPr>
        <p:spPr>
          <a:xfrm>
            <a:off x="8468359" y="3828363"/>
            <a:ext cx="209550" cy="331470"/>
          </a:xfrm>
          <a:prstGeom prst="rect">
            <a:avLst/>
          </a:prstGeom>
        </p:spPr>
        <p:txBody>
          <a:bodyPr vert="horz" wrap="square" lIns="0" tIns="13335" rIns="0" bIns="0" rtlCol="0">
            <a:spAutoFit/>
          </a:bodyPr>
          <a:lstStyle/>
          <a:p>
            <a:pPr marL="12700">
              <a:lnSpc>
                <a:spcPct val="100000"/>
              </a:lnSpc>
              <a:spcBef>
                <a:spcPts val="105"/>
              </a:spcBef>
            </a:pPr>
            <a:r>
              <a:rPr sz="2000" b="1" spc="-50" dirty="0">
                <a:latin typeface="Arial"/>
                <a:cs typeface="Arial"/>
              </a:rPr>
              <a:t>C</a:t>
            </a:r>
            <a:endParaRPr sz="2000">
              <a:latin typeface="Arial"/>
              <a:cs typeface="Arial"/>
            </a:endParaRPr>
          </a:p>
        </p:txBody>
      </p:sp>
    </p:spTree>
    <p:extLst>
      <p:ext uri="{BB962C8B-B14F-4D97-AF65-F5344CB8AC3E}">
        <p14:creationId xmlns:p14="http://schemas.microsoft.com/office/powerpoint/2010/main" val="351237583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93C5D0-08FA-949B-E4D3-91A7EB189E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779E11-2E92-21A1-E350-842E44918599}"/>
              </a:ext>
            </a:extLst>
          </p:cNvPr>
          <p:cNvSpPr>
            <a:spLocks noGrp="1"/>
          </p:cNvSpPr>
          <p:nvPr>
            <p:ph type="title"/>
          </p:nvPr>
        </p:nvSpPr>
        <p:spPr/>
        <p:txBody>
          <a:bodyPr/>
          <a:lstStyle/>
          <a:p>
            <a:r>
              <a:rPr lang="en-US" dirty="0"/>
              <a:t>Uniform Cost Search</a:t>
            </a:r>
          </a:p>
        </p:txBody>
      </p:sp>
      <p:sp>
        <p:nvSpPr>
          <p:cNvPr id="3" name="object 2">
            <a:extLst>
              <a:ext uri="{FF2B5EF4-FFF2-40B4-BE49-F238E27FC236}">
                <a16:creationId xmlns:a16="http://schemas.microsoft.com/office/drawing/2014/main" id="{2FB615B3-532D-A542-CAE0-E4C7F09522A5}"/>
              </a:ext>
            </a:extLst>
          </p:cNvPr>
          <p:cNvSpPr txBox="1"/>
          <p:nvPr/>
        </p:nvSpPr>
        <p:spPr>
          <a:xfrm>
            <a:off x="8385809" y="4447794"/>
            <a:ext cx="153035" cy="299720"/>
          </a:xfrm>
          <a:prstGeom prst="rect">
            <a:avLst/>
          </a:prstGeom>
        </p:spPr>
        <p:txBody>
          <a:bodyPr vert="horz" wrap="square" lIns="0" tIns="12700" rIns="0" bIns="0" rtlCol="0">
            <a:spAutoFit/>
          </a:bodyPr>
          <a:lstStyle/>
          <a:p>
            <a:pPr marL="12700">
              <a:lnSpc>
                <a:spcPct val="100000"/>
              </a:lnSpc>
              <a:spcBef>
                <a:spcPts val="100"/>
              </a:spcBef>
            </a:pPr>
            <a:r>
              <a:rPr sz="1800" b="1" spc="-50" dirty="0">
                <a:latin typeface="Arial"/>
                <a:cs typeface="Arial"/>
              </a:rPr>
              <a:t>2</a:t>
            </a:r>
            <a:endParaRPr sz="1800">
              <a:latin typeface="Arial"/>
              <a:cs typeface="Arial"/>
            </a:endParaRPr>
          </a:p>
        </p:txBody>
      </p:sp>
      <p:sp>
        <p:nvSpPr>
          <p:cNvPr id="4" name="object 3">
            <a:extLst>
              <a:ext uri="{FF2B5EF4-FFF2-40B4-BE49-F238E27FC236}">
                <a16:creationId xmlns:a16="http://schemas.microsoft.com/office/drawing/2014/main" id="{F5617FEE-BF59-49DC-AE10-98D0ADC280F2}"/>
              </a:ext>
            </a:extLst>
          </p:cNvPr>
          <p:cNvSpPr txBox="1"/>
          <p:nvPr/>
        </p:nvSpPr>
        <p:spPr>
          <a:xfrm>
            <a:off x="7928609" y="4828794"/>
            <a:ext cx="153035" cy="299720"/>
          </a:xfrm>
          <a:prstGeom prst="rect">
            <a:avLst/>
          </a:prstGeom>
        </p:spPr>
        <p:txBody>
          <a:bodyPr vert="horz" wrap="square" lIns="0" tIns="12700" rIns="0" bIns="0" rtlCol="0">
            <a:spAutoFit/>
          </a:bodyPr>
          <a:lstStyle/>
          <a:p>
            <a:pPr marL="12700">
              <a:lnSpc>
                <a:spcPct val="100000"/>
              </a:lnSpc>
              <a:spcBef>
                <a:spcPts val="100"/>
              </a:spcBef>
            </a:pPr>
            <a:r>
              <a:rPr sz="1800" b="1" spc="-50" dirty="0">
                <a:latin typeface="Arial"/>
                <a:cs typeface="Arial"/>
              </a:rPr>
              <a:t>1</a:t>
            </a:r>
            <a:endParaRPr sz="1800">
              <a:latin typeface="Arial"/>
              <a:cs typeface="Arial"/>
            </a:endParaRPr>
          </a:p>
        </p:txBody>
      </p:sp>
      <p:sp>
        <p:nvSpPr>
          <p:cNvPr id="5" name="object 4">
            <a:extLst>
              <a:ext uri="{FF2B5EF4-FFF2-40B4-BE49-F238E27FC236}">
                <a16:creationId xmlns:a16="http://schemas.microsoft.com/office/drawing/2014/main" id="{24835753-7024-F12E-C223-716118259942}"/>
              </a:ext>
            </a:extLst>
          </p:cNvPr>
          <p:cNvSpPr txBox="1"/>
          <p:nvPr/>
        </p:nvSpPr>
        <p:spPr>
          <a:xfrm>
            <a:off x="6251828" y="3304413"/>
            <a:ext cx="153035" cy="299720"/>
          </a:xfrm>
          <a:prstGeom prst="rect">
            <a:avLst/>
          </a:prstGeom>
        </p:spPr>
        <p:txBody>
          <a:bodyPr vert="horz" wrap="square" lIns="0" tIns="12700" rIns="0" bIns="0" rtlCol="0">
            <a:spAutoFit/>
          </a:bodyPr>
          <a:lstStyle/>
          <a:p>
            <a:pPr marL="12700">
              <a:lnSpc>
                <a:spcPct val="100000"/>
              </a:lnSpc>
              <a:spcBef>
                <a:spcPts val="100"/>
              </a:spcBef>
            </a:pPr>
            <a:r>
              <a:rPr sz="1800" b="1" spc="-50" dirty="0">
                <a:latin typeface="Arial"/>
                <a:cs typeface="Arial"/>
              </a:rPr>
              <a:t>5</a:t>
            </a:r>
            <a:endParaRPr sz="1800">
              <a:latin typeface="Arial"/>
              <a:cs typeface="Arial"/>
            </a:endParaRPr>
          </a:p>
        </p:txBody>
      </p:sp>
      <p:sp>
        <p:nvSpPr>
          <p:cNvPr id="6" name="object 5">
            <a:extLst>
              <a:ext uri="{FF2B5EF4-FFF2-40B4-BE49-F238E27FC236}">
                <a16:creationId xmlns:a16="http://schemas.microsoft.com/office/drawing/2014/main" id="{BEA6AA23-3C07-F405-1C5D-48FA8AD1CE5B}"/>
              </a:ext>
            </a:extLst>
          </p:cNvPr>
          <p:cNvSpPr txBox="1"/>
          <p:nvPr/>
        </p:nvSpPr>
        <p:spPr>
          <a:xfrm>
            <a:off x="7242809" y="3304413"/>
            <a:ext cx="153035" cy="299720"/>
          </a:xfrm>
          <a:prstGeom prst="rect">
            <a:avLst/>
          </a:prstGeom>
        </p:spPr>
        <p:txBody>
          <a:bodyPr vert="horz" wrap="square" lIns="0" tIns="12700" rIns="0" bIns="0" rtlCol="0">
            <a:spAutoFit/>
          </a:bodyPr>
          <a:lstStyle/>
          <a:p>
            <a:pPr marL="12700">
              <a:lnSpc>
                <a:spcPct val="100000"/>
              </a:lnSpc>
              <a:spcBef>
                <a:spcPts val="100"/>
              </a:spcBef>
            </a:pPr>
            <a:r>
              <a:rPr sz="1800" b="1" spc="-50" dirty="0">
                <a:latin typeface="Arial"/>
                <a:cs typeface="Arial"/>
              </a:rPr>
              <a:t>2</a:t>
            </a:r>
            <a:endParaRPr sz="1800">
              <a:latin typeface="Arial"/>
              <a:cs typeface="Arial"/>
            </a:endParaRPr>
          </a:p>
        </p:txBody>
      </p:sp>
      <p:sp>
        <p:nvSpPr>
          <p:cNvPr id="7" name="object 6">
            <a:extLst>
              <a:ext uri="{FF2B5EF4-FFF2-40B4-BE49-F238E27FC236}">
                <a16:creationId xmlns:a16="http://schemas.microsoft.com/office/drawing/2014/main" id="{0FE5AB1F-6159-A530-DCE0-F42FBE12F8A4}"/>
              </a:ext>
            </a:extLst>
          </p:cNvPr>
          <p:cNvSpPr txBox="1"/>
          <p:nvPr/>
        </p:nvSpPr>
        <p:spPr>
          <a:xfrm>
            <a:off x="5337428" y="4447794"/>
            <a:ext cx="153035" cy="299720"/>
          </a:xfrm>
          <a:prstGeom prst="rect">
            <a:avLst/>
          </a:prstGeom>
        </p:spPr>
        <p:txBody>
          <a:bodyPr vert="horz" wrap="square" lIns="0" tIns="12700" rIns="0" bIns="0" rtlCol="0">
            <a:spAutoFit/>
          </a:bodyPr>
          <a:lstStyle/>
          <a:p>
            <a:pPr marL="12700">
              <a:lnSpc>
                <a:spcPct val="100000"/>
              </a:lnSpc>
              <a:spcBef>
                <a:spcPts val="100"/>
              </a:spcBef>
            </a:pPr>
            <a:r>
              <a:rPr sz="1800" b="1" spc="-50" dirty="0">
                <a:latin typeface="Arial"/>
                <a:cs typeface="Arial"/>
              </a:rPr>
              <a:t>9</a:t>
            </a:r>
            <a:endParaRPr sz="1800">
              <a:latin typeface="Arial"/>
              <a:cs typeface="Arial"/>
            </a:endParaRPr>
          </a:p>
        </p:txBody>
      </p:sp>
      <p:sp>
        <p:nvSpPr>
          <p:cNvPr id="8" name="object 7">
            <a:extLst>
              <a:ext uri="{FF2B5EF4-FFF2-40B4-BE49-F238E27FC236}">
                <a16:creationId xmlns:a16="http://schemas.microsoft.com/office/drawing/2014/main" id="{2FACF421-91F0-D0E8-88AC-EBB1BE4E161C}"/>
              </a:ext>
            </a:extLst>
          </p:cNvPr>
          <p:cNvSpPr txBox="1"/>
          <p:nvPr/>
        </p:nvSpPr>
        <p:spPr>
          <a:xfrm>
            <a:off x="6785229" y="4828794"/>
            <a:ext cx="153035" cy="299720"/>
          </a:xfrm>
          <a:prstGeom prst="rect">
            <a:avLst/>
          </a:prstGeom>
        </p:spPr>
        <p:txBody>
          <a:bodyPr vert="horz" wrap="square" lIns="0" tIns="12700" rIns="0" bIns="0" rtlCol="0">
            <a:spAutoFit/>
          </a:bodyPr>
          <a:lstStyle/>
          <a:p>
            <a:pPr marL="12700">
              <a:lnSpc>
                <a:spcPct val="100000"/>
              </a:lnSpc>
              <a:spcBef>
                <a:spcPts val="100"/>
              </a:spcBef>
            </a:pPr>
            <a:r>
              <a:rPr sz="1800" b="1" spc="-50" dirty="0">
                <a:latin typeface="Arial"/>
                <a:cs typeface="Arial"/>
              </a:rPr>
              <a:t>6</a:t>
            </a:r>
            <a:endParaRPr sz="1800">
              <a:latin typeface="Arial"/>
              <a:cs typeface="Arial"/>
            </a:endParaRPr>
          </a:p>
        </p:txBody>
      </p:sp>
      <p:sp>
        <p:nvSpPr>
          <p:cNvPr id="9" name="object 8">
            <a:extLst>
              <a:ext uri="{FF2B5EF4-FFF2-40B4-BE49-F238E27FC236}">
                <a16:creationId xmlns:a16="http://schemas.microsoft.com/office/drawing/2014/main" id="{076C19F5-8CCA-129F-7FFB-31733951C370}"/>
              </a:ext>
            </a:extLst>
          </p:cNvPr>
          <p:cNvSpPr txBox="1"/>
          <p:nvPr/>
        </p:nvSpPr>
        <p:spPr>
          <a:xfrm>
            <a:off x="6099428" y="4447794"/>
            <a:ext cx="153035" cy="299720"/>
          </a:xfrm>
          <a:prstGeom prst="rect">
            <a:avLst/>
          </a:prstGeom>
        </p:spPr>
        <p:txBody>
          <a:bodyPr vert="horz" wrap="square" lIns="0" tIns="12700" rIns="0" bIns="0" rtlCol="0">
            <a:spAutoFit/>
          </a:bodyPr>
          <a:lstStyle/>
          <a:p>
            <a:pPr marL="12700">
              <a:lnSpc>
                <a:spcPct val="100000"/>
              </a:lnSpc>
              <a:spcBef>
                <a:spcPts val="100"/>
              </a:spcBef>
            </a:pPr>
            <a:r>
              <a:rPr sz="1800" b="1" spc="-50" dirty="0">
                <a:latin typeface="Arial"/>
                <a:cs typeface="Arial"/>
              </a:rPr>
              <a:t>4</a:t>
            </a:r>
            <a:endParaRPr sz="1800">
              <a:latin typeface="Arial"/>
              <a:cs typeface="Arial"/>
            </a:endParaRPr>
          </a:p>
        </p:txBody>
      </p:sp>
      <p:sp>
        <p:nvSpPr>
          <p:cNvPr id="10" name="object 9">
            <a:extLst>
              <a:ext uri="{FF2B5EF4-FFF2-40B4-BE49-F238E27FC236}">
                <a16:creationId xmlns:a16="http://schemas.microsoft.com/office/drawing/2014/main" id="{D5D475A5-7A57-C4BF-2F7E-63290CC7E25C}"/>
              </a:ext>
            </a:extLst>
          </p:cNvPr>
          <p:cNvSpPr txBox="1"/>
          <p:nvPr/>
        </p:nvSpPr>
        <p:spPr>
          <a:xfrm>
            <a:off x="7928609" y="3304413"/>
            <a:ext cx="153035" cy="299720"/>
          </a:xfrm>
          <a:prstGeom prst="rect">
            <a:avLst/>
          </a:prstGeom>
        </p:spPr>
        <p:txBody>
          <a:bodyPr vert="horz" wrap="square" lIns="0" tIns="12700" rIns="0" bIns="0" rtlCol="0">
            <a:spAutoFit/>
          </a:bodyPr>
          <a:lstStyle/>
          <a:p>
            <a:pPr marL="12700">
              <a:lnSpc>
                <a:spcPct val="100000"/>
              </a:lnSpc>
              <a:spcBef>
                <a:spcPts val="100"/>
              </a:spcBef>
            </a:pPr>
            <a:r>
              <a:rPr sz="1800" b="1" spc="-50" dirty="0">
                <a:latin typeface="Arial"/>
                <a:cs typeface="Arial"/>
              </a:rPr>
              <a:t>4</a:t>
            </a:r>
            <a:endParaRPr sz="1800">
              <a:latin typeface="Arial"/>
              <a:cs typeface="Arial"/>
            </a:endParaRPr>
          </a:p>
        </p:txBody>
      </p:sp>
      <p:sp>
        <p:nvSpPr>
          <p:cNvPr id="11" name="object 10">
            <a:extLst>
              <a:ext uri="{FF2B5EF4-FFF2-40B4-BE49-F238E27FC236}">
                <a16:creationId xmlns:a16="http://schemas.microsoft.com/office/drawing/2014/main" id="{255ECA87-EC5C-5557-8FBE-5779EF99851E}"/>
              </a:ext>
            </a:extLst>
          </p:cNvPr>
          <p:cNvSpPr txBox="1"/>
          <p:nvPr/>
        </p:nvSpPr>
        <p:spPr>
          <a:xfrm>
            <a:off x="5185028" y="5591047"/>
            <a:ext cx="153035" cy="299720"/>
          </a:xfrm>
          <a:prstGeom prst="rect">
            <a:avLst/>
          </a:prstGeom>
        </p:spPr>
        <p:txBody>
          <a:bodyPr vert="horz" wrap="square" lIns="0" tIns="12700" rIns="0" bIns="0" rtlCol="0">
            <a:spAutoFit/>
          </a:bodyPr>
          <a:lstStyle/>
          <a:p>
            <a:pPr marL="12700">
              <a:lnSpc>
                <a:spcPct val="100000"/>
              </a:lnSpc>
              <a:spcBef>
                <a:spcPts val="100"/>
              </a:spcBef>
            </a:pPr>
            <a:r>
              <a:rPr sz="1800" b="1" spc="-50" dirty="0">
                <a:latin typeface="Arial"/>
                <a:cs typeface="Arial"/>
              </a:rPr>
              <a:t>7</a:t>
            </a:r>
            <a:endParaRPr sz="1800">
              <a:latin typeface="Arial"/>
              <a:cs typeface="Arial"/>
            </a:endParaRPr>
          </a:p>
        </p:txBody>
      </p:sp>
      <p:sp>
        <p:nvSpPr>
          <p:cNvPr id="12" name="object 11">
            <a:extLst>
              <a:ext uri="{FF2B5EF4-FFF2-40B4-BE49-F238E27FC236}">
                <a16:creationId xmlns:a16="http://schemas.microsoft.com/office/drawing/2014/main" id="{79B2B6F3-A15F-D396-DCC7-16634D85CF06}"/>
              </a:ext>
            </a:extLst>
          </p:cNvPr>
          <p:cNvSpPr txBox="1"/>
          <p:nvPr/>
        </p:nvSpPr>
        <p:spPr>
          <a:xfrm>
            <a:off x="993444" y="2310486"/>
            <a:ext cx="5665470" cy="709930"/>
          </a:xfrm>
          <a:prstGeom prst="rect">
            <a:avLst/>
          </a:prstGeom>
        </p:spPr>
        <p:txBody>
          <a:bodyPr vert="horz" wrap="square" lIns="0" tIns="67945" rIns="0" bIns="0" rtlCol="0">
            <a:spAutoFit/>
          </a:bodyPr>
          <a:lstStyle/>
          <a:p>
            <a:pPr marL="12700">
              <a:lnSpc>
                <a:spcPct val="100000"/>
              </a:lnSpc>
              <a:spcBef>
                <a:spcPts val="535"/>
              </a:spcBef>
            </a:pPr>
            <a:r>
              <a:rPr sz="2000" b="1" dirty="0">
                <a:solidFill>
                  <a:srgbClr val="CC3300"/>
                </a:solidFill>
                <a:latin typeface="Courier New"/>
                <a:cs typeface="Courier New"/>
              </a:rPr>
              <a:t>generalSearch(problem,</a:t>
            </a:r>
            <a:r>
              <a:rPr sz="2000" b="1" spc="-120" dirty="0">
                <a:solidFill>
                  <a:srgbClr val="CC3300"/>
                </a:solidFill>
                <a:latin typeface="Courier New"/>
                <a:cs typeface="Courier New"/>
              </a:rPr>
              <a:t> </a:t>
            </a:r>
            <a:r>
              <a:rPr sz="2000" b="1" spc="-10" dirty="0">
                <a:solidFill>
                  <a:srgbClr val="FF5050"/>
                </a:solidFill>
                <a:latin typeface="Courier New"/>
                <a:cs typeface="Courier New"/>
              </a:rPr>
              <a:t>priorityQueue</a:t>
            </a:r>
            <a:r>
              <a:rPr sz="2000" b="1" spc="-10" dirty="0">
                <a:solidFill>
                  <a:srgbClr val="CC3300"/>
                </a:solidFill>
                <a:latin typeface="Courier New"/>
                <a:cs typeface="Courier New"/>
              </a:rPr>
              <a:t>)</a:t>
            </a:r>
            <a:endParaRPr sz="2000">
              <a:latin typeface="Courier New"/>
              <a:cs typeface="Courier New"/>
            </a:endParaRPr>
          </a:p>
          <a:p>
            <a:pPr marL="12700">
              <a:lnSpc>
                <a:spcPct val="100000"/>
              </a:lnSpc>
              <a:spcBef>
                <a:spcPts val="390"/>
              </a:spcBef>
            </a:pPr>
            <a:r>
              <a:rPr sz="1800" dirty="0">
                <a:solidFill>
                  <a:srgbClr val="1F487C"/>
                </a:solidFill>
                <a:latin typeface="Arial MT"/>
                <a:cs typeface="Arial MT"/>
              </a:rPr>
              <a:t>#</a:t>
            </a:r>
            <a:r>
              <a:rPr sz="1800" spc="-25" dirty="0">
                <a:solidFill>
                  <a:srgbClr val="1F487C"/>
                </a:solidFill>
                <a:latin typeface="Arial MT"/>
                <a:cs typeface="Arial MT"/>
              </a:rPr>
              <a:t> </a:t>
            </a:r>
            <a:r>
              <a:rPr sz="1800" dirty="0">
                <a:solidFill>
                  <a:srgbClr val="1F487C"/>
                </a:solidFill>
                <a:latin typeface="Arial MT"/>
                <a:cs typeface="Arial MT"/>
              </a:rPr>
              <a:t>of</a:t>
            </a:r>
            <a:r>
              <a:rPr sz="1800" spc="-20" dirty="0">
                <a:solidFill>
                  <a:srgbClr val="1F487C"/>
                </a:solidFill>
                <a:latin typeface="Arial MT"/>
                <a:cs typeface="Arial MT"/>
              </a:rPr>
              <a:t> </a:t>
            </a:r>
            <a:r>
              <a:rPr sz="1800" dirty="0">
                <a:solidFill>
                  <a:srgbClr val="1F487C"/>
                </a:solidFill>
                <a:latin typeface="Arial MT"/>
                <a:cs typeface="Arial MT"/>
              </a:rPr>
              <a:t>nodes</a:t>
            </a:r>
            <a:r>
              <a:rPr sz="1800" spc="-15" dirty="0">
                <a:solidFill>
                  <a:srgbClr val="1F487C"/>
                </a:solidFill>
                <a:latin typeface="Arial MT"/>
                <a:cs typeface="Arial MT"/>
              </a:rPr>
              <a:t> </a:t>
            </a:r>
            <a:r>
              <a:rPr sz="1800" dirty="0">
                <a:solidFill>
                  <a:srgbClr val="1F487C"/>
                </a:solidFill>
                <a:latin typeface="Arial MT"/>
                <a:cs typeface="Arial MT"/>
              </a:rPr>
              <a:t>tested:</a:t>
            </a:r>
            <a:r>
              <a:rPr sz="1800" spc="-25" dirty="0">
                <a:solidFill>
                  <a:srgbClr val="1F487C"/>
                </a:solidFill>
                <a:latin typeface="Arial MT"/>
                <a:cs typeface="Arial MT"/>
              </a:rPr>
              <a:t> </a:t>
            </a:r>
            <a:r>
              <a:rPr sz="1800" dirty="0">
                <a:latin typeface="Arial MT"/>
                <a:cs typeface="Arial MT"/>
              </a:rPr>
              <a:t>5</a:t>
            </a:r>
            <a:r>
              <a:rPr sz="1800" dirty="0">
                <a:solidFill>
                  <a:srgbClr val="1F487C"/>
                </a:solidFill>
                <a:latin typeface="Arial MT"/>
                <a:cs typeface="Arial MT"/>
              </a:rPr>
              <a:t>,</a:t>
            </a:r>
            <a:r>
              <a:rPr sz="1800" spc="-15" dirty="0">
                <a:solidFill>
                  <a:srgbClr val="1F487C"/>
                </a:solidFill>
                <a:latin typeface="Arial MT"/>
                <a:cs typeface="Arial MT"/>
              </a:rPr>
              <a:t> </a:t>
            </a:r>
            <a:r>
              <a:rPr sz="1800" dirty="0">
                <a:solidFill>
                  <a:srgbClr val="1F487C"/>
                </a:solidFill>
                <a:latin typeface="Arial MT"/>
                <a:cs typeface="Arial MT"/>
              </a:rPr>
              <a:t>expanded:</a:t>
            </a:r>
            <a:r>
              <a:rPr sz="1800" spc="15" dirty="0">
                <a:solidFill>
                  <a:srgbClr val="1F487C"/>
                </a:solidFill>
                <a:latin typeface="Arial MT"/>
                <a:cs typeface="Arial MT"/>
              </a:rPr>
              <a:t> </a:t>
            </a:r>
            <a:r>
              <a:rPr sz="1800" spc="-50" dirty="0">
                <a:latin typeface="Arial MT"/>
                <a:cs typeface="Arial MT"/>
              </a:rPr>
              <a:t>5</a:t>
            </a:r>
            <a:endParaRPr sz="1800">
              <a:latin typeface="Arial MT"/>
              <a:cs typeface="Arial MT"/>
            </a:endParaRPr>
          </a:p>
        </p:txBody>
      </p:sp>
      <p:graphicFrame>
        <p:nvGraphicFramePr>
          <p:cNvPr id="13" name="object 13">
            <a:extLst>
              <a:ext uri="{FF2B5EF4-FFF2-40B4-BE49-F238E27FC236}">
                <a16:creationId xmlns:a16="http://schemas.microsoft.com/office/drawing/2014/main" id="{9134847E-D244-29FB-15EF-A1536AB84A7F}"/>
              </a:ext>
            </a:extLst>
          </p:cNvPr>
          <p:cNvGraphicFramePr>
            <a:graphicFrameLocks noGrp="1"/>
          </p:cNvGraphicFramePr>
          <p:nvPr/>
        </p:nvGraphicFramePr>
        <p:xfrm>
          <a:off x="628650" y="3336925"/>
          <a:ext cx="4115435" cy="2430780"/>
        </p:xfrm>
        <a:graphic>
          <a:graphicData uri="http://schemas.openxmlformats.org/drawingml/2006/table">
            <a:tbl>
              <a:tblPr firstRow="1" bandRow="1">
                <a:tableStyleId>{2D5ABB26-0587-4C30-8999-92F81FD0307C}</a:tableStyleId>
              </a:tblPr>
              <a:tblGrid>
                <a:gridCol w="1776730">
                  <a:extLst>
                    <a:ext uri="{9D8B030D-6E8A-4147-A177-3AD203B41FA5}">
                      <a16:colId xmlns:a16="http://schemas.microsoft.com/office/drawing/2014/main" val="20000"/>
                    </a:ext>
                  </a:extLst>
                </a:gridCol>
                <a:gridCol w="2338705">
                  <a:extLst>
                    <a:ext uri="{9D8B030D-6E8A-4147-A177-3AD203B41FA5}">
                      <a16:colId xmlns:a16="http://schemas.microsoft.com/office/drawing/2014/main" val="20001"/>
                    </a:ext>
                  </a:extLst>
                </a:gridCol>
              </a:tblGrid>
              <a:tr h="301625">
                <a:tc>
                  <a:txBody>
                    <a:bodyPr/>
                    <a:lstStyle/>
                    <a:p>
                      <a:pPr marL="91440">
                        <a:lnSpc>
                          <a:spcPct val="100000"/>
                        </a:lnSpc>
                        <a:spcBef>
                          <a:spcPts val="30"/>
                        </a:spcBef>
                      </a:pPr>
                      <a:r>
                        <a:rPr sz="1800" b="1" dirty="0">
                          <a:solidFill>
                            <a:srgbClr val="111111"/>
                          </a:solidFill>
                          <a:latin typeface="Arial"/>
                          <a:cs typeface="Arial"/>
                        </a:rPr>
                        <a:t>Closed</a:t>
                      </a:r>
                      <a:r>
                        <a:rPr sz="1800" b="1" spc="-40" dirty="0">
                          <a:solidFill>
                            <a:srgbClr val="111111"/>
                          </a:solidFill>
                          <a:latin typeface="Arial"/>
                          <a:cs typeface="Arial"/>
                        </a:rPr>
                        <a:t> </a:t>
                      </a:r>
                      <a:r>
                        <a:rPr sz="1800" b="1" spc="-20" dirty="0">
                          <a:solidFill>
                            <a:srgbClr val="111111"/>
                          </a:solidFill>
                          <a:latin typeface="Arial"/>
                          <a:cs typeface="Arial"/>
                        </a:rPr>
                        <a:t>Node</a:t>
                      </a:r>
                      <a:endParaRPr sz="1800">
                        <a:latin typeface="Arial"/>
                        <a:cs typeface="Arial"/>
                      </a:endParaRPr>
                    </a:p>
                  </a:txBody>
                  <a:tcPr marL="0" marR="0" marT="3810" marB="0">
                    <a:lnR w="12700">
                      <a:solidFill>
                        <a:srgbClr val="000000"/>
                      </a:solidFill>
                      <a:prstDash val="solid"/>
                    </a:lnR>
                    <a:lnT w="38100">
                      <a:solidFill>
                        <a:srgbClr val="000000"/>
                      </a:solidFill>
                      <a:prstDash val="solid"/>
                    </a:lnT>
                    <a:lnB w="12700">
                      <a:solidFill>
                        <a:srgbClr val="000000"/>
                      </a:solidFill>
                      <a:prstDash val="solid"/>
                    </a:lnB>
                  </a:tcPr>
                </a:tc>
                <a:tc>
                  <a:txBody>
                    <a:bodyPr/>
                    <a:lstStyle/>
                    <a:p>
                      <a:pPr marL="91440">
                        <a:lnSpc>
                          <a:spcPct val="100000"/>
                        </a:lnSpc>
                        <a:spcBef>
                          <a:spcPts val="30"/>
                        </a:spcBef>
                      </a:pPr>
                      <a:r>
                        <a:rPr sz="1800" b="1" dirty="0">
                          <a:solidFill>
                            <a:srgbClr val="111111"/>
                          </a:solidFill>
                          <a:latin typeface="Arial"/>
                          <a:cs typeface="Arial"/>
                        </a:rPr>
                        <a:t>Open</a:t>
                      </a:r>
                      <a:r>
                        <a:rPr sz="1800" b="1" spc="-30" dirty="0">
                          <a:solidFill>
                            <a:srgbClr val="111111"/>
                          </a:solidFill>
                          <a:latin typeface="Arial"/>
                          <a:cs typeface="Arial"/>
                        </a:rPr>
                        <a:t> </a:t>
                      </a:r>
                      <a:r>
                        <a:rPr sz="1800" b="1" spc="-20" dirty="0">
                          <a:solidFill>
                            <a:srgbClr val="111111"/>
                          </a:solidFill>
                          <a:latin typeface="Arial"/>
                          <a:cs typeface="Arial"/>
                        </a:rPr>
                        <a:t>Node</a:t>
                      </a:r>
                      <a:endParaRPr sz="1800">
                        <a:latin typeface="Arial"/>
                        <a:cs typeface="Arial"/>
                      </a:endParaRPr>
                    </a:p>
                  </a:txBody>
                  <a:tcPr marL="0" marR="0" marT="3810" marB="0">
                    <a:lnL w="12700">
                      <a:solidFill>
                        <a:srgbClr val="000000"/>
                      </a:solidFill>
                      <a:prstDash val="solid"/>
                    </a:lnL>
                    <a:lnT w="381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301625">
                <a:tc>
                  <a:txBody>
                    <a:bodyPr/>
                    <a:lstStyle/>
                    <a:p>
                      <a:pPr>
                        <a:lnSpc>
                          <a:spcPct val="100000"/>
                        </a:lnSpc>
                      </a:pPr>
                      <a:endParaRPr sz="1800">
                        <a:latin typeface="Times New Roman"/>
                        <a:cs typeface="Times New Roman"/>
                      </a:endParaRPr>
                    </a:p>
                  </a:txBody>
                  <a:tcPr marL="0" marR="0" marT="0" marB="0">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30"/>
                        </a:spcBef>
                      </a:pPr>
                      <a:r>
                        <a:rPr sz="1800" spc="-25" dirty="0">
                          <a:solidFill>
                            <a:srgbClr val="111111"/>
                          </a:solidFill>
                          <a:latin typeface="Arial MT"/>
                          <a:cs typeface="Arial MT"/>
                        </a:rPr>
                        <a:t>{S}</a:t>
                      </a:r>
                      <a:endParaRPr sz="1800">
                        <a:latin typeface="Arial MT"/>
                        <a:cs typeface="Arial MT"/>
                      </a:endParaRPr>
                    </a:p>
                  </a:txBody>
                  <a:tcPr marL="0" marR="0" marT="3810" marB="0">
                    <a:lnL w="12700">
                      <a:solidFill>
                        <a:srgbClr val="000000"/>
                      </a:solidFill>
                      <a:prstDash val="solid"/>
                    </a:lnL>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301625">
                <a:tc>
                  <a:txBody>
                    <a:bodyPr/>
                    <a:lstStyle/>
                    <a:p>
                      <a:pPr marL="91440">
                        <a:lnSpc>
                          <a:spcPct val="100000"/>
                        </a:lnSpc>
                        <a:spcBef>
                          <a:spcPts val="30"/>
                        </a:spcBef>
                      </a:pPr>
                      <a:r>
                        <a:rPr sz="1800" spc="-50" dirty="0">
                          <a:solidFill>
                            <a:srgbClr val="111111"/>
                          </a:solidFill>
                          <a:latin typeface="Arial MT"/>
                          <a:cs typeface="Arial MT"/>
                        </a:rPr>
                        <a:t>S</a:t>
                      </a:r>
                      <a:endParaRPr sz="1800">
                        <a:latin typeface="Arial MT"/>
                        <a:cs typeface="Arial MT"/>
                      </a:endParaRPr>
                    </a:p>
                  </a:txBody>
                  <a:tcPr marL="0" marR="0" marT="3810" marB="0">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30"/>
                        </a:spcBef>
                      </a:pPr>
                      <a:r>
                        <a:rPr sz="1800" spc="-10" dirty="0">
                          <a:solidFill>
                            <a:srgbClr val="111111"/>
                          </a:solidFill>
                          <a:latin typeface="Arial MT"/>
                          <a:cs typeface="Arial MT"/>
                        </a:rPr>
                        <a:t>{B:2,C:4,A:5}</a:t>
                      </a:r>
                      <a:endParaRPr sz="1800">
                        <a:latin typeface="Arial MT"/>
                        <a:cs typeface="Arial MT"/>
                      </a:endParaRPr>
                    </a:p>
                  </a:txBody>
                  <a:tcPr marL="0" marR="0" marT="3810" marB="0">
                    <a:lnL w="12700">
                      <a:solidFill>
                        <a:srgbClr val="000000"/>
                      </a:solidFill>
                      <a:prstDash val="solid"/>
                    </a:lnL>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306070">
                <a:tc>
                  <a:txBody>
                    <a:bodyPr/>
                    <a:lstStyle/>
                    <a:p>
                      <a:pPr marL="91440">
                        <a:lnSpc>
                          <a:spcPct val="100000"/>
                        </a:lnSpc>
                        <a:spcBef>
                          <a:spcPts val="30"/>
                        </a:spcBef>
                      </a:pPr>
                      <a:r>
                        <a:rPr sz="1800" spc="-50" dirty="0">
                          <a:solidFill>
                            <a:srgbClr val="111111"/>
                          </a:solidFill>
                          <a:latin typeface="Arial MT"/>
                          <a:cs typeface="Arial MT"/>
                        </a:rPr>
                        <a:t>B</a:t>
                      </a:r>
                      <a:endParaRPr sz="1800">
                        <a:latin typeface="Arial MT"/>
                        <a:cs typeface="Arial MT"/>
                      </a:endParaRPr>
                    </a:p>
                  </a:txBody>
                  <a:tcPr marL="0" marR="0" marT="3810" marB="0">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30"/>
                        </a:spcBef>
                      </a:pPr>
                      <a:r>
                        <a:rPr sz="1800" spc="-10" dirty="0">
                          <a:solidFill>
                            <a:srgbClr val="111111"/>
                          </a:solidFill>
                          <a:latin typeface="Arial MT"/>
                          <a:cs typeface="Arial MT"/>
                        </a:rPr>
                        <a:t>{C:4,A:5,G:8}</a:t>
                      </a:r>
                      <a:endParaRPr sz="1800">
                        <a:latin typeface="Arial MT"/>
                        <a:cs typeface="Arial MT"/>
                      </a:endParaRPr>
                    </a:p>
                  </a:txBody>
                  <a:tcPr marL="0" marR="0" marT="3810" marB="0">
                    <a:lnL w="12700">
                      <a:solidFill>
                        <a:srgbClr val="000000"/>
                      </a:solidFill>
                      <a:prstDash val="solid"/>
                    </a:lnL>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321945">
                <a:tc>
                  <a:txBody>
                    <a:bodyPr/>
                    <a:lstStyle/>
                    <a:p>
                      <a:pPr marL="91440">
                        <a:lnSpc>
                          <a:spcPct val="100000"/>
                        </a:lnSpc>
                        <a:spcBef>
                          <a:spcPts val="30"/>
                        </a:spcBef>
                      </a:pPr>
                      <a:r>
                        <a:rPr sz="1800" spc="-50" dirty="0">
                          <a:solidFill>
                            <a:srgbClr val="111111"/>
                          </a:solidFill>
                          <a:latin typeface="Arial MT"/>
                          <a:cs typeface="Arial MT"/>
                        </a:rPr>
                        <a:t>C</a:t>
                      </a:r>
                      <a:endParaRPr sz="1800">
                        <a:latin typeface="Arial MT"/>
                        <a:cs typeface="Arial MT"/>
                      </a:endParaRPr>
                    </a:p>
                  </a:txBody>
                  <a:tcPr marL="0" marR="0" marT="3810" marB="0">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30"/>
                        </a:spcBef>
                      </a:pPr>
                      <a:r>
                        <a:rPr sz="1800" spc="-10" dirty="0">
                          <a:solidFill>
                            <a:srgbClr val="111111"/>
                          </a:solidFill>
                          <a:latin typeface="Arial MT"/>
                          <a:cs typeface="Arial MT"/>
                        </a:rPr>
                        <a:t>{A:5,F:6,G:8}</a:t>
                      </a:r>
                      <a:endParaRPr sz="1800">
                        <a:latin typeface="Arial MT"/>
                        <a:cs typeface="Arial MT"/>
                      </a:endParaRPr>
                    </a:p>
                  </a:txBody>
                  <a:tcPr marL="0" marR="0" marT="3810" marB="0">
                    <a:lnL w="12700">
                      <a:solidFill>
                        <a:srgbClr val="000000"/>
                      </a:solidFill>
                      <a:prstDash val="solid"/>
                    </a:lnL>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r h="321945">
                <a:tc>
                  <a:txBody>
                    <a:bodyPr/>
                    <a:lstStyle/>
                    <a:p>
                      <a:pPr marL="91440">
                        <a:lnSpc>
                          <a:spcPct val="100000"/>
                        </a:lnSpc>
                        <a:spcBef>
                          <a:spcPts val="35"/>
                        </a:spcBef>
                      </a:pPr>
                      <a:r>
                        <a:rPr sz="1800" spc="-50" dirty="0">
                          <a:solidFill>
                            <a:srgbClr val="111111"/>
                          </a:solidFill>
                          <a:latin typeface="Arial MT"/>
                          <a:cs typeface="Arial MT"/>
                        </a:rPr>
                        <a:t>A</a:t>
                      </a:r>
                      <a:endParaRPr sz="1800">
                        <a:latin typeface="Arial MT"/>
                        <a:cs typeface="Arial MT"/>
                      </a:endParaRPr>
                    </a:p>
                  </a:txBody>
                  <a:tcPr marL="0" marR="0" marT="4445" marB="0">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35"/>
                        </a:spcBef>
                      </a:pPr>
                      <a:r>
                        <a:rPr sz="1800" spc="-10" dirty="0">
                          <a:solidFill>
                            <a:srgbClr val="111111"/>
                          </a:solidFill>
                          <a:latin typeface="Arial MT"/>
                          <a:cs typeface="Arial MT"/>
                        </a:rPr>
                        <a:t>{F:6,G:8,E:9,D:14}</a:t>
                      </a:r>
                      <a:endParaRPr sz="1800">
                        <a:latin typeface="Arial MT"/>
                        <a:cs typeface="Arial MT"/>
                      </a:endParaRPr>
                    </a:p>
                  </a:txBody>
                  <a:tcPr marL="0" marR="0" marT="4445" marB="0">
                    <a:lnL w="12700">
                      <a:solidFill>
                        <a:srgbClr val="000000"/>
                      </a:solidFill>
                      <a:prstDash val="solid"/>
                    </a:lnL>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5"/>
                  </a:ext>
                </a:extLst>
              </a:tr>
              <a:tr h="575945">
                <a:tc>
                  <a:txBody>
                    <a:bodyPr/>
                    <a:lstStyle/>
                    <a:p>
                      <a:pPr marL="91440">
                        <a:lnSpc>
                          <a:spcPct val="100000"/>
                        </a:lnSpc>
                        <a:spcBef>
                          <a:spcPts val="35"/>
                        </a:spcBef>
                      </a:pPr>
                      <a:r>
                        <a:rPr sz="1800" dirty="0">
                          <a:solidFill>
                            <a:srgbClr val="111111"/>
                          </a:solidFill>
                          <a:latin typeface="Arial MT"/>
                          <a:cs typeface="Arial MT"/>
                        </a:rPr>
                        <a:t>F</a:t>
                      </a:r>
                      <a:r>
                        <a:rPr sz="1800" spc="-20" dirty="0">
                          <a:solidFill>
                            <a:srgbClr val="111111"/>
                          </a:solidFill>
                          <a:latin typeface="Arial MT"/>
                          <a:cs typeface="Arial MT"/>
                        </a:rPr>
                        <a:t> </a:t>
                      </a:r>
                      <a:r>
                        <a:rPr sz="1800" dirty="0">
                          <a:solidFill>
                            <a:srgbClr val="FF7B80"/>
                          </a:solidFill>
                          <a:latin typeface="Arial MT"/>
                          <a:cs typeface="Arial MT"/>
                        </a:rPr>
                        <a:t>not</a:t>
                      </a:r>
                      <a:r>
                        <a:rPr sz="1800" spc="-10" dirty="0">
                          <a:solidFill>
                            <a:srgbClr val="FF7B80"/>
                          </a:solidFill>
                          <a:latin typeface="Arial MT"/>
                          <a:cs typeface="Arial MT"/>
                        </a:rPr>
                        <a:t> </a:t>
                      </a:r>
                      <a:r>
                        <a:rPr sz="1800" spc="-20" dirty="0">
                          <a:solidFill>
                            <a:srgbClr val="FF7B80"/>
                          </a:solidFill>
                          <a:latin typeface="Arial MT"/>
                          <a:cs typeface="Arial MT"/>
                        </a:rPr>
                        <a:t>goal</a:t>
                      </a:r>
                      <a:endParaRPr sz="1800">
                        <a:latin typeface="Arial MT"/>
                        <a:cs typeface="Arial MT"/>
                      </a:endParaRPr>
                    </a:p>
                  </a:txBody>
                  <a:tcPr marL="0" marR="0" marT="4445" marB="0">
                    <a:lnR w="12700">
                      <a:solidFill>
                        <a:srgbClr val="000000"/>
                      </a:solidFill>
                      <a:prstDash val="solid"/>
                    </a:lnR>
                    <a:lnT w="12700">
                      <a:solidFill>
                        <a:srgbClr val="000000"/>
                      </a:solidFill>
                      <a:prstDash val="solid"/>
                    </a:lnT>
                    <a:lnB w="38100">
                      <a:solidFill>
                        <a:srgbClr val="000000"/>
                      </a:solidFill>
                      <a:prstDash val="solid"/>
                    </a:lnB>
                  </a:tcPr>
                </a:tc>
                <a:tc>
                  <a:txBody>
                    <a:bodyPr/>
                    <a:lstStyle/>
                    <a:p>
                      <a:pPr marL="91440" marR="12065">
                        <a:lnSpc>
                          <a:spcPct val="100000"/>
                        </a:lnSpc>
                        <a:spcBef>
                          <a:spcPts val="35"/>
                        </a:spcBef>
                      </a:pPr>
                      <a:r>
                        <a:rPr sz="1800" spc="-10" dirty="0">
                          <a:solidFill>
                            <a:srgbClr val="111111"/>
                          </a:solidFill>
                          <a:latin typeface="Arial MT"/>
                          <a:cs typeface="Arial MT"/>
                        </a:rPr>
                        <a:t>{</a:t>
                      </a:r>
                      <a:r>
                        <a:rPr sz="1800" spc="-10" dirty="0">
                          <a:solidFill>
                            <a:srgbClr val="C0504D"/>
                          </a:solidFill>
                          <a:latin typeface="Arial MT"/>
                          <a:cs typeface="Arial MT"/>
                        </a:rPr>
                        <a:t>G:4+2+1,</a:t>
                      </a:r>
                      <a:r>
                        <a:rPr sz="1800" spc="-10" dirty="0">
                          <a:solidFill>
                            <a:srgbClr val="111111"/>
                          </a:solidFill>
                          <a:latin typeface="Arial MT"/>
                          <a:cs typeface="Arial MT"/>
                        </a:rPr>
                        <a:t>G:8,E:9,D:1 </a:t>
                      </a:r>
                      <a:r>
                        <a:rPr sz="1800" spc="-25" dirty="0">
                          <a:solidFill>
                            <a:srgbClr val="111111"/>
                          </a:solidFill>
                          <a:latin typeface="Arial MT"/>
                          <a:cs typeface="Arial MT"/>
                        </a:rPr>
                        <a:t>4}</a:t>
                      </a:r>
                      <a:endParaRPr sz="1800">
                        <a:latin typeface="Arial MT"/>
                        <a:cs typeface="Arial MT"/>
                      </a:endParaRPr>
                    </a:p>
                  </a:txBody>
                  <a:tcPr marL="0" marR="0" marT="4445" marB="0">
                    <a:lnL w="12700">
                      <a:solidFill>
                        <a:srgbClr val="000000"/>
                      </a:solidFill>
                      <a:prstDash val="solid"/>
                    </a:lnL>
                    <a:lnT w="12700">
                      <a:solidFill>
                        <a:srgbClr val="000000"/>
                      </a:solidFill>
                      <a:prstDash val="solid"/>
                    </a:lnT>
                    <a:lnB w="38100">
                      <a:solidFill>
                        <a:srgbClr val="000000"/>
                      </a:solidFill>
                      <a:prstDash val="solid"/>
                    </a:lnB>
                  </a:tcPr>
                </a:tc>
                <a:extLst>
                  <a:ext uri="{0D108BD9-81ED-4DB2-BD59-A6C34878D82A}">
                    <a16:rowId xmlns:a16="http://schemas.microsoft.com/office/drawing/2014/main" val="10006"/>
                  </a:ext>
                </a:extLst>
              </a:tr>
            </a:tbl>
          </a:graphicData>
        </a:graphic>
      </p:graphicFrame>
      <p:pic>
        <p:nvPicPr>
          <p:cNvPr id="14" name="object 14">
            <a:extLst>
              <a:ext uri="{FF2B5EF4-FFF2-40B4-BE49-F238E27FC236}">
                <a16:creationId xmlns:a16="http://schemas.microsoft.com/office/drawing/2014/main" id="{9B3DFDC0-BF4C-E5F0-96C8-4A94270EDDE2}"/>
              </a:ext>
            </a:extLst>
          </p:cNvPr>
          <p:cNvPicPr/>
          <p:nvPr/>
        </p:nvPicPr>
        <p:blipFill>
          <a:blip r:embed="rId2" cstate="print"/>
          <a:stretch>
            <a:fillRect/>
          </a:stretch>
        </p:blipFill>
        <p:spPr>
          <a:xfrm>
            <a:off x="5017261" y="2502661"/>
            <a:ext cx="3911599" cy="4140200"/>
          </a:xfrm>
          <a:prstGeom prst="rect">
            <a:avLst/>
          </a:prstGeom>
        </p:spPr>
      </p:pic>
      <p:sp>
        <p:nvSpPr>
          <p:cNvPr id="15" name="object 15">
            <a:extLst>
              <a:ext uri="{FF2B5EF4-FFF2-40B4-BE49-F238E27FC236}">
                <a16:creationId xmlns:a16="http://schemas.microsoft.com/office/drawing/2014/main" id="{2CD9B331-9C23-D411-9210-9330AFD8C024}"/>
              </a:ext>
            </a:extLst>
          </p:cNvPr>
          <p:cNvSpPr txBox="1"/>
          <p:nvPr/>
        </p:nvSpPr>
        <p:spPr>
          <a:xfrm>
            <a:off x="7195566" y="2545842"/>
            <a:ext cx="470534" cy="535940"/>
          </a:xfrm>
          <a:prstGeom prst="rect">
            <a:avLst/>
          </a:prstGeom>
        </p:spPr>
        <p:txBody>
          <a:bodyPr vert="horz" wrap="square" lIns="0" tIns="13335" rIns="0" bIns="0" rtlCol="0">
            <a:spAutoFit/>
          </a:bodyPr>
          <a:lstStyle/>
          <a:p>
            <a:pPr algn="ctr">
              <a:lnSpc>
                <a:spcPts val="2130"/>
              </a:lnSpc>
              <a:spcBef>
                <a:spcPts val="105"/>
              </a:spcBef>
            </a:pPr>
            <a:r>
              <a:rPr sz="2000" b="1" spc="-50" dirty="0">
                <a:latin typeface="Arial"/>
                <a:cs typeface="Arial"/>
              </a:rPr>
              <a:t>S</a:t>
            </a:r>
            <a:endParaRPr sz="2000">
              <a:latin typeface="Arial"/>
              <a:cs typeface="Arial"/>
            </a:endParaRPr>
          </a:p>
          <a:p>
            <a:pPr algn="ctr">
              <a:lnSpc>
                <a:spcPts val="1889"/>
              </a:lnSpc>
            </a:pPr>
            <a:r>
              <a:rPr sz="1800" spc="-10" dirty="0">
                <a:solidFill>
                  <a:srgbClr val="FFFFFF"/>
                </a:solidFill>
                <a:latin typeface="Arial MT"/>
                <a:cs typeface="Arial MT"/>
              </a:rPr>
              <a:t>start</a:t>
            </a:r>
            <a:endParaRPr sz="1800">
              <a:latin typeface="Arial MT"/>
              <a:cs typeface="Arial MT"/>
            </a:endParaRPr>
          </a:p>
        </p:txBody>
      </p:sp>
      <p:sp>
        <p:nvSpPr>
          <p:cNvPr id="16" name="object 23">
            <a:extLst>
              <a:ext uri="{FF2B5EF4-FFF2-40B4-BE49-F238E27FC236}">
                <a16:creationId xmlns:a16="http://schemas.microsoft.com/office/drawing/2014/main" id="{84686BC2-5CF0-B79B-9D42-2FFA51A7583D}"/>
              </a:ext>
            </a:extLst>
          </p:cNvPr>
          <p:cNvSpPr txBox="1"/>
          <p:nvPr/>
        </p:nvSpPr>
        <p:spPr>
          <a:xfrm>
            <a:off x="5267325" y="6139412"/>
            <a:ext cx="209550" cy="309880"/>
          </a:xfrm>
          <a:prstGeom prst="rect">
            <a:avLst/>
          </a:prstGeom>
        </p:spPr>
        <p:txBody>
          <a:bodyPr vert="horz" wrap="square" lIns="0" tIns="0" rIns="0" bIns="0" rtlCol="0">
            <a:spAutoFit/>
          </a:bodyPr>
          <a:lstStyle/>
          <a:p>
            <a:pPr marL="12700">
              <a:lnSpc>
                <a:spcPts val="2315"/>
              </a:lnSpc>
            </a:pPr>
            <a:r>
              <a:rPr sz="2000" b="1" spc="-50" dirty="0">
                <a:latin typeface="Arial"/>
                <a:cs typeface="Arial"/>
              </a:rPr>
              <a:t>H</a:t>
            </a:r>
            <a:endParaRPr sz="2000">
              <a:latin typeface="Arial"/>
              <a:cs typeface="Arial"/>
            </a:endParaRPr>
          </a:p>
        </p:txBody>
      </p:sp>
      <p:sp>
        <p:nvSpPr>
          <p:cNvPr id="17" name="object 16">
            <a:extLst>
              <a:ext uri="{FF2B5EF4-FFF2-40B4-BE49-F238E27FC236}">
                <a16:creationId xmlns:a16="http://schemas.microsoft.com/office/drawing/2014/main" id="{565C49BC-9D07-FBD3-E778-2C2CBC852EB8}"/>
              </a:ext>
            </a:extLst>
          </p:cNvPr>
          <p:cNvSpPr txBox="1"/>
          <p:nvPr/>
        </p:nvSpPr>
        <p:spPr>
          <a:xfrm>
            <a:off x="6181725" y="3828363"/>
            <a:ext cx="209550" cy="331470"/>
          </a:xfrm>
          <a:prstGeom prst="rect">
            <a:avLst/>
          </a:prstGeom>
        </p:spPr>
        <p:txBody>
          <a:bodyPr vert="horz" wrap="square" lIns="0" tIns="13335" rIns="0" bIns="0" rtlCol="0">
            <a:spAutoFit/>
          </a:bodyPr>
          <a:lstStyle/>
          <a:p>
            <a:pPr marL="12700">
              <a:lnSpc>
                <a:spcPct val="100000"/>
              </a:lnSpc>
              <a:spcBef>
                <a:spcPts val="105"/>
              </a:spcBef>
            </a:pPr>
            <a:r>
              <a:rPr sz="2000" b="1" spc="-50" dirty="0">
                <a:latin typeface="Arial"/>
                <a:cs typeface="Arial"/>
              </a:rPr>
              <a:t>A</a:t>
            </a:r>
            <a:endParaRPr sz="2000">
              <a:latin typeface="Arial"/>
              <a:cs typeface="Arial"/>
            </a:endParaRPr>
          </a:p>
        </p:txBody>
      </p:sp>
      <p:sp>
        <p:nvSpPr>
          <p:cNvPr id="18" name="object 17">
            <a:extLst>
              <a:ext uri="{FF2B5EF4-FFF2-40B4-BE49-F238E27FC236}">
                <a16:creationId xmlns:a16="http://schemas.microsoft.com/office/drawing/2014/main" id="{397AD6F7-47E9-C6D3-7902-3D943B291ED5}"/>
              </a:ext>
            </a:extLst>
          </p:cNvPr>
          <p:cNvSpPr txBox="1"/>
          <p:nvPr/>
        </p:nvSpPr>
        <p:spPr>
          <a:xfrm>
            <a:off x="6189726" y="4972050"/>
            <a:ext cx="195580" cy="330835"/>
          </a:xfrm>
          <a:prstGeom prst="rect">
            <a:avLst/>
          </a:prstGeom>
        </p:spPr>
        <p:txBody>
          <a:bodyPr vert="horz" wrap="square" lIns="0" tIns="12700" rIns="0" bIns="0" rtlCol="0">
            <a:spAutoFit/>
          </a:bodyPr>
          <a:lstStyle/>
          <a:p>
            <a:pPr marL="12700">
              <a:lnSpc>
                <a:spcPct val="100000"/>
              </a:lnSpc>
              <a:spcBef>
                <a:spcPts val="100"/>
              </a:spcBef>
            </a:pPr>
            <a:r>
              <a:rPr sz="2000" b="1" spc="-50" dirty="0">
                <a:latin typeface="Arial"/>
                <a:cs typeface="Arial"/>
              </a:rPr>
              <a:t>E</a:t>
            </a:r>
            <a:endParaRPr sz="2000">
              <a:latin typeface="Arial"/>
              <a:cs typeface="Arial"/>
            </a:endParaRPr>
          </a:p>
        </p:txBody>
      </p:sp>
      <p:sp>
        <p:nvSpPr>
          <p:cNvPr id="19" name="object 18">
            <a:extLst>
              <a:ext uri="{FF2B5EF4-FFF2-40B4-BE49-F238E27FC236}">
                <a16:creationId xmlns:a16="http://schemas.microsoft.com/office/drawing/2014/main" id="{42931BB1-9E2A-4C2C-0E54-9778EC3513EC}"/>
              </a:ext>
            </a:extLst>
          </p:cNvPr>
          <p:cNvSpPr txBox="1"/>
          <p:nvPr/>
        </p:nvSpPr>
        <p:spPr>
          <a:xfrm>
            <a:off x="5267325" y="4972050"/>
            <a:ext cx="209550" cy="330835"/>
          </a:xfrm>
          <a:prstGeom prst="rect">
            <a:avLst/>
          </a:prstGeom>
        </p:spPr>
        <p:txBody>
          <a:bodyPr vert="horz" wrap="square" lIns="0" tIns="12700" rIns="0" bIns="0" rtlCol="0">
            <a:spAutoFit/>
          </a:bodyPr>
          <a:lstStyle/>
          <a:p>
            <a:pPr marL="12700">
              <a:lnSpc>
                <a:spcPct val="100000"/>
              </a:lnSpc>
              <a:spcBef>
                <a:spcPts val="100"/>
              </a:spcBef>
            </a:pPr>
            <a:r>
              <a:rPr sz="2000" b="1" spc="-50" dirty="0">
                <a:latin typeface="Arial"/>
                <a:cs typeface="Arial"/>
              </a:rPr>
              <a:t>D</a:t>
            </a:r>
            <a:endParaRPr sz="2000">
              <a:latin typeface="Arial"/>
              <a:cs typeface="Arial"/>
            </a:endParaRPr>
          </a:p>
        </p:txBody>
      </p:sp>
      <p:sp>
        <p:nvSpPr>
          <p:cNvPr id="20" name="object 19">
            <a:extLst>
              <a:ext uri="{FF2B5EF4-FFF2-40B4-BE49-F238E27FC236}">
                <a16:creationId xmlns:a16="http://schemas.microsoft.com/office/drawing/2014/main" id="{1C28DF44-54D5-4A41-97E1-3AB7AD6328B4}"/>
              </a:ext>
            </a:extLst>
          </p:cNvPr>
          <p:cNvSpPr txBox="1"/>
          <p:nvPr/>
        </p:nvSpPr>
        <p:spPr>
          <a:xfrm>
            <a:off x="8483600" y="4972050"/>
            <a:ext cx="180975" cy="330835"/>
          </a:xfrm>
          <a:prstGeom prst="rect">
            <a:avLst/>
          </a:prstGeom>
        </p:spPr>
        <p:txBody>
          <a:bodyPr vert="horz" wrap="square" lIns="0" tIns="12700" rIns="0" bIns="0" rtlCol="0">
            <a:spAutoFit/>
          </a:bodyPr>
          <a:lstStyle/>
          <a:p>
            <a:pPr marL="12700">
              <a:lnSpc>
                <a:spcPct val="100000"/>
              </a:lnSpc>
              <a:spcBef>
                <a:spcPts val="100"/>
              </a:spcBef>
            </a:pPr>
            <a:r>
              <a:rPr sz="2000" b="1" spc="-50" dirty="0">
                <a:latin typeface="Arial"/>
                <a:cs typeface="Arial"/>
              </a:rPr>
              <a:t>F</a:t>
            </a:r>
            <a:endParaRPr sz="2000">
              <a:latin typeface="Arial"/>
              <a:cs typeface="Arial"/>
            </a:endParaRPr>
          </a:p>
        </p:txBody>
      </p:sp>
      <p:sp>
        <p:nvSpPr>
          <p:cNvPr id="21" name="object 20">
            <a:extLst>
              <a:ext uri="{FF2B5EF4-FFF2-40B4-BE49-F238E27FC236}">
                <a16:creationId xmlns:a16="http://schemas.microsoft.com/office/drawing/2014/main" id="{F1160774-0740-A8D6-8F94-C5FA8BBAEE38}"/>
              </a:ext>
            </a:extLst>
          </p:cNvPr>
          <p:cNvSpPr txBox="1"/>
          <p:nvPr/>
        </p:nvSpPr>
        <p:spPr>
          <a:xfrm>
            <a:off x="7325106" y="3828363"/>
            <a:ext cx="209550" cy="331470"/>
          </a:xfrm>
          <a:prstGeom prst="rect">
            <a:avLst/>
          </a:prstGeom>
        </p:spPr>
        <p:txBody>
          <a:bodyPr vert="horz" wrap="square" lIns="0" tIns="13335" rIns="0" bIns="0" rtlCol="0">
            <a:spAutoFit/>
          </a:bodyPr>
          <a:lstStyle/>
          <a:p>
            <a:pPr marL="12700">
              <a:lnSpc>
                <a:spcPct val="100000"/>
              </a:lnSpc>
              <a:spcBef>
                <a:spcPts val="105"/>
              </a:spcBef>
            </a:pPr>
            <a:r>
              <a:rPr sz="2000" b="1" spc="-50" dirty="0">
                <a:latin typeface="Arial"/>
                <a:cs typeface="Arial"/>
              </a:rPr>
              <a:t>B</a:t>
            </a:r>
            <a:endParaRPr sz="2000">
              <a:latin typeface="Arial"/>
              <a:cs typeface="Arial"/>
            </a:endParaRPr>
          </a:p>
        </p:txBody>
      </p:sp>
      <p:sp>
        <p:nvSpPr>
          <p:cNvPr id="22" name="object 21">
            <a:extLst>
              <a:ext uri="{FF2B5EF4-FFF2-40B4-BE49-F238E27FC236}">
                <a16:creationId xmlns:a16="http://schemas.microsoft.com/office/drawing/2014/main" id="{F75B9EA4-D7C3-20B6-4B7B-4E565D8CAF80}"/>
              </a:ext>
            </a:extLst>
          </p:cNvPr>
          <p:cNvSpPr txBox="1"/>
          <p:nvPr/>
        </p:nvSpPr>
        <p:spPr>
          <a:xfrm>
            <a:off x="7203185" y="4355624"/>
            <a:ext cx="455295" cy="997585"/>
          </a:xfrm>
          <a:prstGeom prst="rect">
            <a:avLst/>
          </a:prstGeom>
        </p:spPr>
        <p:txBody>
          <a:bodyPr vert="horz" wrap="square" lIns="0" tIns="104775" rIns="0" bIns="0" rtlCol="0">
            <a:spAutoFit/>
          </a:bodyPr>
          <a:lstStyle/>
          <a:p>
            <a:pPr marL="52069">
              <a:lnSpc>
                <a:spcPct val="100000"/>
              </a:lnSpc>
              <a:spcBef>
                <a:spcPts val="825"/>
              </a:spcBef>
            </a:pPr>
            <a:r>
              <a:rPr sz="1800" b="1" spc="-50" dirty="0">
                <a:latin typeface="Arial"/>
                <a:cs typeface="Arial"/>
              </a:rPr>
              <a:t>6</a:t>
            </a:r>
            <a:endParaRPr sz="1800">
              <a:latin typeface="Arial"/>
              <a:cs typeface="Arial"/>
            </a:endParaRPr>
          </a:p>
          <a:p>
            <a:pPr marL="128270">
              <a:lnSpc>
                <a:spcPts val="2100"/>
              </a:lnSpc>
              <a:spcBef>
                <a:spcPts val="810"/>
              </a:spcBef>
            </a:pPr>
            <a:r>
              <a:rPr sz="2000" b="1" spc="-50" dirty="0">
                <a:latin typeface="Arial"/>
                <a:cs typeface="Arial"/>
              </a:rPr>
              <a:t>G</a:t>
            </a:r>
            <a:endParaRPr sz="2000">
              <a:latin typeface="Arial"/>
              <a:cs typeface="Arial"/>
            </a:endParaRPr>
          </a:p>
          <a:p>
            <a:pPr marL="12700">
              <a:lnSpc>
                <a:spcPts val="1860"/>
              </a:lnSpc>
            </a:pPr>
            <a:r>
              <a:rPr sz="1800" spc="-20" dirty="0">
                <a:solidFill>
                  <a:srgbClr val="FFFFFF"/>
                </a:solidFill>
                <a:latin typeface="Arial MT"/>
                <a:cs typeface="Arial MT"/>
              </a:rPr>
              <a:t>goal</a:t>
            </a:r>
            <a:endParaRPr sz="1800">
              <a:latin typeface="Arial MT"/>
              <a:cs typeface="Arial MT"/>
            </a:endParaRPr>
          </a:p>
        </p:txBody>
      </p:sp>
      <p:sp>
        <p:nvSpPr>
          <p:cNvPr id="23" name="object 22">
            <a:extLst>
              <a:ext uri="{FF2B5EF4-FFF2-40B4-BE49-F238E27FC236}">
                <a16:creationId xmlns:a16="http://schemas.microsoft.com/office/drawing/2014/main" id="{29901AE6-792A-D70A-3226-B9F78B6B4DF7}"/>
              </a:ext>
            </a:extLst>
          </p:cNvPr>
          <p:cNvSpPr txBox="1"/>
          <p:nvPr/>
        </p:nvSpPr>
        <p:spPr>
          <a:xfrm>
            <a:off x="8468359" y="3828363"/>
            <a:ext cx="209550" cy="331470"/>
          </a:xfrm>
          <a:prstGeom prst="rect">
            <a:avLst/>
          </a:prstGeom>
        </p:spPr>
        <p:txBody>
          <a:bodyPr vert="horz" wrap="square" lIns="0" tIns="13335" rIns="0" bIns="0" rtlCol="0">
            <a:spAutoFit/>
          </a:bodyPr>
          <a:lstStyle/>
          <a:p>
            <a:pPr marL="12700">
              <a:lnSpc>
                <a:spcPct val="100000"/>
              </a:lnSpc>
              <a:spcBef>
                <a:spcPts val="105"/>
              </a:spcBef>
            </a:pPr>
            <a:r>
              <a:rPr sz="2000" b="1" spc="-50" dirty="0">
                <a:latin typeface="Arial"/>
                <a:cs typeface="Arial"/>
              </a:rPr>
              <a:t>C</a:t>
            </a:r>
            <a:endParaRPr sz="2000">
              <a:latin typeface="Arial"/>
              <a:cs typeface="Arial"/>
            </a:endParaRPr>
          </a:p>
        </p:txBody>
      </p:sp>
    </p:spTree>
    <p:extLst>
      <p:ext uri="{BB962C8B-B14F-4D97-AF65-F5344CB8AC3E}">
        <p14:creationId xmlns:p14="http://schemas.microsoft.com/office/powerpoint/2010/main" val="291022117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191B63-9831-200C-BACF-E5CD719DDB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EE25E4-8DD8-B5EA-B18A-6F16973063C8}"/>
              </a:ext>
            </a:extLst>
          </p:cNvPr>
          <p:cNvSpPr>
            <a:spLocks noGrp="1"/>
          </p:cNvSpPr>
          <p:nvPr>
            <p:ph type="title"/>
          </p:nvPr>
        </p:nvSpPr>
        <p:spPr/>
        <p:txBody>
          <a:bodyPr/>
          <a:lstStyle/>
          <a:p>
            <a:r>
              <a:rPr lang="en-US" dirty="0"/>
              <a:t>Uniform Cost Search</a:t>
            </a:r>
          </a:p>
        </p:txBody>
      </p:sp>
      <p:sp>
        <p:nvSpPr>
          <p:cNvPr id="3" name="object 2">
            <a:extLst>
              <a:ext uri="{FF2B5EF4-FFF2-40B4-BE49-F238E27FC236}">
                <a16:creationId xmlns:a16="http://schemas.microsoft.com/office/drawing/2014/main" id="{34132C4D-4160-22A4-40BD-CBB80AF3C2DF}"/>
              </a:ext>
            </a:extLst>
          </p:cNvPr>
          <p:cNvSpPr txBox="1"/>
          <p:nvPr/>
        </p:nvSpPr>
        <p:spPr>
          <a:xfrm>
            <a:off x="6251828" y="3304413"/>
            <a:ext cx="153035" cy="299720"/>
          </a:xfrm>
          <a:prstGeom prst="rect">
            <a:avLst/>
          </a:prstGeom>
        </p:spPr>
        <p:txBody>
          <a:bodyPr vert="horz" wrap="square" lIns="0" tIns="12700" rIns="0" bIns="0" rtlCol="0">
            <a:spAutoFit/>
          </a:bodyPr>
          <a:lstStyle/>
          <a:p>
            <a:pPr marL="12700">
              <a:lnSpc>
                <a:spcPct val="100000"/>
              </a:lnSpc>
              <a:spcBef>
                <a:spcPts val="100"/>
              </a:spcBef>
            </a:pPr>
            <a:r>
              <a:rPr sz="1800" b="1" spc="-50" dirty="0">
                <a:latin typeface="Arial"/>
                <a:cs typeface="Arial"/>
              </a:rPr>
              <a:t>5</a:t>
            </a:r>
            <a:endParaRPr sz="1800">
              <a:latin typeface="Arial"/>
              <a:cs typeface="Arial"/>
            </a:endParaRPr>
          </a:p>
        </p:txBody>
      </p:sp>
      <p:sp>
        <p:nvSpPr>
          <p:cNvPr id="4" name="object 3">
            <a:extLst>
              <a:ext uri="{FF2B5EF4-FFF2-40B4-BE49-F238E27FC236}">
                <a16:creationId xmlns:a16="http://schemas.microsoft.com/office/drawing/2014/main" id="{8774DB6C-C155-0F16-7999-6135B7277FCD}"/>
              </a:ext>
            </a:extLst>
          </p:cNvPr>
          <p:cNvSpPr txBox="1"/>
          <p:nvPr/>
        </p:nvSpPr>
        <p:spPr>
          <a:xfrm>
            <a:off x="7242809" y="3304413"/>
            <a:ext cx="153035" cy="299720"/>
          </a:xfrm>
          <a:prstGeom prst="rect">
            <a:avLst/>
          </a:prstGeom>
        </p:spPr>
        <p:txBody>
          <a:bodyPr vert="horz" wrap="square" lIns="0" tIns="12700" rIns="0" bIns="0" rtlCol="0">
            <a:spAutoFit/>
          </a:bodyPr>
          <a:lstStyle/>
          <a:p>
            <a:pPr marL="12700">
              <a:lnSpc>
                <a:spcPct val="100000"/>
              </a:lnSpc>
              <a:spcBef>
                <a:spcPts val="100"/>
              </a:spcBef>
            </a:pPr>
            <a:r>
              <a:rPr sz="1800" b="1" spc="-50" dirty="0">
                <a:latin typeface="Arial"/>
                <a:cs typeface="Arial"/>
              </a:rPr>
              <a:t>2</a:t>
            </a:r>
            <a:endParaRPr sz="1800">
              <a:latin typeface="Arial"/>
              <a:cs typeface="Arial"/>
            </a:endParaRPr>
          </a:p>
        </p:txBody>
      </p:sp>
      <p:sp>
        <p:nvSpPr>
          <p:cNvPr id="5" name="object 4">
            <a:extLst>
              <a:ext uri="{FF2B5EF4-FFF2-40B4-BE49-F238E27FC236}">
                <a16:creationId xmlns:a16="http://schemas.microsoft.com/office/drawing/2014/main" id="{5F33323C-4053-DEEB-1CD1-1908901409EB}"/>
              </a:ext>
            </a:extLst>
          </p:cNvPr>
          <p:cNvSpPr txBox="1"/>
          <p:nvPr/>
        </p:nvSpPr>
        <p:spPr>
          <a:xfrm>
            <a:off x="5337428" y="4447794"/>
            <a:ext cx="153035" cy="299720"/>
          </a:xfrm>
          <a:prstGeom prst="rect">
            <a:avLst/>
          </a:prstGeom>
        </p:spPr>
        <p:txBody>
          <a:bodyPr vert="horz" wrap="square" lIns="0" tIns="12700" rIns="0" bIns="0" rtlCol="0">
            <a:spAutoFit/>
          </a:bodyPr>
          <a:lstStyle/>
          <a:p>
            <a:pPr marL="12700">
              <a:lnSpc>
                <a:spcPct val="100000"/>
              </a:lnSpc>
              <a:spcBef>
                <a:spcPts val="100"/>
              </a:spcBef>
            </a:pPr>
            <a:r>
              <a:rPr sz="1800" b="1" spc="-50" dirty="0">
                <a:latin typeface="Arial"/>
                <a:cs typeface="Arial"/>
              </a:rPr>
              <a:t>9</a:t>
            </a:r>
            <a:endParaRPr sz="1800">
              <a:latin typeface="Arial"/>
              <a:cs typeface="Arial"/>
            </a:endParaRPr>
          </a:p>
        </p:txBody>
      </p:sp>
      <p:sp>
        <p:nvSpPr>
          <p:cNvPr id="6" name="object 5">
            <a:extLst>
              <a:ext uri="{FF2B5EF4-FFF2-40B4-BE49-F238E27FC236}">
                <a16:creationId xmlns:a16="http://schemas.microsoft.com/office/drawing/2014/main" id="{FCBAEBCB-01B2-62F8-B311-F341060042C7}"/>
              </a:ext>
            </a:extLst>
          </p:cNvPr>
          <p:cNvSpPr txBox="1"/>
          <p:nvPr/>
        </p:nvSpPr>
        <p:spPr>
          <a:xfrm>
            <a:off x="6785229" y="4828794"/>
            <a:ext cx="153035" cy="299720"/>
          </a:xfrm>
          <a:prstGeom prst="rect">
            <a:avLst/>
          </a:prstGeom>
        </p:spPr>
        <p:txBody>
          <a:bodyPr vert="horz" wrap="square" lIns="0" tIns="12700" rIns="0" bIns="0" rtlCol="0">
            <a:spAutoFit/>
          </a:bodyPr>
          <a:lstStyle/>
          <a:p>
            <a:pPr marL="12700">
              <a:lnSpc>
                <a:spcPct val="100000"/>
              </a:lnSpc>
              <a:spcBef>
                <a:spcPts val="100"/>
              </a:spcBef>
            </a:pPr>
            <a:r>
              <a:rPr sz="1800" b="1" spc="-50" dirty="0">
                <a:latin typeface="Arial"/>
                <a:cs typeface="Arial"/>
              </a:rPr>
              <a:t>6</a:t>
            </a:r>
            <a:endParaRPr sz="1800">
              <a:latin typeface="Arial"/>
              <a:cs typeface="Arial"/>
            </a:endParaRPr>
          </a:p>
        </p:txBody>
      </p:sp>
      <p:sp>
        <p:nvSpPr>
          <p:cNvPr id="7" name="object 6">
            <a:extLst>
              <a:ext uri="{FF2B5EF4-FFF2-40B4-BE49-F238E27FC236}">
                <a16:creationId xmlns:a16="http://schemas.microsoft.com/office/drawing/2014/main" id="{9463FF16-AF05-D5E4-5DCD-9D73C230A0B8}"/>
              </a:ext>
            </a:extLst>
          </p:cNvPr>
          <p:cNvSpPr txBox="1"/>
          <p:nvPr/>
        </p:nvSpPr>
        <p:spPr>
          <a:xfrm>
            <a:off x="6099428" y="4447794"/>
            <a:ext cx="153035" cy="299720"/>
          </a:xfrm>
          <a:prstGeom prst="rect">
            <a:avLst/>
          </a:prstGeom>
        </p:spPr>
        <p:txBody>
          <a:bodyPr vert="horz" wrap="square" lIns="0" tIns="12700" rIns="0" bIns="0" rtlCol="0">
            <a:spAutoFit/>
          </a:bodyPr>
          <a:lstStyle/>
          <a:p>
            <a:pPr marL="12700">
              <a:lnSpc>
                <a:spcPct val="100000"/>
              </a:lnSpc>
              <a:spcBef>
                <a:spcPts val="100"/>
              </a:spcBef>
            </a:pPr>
            <a:r>
              <a:rPr sz="1800" b="1" spc="-50" dirty="0">
                <a:latin typeface="Arial"/>
                <a:cs typeface="Arial"/>
              </a:rPr>
              <a:t>4</a:t>
            </a:r>
            <a:endParaRPr sz="1800">
              <a:latin typeface="Arial"/>
              <a:cs typeface="Arial"/>
            </a:endParaRPr>
          </a:p>
        </p:txBody>
      </p:sp>
      <p:sp>
        <p:nvSpPr>
          <p:cNvPr id="8" name="object 7">
            <a:extLst>
              <a:ext uri="{FF2B5EF4-FFF2-40B4-BE49-F238E27FC236}">
                <a16:creationId xmlns:a16="http://schemas.microsoft.com/office/drawing/2014/main" id="{0DDCF597-F385-BE8F-8A4A-C2CE5582C5C3}"/>
              </a:ext>
            </a:extLst>
          </p:cNvPr>
          <p:cNvSpPr txBox="1"/>
          <p:nvPr/>
        </p:nvSpPr>
        <p:spPr>
          <a:xfrm>
            <a:off x="7928609" y="3304413"/>
            <a:ext cx="153035" cy="299720"/>
          </a:xfrm>
          <a:prstGeom prst="rect">
            <a:avLst/>
          </a:prstGeom>
        </p:spPr>
        <p:txBody>
          <a:bodyPr vert="horz" wrap="square" lIns="0" tIns="12700" rIns="0" bIns="0" rtlCol="0">
            <a:spAutoFit/>
          </a:bodyPr>
          <a:lstStyle/>
          <a:p>
            <a:pPr marL="12700">
              <a:lnSpc>
                <a:spcPct val="100000"/>
              </a:lnSpc>
              <a:spcBef>
                <a:spcPts val="100"/>
              </a:spcBef>
            </a:pPr>
            <a:r>
              <a:rPr sz="1800" b="1" spc="-50" dirty="0">
                <a:latin typeface="Arial"/>
                <a:cs typeface="Arial"/>
              </a:rPr>
              <a:t>4</a:t>
            </a:r>
            <a:endParaRPr sz="1800">
              <a:latin typeface="Arial"/>
              <a:cs typeface="Arial"/>
            </a:endParaRPr>
          </a:p>
        </p:txBody>
      </p:sp>
      <p:sp>
        <p:nvSpPr>
          <p:cNvPr id="9" name="object 8">
            <a:extLst>
              <a:ext uri="{FF2B5EF4-FFF2-40B4-BE49-F238E27FC236}">
                <a16:creationId xmlns:a16="http://schemas.microsoft.com/office/drawing/2014/main" id="{8F8C07E8-EF36-A745-7447-B354C9FFF5DD}"/>
              </a:ext>
            </a:extLst>
          </p:cNvPr>
          <p:cNvSpPr txBox="1"/>
          <p:nvPr/>
        </p:nvSpPr>
        <p:spPr>
          <a:xfrm>
            <a:off x="8385809" y="4447794"/>
            <a:ext cx="153035" cy="299720"/>
          </a:xfrm>
          <a:prstGeom prst="rect">
            <a:avLst/>
          </a:prstGeom>
        </p:spPr>
        <p:txBody>
          <a:bodyPr vert="horz" wrap="square" lIns="0" tIns="12700" rIns="0" bIns="0" rtlCol="0">
            <a:spAutoFit/>
          </a:bodyPr>
          <a:lstStyle/>
          <a:p>
            <a:pPr marL="12700">
              <a:lnSpc>
                <a:spcPct val="100000"/>
              </a:lnSpc>
              <a:spcBef>
                <a:spcPts val="100"/>
              </a:spcBef>
            </a:pPr>
            <a:r>
              <a:rPr sz="1800" b="1" spc="-50" dirty="0">
                <a:latin typeface="Arial"/>
                <a:cs typeface="Arial"/>
              </a:rPr>
              <a:t>2</a:t>
            </a:r>
            <a:endParaRPr sz="1800">
              <a:latin typeface="Arial"/>
              <a:cs typeface="Arial"/>
            </a:endParaRPr>
          </a:p>
        </p:txBody>
      </p:sp>
      <p:sp>
        <p:nvSpPr>
          <p:cNvPr id="10" name="object 9">
            <a:extLst>
              <a:ext uri="{FF2B5EF4-FFF2-40B4-BE49-F238E27FC236}">
                <a16:creationId xmlns:a16="http://schemas.microsoft.com/office/drawing/2014/main" id="{18B78B31-FAE2-2928-25DE-BE1C8D3E4608}"/>
              </a:ext>
            </a:extLst>
          </p:cNvPr>
          <p:cNvSpPr txBox="1"/>
          <p:nvPr/>
        </p:nvSpPr>
        <p:spPr>
          <a:xfrm>
            <a:off x="7928609" y="4828794"/>
            <a:ext cx="153035" cy="299720"/>
          </a:xfrm>
          <a:prstGeom prst="rect">
            <a:avLst/>
          </a:prstGeom>
        </p:spPr>
        <p:txBody>
          <a:bodyPr vert="horz" wrap="square" lIns="0" tIns="12700" rIns="0" bIns="0" rtlCol="0">
            <a:spAutoFit/>
          </a:bodyPr>
          <a:lstStyle/>
          <a:p>
            <a:pPr marL="12700">
              <a:lnSpc>
                <a:spcPct val="100000"/>
              </a:lnSpc>
              <a:spcBef>
                <a:spcPts val="100"/>
              </a:spcBef>
            </a:pPr>
            <a:r>
              <a:rPr sz="1800" b="1" spc="-50" dirty="0">
                <a:latin typeface="Arial"/>
                <a:cs typeface="Arial"/>
              </a:rPr>
              <a:t>1</a:t>
            </a:r>
            <a:endParaRPr sz="1800">
              <a:latin typeface="Arial"/>
              <a:cs typeface="Arial"/>
            </a:endParaRPr>
          </a:p>
        </p:txBody>
      </p:sp>
      <p:sp>
        <p:nvSpPr>
          <p:cNvPr id="11" name="object 10">
            <a:extLst>
              <a:ext uri="{FF2B5EF4-FFF2-40B4-BE49-F238E27FC236}">
                <a16:creationId xmlns:a16="http://schemas.microsoft.com/office/drawing/2014/main" id="{3AEB3B86-BAB6-A298-E081-2ADB54223418}"/>
              </a:ext>
            </a:extLst>
          </p:cNvPr>
          <p:cNvSpPr txBox="1"/>
          <p:nvPr/>
        </p:nvSpPr>
        <p:spPr>
          <a:xfrm>
            <a:off x="5185028" y="5591047"/>
            <a:ext cx="153035" cy="299720"/>
          </a:xfrm>
          <a:prstGeom prst="rect">
            <a:avLst/>
          </a:prstGeom>
        </p:spPr>
        <p:txBody>
          <a:bodyPr vert="horz" wrap="square" lIns="0" tIns="12700" rIns="0" bIns="0" rtlCol="0">
            <a:spAutoFit/>
          </a:bodyPr>
          <a:lstStyle/>
          <a:p>
            <a:pPr marL="12700">
              <a:lnSpc>
                <a:spcPct val="100000"/>
              </a:lnSpc>
              <a:spcBef>
                <a:spcPts val="100"/>
              </a:spcBef>
            </a:pPr>
            <a:r>
              <a:rPr sz="1800" b="1" spc="-50" dirty="0">
                <a:latin typeface="Arial"/>
                <a:cs typeface="Arial"/>
              </a:rPr>
              <a:t>7</a:t>
            </a:r>
            <a:endParaRPr sz="1800">
              <a:latin typeface="Arial"/>
              <a:cs typeface="Arial"/>
            </a:endParaRPr>
          </a:p>
        </p:txBody>
      </p:sp>
      <p:sp>
        <p:nvSpPr>
          <p:cNvPr id="12" name="object 11">
            <a:extLst>
              <a:ext uri="{FF2B5EF4-FFF2-40B4-BE49-F238E27FC236}">
                <a16:creationId xmlns:a16="http://schemas.microsoft.com/office/drawing/2014/main" id="{DD473E69-64BE-2AFA-AD95-4AF179C2B36A}"/>
              </a:ext>
            </a:extLst>
          </p:cNvPr>
          <p:cNvSpPr txBox="1"/>
          <p:nvPr/>
        </p:nvSpPr>
        <p:spPr>
          <a:xfrm>
            <a:off x="993444" y="2310486"/>
            <a:ext cx="5665470" cy="709930"/>
          </a:xfrm>
          <a:prstGeom prst="rect">
            <a:avLst/>
          </a:prstGeom>
        </p:spPr>
        <p:txBody>
          <a:bodyPr vert="horz" wrap="square" lIns="0" tIns="67945" rIns="0" bIns="0" rtlCol="0">
            <a:spAutoFit/>
          </a:bodyPr>
          <a:lstStyle/>
          <a:p>
            <a:pPr marL="12700">
              <a:lnSpc>
                <a:spcPct val="100000"/>
              </a:lnSpc>
              <a:spcBef>
                <a:spcPts val="535"/>
              </a:spcBef>
            </a:pPr>
            <a:r>
              <a:rPr sz="2000" b="1" dirty="0">
                <a:solidFill>
                  <a:srgbClr val="CC3300"/>
                </a:solidFill>
                <a:latin typeface="Courier New"/>
                <a:cs typeface="Courier New"/>
              </a:rPr>
              <a:t>generalSearch(problem,</a:t>
            </a:r>
            <a:r>
              <a:rPr sz="2000" b="1" spc="-120" dirty="0">
                <a:solidFill>
                  <a:srgbClr val="CC3300"/>
                </a:solidFill>
                <a:latin typeface="Courier New"/>
                <a:cs typeface="Courier New"/>
              </a:rPr>
              <a:t> </a:t>
            </a:r>
            <a:r>
              <a:rPr sz="2000" b="1" spc="-10" dirty="0">
                <a:solidFill>
                  <a:srgbClr val="FF5050"/>
                </a:solidFill>
                <a:latin typeface="Courier New"/>
                <a:cs typeface="Courier New"/>
              </a:rPr>
              <a:t>priorityQueue</a:t>
            </a:r>
            <a:r>
              <a:rPr sz="2000" b="1" spc="-10" dirty="0">
                <a:solidFill>
                  <a:srgbClr val="CC3300"/>
                </a:solidFill>
                <a:latin typeface="Courier New"/>
                <a:cs typeface="Courier New"/>
              </a:rPr>
              <a:t>)</a:t>
            </a:r>
            <a:endParaRPr sz="2000">
              <a:latin typeface="Courier New"/>
              <a:cs typeface="Courier New"/>
            </a:endParaRPr>
          </a:p>
          <a:p>
            <a:pPr marL="12700">
              <a:lnSpc>
                <a:spcPct val="100000"/>
              </a:lnSpc>
              <a:spcBef>
                <a:spcPts val="390"/>
              </a:spcBef>
            </a:pPr>
            <a:r>
              <a:rPr sz="1800" dirty="0">
                <a:solidFill>
                  <a:srgbClr val="1F487C"/>
                </a:solidFill>
                <a:latin typeface="Arial MT"/>
                <a:cs typeface="Arial MT"/>
              </a:rPr>
              <a:t>#</a:t>
            </a:r>
            <a:r>
              <a:rPr sz="1800" spc="-25" dirty="0">
                <a:solidFill>
                  <a:srgbClr val="1F487C"/>
                </a:solidFill>
                <a:latin typeface="Arial MT"/>
                <a:cs typeface="Arial MT"/>
              </a:rPr>
              <a:t> </a:t>
            </a:r>
            <a:r>
              <a:rPr sz="1800" dirty="0">
                <a:solidFill>
                  <a:srgbClr val="1F487C"/>
                </a:solidFill>
                <a:latin typeface="Arial MT"/>
                <a:cs typeface="Arial MT"/>
              </a:rPr>
              <a:t>of</a:t>
            </a:r>
            <a:r>
              <a:rPr sz="1800" spc="-20" dirty="0">
                <a:solidFill>
                  <a:srgbClr val="1F487C"/>
                </a:solidFill>
                <a:latin typeface="Arial MT"/>
                <a:cs typeface="Arial MT"/>
              </a:rPr>
              <a:t> </a:t>
            </a:r>
            <a:r>
              <a:rPr sz="1800" dirty="0">
                <a:solidFill>
                  <a:srgbClr val="1F487C"/>
                </a:solidFill>
                <a:latin typeface="Arial MT"/>
                <a:cs typeface="Arial MT"/>
              </a:rPr>
              <a:t>nodes</a:t>
            </a:r>
            <a:r>
              <a:rPr sz="1800" spc="-15" dirty="0">
                <a:solidFill>
                  <a:srgbClr val="1F487C"/>
                </a:solidFill>
                <a:latin typeface="Arial MT"/>
                <a:cs typeface="Arial MT"/>
              </a:rPr>
              <a:t> </a:t>
            </a:r>
            <a:r>
              <a:rPr sz="1800" dirty="0">
                <a:solidFill>
                  <a:srgbClr val="1F487C"/>
                </a:solidFill>
                <a:latin typeface="Arial MT"/>
                <a:cs typeface="Arial MT"/>
              </a:rPr>
              <a:t>tested:</a:t>
            </a:r>
            <a:r>
              <a:rPr sz="1800" spc="-25" dirty="0">
                <a:solidFill>
                  <a:srgbClr val="1F487C"/>
                </a:solidFill>
                <a:latin typeface="Arial MT"/>
                <a:cs typeface="Arial MT"/>
              </a:rPr>
              <a:t> </a:t>
            </a:r>
            <a:r>
              <a:rPr sz="1800" dirty="0">
                <a:latin typeface="Arial MT"/>
                <a:cs typeface="Arial MT"/>
              </a:rPr>
              <a:t>6</a:t>
            </a:r>
            <a:r>
              <a:rPr sz="1800" dirty="0">
                <a:solidFill>
                  <a:srgbClr val="1F487C"/>
                </a:solidFill>
                <a:latin typeface="Arial MT"/>
                <a:cs typeface="Arial MT"/>
              </a:rPr>
              <a:t>,</a:t>
            </a:r>
            <a:r>
              <a:rPr sz="1800" spc="-15" dirty="0">
                <a:solidFill>
                  <a:srgbClr val="1F487C"/>
                </a:solidFill>
                <a:latin typeface="Arial MT"/>
                <a:cs typeface="Arial MT"/>
              </a:rPr>
              <a:t> </a:t>
            </a:r>
            <a:r>
              <a:rPr sz="1800" dirty="0">
                <a:solidFill>
                  <a:srgbClr val="1F487C"/>
                </a:solidFill>
                <a:latin typeface="Arial MT"/>
                <a:cs typeface="Arial MT"/>
              </a:rPr>
              <a:t>expanded:</a:t>
            </a:r>
            <a:r>
              <a:rPr sz="1800" spc="15" dirty="0">
                <a:solidFill>
                  <a:srgbClr val="1F487C"/>
                </a:solidFill>
                <a:latin typeface="Arial MT"/>
                <a:cs typeface="Arial MT"/>
              </a:rPr>
              <a:t> </a:t>
            </a:r>
            <a:r>
              <a:rPr sz="1800" spc="-50" dirty="0">
                <a:latin typeface="Arial MT"/>
                <a:cs typeface="Arial MT"/>
              </a:rPr>
              <a:t>5</a:t>
            </a:r>
            <a:endParaRPr sz="1800">
              <a:latin typeface="Arial MT"/>
              <a:cs typeface="Arial MT"/>
            </a:endParaRPr>
          </a:p>
        </p:txBody>
      </p:sp>
      <p:graphicFrame>
        <p:nvGraphicFramePr>
          <p:cNvPr id="13" name="object 13">
            <a:extLst>
              <a:ext uri="{FF2B5EF4-FFF2-40B4-BE49-F238E27FC236}">
                <a16:creationId xmlns:a16="http://schemas.microsoft.com/office/drawing/2014/main" id="{5A702329-D387-0107-8B77-01447F7BE4DB}"/>
              </a:ext>
            </a:extLst>
          </p:cNvPr>
          <p:cNvGraphicFramePr>
            <a:graphicFrameLocks noGrp="1"/>
          </p:cNvGraphicFramePr>
          <p:nvPr/>
        </p:nvGraphicFramePr>
        <p:xfrm>
          <a:off x="990600" y="3105150"/>
          <a:ext cx="3505835" cy="3027045"/>
        </p:xfrm>
        <a:graphic>
          <a:graphicData uri="http://schemas.openxmlformats.org/drawingml/2006/table">
            <a:tbl>
              <a:tblPr firstRow="1" bandRow="1">
                <a:tableStyleId>{2D5ABB26-0587-4C30-8999-92F81FD0307C}</a:tableStyleId>
              </a:tblPr>
              <a:tblGrid>
                <a:gridCol w="1471930">
                  <a:extLst>
                    <a:ext uri="{9D8B030D-6E8A-4147-A177-3AD203B41FA5}">
                      <a16:colId xmlns:a16="http://schemas.microsoft.com/office/drawing/2014/main" val="20000"/>
                    </a:ext>
                  </a:extLst>
                </a:gridCol>
                <a:gridCol w="2033905">
                  <a:extLst>
                    <a:ext uri="{9D8B030D-6E8A-4147-A177-3AD203B41FA5}">
                      <a16:colId xmlns:a16="http://schemas.microsoft.com/office/drawing/2014/main" val="20001"/>
                    </a:ext>
                  </a:extLst>
                </a:gridCol>
              </a:tblGrid>
              <a:tr h="575945">
                <a:tc>
                  <a:txBody>
                    <a:bodyPr/>
                    <a:lstStyle/>
                    <a:p>
                      <a:pPr marL="91440" marR="610870">
                        <a:lnSpc>
                          <a:spcPct val="100000"/>
                        </a:lnSpc>
                        <a:spcBef>
                          <a:spcPts val="30"/>
                        </a:spcBef>
                      </a:pPr>
                      <a:r>
                        <a:rPr sz="1800" b="1" spc="-10" dirty="0">
                          <a:solidFill>
                            <a:srgbClr val="111111"/>
                          </a:solidFill>
                          <a:latin typeface="Arial"/>
                          <a:cs typeface="Arial"/>
                        </a:rPr>
                        <a:t>Closed </a:t>
                      </a:r>
                      <a:r>
                        <a:rPr sz="1800" b="1" spc="-20" dirty="0">
                          <a:solidFill>
                            <a:srgbClr val="111111"/>
                          </a:solidFill>
                          <a:latin typeface="Arial"/>
                          <a:cs typeface="Arial"/>
                        </a:rPr>
                        <a:t>Node</a:t>
                      </a:r>
                      <a:endParaRPr sz="1800">
                        <a:latin typeface="Arial"/>
                        <a:cs typeface="Arial"/>
                      </a:endParaRPr>
                    </a:p>
                  </a:txBody>
                  <a:tcPr marL="0" marR="0" marT="3810" marB="0">
                    <a:lnR w="12700">
                      <a:solidFill>
                        <a:srgbClr val="000000"/>
                      </a:solidFill>
                      <a:prstDash val="solid"/>
                    </a:lnR>
                    <a:lnT w="38100">
                      <a:solidFill>
                        <a:srgbClr val="000000"/>
                      </a:solidFill>
                      <a:prstDash val="solid"/>
                    </a:lnT>
                    <a:lnB w="12700">
                      <a:solidFill>
                        <a:srgbClr val="000000"/>
                      </a:solidFill>
                      <a:prstDash val="solid"/>
                    </a:lnB>
                  </a:tcPr>
                </a:tc>
                <a:tc>
                  <a:txBody>
                    <a:bodyPr/>
                    <a:lstStyle/>
                    <a:p>
                      <a:pPr marL="91440">
                        <a:lnSpc>
                          <a:spcPct val="100000"/>
                        </a:lnSpc>
                        <a:spcBef>
                          <a:spcPts val="30"/>
                        </a:spcBef>
                      </a:pPr>
                      <a:r>
                        <a:rPr sz="1800" b="1" dirty="0">
                          <a:solidFill>
                            <a:srgbClr val="111111"/>
                          </a:solidFill>
                          <a:latin typeface="Arial"/>
                          <a:cs typeface="Arial"/>
                        </a:rPr>
                        <a:t>Open</a:t>
                      </a:r>
                      <a:r>
                        <a:rPr sz="1800" b="1" spc="-10" dirty="0">
                          <a:solidFill>
                            <a:srgbClr val="111111"/>
                          </a:solidFill>
                          <a:latin typeface="Arial"/>
                          <a:cs typeface="Arial"/>
                        </a:rPr>
                        <a:t> </a:t>
                      </a:r>
                      <a:r>
                        <a:rPr sz="1800" b="1" spc="-20" dirty="0">
                          <a:solidFill>
                            <a:srgbClr val="111111"/>
                          </a:solidFill>
                          <a:latin typeface="Arial"/>
                          <a:cs typeface="Arial"/>
                        </a:rPr>
                        <a:t>Node</a:t>
                      </a:r>
                      <a:endParaRPr sz="1800">
                        <a:latin typeface="Arial"/>
                        <a:cs typeface="Arial"/>
                      </a:endParaRPr>
                    </a:p>
                  </a:txBody>
                  <a:tcPr marL="0" marR="0" marT="3810" marB="0">
                    <a:lnL w="12700">
                      <a:solidFill>
                        <a:srgbClr val="000000"/>
                      </a:solidFill>
                      <a:prstDash val="solid"/>
                    </a:lnL>
                    <a:lnT w="381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301625">
                <a:tc>
                  <a:txBody>
                    <a:bodyPr/>
                    <a:lstStyle/>
                    <a:p>
                      <a:pPr>
                        <a:lnSpc>
                          <a:spcPct val="100000"/>
                        </a:lnSpc>
                      </a:pPr>
                      <a:endParaRPr sz="1800">
                        <a:latin typeface="Times New Roman"/>
                        <a:cs typeface="Times New Roman"/>
                      </a:endParaRPr>
                    </a:p>
                  </a:txBody>
                  <a:tcPr marL="0" marR="0" marT="0" marB="0">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30"/>
                        </a:spcBef>
                      </a:pPr>
                      <a:r>
                        <a:rPr sz="1800" spc="-25" dirty="0">
                          <a:solidFill>
                            <a:srgbClr val="111111"/>
                          </a:solidFill>
                          <a:latin typeface="Arial MT"/>
                          <a:cs typeface="Arial MT"/>
                        </a:rPr>
                        <a:t>{S}</a:t>
                      </a:r>
                      <a:endParaRPr sz="1800">
                        <a:latin typeface="Arial MT"/>
                        <a:cs typeface="Arial MT"/>
                      </a:endParaRPr>
                    </a:p>
                  </a:txBody>
                  <a:tcPr marL="0" marR="0" marT="3810" marB="0">
                    <a:lnL w="12700">
                      <a:solidFill>
                        <a:srgbClr val="000000"/>
                      </a:solidFill>
                      <a:prstDash val="solid"/>
                    </a:lnL>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301625">
                <a:tc>
                  <a:txBody>
                    <a:bodyPr/>
                    <a:lstStyle/>
                    <a:p>
                      <a:pPr marL="91440">
                        <a:lnSpc>
                          <a:spcPct val="100000"/>
                        </a:lnSpc>
                        <a:spcBef>
                          <a:spcPts val="30"/>
                        </a:spcBef>
                      </a:pPr>
                      <a:r>
                        <a:rPr sz="1800" spc="-50" dirty="0">
                          <a:solidFill>
                            <a:srgbClr val="111111"/>
                          </a:solidFill>
                          <a:latin typeface="Arial MT"/>
                          <a:cs typeface="Arial MT"/>
                        </a:rPr>
                        <a:t>S</a:t>
                      </a:r>
                      <a:endParaRPr sz="1800">
                        <a:latin typeface="Arial MT"/>
                        <a:cs typeface="Arial MT"/>
                      </a:endParaRPr>
                    </a:p>
                  </a:txBody>
                  <a:tcPr marL="0" marR="0" marT="3810" marB="0">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30"/>
                        </a:spcBef>
                      </a:pPr>
                      <a:r>
                        <a:rPr sz="1800" spc="-10" dirty="0">
                          <a:solidFill>
                            <a:srgbClr val="111111"/>
                          </a:solidFill>
                          <a:latin typeface="Arial MT"/>
                          <a:cs typeface="Arial MT"/>
                        </a:rPr>
                        <a:t>{B:2,C:4,A:5}</a:t>
                      </a:r>
                      <a:endParaRPr sz="1800">
                        <a:latin typeface="Arial MT"/>
                        <a:cs typeface="Arial MT"/>
                      </a:endParaRPr>
                    </a:p>
                  </a:txBody>
                  <a:tcPr marL="0" marR="0" marT="3810" marB="0">
                    <a:lnL w="12700">
                      <a:solidFill>
                        <a:srgbClr val="000000"/>
                      </a:solidFill>
                      <a:prstDash val="solid"/>
                    </a:lnL>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306070">
                <a:tc>
                  <a:txBody>
                    <a:bodyPr/>
                    <a:lstStyle/>
                    <a:p>
                      <a:pPr marL="91440">
                        <a:lnSpc>
                          <a:spcPct val="100000"/>
                        </a:lnSpc>
                        <a:spcBef>
                          <a:spcPts val="35"/>
                        </a:spcBef>
                      </a:pPr>
                      <a:r>
                        <a:rPr sz="1800" spc="-50" dirty="0">
                          <a:solidFill>
                            <a:srgbClr val="111111"/>
                          </a:solidFill>
                          <a:latin typeface="Arial MT"/>
                          <a:cs typeface="Arial MT"/>
                        </a:rPr>
                        <a:t>B</a:t>
                      </a:r>
                      <a:endParaRPr sz="1800">
                        <a:latin typeface="Arial MT"/>
                        <a:cs typeface="Arial MT"/>
                      </a:endParaRPr>
                    </a:p>
                  </a:txBody>
                  <a:tcPr marL="0" marR="0" marT="4445" marB="0">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35"/>
                        </a:spcBef>
                      </a:pPr>
                      <a:r>
                        <a:rPr sz="1800" spc="-10" dirty="0">
                          <a:solidFill>
                            <a:srgbClr val="111111"/>
                          </a:solidFill>
                          <a:latin typeface="Arial MT"/>
                          <a:cs typeface="Arial MT"/>
                        </a:rPr>
                        <a:t>{C:4,A:5,G:8}</a:t>
                      </a:r>
                      <a:endParaRPr sz="1800">
                        <a:latin typeface="Arial MT"/>
                        <a:cs typeface="Arial MT"/>
                      </a:endParaRPr>
                    </a:p>
                  </a:txBody>
                  <a:tcPr marL="0" marR="0" marT="4445" marB="0">
                    <a:lnL w="12700">
                      <a:solidFill>
                        <a:srgbClr val="000000"/>
                      </a:solidFill>
                      <a:prstDash val="solid"/>
                    </a:lnL>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321945">
                <a:tc>
                  <a:txBody>
                    <a:bodyPr/>
                    <a:lstStyle/>
                    <a:p>
                      <a:pPr marL="91440">
                        <a:lnSpc>
                          <a:spcPct val="100000"/>
                        </a:lnSpc>
                        <a:spcBef>
                          <a:spcPts val="30"/>
                        </a:spcBef>
                      </a:pPr>
                      <a:r>
                        <a:rPr sz="1800" spc="-50" dirty="0">
                          <a:solidFill>
                            <a:srgbClr val="111111"/>
                          </a:solidFill>
                          <a:latin typeface="Arial MT"/>
                          <a:cs typeface="Arial MT"/>
                        </a:rPr>
                        <a:t>C</a:t>
                      </a:r>
                      <a:endParaRPr sz="1800">
                        <a:latin typeface="Arial MT"/>
                        <a:cs typeface="Arial MT"/>
                      </a:endParaRPr>
                    </a:p>
                  </a:txBody>
                  <a:tcPr marL="0" marR="0" marT="3810" marB="0">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30"/>
                        </a:spcBef>
                      </a:pPr>
                      <a:r>
                        <a:rPr sz="1800" spc="-10" dirty="0">
                          <a:solidFill>
                            <a:srgbClr val="111111"/>
                          </a:solidFill>
                          <a:latin typeface="Arial MT"/>
                          <a:cs typeface="Arial MT"/>
                        </a:rPr>
                        <a:t>{A:5,F:6,G:8}</a:t>
                      </a:r>
                      <a:endParaRPr sz="1800">
                        <a:latin typeface="Arial MT"/>
                        <a:cs typeface="Arial MT"/>
                      </a:endParaRPr>
                    </a:p>
                  </a:txBody>
                  <a:tcPr marL="0" marR="0" marT="3810" marB="0">
                    <a:lnL w="12700">
                      <a:solidFill>
                        <a:srgbClr val="000000"/>
                      </a:solidFill>
                      <a:prstDash val="solid"/>
                    </a:lnL>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r h="321945">
                <a:tc>
                  <a:txBody>
                    <a:bodyPr/>
                    <a:lstStyle/>
                    <a:p>
                      <a:pPr marL="91440">
                        <a:lnSpc>
                          <a:spcPct val="100000"/>
                        </a:lnSpc>
                        <a:spcBef>
                          <a:spcPts val="30"/>
                        </a:spcBef>
                      </a:pPr>
                      <a:r>
                        <a:rPr sz="1800" spc="-50" dirty="0">
                          <a:solidFill>
                            <a:srgbClr val="111111"/>
                          </a:solidFill>
                          <a:latin typeface="Arial MT"/>
                          <a:cs typeface="Arial MT"/>
                        </a:rPr>
                        <a:t>A</a:t>
                      </a:r>
                      <a:endParaRPr sz="1800">
                        <a:latin typeface="Arial MT"/>
                        <a:cs typeface="Arial MT"/>
                      </a:endParaRPr>
                    </a:p>
                  </a:txBody>
                  <a:tcPr marL="0" marR="0" marT="3810" marB="0">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30"/>
                        </a:spcBef>
                      </a:pPr>
                      <a:r>
                        <a:rPr sz="1800" spc="-10" dirty="0">
                          <a:solidFill>
                            <a:srgbClr val="111111"/>
                          </a:solidFill>
                          <a:latin typeface="Arial MT"/>
                          <a:cs typeface="Arial MT"/>
                        </a:rPr>
                        <a:t>{F:6,G:8,E:9,D:14}</a:t>
                      </a:r>
                      <a:endParaRPr sz="1800">
                        <a:latin typeface="Arial MT"/>
                        <a:cs typeface="Arial MT"/>
                      </a:endParaRPr>
                    </a:p>
                  </a:txBody>
                  <a:tcPr marL="0" marR="0" marT="3810" marB="0">
                    <a:lnL w="12700">
                      <a:solidFill>
                        <a:srgbClr val="000000"/>
                      </a:solidFill>
                      <a:prstDash val="solid"/>
                    </a:lnL>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5"/>
                  </a:ext>
                </a:extLst>
              </a:tr>
              <a:tr h="321945">
                <a:tc>
                  <a:txBody>
                    <a:bodyPr/>
                    <a:lstStyle/>
                    <a:p>
                      <a:pPr marL="91440">
                        <a:lnSpc>
                          <a:spcPct val="100000"/>
                        </a:lnSpc>
                        <a:spcBef>
                          <a:spcPts val="35"/>
                        </a:spcBef>
                      </a:pPr>
                      <a:r>
                        <a:rPr sz="1800" spc="-50" dirty="0">
                          <a:solidFill>
                            <a:srgbClr val="111111"/>
                          </a:solidFill>
                          <a:latin typeface="Arial MT"/>
                          <a:cs typeface="Arial MT"/>
                        </a:rPr>
                        <a:t>F</a:t>
                      </a:r>
                      <a:endParaRPr sz="1800">
                        <a:latin typeface="Arial MT"/>
                        <a:cs typeface="Arial MT"/>
                      </a:endParaRPr>
                    </a:p>
                  </a:txBody>
                  <a:tcPr marL="0" marR="0" marT="4445" marB="0">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35"/>
                        </a:spcBef>
                      </a:pPr>
                      <a:r>
                        <a:rPr sz="1800" spc="-10" dirty="0">
                          <a:solidFill>
                            <a:srgbClr val="111111"/>
                          </a:solidFill>
                          <a:latin typeface="Arial MT"/>
                          <a:cs typeface="Arial MT"/>
                        </a:rPr>
                        <a:t>{G:7,G:8,E:9,D:14}</a:t>
                      </a:r>
                      <a:endParaRPr sz="1800">
                        <a:latin typeface="Arial MT"/>
                        <a:cs typeface="Arial MT"/>
                      </a:endParaRPr>
                    </a:p>
                  </a:txBody>
                  <a:tcPr marL="0" marR="0" marT="4445" marB="0">
                    <a:lnL w="12700">
                      <a:solidFill>
                        <a:srgbClr val="000000"/>
                      </a:solidFill>
                      <a:prstDash val="solid"/>
                    </a:lnL>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6"/>
                  </a:ext>
                </a:extLst>
              </a:tr>
              <a:tr h="575945">
                <a:tc>
                  <a:txBody>
                    <a:bodyPr/>
                    <a:lstStyle/>
                    <a:p>
                      <a:pPr marL="91440">
                        <a:lnSpc>
                          <a:spcPct val="100000"/>
                        </a:lnSpc>
                        <a:spcBef>
                          <a:spcPts val="35"/>
                        </a:spcBef>
                      </a:pPr>
                      <a:r>
                        <a:rPr sz="1800" dirty="0">
                          <a:solidFill>
                            <a:srgbClr val="111111"/>
                          </a:solidFill>
                          <a:latin typeface="Arial MT"/>
                          <a:cs typeface="Arial MT"/>
                        </a:rPr>
                        <a:t>G</a:t>
                      </a:r>
                      <a:r>
                        <a:rPr sz="1800" spc="-5" dirty="0">
                          <a:solidFill>
                            <a:srgbClr val="111111"/>
                          </a:solidFill>
                          <a:latin typeface="Arial MT"/>
                          <a:cs typeface="Arial MT"/>
                        </a:rPr>
                        <a:t> </a:t>
                      </a:r>
                      <a:r>
                        <a:rPr sz="1800" spc="-20" dirty="0">
                          <a:solidFill>
                            <a:srgbClr val="C0504D"/>
                          </a:solidFill>
                          <a:latin typeface="Arial MT"/>
                          <a:cs typeface="Arial MT"/>
                        </a:rPr>
                        <a:t>goal</a:t>
                      </a:r>
                      <a:endParaRPr sz="1800">
                        <a:latin typeface="Arial MT"/>
                        <a:cs typeface="Arial MT"/>
                      </a:endParaRPr>
                    </a:p>
                  </a:txBody>
                  <a:tcPr marL="0" marR="0" marT="4445" marB="0">
                    <a:lnR w="12700">
                      <a:solidFill>
                        <a:srgbClr val="000000"/>
                      </a:solidFill>
                      <a:prstDash val="solid"/>
                    </a:lnR>
                    <a:lnT w="12700">
                      <a:solidFill>
                        <a:srgbClr val="000000"/>
                      </a:solidFill>
                      <a:prstDash val="solid"/>
                    </a:lnT>
                    <a:lnB w="38100">
                      <a:solidFill>
                        <a:srgbClr val="000000"/>
                      </a:solidFill>
                      <a:prstDash val="solid"/>
                    </a:lnB>
                  </a:tcPr>
                </a:tc>
                <a:tc>
                  <a:txBody>
                    <a:bodyPr/>
                    <a:lstStyle/>
                    <a:p>
                      <a:pPr marL="91440">
                        <a:lnSpc>
                          <a:spcPct val="100000"/>
                        </a:lnSpc>
                        <a:spcBef>
                          <a:spcPts val="35"/>
                        </a:spcBef>
                      </a:pPr>
                      <a:r>
                        <a:rPr sz="1800" spc="-10" dirty="0">
                          <a:solidFill>
                            <a:srgbClr val="111111"/>
                          </a:solidFill>
                          <a:latin typeface="Arial MT"/>
                          <a:cs typeface="Arial MT"/>
                        </a:rPr>
                        <a:t>{G:8,E:9,D:14}</a:t>
                      </a:r>
                      <a:endParaRPr sz="1800">
                        <a:latin typeface="Arial MT"/>
                        <a:cs typeface="Arial MT"/>
                      </a:endParaRPr>
                    </a:p>
                    <a:p>
                      <a:pPr marL="91440">
                        <a:lnSpc>
                          <a:spcPct val="100000"/>
                        </a:lnSpc>
                      </a:pPr>
                      <a:r>
                        <a:rPr sz="1800" dirty="0">
                          <a:solidFill>
                            <a:srgbClr val="FF7B80"/>
                          </a:solidFill>
                          <a:latin typeface="Arial MT"/>
                          <a:cs typeface="Arial MT"/>
                        </a:rPr>
                        <a:t>no</a:t>
                      </a:r>
                      <a:r>
                        <a:rPr sz="1800" spc="-15" dirty="0">
                          <a:solidFill>
                            <a:srgbClr val="FF7B80"/>
                          </a:solidFill>
                          <a:latin typeface="Arial MT"/>
                          <a:cs typeface="Arial MT"/>
                        </a:rPr>
                        <a:t> </a:t>
                      </a:r>
                      <a:r>
                        <a:rPr sz="1800" spc="-10" dirty="0">
                          <a:solidFill>
                            <a:srgbClr val="FF7B80"/>
                          </a:solidFill>
                          <a:latin typeface="Arial MT"/>
                          <a:cs typeface="Arial MT"/>
                        </a:rPr>
                        <a:t>expand</a:t>
                      </a:r>
                      <a:endParaRPr sz="1800">
                        <a:latin typeface="Arial MT"/>
                        <a:cs typeface="Arial MT"/>
                      </a:endParaRPr>
                    </a:p>
                  </a:txBody>
                  <a:tcPr marL="0" marR="0" marT="4445" marB="0">
                    <a:lnL w="12700">
                      <a:solidFill>
                        <a:srgbClr val="000000"/>
                      </a:solidFill>
                      <a:prstDash val="solid"/>
                    </a:lnL>
                    <a:lnT w="12700">
                      <a:solidFill>
                        <a:srgbClr val="000000"/>
                      </a:solidFill>
                      <a:prstDash val="solid"/>
                    </a:lnT>
                    <a:lnB w="38100">
                      <a:solidFill>
                        <a:srgbClr val="000000"/>
                      </a:solidFill>
                      <a:prstDash val="solid"/>
                    </a:lnB>
                  </a:tcPr>
                </a:tc>
                <a:extLst>
                  <a:ext uri="{0D108BD9-81ED-4DB2-BD59-A6C34878D82A}">
                    <a16:rowId xmlns:a16="http://schemas.microsoft.com/office/drawing/2014/main" val="10007"/>
                  </a:ext>
                </a:extLst>
              </a:tr>
            </a:tbl>
          </a:graphicData>
        </a:graphic>
      </p:graphicFrame>
      <p:pic>
        <p:nvPicPr>
          <p:cNvPr id="14" name="object 14">
            <a:extLst>
              <a:ext uri="{FF2B5EF4-FFF2-40B4-BE49-F238E27FC236}">
                <a16:creationId xmlns:a16="http://schemas.microsoft.com/office/drawing/2014/main" id="{983F4930-A082-1981-173A-4E99CC195086}"/>
              </a:ext>
            </a:extLst>
          </p:cNvPr>
          <p:cNvPicPr/>
          <p:nvPr/>
        </p:nvPicPr>
        <p:blipFill>
          <a:blip r:embed="rId2" cstate="print"/>
          <a:stretch>
            <a:fillRect/>
          </a:stretch>
        </p:blipFill>
        <p:spPr>
          <a:xfrm>
            <a:off x="5017261" y="2502661"/>
            <a:ext cx="3911599" cy="4140200"/>
          </a:xfrm>
          <a:prstGeom prst="rect">
            <a:avLst/>
          </a:prstGeom>
        </p:spPr>
      </p:pic>
      <p:sp>
        <p:nvSpPr>
          <p:cNvPr id="15" name="object 15">
            <a:extLst>
              <a:ext uri="{FF2B5EF4-FFF2-40B4-BE49-F238E27FC236}">
                <a16:creationId xmlns:a16="http://schemas.microsoft.com/office/drawing/2014/main" id="{7EFD745A-7CA9-4B0C-82E4-FF0B0FAD8279}"/>
              </a:ext>
            </a:extLst>
          </p:cNvPr>
          <p:cNvSpPr txBox="1"/>
          <p:nvPr/>
        </p:nvSpPr>
        <p:spPr>
          <a:xfrm>
            <a:off x="7195566" y="2545842"/>
            <a:ext cx="470534" cy="535940"/>
          </a:xfrm>
          <a:prstGeom prst="rect">
            <a:avLst/>
          </a:prstGeom>
        </p:spPr>
        <p:txBody>
          <a:bodyPr vert="horz" wrap="square" lIns="0" tIns="13335" rIns="0" bIns="0" rtlCol="0">
            <a:spAutoFit/>
          </a:bodyPr>
          <a:lstStyle/>
          <a:p>
            <a:pPr algn="ctr">
              <a:lnSpc>
                <a:spcPts val="2130"/>
              </a:lnSpc>
              <a:spcBef>
                <a:spcPts val="105"/>
              </a:spcBef>
            </a:pPr>
            <a:r>
              <a:rPr sz="2000" b="1" spc="-50" dirty="0">
                <a:latin typeface="Arial"/>
                <a:cs typeface="Arial"/>
              </a:rPr>
              <a:t>S</a:t>
            </a:r>
            <a:endParaRPr sz="2000">
              <a:latin typeface="Arial"/>
              <a:cs typeface="Arial"/>
            </a:endParaRPr>
          </a:p>
          <a:p>
            <a:pPr algn="ctr">
              <a:lnSpc>
                <a:spcPts val="1889"/>
              </a:lnSpc>
            </a:pPr>
            <a:r>
              <a:rPr sz="1800" spc="-10" dirty="0">
                <a:solidFill>
                  <a:srgbClr val="FFFFFF"/>
                </a:solidFill>
                <a:latin typeface="Arial MT"/>
                <a:cs typeface="Arial MT"/>
              </a:rPr>
              <a:t>start</a:t>
            </a:r>
            <a:endParaRPr sz="1800">
              <a:latin typeface="Arial MT"/>
              <a:cs typeface="Arial MT"/>
            </a:endParaRPr>
          </a:p>
        </p:txBody>
      </p:sp>
      <p:sp>
        <p:nvSpPr>
          <p:cNvPr id="16" name="object 23">
            <a:extLst>
              <a:ext uri="{FF2B5EF4-FFF2-40B4-BE49-F238E27FC236}">
                <a16:creationId xmlns:a16="http://schemas.microsoft.com/office/drawing/2014/main" id="{336AC1E7-F603-E245-488D-49FDCDBDA467}"/>
              </a:ext>
            </a:extLst>
          </p:cNvPr>
          <p:cNvSpPr txBox="1"/>
          <p:nvPr/>
        </p:nvSpPr>
        <p:spPr>
          <a:xfrm>
            <a:off x="5267325" y="6139412"/>
            <a:ext cx="209550" cy="309880"/>
          </a:xfrm>
          <a:prstGeom prst="rect">
            <a:avLst/>
          </a:prstGeom>
        </p:spPr>
        <p:txBody>
          <a:bodyPr vert="horz" wrap="square" lIns="0" tIns="0" rIns="0" bIns="0" rtlCol="0">
            <a:spAutoFit/>
          </a:bodyPr>
          <a:lstStyle/>
          <a:p>
            <a:pPr marL="12700">
              <a:lnSpc>
                <a:spcPts val="2315"/>
              </a:lnSpc>
            </a:pPr>
            <a:r>
              <a:rPr sz="2000" b="1" spc="-50" dirty="0">
                <a:latin typeface="Arial"/>
                <a:cs typeface="Arial"/>
              </a:rPr>
              <a:t>H</a:t>
            </a:r>
            <a:endParaRPr sz="2000">
              <a:latin typeface="Arial"/>
              <a:cs typeface="Arial"/>
            </a:endParaRPr>
          </a:p>
        </p:txBody>
      </p:sp>
      <p:sp>
        <p:nvSpPr>
          <p:cNvPr id="17" name="object 16">
            <a:extLst>
              <a:ext uri="{FF2B5EF4-FFF2-40B4-BE49-F238E27FC236}">
                <a16:creationId xmlns:a16="http://schemas.microsoft.com/office/drawing/2014/main" id="{C309FE23-BC70-A403-F6EF-09B4490BD7C9}"/>
              </a:ext>
            </a:extLst>
          </p:cNvPr>
          <p:cNvSpPr txBox="1"/>
          <p:nvPr/>
        </p:nvSpPr>
        <p:spPr>
          <a:xfrm>
            <a:off x="6181725" y="3828363"/>
            <a:ext cx="209550" cy="331470"/>
          </a:xfrm>
          <a:prstGeom prst="rect">
            <a:avLst/>
          </a:prstGeom>
        </p:spPr>
        <p:txBody>
          <a:bodyPr vert="horz" wrap="square" lIns="0" tIns="13335" rIns="0" bIns="0" rtlCol="0">
            <a:spAutoFit/>
          </a:bodyPr>
          <a:lstStyle/>
          <a:p>
            <a:pPr marL="12700">
              <a:lnSpc>
                <a:spcPct val="100000"/>
              </a:lnSpc>
              <a:spcBef>
                <a:spcPts val="105"/>
              </a:spcBef>
            </a:pPr>
            <a:r>
              <a:rPr sz="2000" b="1" spc="-50" dirty="0">
                <a:latin typeface="Arial"/>
                <a:cs typeface="Arial"/>
              </a:rPr>
              <a:t>A</a:t>
            </a:r>
            <a:endParaRPr sz="2000">
              <a:latin typeface="Arial"/>
              <a:cs typeface="Arial"/>
            </a:endParaRPr>
          </a:p>
        </p:txBody>
      </p:sp>
      <p:sp>
        <p:nvSpPr>
          <p:cNvPr id="18" name="object 17">
            <a:extLst>
              <a:ext uri="{FF2B5EF4-FFF2-40B4-BE49-F238E27FC236}">
                <a16:creationId xmlns:a16="http://schemas.microsoft.com/office/drawing/2014/main" id="{95EC6D3B-7470-5899-17BA-12B4EF973FAF}"/>
              </a:ext>
            </a:extLst>
          </p:cNvPr>
          <p:cNvSpPr txBox="1"/>
          <p:nvPr/>
        </p:nvSpPr>
        <p:spPr>
          <a:xfrm>
            <a:off x="6189726" y="4972050"/>
            <a:ext cx="195580" cy="330835"/>
          </a:xfrm>
          <a:prstGeom prst="rect">
            <a:avLst/>
          </a:prstGeom>
        </p:spPr>
        <p:txBody>
          <a:bodyPr vert="horz" wrap="square" lIns="0" tIns="12700" rIns="0" bIns="0" rtlCol="0">
            <a:spAutoFit/>
          </a:bodyPr>
          <a:lstStyle/>
          <a:p>
            <a:pPr marL="12700">
              <a:lnSpc>
                <a:spcPct val="100000"/>
              </a:lnSpc>
              <a:spcBef>
                <a:spcPts val="100"/>
              </a:spcBef>
            </a:pPr>
            <a:r>
              <a:rPr sz="2000" b="1" spc="-50" dirty="0">
                <a:latin typeface="Arial"/>
                <a:cs typeface="Arial"/>
              </a:rPr>
              <a:t>E</a:t>
            </a:r>
            <a:endParaRPr sz="2000">
              <a:latin typeface="Arial"/>
              <a:cs typeface="Arial"/>
            </a:endParaRPr>
          </a:p>
        </p:txBody>
      </p:sp>
      <p:sp>
        <p:nvSpPr>
          <p:cNvPr id="19" name="object 18">
            <a:extLst>
              <a:ext uri="{FF2B5EF4-FFF2-40B4-BE49-F238E27FC236}">
                <a16:creationId xmlns:a16="http://schemas.microsoft.com/office/drawing/2014/main" id="{80EDD779-9C56-B67D-3176-8F8CD5335E6B}"/>
              </a:ext>
            </a:extLst>
          </p:cNvPr>
          <p:cNvSpPr txBox="1"/>
          <p:nvPr/>
        </p:nvSpPr>
        <p:spPr>
          <a:xfrm>
            <a:off x="5267325" y="4972050"/>
            <a:ext cx="209550" cy="330835"/>
          </a:xfrm>
          <a:prstGeom prst="rect">
            <a:avLst/>
          </a:prstGeom>
        </p:spPr>
        <p:txBody>
          <a:bodyPr vert="horz" wrap="square" lIns="0" tIns="12700" rIns="0" bIns="0" rtlCol="0">
            <a:spAutoFit/>
          </a:bodyPr>
          <a:lstStyle/>
          <a:p>
            <a:pPr marL="12700">
              <a:lnSpc>
                <a:spcPct val="100000"/>
              </a:lnSpc>
              <a:spcBef>
                <a:spcPts val="100"/>
              </a:spcBef>
            </a:pPr>
            <a:r>
              <a:rPr sz="2000" b="1" spc="-50" dirty="0">
                <a:latin typeface="Arial"/>
                <a:cs typeface="Arial"/>
              </a:rPr>
              <a:t>D</a:t>
            </a:r>
            <a:endParaRPr sz="2000">
              <a:latin typeface="Arial"/>
              <a:cs typeface="Arial"/>
            </a:endParaRPr>
          </a:p>
        </p:txBody>
      </p:sp>
      <p:sp>
        <p:nvSpPr>
          <p:cNvPr id="20" name="object 19">
            <a:extLst>
              <a:ext uri="{FF2B5EF4-FFF2-40B4-BE49-F238E27FC236}">
                <a16:creationId xmlns:a16="http://schemas.microsoft.com/office/drawing/2014/main" id="{ADFCBE2E-AE22-20EC-4EBD-3632E08966CB}"/>
              </a:ext>
            </a:extLst>
          </p:cNvPr>
          <p:cNvSpPr txBox="1"/>
          <p:nvPr/>
        </p:nvSpPr>
        <p:spPr>
          <a:xfrm>
            <a:off x="8483600" y="4972050"/>
            <a:ext cx="180975" cy="330835"/>
          </a:xfrm>
          <a:prstGeom prst="rect">
            <a:avLst/>
          </a:prstGeom>
        </p:spPr>
        <p:txBody>
          <a:bodyPr vert="horz" wrap="square" lIns="0" tIns="12700" rIns="0" bIns="0" rtlCol="0">
            <a:spAutoFit/>
          </a:bodyPr>
          <a:lstStyle/>
          <a:p>
            <a:pPr marL="12700">
              <a:lnSpc>
                <a:spcPct val="100000"/>
              </a:lnSpc>
              <a:spcBef>
                <a:spcPts val="100"/>
              </a:spcBef>
            </a:pPr>
            <a:r>
              <a:rPr sz="2000" b="1" spc="-50" dirty="0">
                <a:latin typeface="Arial"/>
                <a:cs typeface="Arial"/>
              </a:rPr>
              <a:t>F</a:t>
            </a:r>
            <a:endParaRPr sz="2000">
              <a:latin typeface="Arial"/>
              <a:cs typeface="Arial"/>
            </a:endParaRPr>
          </a:p>
        </p:txBody>
      </p:sp>
      <p:sp>
        <p:nvSpPr>
          <p:cNvPr id="21" name="object 20">
            <a:extLst>
              <a:ext uri="{FF2B5EF4-FFF2-40B4-BE49-F238E27FC236}">
                <a16:creationId xmlns:a16="http://schemas.microsoft.com/office/drawing/2014/main" id="{336DB3AE-BB78-B1B1-55FF-5028707AFF71}"/>
              </a:ext>
            </a:extLst>
          </p:cNvPr>
          <p:cNvSpPr txBox="1"/>
          <p:nvPr/>
        </p:nvSpPr>
        <p:spPr>
          <a:xfrm>
            <a:off x="7325106" y="3828363"/>
            <a:ext cx="209550" cy="331470"/>
          </a:xfrm>
          <a:prstGeom prst="rect">
            <a:avLst/>
          </a:prstGeom>
        </p:spPr>
        <p:txBody>
          <a:bodyPr vert="horz" wrap="square" lIns="0" tIns="13335" rIns="0" bIns="0" rtlCol="0">
            <a:spAutoFit/>
          </a:bodyPr>
          <a:lstStyle/>
          <a:p>
            <a:pPr marL="12700">
              <a:lnSpc>
                <a:spcPct val="100000"/>
              </a:lnSpc>
              <a:spcBef>
                <a:spcPts val="105"/>
              </a:spcBef>
            </a:pPr>
            <a:r>
              <a:rPr sz="2000" b="1" spc="-50" dirty="0">
                <a:latin typeface="Arial"/>
                <a:cs typeface="Arial"/>
              </a:rPr>
              <a:t>B</a:t>
            </a:r>
            <a:endParaRPr sz="2000">
              <a:latin typeface="Arial"/>
              <a:cs typeface="Arial"/>
            </a:endParaRPr>
          </a:p>
        </p:txBody>
      </p:sp>
      <p:sp>
        <p:nvSpPr>
          <p:cNvPr id="22" name="object 21">
            <a:extLst>
              <a:ext uri="{FF2B5EF4-FFF2-40B4-BE49-F238E27FC236}">
                <a16:creationId xmlns:a16="http://schemas.microsoft.com/office/drawing/2014/main" id="{941F6DC8-320C-2C99-C126-D3B5FAEB73AC}"/>
              </a:ext>
            </a:extLst>
          </p:cNvPr>
          <p:cNvSpPr txBox="1"/>
          <p:nvPr/>
        </p:nvSpPr>
        <p:spPr>
          <a:xfrm>
            <a:off x="7203185" y="4355624"/>
            <a:ext cx="455295" cy="997585"/>
          </a:xfrm>
          <a:prstGeom prst="rect">
            <a:avLst/>
          </a:prstGeom>
        </p:spPr>
        <p:txBody>
          <a:bodyPr vert="horz" wrap="square" lIns="0" tIns="104775" rIns="0" bIns="0" rtlCol="0">
            <a:spAutoFit/>
          </a:bodyPr>
          <a:lstStyle/>
          <a:p>
            <a:pPr marL="52069">
              <a:lnSpc>
                <a:spcPct val="100000"/>
              </a:lnSpc>
              <a:spcBef>
                <a:spcPts val="825"/>
              </a:spcBef>
            </a:pPr>
            <a:r>
              <a:rPr sz="1800" b="1" spc="-50" dirty="0">
                <a:latin typeface="Arial"/>
                <a:cs typeface="Arial"/>
              </a:rPr>
              <a:t>6</a:t>
            </a:r>
            <a:endParaRPr sz="1800">
              <a:latin typeface="Arial"/>
              <a:cs typeface="Arial"/>
            </a:endParaRPr>
          </a:p>
          <a:p>
            <a:pPr marL="128270">
              <a:lnSpc>
                <a:spcPts val="2100"/>
              </a:lnSpc>
              <a:spcBef>
                <a:spcPts val="810"/>
              </a:spcBef>
            </a:pPr>
            <a:r>
              <a:rPr sz="2000" b="1" spc="-50" dirty="0">
                <a:latin typeface="Arial"/>
                <a:cs typeface="Arial"/>
              </a:rPr>
              <a:t>G</a:t>
            </a:r>
            <a:endParaRPr sz="2000">
              <a:latin typeface="Arial"/>
              <a:cs typeface="Arial"/>
            </a:endParaRPr>
          </a:p>
          <a:p>
            <a:pPr marL="12700">
              <a:lnSpc>
                <a:spcPts val="1860"/>
              </a:lnSpc>
            </a:pPr>
            <a:r>
              <a:rPr sz="1800" spc="-20" dirty="0">
                <a:solidFill>
                  <a:srgbClr val="FFFFFF"/>
                </a:solidFill>
                <a:latin typeface="Arial MT"/>
                <a:cs typeface="Arial MT"/>
              </a:rPr>
              <a:t>goal</a:t>
            </a:r>
            <a:endParaRPr sz="1800">
              <a:latin typeface="Arial MT"/>
              <a:cs typeface="Arial MT"/>
            </a:endParaRPr>
          </a:p>
        </p:txBody>
      </p:sp>
      <p:sp>
        <p:nvSpPr>
          <p:cNvPr id="23" name="object 22">
            <a:extLst>
              <a:ext uri="{FF2B5EF4-FFF2-40B4-BE49-F238E27FC236}">
                <a16:creationId xmlns:a16="http://schemas.microsoft.com/office/drawing/2014/main" id="{32DA654F-923D-79B4-B9B1-2CAB59B0719A}"/>
              </a:ext>
            </a:extLst>
          </p:cNvPr>
          <p:cNvSpPr txBox="1"/>
          <p:nvPr/>
        </p:nvSpPr>
        <p:spPr>
          <a:xfrm>
            <a:off x="8468359" y="3828363"/>
            <a:ext cx="209550" cy="331470"/>
          </a:xfrm>
          <a:prstGeom prst="rect">
            <a:avLst/>
          </a:prstGeom>
        </p:spPr>
        <p:txBody>
          <a:bodyPr vert="horz" wrap="square" lIns="0" tIns="13335" rIns="0" bIns="0" rtlCol="0">
            <a:spAutoFit/>
          </a:bodyPr>
          <a:lstStyle/>
          <a:p>
            <a:pPr marL="12700">
              <a:lnSpc>
                <a:spcPct val="100000"/>
              </a:lnSpc>
              <a:spcBef>
                <a:spcPts val="105"/>
              </a:spcBef>
            </a:pPr>
            <a:r>
              <a:rPr sz="2000" b="1" spc="-50" dirty="0">
                <a:latin typeface="Arial"/>
                <a:cs typeface="Arial"/>
              </a:rPr>
              <a:t>C</a:t>
            </a:r>
            <a:endParaRPr sz="2000">
              <a:latin typeface="Arial"/>
              <a:cs typeface="Arial"/>
            </a:endParaRPr>
          </a:p>
        </p:txBody>
      </p:sp>
    </p:spTree>
    <p:extLst>
      <p:ext uri="{BB962C8B-B14F-4D97-AF65-F5344CB8AC3E}">
        <p14:creationId xmlns:p14="http://schemas.microsoft.com/office/powerpoint/2010/main" val="34682978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05637E-47D9-3465-30C8-234AFB26D1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CFA7B7-1321-D368-9B4B-D62F67B6A428}"/>
              </a:ext>
            </a:extLst>
          </p:cNvPr>
          <p:cNvSpPr>
            <a:spLocks noGrp="1"/>
          </p:cNvSpPr>
          <p:nvPr>
            <p:ph type="title"/>
          </p:nvPr>
        </p:nvSpPr>
        <p:spPr/>
        <p:txBody>
          <a:bodyPr/>
          <a:lstStyle/>
          <a:p>
            <a:r>
              <a:rPr lang="en-US" dirty="0"/>
              <a:t>Uniform Cost Search</a:t>
            </a:r>
          </a:p>
        </p:txBody>
      </p:sp>
      <p:sp>
        <p:nvSpPr>
          <p:cNvPr id="3" name="object 2">
            <a:extLst>
              <a:ext uri="{FF2B5EF4-FFF2-40B4-BE49-F238E27FC236}">
                <a16:creationId xmlns:a16="http://schemas.microsoft.com/office/drawing/2014/main" id="{0F4EBBA7-E7A2-C71C-C89D-6F808C809B6D}"/>
              </a:ext>
            </a:extLst>
          </p:cNvPr>
          <p:cNvSpPr txBox="1"/>
          <p:nvPr/>
        </p:nvSpPr>
        <p:spPr>
          <a:xfrm>
            <a:off x="6251828" y="3304413"/>
            <a:ext cx="153035" cy="299720"/>
          </a:xfrm>
          <a:prstGeom prst="rect">
            <a:avLst/>
          </a:prstGeom>
        </p:spPr>
        <p:txBody>
          <a:bodyPr vert="horz" wrap="square" lIns="0" tIns="12700" rIns="0" bIns="0" rtlCol="0">
            <a:spAutoFit/>
          </a:bodyPr>
          <a:lstStyle/>
          <a:p>
            <a:pPr marL="12700">
              <a:lnSpc>
                <a:spcPct val="100000"/>
              </a:lnSpc>
              <a:spcBef>
                <a:spcPts val="100"/>
              </a:spcBef>
            </a:pPr>
            <a:r>
              <a:rPr sz="1800" b="1" spc="-50" dirty="0">
                <a:latin typeface="Arial"/>
                <a:cs typeface="Arial"/>
              </a:rPr>
              <a:t>5</a:t>
            </a:r>
            <a:endParaRPr sz="1800">
              <a:latin typeface="Arial"/>
              <a:cs typeface="Arial"/>
            </a:endParaRPr>
          </a:p>
        </p:txBody>
      </p:sp>
      <p:sp>
        <p:nvSpPr>
          <p:cNvPr id="4" name="object 3">
            <a:extLst>
              <a:ext uri="{FF2B5EF4-FFF2-40B4-BE49-F238E27FC236}">
                <a16:creationId xmlns:a16="http://schemas.microsoft.com/office/drawing/2014/main" id="{A6BC2693-D5BF-4F30-DADB-B15434DF497D}"/>
              </a:ext>
            </a:extLst>
          </p:cNvPr>
          <p:cNvSpPr txBox="1"/>
          <p:nvPr/>
        </p:nvSpPr>
        <p:spPr>
          <a:xfrm>
            <a:off x="7242809" y="3304413"/>
            <a:ext cx="153035" cy="299720"/>
          </a:xfrm>
          <a:prstGeom prst="rect">
            <a:avLst/>
          </a:prstGeom>
        </p:spPr>
        <p:txBody>
          <a:bodyPr vert="horz" wrap="square" lIns="0" tIns="12700" rIns="0" bIns="0" rtlCol="0">
            <a:spAutoFit/>
          </a:bodyPr>
          <a:lstStyle/>
          <a:p>
            <a:pPr marL="12700">
              <a:lnSpc>
                <a:spcPct val="100000"/>
              </a:lnSpc>
              <a:spcBef>
                <a:spcPts val="100"/>
              </a:spcBef>
            </a:pPr>
            <a:r>
              <a:rPr sz="1800" b="1" spc="-50" dirty="0">
                <a:latin typeface="Arial"/>
                <a:cs typeface="Arial"/>
              </a:rPr>
              <a:t>2</a:t>
            </a:r>
            <a:endParaRPr sz="1800">
              <a:latin typeface="Arial"/>
              <a:cs typeface="Arial"/>
            </a:endParaRPr>
          </a:p>
        </p:txBody>
      </p:sp>
      <p:sp>
        <p:nvSpPr>
          <p:cNvPr id="5" name="object 4">
            <a:extLst>
              <a:ext uri="{FF2B5EF4-FFF2-40B4-BE49-F238E27FC236}">
                <a16:creationId xmlns:a16="http://schemas.microsoft.com/office/drawing/2014/main" id="{A0F7079C-4AE7-2E1B-C9F6-94BD54476AB5}"/>
              </a:ext>
            </a:extLst>
          </p:cNvPr>
          <p:cNvSpPr txBox="1"/>
          <p:nvPr/>
        </p:nvSpPr>
        <p:spPr>
          <a:xfrm>
            <a:off x="5337428" y="4447794"/>
            <a:ext cx="153035" cy="299720"/>
          </a:xfrm>
          <a:prstGeom prst="rect">
            <a:avLst/>
          </a:prstGeom>
        </p:spPr>
        <p:txBody>
          <a:bodyPr vert="horz" wrap="square" lIns="0" tIns="12700" rIns="0" bIns="0" rtlCol="0">
            <a:spAutoFit/>
          </a:bodyPr>
          <a:lstStyle/>
          <a:p>
            <a:pPr marL="12700">
              <a:lnSpc>
                <a:spcPct val="100000"/>
              </a:lnSpc>
              <a:spcBef>
                <a:spcPts val="100"/>
              </a:spcBef>
            </a:pPr>
            <a:r>
              <a:rPr sz="1800" b="1" spc="-50" dirty="0">
                <a:latin typeface="Arial"/>
                <a:cs typeface="Arial"/>
              </a:rPr>
              <a:t>9</a:t>
            </a:r>
            <a:endParaRPr sz="1800">
              <a:latin typeface="Arial"/>
              <a:cs typeface="Arial"/>
            </a:endParaRPr>
          </a:p>
        </p:txBody>
      </p:sp>
      <p:sp>
        <p:nvSpPr>
          <p:cNvPr id="6" name="object 5">
            <a:extLst>
              <a:ext uri="{FF2B5EF4-FFF2-40B4-BE49-F238E27FC236}">
                <a16:creationId xmlns:a16="http://schemas.microsoft.com/office/drawing/2014/main" id="{C22A4D17-A2B0-C3EA-0179-5C104E96D543}"/>
              </a:ext>
            </a:extLst>
          </p:cNvPr>
          <p:cNvSpPr txBox="1"/>
          <p:nvPr/>
        </p:nvSpPr>
        <p:spPr>
          <a:xfrm>
            <a:off x="6785229" y="4828794"/>
            <a:ext cx="153035" cy="299720"/>
          </a:xfrm>
          <a:prstGeom prst="rect">
            <a:avLst/>
          </a:prstGeom>
        </p:spPr>
        <p:txBody>
          <a:bodyPr vert="horz" wrap="square" lIns="0" tIns="12700" rIns="0" bIns="0" rtlCol="0">
            <a:spAutoFit/>
          </a:bodyPr>
          <a:lstStyle/>
          <a:p>
            <a:pPr marL="12700">
              <a:lnSpc>
                <a:spcPct val="100000"/>
              </a:lnSpc>
              <a:spcBef>
                <a:spcPts val="100"/>
              </a:spcBef>
            </a:pPr>
            <a:r>
              <a:rPr sz="1800" b="1" spc="-50" dirty="0">
                <a:latin typeface="Arial"/>
                <a:cs typeface="Arial"/>
              </a:rPr>
              <a:t>6</a:t>
            </a:r>
            <a:endParaRPr sz="1800">
              <a:latin typeface="Arial"/>
              <a:cs typeface="Arial"/>
            </a:endParaRPr>
          </a:p>
        </p:txBody>
      </p:sp>
      <p:sp>
        <p:nvSpPr>
          <p:cNvPr id="7" name="object 6">
            <a:extLst>
              <a:ext uri="{FF2B5EF4-FFF2-40B4-BE49-F238E27FC236}">
                <a16:creationId xmlns:a16="http://schemas.microsoft.com/office/drawing/2014/main" id="{BDFBBEFC-C8EE-ADB8-36E0-EBAA999E45EB}"/>
              </a:ext>
            </a:extLst>
          </p:cNvPr>
          <p:cNvSpPr txBox="1"/>
          <p:nvPr/>
        </p:nvSpPr>
        <p:spPr>
          <a:xfrm>
            <a:off x="6099428" y="4447794"/>
            <a:ext cx="153035" cy="299720"/>
          </a:xfrm>
          <a:prstGeom prst="rect">
            <a:avLst/>
          </a:prstGeom>
        </p:spPr>
        <p:txBody>
          <a:bodyPr vert="horz" wrap="square" lIns="0" tIns="12700" rIns="0" bIns="0" rtlCol="0">
            <a:spAutoFit/>
          </a:bodyPr>
          <a:lstStyle/>
          <a:p>
            <a:pPr marL="12700">
              <a:lnSpc>
                <a:spcPct val="100000"/>
              </a:lnSpc>
              <a:spcBef>
                <a:spcPts val="100"/>
              </a:spcBef>
            </a:pPr>
            <a:r>
              <a:rPr sz="1800" b="1" spc="-50" dirty="0">
                <a:latin typeface="Arial"/>
                <a:cs typeface="Arial"/>
              </a:rPr>
              <a:t>4</a:t>
            </a:r>
            <a:endParaRPr sz="1800">
              <a:latin typeface="Arial"/>
              <a:cs typeface="Arial"/>
            </a:endParaRPr>
          </a:p>
        </p:txBody>
      </p:sp>
      <p:sp>
        <p:nvSpPr>
          <p:cNvPr id="8" name="object 7">
            <a:extLst>
              <a:ext uri="{FF2B5EF4-FFF2-40B4-BE49-F238E27FC236}">
                <a16:creationId xmlns:a16="http://schemas.microsoft.com/office/drawing/2014/main" id="{4DF1EE5D-5430-301E-260B-C40C614E0512}"/>
              </a:ext>
            </a:extLst>
          </p:cNvPr>
          <p:cNvSpPr txBox="1"/>
          <p:nvPr/>
        </p:nvSpPr>
        <p:spPr>
          <a:xfrm>
            <a:off x="7928609" y="3304413"/>
            <a:ext cx="153035" cy="299720"/>
          </a:xfrm>
          <a:prstGeom prst="rect">
            <a:avLst/>
          </a:prstGeom>
        </p:spPr>
        <p:txBody>
          <a:bodyPr vert="horz" wrap="square" lIns="0" tIns="12700" rIns="0" bIns="0" rtlCol="0">
            <a:spAutoFit/>
          </a:bodyPr>
          <a:lstStyle/>
          <a:p>
            <a:pPr marL="12700">
              <a:lnSpc>
                <a:spcPct val="100000"/>
              </a:lnSpc>
              <a:spcBef>
                <a:spcPts val="100"/>
              </a:spcBef>
            </a:pPr>
            <a:r>
              <a:rPr sz="1800" b="1" spc="-50" dirty="0">
                <a:latin typeface="Arial"/>
                <a:cs typeface="Arial"/>
              </a:rPr>
              <a:t>4</a:t>
            </a:r>
            <a:endParaRPr sz="1800">
              <a:latin typeface="Arial"/>
              <a:cs typeface="Arial"/>
            </a:endParaRPr>
          </a:p>
        </p:txBody>
      </p:sp>
      <p:sp>
        <p:nvSpPr>
          <p:cNvPr id="9" name="object 8">
            <a:extLst>
              <a:ext uri="{FF2B5EF4-FFF2-40B4-BE49-F238E27FC236}">
                <a16:creationId xmlns:a16="http://schemas.microsoft.com/office/drawing/2014/main" id="{639A8A20-ABBD-874B-2353-1AC6868D61AC}"/>
              </a:ext>
            </a:extLst>
          </p:cNvPr>
          <p:cNvSpPr txBox="1"/>
          <p:nvPr/>
        </p:nvSpPr>
        <p:spPr>
          <a:xfrm>
            <a:off x="8385809" y="4447794"/>
            <a:ext cx="153035" cy="299720"/>
          </a:xfrm>
          <a:prstGeom prst="rect">
            <a:avLst/>
          </a:prstGeom>
        </p:spPr>
        <p:txBody>
          <a:bodyPr vert="horz" wrap="square" lIns="0" tIns="12700" rIns="0" bIns="0" rtlCol="0">
            <a:spAutoFit/>
          </a:bodyPr>
          <a:lstStyle/>
          <a:p>
            <a:pPr marL="12700">
              <a:lnSpc>
                <a:spcPct val="100000"/>
              </a:lnSpc>
              <a:spcBef>
                <a:spcPts val="100"/>
              </a:spcBef>
            </a:pPr>
            <a:r>
              <a:rPr sz="1800" b="1" spc="-50" dirty="0">
                <a:latin typeface="Arial"/>
                <a:cs typeface="Arial"/>
              </a:rPr>
              <a:t>2</a:t>
            </a:r>
            <a:endParaRPr sz="1800">
              <a:latin typeface="Arial"/>
              <a:cs typeface="Arial"/>
            </a:endParaRPr>
          </a:p>
        </p:txBody>
      </p:sp>
      <p:sp>
        <p:nvSpPr>
          <p:cNvPr id="10" name="object 9">
            <a:extLst>
              <a:ext uri="{FF2B5EF4-FFF2-40B4-BE49-F238E27FC236}">
                <a16:creationId xmlns:a16="http://schemas.microsoft.com/office/drawing/2014/main" id="{E261E087-AEBC-1CD4-0B84-D9FBAEBBEBD5}"/>
              </a:ext>
            </a:extLst>
          </p:cNvPr>
          <p:cNvSpPr txBox="1"/>
          <p:nvPr/>
        </p:nvSpPr>
        <p:spPr>
          <a:xfrm>
            <a:off x="7928609" y="4828794"/>
            <a:ext cx="153035" cy="299720"/>
          </a:xfrm>
          <a:prstGeom prst="rect">
            <a:avLst/>
          </a:prstGeom>
        </p:spPr>
        <p:txBody>
          <a:bodyPr vert="horz" wrap="square" lIns="0" tIns="12700" rIns="0" bIns="0" rtlCol="0">
            <a:spAutoFit/>
          </a:bodyPr>
          <a:lstStyle/>
          <a:p>
            <a:pPr marL="12700">
              <a:lnSpc>
                <a:spcPct val="100000"/>
              </a:lnSpc>
              <a:spcBef>
                <a:spcPts val="100"/>
              </a:spcBef>
            </a:pPr>
            <a:r>
              <a:rPr sz="1800" b="1" spc="-50" dirty="0">
                <a:latin typeface="Arial"/>
                <a:cs typeface="Arial"/>
              </a:rPr>
              <a:t>1</a:t>
            </a:r>
            <a:endParaRPr sz="1800">
              <a:latin typeface="Arial"/>
              <a:cs typeface="Arial"/>
            </a:endParaRPr>
          </a:p>
        </p:txBody>
      </p:sp>
      <p:sp>
        <p:nvSpPr>
          <p:cNvPr id="11" name="object 10">
            <a:extLst>
              <a:ext uri="{FF2B5EF4-FFF2-40B4-BE49-F238E27FC236}">
                <a16:creationId xmlns:a16="http://schemas.microsoft.com/office/drawing/2014/main" id="{C597D41B-80EF-82AB-F9D4-0C305F6974DE}"/>
              </a:ext>
            </a:extLst>
          </p:cNvPr>
          <p:cNvSpPr txBox="1"/>
          <p:nvPr/>
        </p:nvSpPr>
        <p:spPr>
          <a:xfrm>
            <a:off x="5185028" y="5591047"/>
            <a:ext cx="153035" cy="299720"/>
          </a:xfrm>
          <a:prstGeom prst="rect">
            <a:avLst/>
          </a:prstGeom>
        </p:spPr>
        <p:txBody>
          <a:bodyPr vert="horz" wrap="square" lIns="0" tIns="12700" rIns="0" bIns="0" rtlCol="0">
            <a:spAutoFit/>
          </a:bodyPr>
          <a:lstStyle/>
          <a:p>
            <a:pPr marL="12700">
              <a:lnSpc>
                <a:spcPct val="100000"/>
              </a:lnSpc>
              <a:spcBef>
                <a:spcPts val="100"/>
              </a:spcBef>
            </a:pPr>
            <a:r>
              <a:rPr sz="1800" b="1" spc="-50" dirty="0">
                <a:latin typeface="Arial"/>
                <a:cs typeface="Arial"/>
              </a:rPr>
              <a:t>7</a:t>
            </a:r>
            <a:endParaRPr sz="1800">
              <a:latin typeface="Arial"/>
              <a:cs typeface="Arial"/>
            </a:endParaRPr>
          </a:p>
        </p:txBody>
      </p:sp>
      <p:sp>
        <p:nvSpPr>
          <p:cNvPr id="12" name="object 11">
            <a:extLst>
              <a:ext uri="{FF2B5EF4-FFF2-40B4-BE49-F238E27FC236}">
                <a16:creationId xmlns:a16="http://schemas.microsoft.com/office/drawing/2014/main" id="{0A695E58-65F1-1351-1CF9-0E8045556CA5}"/>
              </a:ext>
            </a:extLst>
          </p:cNvPr>
          <p:cNvSpPr txBox="1"/>
          <p:nvPr/>
        </p:nvSpPr>
        <p:spPr>
          <a:xfrm>
            <a:off x="993444" y="2310486"/>
            <a:ext cx="5665470" cy="709930"/>
          </a:xfrm>
          <a:prstGeom prst="rect">
            <a:avLst/>
          </a:prstGeom>
        </p:spPr>
        <p:txBody>
          <a:bodyPr vert="horz" wrap="square" lIns="0" tIns="67945" rIns="0" bIns="0" rtlCol="0">
            <a:spAutoFit/>
          </a:bodyPr>
          <a:lstStyle/>
          <a:p>
            <a:pPr marL="12700">
              <a:lnSpc>
                <a:spcPct val="100000"/>
              </a:lnSpc>
              <a:spcBef>
                <a:spcPts val="535"/>
              </a:spcBef>
            </a:pPr>
            <a:r>
              <a:rPr sz="2000" b="1" dirty="0">
                <a:solidFill>
                  <a:srgbClr val="CC3300"/>
                </a:solidFill>
                <a:latin typeface="Courier New"/>
                <a:cs typeface="Courier New"/>
              </a:rPr>
              <a:t>generalSearch(problem,</a:t>
            </a:r>
            <a:r>
              <a:rPr sz="2000" b="1" spc="-114" dirty="0">
                <a:solidFill>
                  <a:srgbClr val="CC3300"/>
                </a:solidFill>
                <a:latin typeface="Courier New"/>
                <a:cs typeface="Courier New"/>
              </a:rPr>
              <a:t> </a:t>
            </a:r>
            <a:r>
              <a:rPr sz="2000" b="1" spc="-10" dirty="0">
                <a:solidFill>
                  <a:srgbClr val="FF5050"/>
                </a:solidFill>
                <a:latin typeface="Courier New"/>
                <a:cs typeface="Courier New"/>
              </a:rPr>
              <a:t>priorityQueue</a:t>
            </a:r>
            <a:r>
              <a:rPr sz="2000" b="1" spc="-10" dirty="0">
                <a:solidFill>
                  <a:srgbClr val="CC3300"/>
                </a:solidFill>
                <a:latin typeface="Courier New"/>
                <a:cs typeface="Courier New"/>
              </a:rPr>
              <a:t>)</a:t>
            </a:r>
            <a:endParaRPr sz="2000">
              <a:latin typeface="Courier New"/>
              <a:cs typeface="Courier New"/>
            </a:endParaRPr>
          </a:p>
          <a:p>
            <a:pPr marL="12700">
              <a:lnSpc>
                <a:spcPct val="100000"/>
              </a:lnSpc>
              <a:spcBef>
                <a:spcPts val="390"/>
              </a:spcBef>
            </a:pPr>
            <a:r>
              <a:rPr sz="1800" dirty="0">
                <a:solidFill>
                  <a:srgbClr val="1F487C"/>
                </a:solidFill>
                <a:latin typeface="Arial MT"/>
                <a:cs typeface="Arial MT"/>
              </a:rPr>
              <a:t>#</a:t>
            </a:r>
            <a:r>
              <a:rPr sz="1800" spc="-25" dirty="0">
                <a:solidFill>
                  <a:srgbClr val="1F487C"/>
                </a:solidFill>
                <a:latin typeface="Arial MT"/>
                <a:cs typeface="Arial MT"/>
              </a:rPr>
              <a:t> </a:t>
            </a:r>
            <a:r>
              <a:rPr sz="1800" dirty="0">
                <a:solidFill>
                  <a:srgbClr val="1F487C"/>
                </a:solidFill>
                <a:latin typeface="Arial MT"/>
                <a:cs typeface="Arial MT"/>
              </a:rPr>
              <a:t>of</a:t>
            </a:r>
            <a:r>
              <a:rPr sz="1800" spc="-20" dirty="0">
                <a:solidFill>
                  <a:srgbClr val="1F487C"/>
                </a:solidFill>
                <a:latin typeface="Arial MT"/>
                <a:cs typeface="Arial MT"/>
              </a:rPr>
              <a:t> </a:t>
            </a:r>
            <a:r>
              <a:rPr sz="1800" dirty="0">
                <a:solidFill>
                  <a:srgbClr val="1F487C"/>
                </a:solidFill>
                <a:latin typeface="Arial MT"/>
                <a:cs typeface="Arial MT"/>
              </a:rPr>
              <a:t>nodes</a:t>
            </a:r>
            <a:r>
              <a:rPr sz="1800" spc="-15" dirty="0">
                <a:solidFill>
                  <a:srgbClr val="1F487C"/>
                </a:solidFill>
                <a:latin typeface="Arial MT"/>
                <a:cs typeface="Arial MT"/>
              </a:rPr>
              <a:t> </a:t>
            </a:r>
            <a:r>
              <a:rPr sz="1800" dirty="0">
                <a:solidFill>
                  <a:srgbClr val="1F487C"/>
                </a:solidFill>
                <a:latin typeface="Arial MT"/>
                <a:cs typeface="Arial MT"/>
              </a:rPr>
              <a:t>tested:</a:t>
            </a:r>
            <a:r>
              <a:rPr sz="1800" spc="-25" dirty="0">
                <a:solidFill>
                  <a:srgbClr val="1F487C"/>
                </a:solidFill>
                <a:latin typeface="Arial MT"/>
                <a:cs typeface="Arial MT"/>
              </a:rPr>
              <a:t> </a:t>
            </a:r>
            <a:r>
              <a:rPr sz="1800" dirty="0">
                <a:latin typeface="Arial MT"/>
                <a:cs typeface="Arial MT"/>
              </a:rPr>
              <a:t>6</a:t>
            </a:r>
            <a:r>
              <a:rPr sz="1800" dirty="0">
                <a:solidFill>
                  <a:srgbClr val="1F487C"/>
                </a:solidFill>
                <a:latin typeface="Arial MT"/>
                <a:cs typeface="Arial MT"/>
              </a:rPr>
              <a:t>,</a:t>
            </a:r>
            <a:r>
              <a:rPr sz="1800" spc="-15" dirty="0">
                <a:solidFill>
                  <a:srgbClr val="1F487C"/>
                </a:solidFill>
                <a:latin typeface="Arial MT"/>
                <a:cs typeface="Arial MT"/>
              </a:rPr>
              <a:t> </a:t>
            </a:r>
            <a:r>
              <a:rPr sz="1800" dirty="0">
                <a:solidFill>
                  <a:srgbClr val="1F487C"/>
                </a:solidFill>
                <a:latin typeface="Arial MT"/>
                <a:cs typeface="Arial MT"/>
              </a:rPr>
              <a:t>expanded:</a:t>
            </a:r>
            <a:r>
              <a:rPr sz="1800" spc="15" dirty="0">
                <a:solidFill>
                  <a:srgbClr val="1F487C"/>
                </a:solidFill>
                <a:latin typeface="Arial MT"/>
                <a:cs typeface="Arial MT"/>
              </a:rPr>
              <a:t> </a:t>
            </a:r>
            <a:r>
              <a:rPr sz="1800" spc="-50" dirty="0">
                <a:latin typeface="Arial MT"/>
                <a:cs typeface="Arial MT"/>
              </a:rPr>
              <a:t>5</a:t>
            </a:r>
            <a:endParaRPr sz="1800">
              <a:latin typeface="Arial MT"/>
              <a:cs typeface="Arial MT"/>
            </a:endParaRPr>
          </a:p>
        </p:txBody>
      </p:sp>
      <p:graphicFrame>
        <p:nvGraphicFramePr>
          <p:cNvPr id="13" name="object 13">
            <a:extLst>
              <a:ext uri="{FF2B5EF4-FFF2-40B4-BE49-F238E27FC236}">
                <a16:creationId xmlns:a16="http://schemas.microsoft.com/office/drawing/2014/main" id="{8196D8B0-7594-3A2A-8794-10067877A155}"/>
              </a:ext>
            </a:extLst>
          </p:cNvPr>
          <p:cNvGraphicFramePr>
            <a:graphicFrameLocks noGrp="1"/>
          </p:cNvGraphicFramePr>
          <p:nvPr/>
        </p:nvGraphicFramePr>
        <p:xfrm>
          <a:off x="990600" y="3105150"/>
          <a:ext cx="3505835" cy="2773045"/>
        </p:xfrm>
        <a:graphic>
          <a:graphicData uri="http://schemas.openxmlformats.org/drawingml/2006/table">
            <a:tbl>
              <a:tblPr firstRow="1" bandRow="1">
                <a:tableStyleId>{2D5ABB26-0587-4C30-8999-92F81FD0307C}</a:tableStyleId>
              </a:tblPr>
              <a:tblGrid>
                <a:gridCol w="1471930">
                  <a:extLst>
                    <a:ext uri="{9D8B030D-6E8A-4147-A177-3AD203B41FA5}">
                      <a16:colId xmlns:a16="http://schemas.microsoft.com/office/drawing/2014/main" val="20000"/>
                    </a:ext>
                  </a:extLst>
                </a:gridCol>
                <a:gridCol w="2033905">
                  <a:extLst>
                    <a:ext uri="{9D8B030D-6E8A-4147-A177-3AD203B41FA5}">
                      <a16:colId xmlns:a16="http://schemas.microsoft.com/office/drawing/2014/main" val="20001"/>
                    </a:ext>
                  </a:extLst>
                </a:gridCol>
              </a:tblGrid>
              <a:tr h="575945">
                <a:tc>
                  <a:txBody>
                    <a:bodyPr/>
                    <a:lstStyle/>
                    <a:p>
                      <a:pPr marL="91440" marR="610870">
                        <a:lnSpc>
                          <a:spcPct val="100000"/>
                        </a:lnSpc>
                        <a:spcBef>
                          <a:spcPts val="30"/>
                        </a:spcBef>
                      </a:pPr>
                      <a:r>
                        <a:rPr sz="1800" b="1" spc="-10" dirty="0">
                          <a:solidFill>
                            <a:srgbClr val="111111"/>
                          </a:solidFill>
                          <a:latin typeface="Arial"/>
                          <a:cs typeface="Arial"/>
                        </a:rPr>
                        <a:t>Closed </a:t>
                      </a:r>
                      <a:r>
                        <a:rPr sz="1800" b="1" spc="-20" dirty="0">
                          <a:solidFill>
                            <a:srgbClr val="111111"/>
                          </a:solidFill>
                          <a:latin typeface="Arial"/>
                          <a:cs typeface="Arial"/>
                        </a:rPr>
                        <a:t>Node</a:t>
                      </a:r>
                      <a:endParaRPr sz="1800">
                        <a:latin typeface="Arial"/>
                        <a:cs typeface="Arial"/>
                      </a:endParaRPr>
                    </a:p>
                  </a:txBody>
                  <a:tcPr marL="0" marR="0" marT="3810" marB="0">
                    <a:lnR w="12700">
                      <a:solidFill>
                        <a:srgbClr val="000000"/>
                      </a:solidFill>
                      <a:prstDash val="solid"/>
                    </a:lnR>
                    <a:lnT w="38100">
                      <a:solidFill>
                        <a:srgbClr val="000000"/>
                      </a:solidFill>
                      <a:prstDash val="solid"/>
                    </a:lnT>
                    <a:lnB w="12700">
                      <a:solidFill>
                        <a:srgbClr val="000000"/>
                      </a:solidFill>
                      <a:prstDash val="solid"/>
                    </a:lnB>
                  </a:tcPr>
                </a:tc>
                <a:tc>
                  <a:txBody>
                    <a:bodyPr/>
                    <a:lstStyle/>
                    <a:p>
                      <a:pPr marL="91440">
                        <a:lnSpc>
                          <a:spcPct val="100000"/>
                        </a:lnSpc>
                        <a:spcBef>
                          <a:spcPts val="30"/>
                        </a:spcBef>
                      </a:pPr>
                      <a:r>
                        <a:rPr sz="1800" b="1" dirty="0">
                          <a:solidFill>
                            <a:srgbClr val="111111"/>
                          </a:solidFill>
                          <a:latin typeface="Arial"/>
                          <a:cs typeface="Arial"/>
                        </a:rPr>
                        <a:t>Open</a:t>
                      </a:r>
                      <a:r>
                        <a:rPr sz="1800" b="1" spc="-10" dirty="0">
                          <a:solidFill>
                            <a:srgbClr val="111111"/>
                          </a:solidFill>
                          <a:latin typeface="Arial"/>
                          <a:cs typeface="Arial"/>
                        </a:rPr>
                        <a:t> </a:t>
                      </a:r>
                      <a:r>
                        <a:rPr sz="1800" b="1" spc="-20" dirty="0">
                          <a:solidFill>
                            <a:srgbClr val="111111"/>
                          </a:solidFill>
                          <a:latin typeface="Arial"/>
                          <a:cs typeface="Arial"/>
                        </a:rPr>
                        <a:t>Node</a:t>
                      </a:r>
                      <a:endParaRPr sz="1800">
                        <a:latin typeface="Arial"/>
                        <a:cs typeface="Arial"/>
                      </a:endParaRPr>
                    </a:p>
                  </a:txBody>
                  <a:tcPr marL="0" marR="0" marT="3810" marB="0">
                    <a:lnL w="12700">
                      <a:solidFill>
                        <a:srgbClr val="000000"/>
                      </a:solidFill>
                      <a:prstDash val="solid"/>
                    </a:lnL>
                    <a:lnT w="381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301625">
                <a:tc>
                  <a:txBody>
                    <a:bodyPr/>
                    <a:lstStyle/>
                    <a:p>
                      <a:pPr>
                        <a:lnSpc>
                          <a:spcPct val="100000"/>
                        </a:lnSpc>
                      </a:pPr>
                      <a:endParaRPr sz="1800">
                        <a:latin typeface="Times New Roman"/>
                        <a:cs typeface="Times New Roman"/>
                      </a:endParaRPr>
                    </a:p>
                  </a:txBody>
                  <a:tcPr marL="0" marR="0" marT="0" marB="0">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30"/>
                        </a:spcBef>
                      </a:pPr>
                      <a:r>
                        <a:rPr sz="1800" spc="-25" dirty="0">
                          <a:solidFill>
                            <a:srgbClr val="111111"/>
                          </a:solidFill>
                          <a:latin typeface="Arial MT"/>
                          <a:cs typeface="Arial MT"/>
                        </a:rPr>
                        <a:t>{S}</a:t>
                      </a:r>
                      <a:endParaRPr sz="1800">
                        <a:latin typeface="Arial MT"/>
                        <a:cs typeface="Arial MT"/>
                      </a:endParaRPr>
                    </a:p>
                  </a:txBody>
                  <a:tcPr marL="0" marR="0" marT="3810" marB="0">
                    <a:lnL w="12700">
                      <a:solidFill>
                        <a:srgbClr val="000000"/>
                      </a:solidFill>
                      <a:prstDash val="solid"/>
                    </a:lnL>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301625">
                <a:tc>
                  <a:txBody>
                    <a:bodyPr/>
                    <a:lstStyle/>
                    <a:p>
                      <a:pPr marL="91440">
                        <a:lnSpc>
                          <a:spcPct val="100000"/>
                        </a:lnSpc>
                        <a:spcBef>
                          <a:spcPts val="30"/>
                        </a:spcBef>
                      </a:pPr>
                      <a:r>
                        <a:rPr sz="1800" spc="-50" dirty="0">
                          <a:solidFill>
                            <a:srgbClr val="111111"/>
                          </a:solidFill>
                          <a:latin typeface="Arial MT"/>
                          <a:cs typeface="Arial MT"/>
                        </a:rPr>
                        <a:t>S</a:t>
                      </a:r>
                      <a:endParaRPr sz="1800">
                        <a:latin typeface="Arial MT"/>
                        <a:cs typeface="Arial MT"/>
                      </a:endParaRPr>
                    </a:p>
                  </a:txBody>
                  <a:tcPr marL="0" marR="0" marT="3810" marB="0">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30"/>
                        </a:spcBef>
                      </a:pPr>
                      <a:r>
                        <a:rPr sz="1800" spc="-10" dirty="0">
                          <a:solidFill>
                            <a:srgbClr val="111111"/>
                          </a:solidFill>
                          <a:latin typeface="Arial MT"/>
                          <a:cs typeface="Arial MT"/>
                        </a:rPr>
                        <a:t>{B:2,C:4,A:5}</a:t>
                      </a:r>
                      <a:endParaRPr sz="1800">
                        <a:latin typeface="Arial MT"/>
                        <a:cs typeface="Arial MT"/>
                      </a:endParaRPr>
                    </a:p>
                  </a:txBody>
                  <a:tcPr marL="0" marR="0" marT="3810" marB="0">
                    <a:lnL w="12700">
                      <a:solidFill>
                        <a:srgbClr val="000000"/>
                      </a:solidFill>
                      <a:prstDash val="solid"/>
                    </a:lnL>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306070">
                <a:tc>
                  <a:txBody>
                    <a:bodyPr/>
                    <a:lstStyle/>
                    <a:p>
                      <a:pPr marL="91440">
                        <a:lnSpc>
                          <a:spcPct val="100000"/>
                        </a:lnSpc>
                        <a:spcBef>
                          <a:spcPts val="35"/>
                        </a:spcBef>
                      </a:pPr>
                      <a:r>
                        <a:rPr sz="1800" spc="-50" dirty="0">
                          <a:solidFill>
                            <a:srgbClr val="111111"/>
                          </a:solidFill>
                          <a:latin typeface="Arial MT"/>
                          <a:cs typeface="Arial MT"/>
                        </a:rPr>
                        <a:t>B</a:t>
                      </a:r>
                      <a:endParaRPr sz="1800">
                        <a:latin typeface="Arial MT"/>
                        <a:cs typeface="Arial MT"/>
                      </a:endParaRPr>
                    </a:p>
                  </a:txBody>
                  <a:tcPr marL="0" marR="0" marT="4445" marB="0">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35"/>
                        </a:spcBef>
                      </a:pPr>
                      <a:r>
                        <a:rPr sz="1800" spc="-10" dirty="0">
                          <a:solidFill>
                            <a:srgbClr val="111111"/>
                          </a:solidFill>
                          <a:latin typeface="Arial MT"/>
                          <a:cs typeface="Arial MT"/>
                        </a:rPr>
                        <a:t>{C:4,A:5,G:8}</a:t>
                      </a:r>
                      <a:endParaRPr sz="1800">
                        <a:latin typeface="Arial MT"/>
                        <a:cs typeface="Arial MT"/>
                      </a:endParaRPr>
                    </a:p>
                  </a:txBody>
                  <a:tcPr marL="0" marR="0" marT="4445" marB="0">
                    <a:lnL w="12700">
                      <a:solidFill>
                        <a:srgbClr val="000000"/>
                      </a:solidFill>
                      <a:prstDash val="solid"/>
                    </a:lnL>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321945">
                <a:tc>
                  <a:txBody>
                    <a:bodyPr/>
                    <a:lstStyle/>
                    <a:p>
                      <a:pPr marL="91440">
                        <a:lnSpc>
                          <a:spcPct val="100000"/>
                        </a:lnSpc>
                        <a:spcBef>
                          <a:spcPts val="30"/>
                        </a:spcBef>
                      </a:pPr>
                      <a:r>
                        <a:rPr sz="1800" spc="-50" dirty="0">
                          <a:solidFill>
                            <a:srgbClr val="111111"/>
                          </a:solidFill>
                          <a:latin typeface="Arial MT"/>
                          <a:cs typeface="Arial MT"/>
                        </a:rPr>
                        <a:t>C</a:t>
                      </a:r>
                      <a:endParaRPr sz="1800">
                        <a:latin typeface="Arial MT"/>
                        <a:cs typeface="Arial MT"/>
                      </a:endParaRPr>
                    </a:p>
                  </a:txBody>
                  <a:tcPr marL="0" marR="0" marT="3810" marB="0">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30"/>
                        </a:spcBef>
                      </a:pPr>
                      <a:r>
                        <a:rPr sz="1800" spc="-10" dirty="0">
                          <a:solidFill>
                            <a:srgbClr val="111111"/>
                          </a:solidFill>
                          <a:latin typeface="Arial MT"/>
                          <a:cs typeface="Arial MT"/>
                        </a:rPr>
                        <a:t>{A:5,F:6,G:8}</a:t>
                      </a:r>
                      <a:endParaRPr sz="1800">
                        <a:latin typeface="Arial MT"/>
                        <a:cs typeface="Arial MT"/>
                      </a:endParaRPr>
                    </a:p>
                  </a:txBody>
                  <a:tcPr marL="0" marR="0" marT="3810" marB="0">
                    <a:lnL w="12700">
                      <a:solidFill>
                        <a:srgbClr val="000000"/>
                      </a:solidFill>
                      <a:prstDash val="solid"/>
                    </a:lnL>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r h="321945">
                <a:tc>
                  <a:txBody>
                    <a:bodyPr/>
                    <a:lstStyle/>
                    <a:p>
                      <a:pPr marL="91440">
                        <a:lnSpc>
                          <a:spcPct val="100000"/>
                        </a:lnSpc>
                        <a:spcBef>
                          <a:spcPts val="30"/>
                        </a:spcBef>
                      </a:pPr>
                      <a:r>
                        <a:rPr sz="1800" spc="-50" dirty="0">
                          <a:solidFill>
                            <a:srgbClr val="111111"/>
                          </a:solidFill>
                          <a:latin typeface="Arial MT"/>
                          <a:cs typeface="Arial MT"/>
                        </a:rPr>
                        <a:t>A</a:t>
                      </a:r>
                      <a:endParaRPr sz="1800">
                        <a:latin typeface="Arial MT"/>
                        <a:cs typeface="Arial MT"/>
                      </a:endParaRPr>
                    </a:p>
                  </a:txBody>
                  <a:tcPr marL="0" marR="0" marT="3810" marB="0">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30"/>
                        </a:spcBef>
                      </a:pPr>
                      <a:r>
                        <a:rPr sz="1800" spc="-10" dirty="0">
                          <a:solidFill>
                            <a:srgbClr val="111111"/>
                          </a:solidFill>
                          <a:latin typeface="Arial MT"/>
                          <a:cs typeface="Arial MT"/>
                        </a:rPr>
                        <a:t>{F:6,G:8,E:9,D:14}</a:t>
                      </a:r>
                      <a:endParaRPr sz="1800">
                        <a:latin typeface="Arial MT"/>
                        <a:cs typeface="Arial MT"/>
                      </a:endParaRPr>
                    </a:p>
                  </a:txBody>
                  <a:tcPr marL="0" marR="0" marT="3810" marB="0">
                    <a:lnL w="12700">
                      <a:solidFill>
                        <a:srgbClr val="000000"/>
                      </a:solidFill>
                      <a:prstDash val="solid"/>
                    </a:lnL>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5"/>
                  </a:ext>
                </a:extLst>
              </a:tr>
              <a:tr h="321945">
                <a:tc>
                  <a:txBody>
                    <a:bodyPr/>
                    <a:lstStyle/>
                    <a:p>
                      <a:pPr marL="91440">
                        <a:lnSpc>
                          <a:spcPct val="100000"/>
                        </a:lnSpc>
                        <a:spcBef>
                          <a:spcPts val="30"/>
                        </a:spcBef>
                      </a:pPr>
                      <a:r>
                        <a:rPr sz="1800" spc="-50" dirty="0">
                          <a:solidFill>
                            <a:srgbClr val="111111"/>
                          </a:solidFill>
                          <a:latin typeface="Arial MT"/>
                          <a:cs typeface="Arial MT"/>
                        </a:rPr>
                        <a:t>F</a:t>
                      </a:r>
                      <a:endParaRPr sz="1800">
                        <a:latin typeface="Arial MT"/>
                        <a:cs typeface="Arial MT"/>
                      </a:endParaRPr>
                    </a:p>
                  </a:txBody>
                  <a:tcPr marL="0" marR="0" marT="3810" marB="0">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30"/>
                        </a:spcBef>
                      </a:pPr>
                      <a:r>
                        <a:rPr sz="1800" spc="-10" dirty="0">
                          <a:solidFill>
                            <a:srgbClr val="111111"/>
                          </a:solidFill>
                          <a:latin typeface="Arial MT"/>
                          <a:cs typeface="Arial MT"/>
                        </a:rPr>
                        <a:t>{G:7,G:8,E:9,D:14}</a:t>
                      </a:r>
                      <a:endParaRPr sz="1800">
                        <a:latin typeface="Arial MT"/>
                        <a:cs typeface="Arial MT"/>
                      </a:endParaRPr>
                    </a:p>
                  </a:txBody>
                  <a:tcPr marL="0" marR="0" marT="3810" marB="0">
                    <a:lnL w="12700">
                      <a:solidFill>
                        <a:srgbClr val="000000"/>
                      </a:solidFill>
                      <a:prstDash val="solid"/>
                    </a:lnL>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6"/>
                  </a:ext>
                </a:extLst>
              </a:tr>
              <a:tr h="321945">
                <a:tc>
                  <a:txBody>
                    <a:bodyPr/>
                    <a:lstStyle/>
                    <a:p>
                      <a:pPr marL="91440">
                        <a:lnSpc>
                          <a:spcPct val="100000"/>
                        </a:lnSpc>
                        <a:spcBef>
                          <a:spcPts val="35"/>
                        </a:spcBef>
                      </a:pPr>
                      <a:r>
                        <a:rPr sz="1800" spc="-50" dirty="0">
                          <a:solidFill>
                            <a:srgbClr val="111111"/>
                          </a:solidFill>
                          <a:latin typeface="Arial MT"/>
                          <a:cs typeface="Arial MT"/>
                        </a:rPr>
                        <a:t>G</a:t>
                      </a:r>
                      <a:endParaRPr sz="1800">
                        <a:latin typeface="Arial MT"/>
                        <a:cs typeface="Arial MT"/>
                      </a:endParaRPr>
                    </a:p>
                  </a:txBody>
                  <a:tcPr marL="0" marR="0" marT="4445" marB="0">
                    <a:lnR w="12700">
                      <a:solidFill>
                        <a:srgbClr val="000000"/>
                      </a:solidFill>
                      <a:prstDash val="solid"/>
                    </a:lnR>
                    <a:lnT w="12700">
                      <a:solidFill>
                        <a:srgbClr val="000000"/>
                      </a:solidFill>
                      <a:prstDash val="solid"/>
                    </a:lnT>
                    <a:lnB w="38100">
                      <a:solidFill>
                        <a:srgbClr val="000000"/>
                      </a:solidFill>
                      <a:prstDash val="solid"/>
                    </a:lnB>
                  </a:tcPr>
                </a:tc>
                <a:tc>
                  <a:txBody>
                    <a:bodyPr/>
                    <a:lstStyle/>
                    <a:p>
                      <a:pPr marL="91440">
                        <a:lnSpc>
                          <a:spcPct val="100000"/>
                        </a:lnSpc>
                        <a:spcBef>
                          <a:spcPts val="35"/>
                        </a:spcBef>
                      </a:pPr>
                      <a:r>
                        <a:rPr sz="1800" spc="-10" dirty="0">
                          <a:solidFill>
                            <a:srgbClr val="111111"/>
                          </a:solidFill>
                          <a:latin typeface="Arial MT"/>
                          <a:cs typeface="Arial MT"/>
                        </a:rPr>
                        <a:t>{G:8,E:9,D:14}</a:t>
                      </a:r>
                      <a:endParaRPr sz="1800">
                        <a:latin typeface="Arial MT"/>
                        <a:cs typeface="Arial MT"/>
                      </a:endParaRPr>
                    </a:p>
                  </a:txBody>
                  <a:tcPr marL="0" marR="0" marT="4445" marB="0">
                    <a:lnL w="12700">
                      <a:solidFill>
                        <a:srgbClr val="000000"/>
                      </a:solidFill>
                      <a:prstDash val="solid"/>
                    </a:lnL>
                    <a:lnT w="12700">
                      <a:solidFill>
                        <a:srgbClr val="000000"/>
                      </a:solidFill>
                      <a:prstDash val="solid"/>
                    </a:lnT>
                    <a:lnB w="38100">
                      <a:solidFill>
                        <a:srgbClr val="000000"/>
                      </a:solidFill>
                      <a:prstDash val="solid"/>
                    </a:lnB>
                  </a:tcPr>
                </a:tc>
                <a:extLst>
                  <a:ext uri="{0D108BD9-81ED-4DB2-BD59-A6C34878D82A}">
                    <a16:rowId xmlns:a16="http://schemas.microsoft.com/office/drawing/2014/main" val="10007"/>
                  </a:ext>
                </a:extLst>
              </a:tr>
            </a:tbl>
          </a:graphicData>
        </a:graphic>
      </p:graphicFrame>
      <p:pic>
        <p:nvPicPr>
          <p:cNvPr id="14" name="object 14">
            <a:extLst>
              <a:ext uri="{FF2B5EF4-FFF2-40B4-BE49-F238E27FC236}">
                <a16:creationId xmlns:a16="http://schemas.microsoft.com/office/drawing/2014/main" id="{ED5D507A-E3B7-6AE1-20CD-8EE791B1BCD3}"/>
              </a:ext>
            </a:extLst>
          </p:cNvPr>
          <p:cNvPicPr/>
          <p:nvPr/>
        </p:nvPicPr>
        <p:blipFill>
          <a:blip r:embed="rId2" cstate="print"/>
          <a:stretch>
            <a:fillRect/>
          </a:stretch>
        </p:blipFill>
        <p:spPr>
          <a:xfrm>
            <a:off x="5017261" y="2502661"/>
            <a:ext cx="3911599" cy="4140200"/>
          </a:xfrm>
          <a:prstGeom prst="rect">
            <a:avLst/>
          </a:prstGeom>
        </p:spPr>
      </p:pic>
      <p:sp>
        <p:nvSpPr>
          <p:cNvPr id="15" name="object 15">
            <a:extLst>
              <a:ext uri="{FF2B5EF4-FFF2-40B4-BE49-F238E27FC236}">
                <a16:creationId xmlns:a16="http://schemas.microsoft.com/office/drawing/2014/main" id="{B4687412-5A63-2EC1-CA88-704BFB0799F7}"/>
              </a:ext>
            </a:extLst>
          </p:cNvPr>
          <p:cNvSpPr txBox="1"/>
          <p:nvPr/>
        </p:nvSpPr>
        <p:spPr>
          <a:xfrm>
            <a:off x="7195566" y="2545842"/>
            <a:ext cx="470534" cy="535940"/>
          </a:xfrm>
          <a:prstGeom prst="rect">
            <a:avLst/>
          </a:prstGeom>
        </p:spPr>
        <p:txBody>
          <a:bodyPr vert="horz" wrap="square" lIns="0" tIns="13335" rIns="0" bIns="0" rtlCol="0">
            <a:spAutoFit/>
          </a:bodyPr>
          <a:lstStyle/>
          <a:p>
            <a:pPr algn="ctr">
              <a:lnSpc>
                <a:spcPts val="2130"/>
              </a:lnSpc>
              <a:spcBef>
                <a:spcPts val="105"/>
              </a:spcBef>
            </a:pPr>
            <a:r>
              <a:rPr sz="2000" b="1" spc="-50" dirty="0">
                <a:latin typeface="Arial"/>
                <a:cs typeface="Arial"/>
              </a:rPr>
              <a:t>S</a:t>
            </a:r>
            <a:endParaRPr sz="2000">
              <a:latin typeface="Arial"/>
              <a:cs typeface="Arial"/>
            </a:endParaRPr>
          </a:p>
          <a:p>
            <a:pPr algn="ctr">
              <a:lnSpc>
                <a:spcPts val="1889"/>
              </a:lnSpc>
            </a:pPr>
            <a:r>
              <a:rPr sz="1800" spc="-10" dirty="0">
                <a:solidFill>
                  <a:srgbClr val="FFFFFF"/>
                </a:solidFill>
                <a:latin typeface="Arial MT"/>
                <a:cs typeface="Arial MT"/>
              </a:rPr>
              <a:t>start</a:t>
            </a:r>
            <a:endParaRPr sz="1800">
              <a:latin typeface="Arial MT"/>
              <a:cs typeface="Arial MT"/>
            </a:endParaRPr>
          </a:p>
        </p:txBody>
      </p:sp>
      <p:sp>
        <p:nvSpPr>
          <p:cNvPr id="16" name="object 16">
            <a:extLst>
              <a:ext uri="{FF2B5EF4-FFF2-40B4-BE49-F238E27FC236}">
                <a16:creationId xmlns:a16="http://schemas.microsoft.com/office/drawing/2014/main" id="{DADE0DBD-7639-FB4C-5C90-7A8C8E1ED2CD}"/>
              </a:ext>
            </a:extLst>
          </p:cNvPr>
          <p:cNvSpPr txBox="1"/>
          <p:nvPr/>
        </p:nvSpPr>
        <p:spPr>
          <a:xfrm>
            <a:off x="6181725" y="3828363"/>
            <a:ext cx="209550" cy="331470"/>
          </a:xfrm>
          <a:prstGeom prst="rect">
            <a:avLst/>
          </a:prstGeom>
        </p:spPr>
        <p:txBody>
          <a:bodyPr vert="horz" wrap="square" lIns="0" tIns="13335" rIns="0" bIns="0" rtlCol="0">
            <a:spAutoFit/>
          </a:bodyPr>
          <a:lstStyle/>
          <a:p>
            <a:pPr marL="12700">
              <a:lnSpc>
                <a:spcPct val="100000"/>
              </a:lnSpc>
              <a:spcBef>
                <a:spcPts val="105"/>
              </a:spcBef>
            </a:pPr>
            <a:r>
              <a:rPr sz="2000" b="1" spc="-50" dirty="0">
                <a:latin typeface="Arial"/>
                <a:cs typeface="Arial"/>
              </a:rPr>
              <a:t>A</a:t>
            </a:r>
            <a:endParaRPr sz="2000">
              <a:latin typeface="Arial"/>
              <a:cs typeface="Arial"/>
            </a:endParaRPr>
          </a:p>
        </p:txBody>
      </p:sp>
      <p:sp>
        <p:nvSpPr>
          <p:cNvPr id="17" name="object 17">
            <a:extLst>
              <a:ext uri="{FF2B5EF4-FFF2-40B4-BE49-F238E27FC236}">
                <a16:creationId xmlns:a16="http://schemas.microsoft.com/office/drawing/2014/main" id="{81A0F85E-AD86-CB0F-DA93-4340085CE6C3}"/>
              </a:ext>
            </a:extLst>
          </p:cNvPr>
          <p:cNvSpPr txBox="1"/>
          <p:nvPr/>
        </p:nvSpPr>
        <p:spPr>
          <a:xfrm>
            <a:off x="6189726" y="4972050"/>
            <a:ext cx="195580" cy="330835"/>
          </a:xfrm>
          <a:prstGeom prst="rect">
            <a:avLst/>
          </a:prstGeom>
        </p:spPr>
        <p:txBody>
          <a:bodyPr vert="horz" wrap="square" lIns="0" tIns="12700" rIns="0" bIns="0" rtlCol="0">
            <a:spAutoFit/>
          </a:bodyPr>
          <a:lstStyle/>
          <a:p>
            <a:pPr marL="12700">
              <a:lnSpc>
                <a:spcPct val="100000"/>
              </a:lnSpc>
              <a:spcBef>
                <a:spcPts val="100"/>
              </a:spcBef>
            </a:pPr>
            <a:r>
              <a:rPr sz="2000" b="1" spc="-50" dirty="0">
                <a:latin typeface="Arial"/>
                <a:cs typeface="Arial"/>
              </a:rPr>
              <a:t>E</a:t>
            </a:r>
            <a:endParaRPr sz="2000">
              <a:latin typeface="Arial"/>
              <a:cs typeface="Arial"/>
            </a:endParaRPr>
          </a:p>
        </p:txBody>
      </p:sp>
      <p:sp>
        <p:nvSpPr>
          <p:cNvPr id="18" name="object 18">
            <a:extLst>
              <a:ext uri="{FF2B5EF4-FFF2-40B4-BE49-F238E27FC236}">
                <a16:creationId xmlns:a16="http://schemas.microsoft.com/office/drawing/2014/main" id="{5458A437-94E8-BA0A-E4BC-2A9C14746180}"/>
              </a:ext>
            </a:extLst>
          </p:cNvPr>
          <p:cNvSpPr txBox="1"/>
          <p:nvPr/>
        </p:nvSpPr>
        <p:spPr>
          <a:xfrm>
            <a:off x="5267325" y="4972050"/>
            <a:ext cx="209550" cy="330835"/>
          </a:xfrm>
          <a:prstGeom prst="rect">
            <a:avLst/>
          </a:prstGeom>
        </p:spPr>
        <p:txBody>
          <a:bodyPr vert="horz" wrap="square" lIns="0" tIns="12700" rIns="0" bIns="0" rtlCol="0">
            <a:spAutoFit/>
          </a:bodyPr>
          <a:lstStyle/>
          <a:p>
            <a:pPr marL="12700">
              <a:lnSpc>
                <a:spcPct val="100000"/>
              </a:lnSpc>
              <a:spcBef>
                <a:spcPts val="100"/>
              </a:spcBef>
            </a:pPr>
            <a:r>
              <a:rPr sz="2000" b="1" spc="-50" dirty="0">
                <a:latin typeface="Arial"/>
                <a:cs typeface="Arial"/>
              </a:rPr>
              <a:t>D</a:t>
            </a:r>
            <a:endParaRPr sz="2000">
              <a:latin typeface="Arial"/>
              <a:cs typeface="Arial"/>
            </a:endParaRPr>
          </a:p>
        </p:txBody>
      </p:sp>
      <p:sp>
        <p:nvSpPr>
          <p:cNvPr id="19" name="object 19">
            <a:extLst>
              <a:ext uri="{FF2B5EF4-FFF2-40B4-BE49-F238E27FC236}">
                <a16:creationId xmlns:a16="http://schemas.microsoft.com/office/drawing/2014/main" id="{B8C582E5-017E-4A2D-1E30-822A836AA510}"/>
              </a:ext>
            </a:extLst>
          </p:cNvPr>
          <p:cNvSpPr txBox="1"/>
          <p:nvPr/>
        </p:nvSpPr>
        <p:spPr>
          <a:xfrm>
            <a:off x="8483600" y="4972050"/>
            <a:ext cx="180975" cy="330835"/>
          </a:xfrm>
          <a:prstGeom prst="rect">
            <a:avLst/>
          </a:prstGeom>
        </p:spPr>
        <p:txBody>
          <a:bodyPr vert="horz" wrap="square" lIns="0" tIns="12700" rIns="0" bIns="0" rtlCol="0">
            <a:spAutoFit/>
          </a:bodyPr>
          <a:lstStyle/>
          <a:p>
            <a:pPr marL="12700">
              <a:lnSpc>
                <a:spcPct val="100000"/>
              </a:lnSpc>
              <a:spcBef>
                <a:spcPts val="100"/>
              </a:spcBef>
            </a:pPr>
            <a:r>
              <a:rPr sz="2000" b="1" spc="-50" dirty="0">
                <a:latin typeface="Arial"/>
                <a:cs typeface="Arial"/>
              </a:rPr>
              <a:t>F</a:t>
            </a:r>
            <a:endParaRPr sz="2000">
              <a:latin typeface="Arial"/>
              <a:cs typeface="Arial"/>
            </a:endParaRPr>
          </a:p>
        </p:txBody>
      </p:sp>
      <p:sp>
        <p:nvSpPr>
          <p:cNvPr id="20" name="object 20">
            <a:extLst>
              <a:ext uri="{FF2B5EF4-FFF2-40B4-BE49-F238E27FC236}">
                <a16:creationId xmlns:a16="http://schemas.microsoft.com/office/drawing/2014/main" id="{D2932BD3-2FFA-92BD-01B5-E71AC7CFD3E2}"/>
              </a:ext>
            </a:extLst>
          </p:cNvPr>
          <p:cNvSpPr txBox="1"/>
          <p:nvPr/>
        </p:nvSpPr>
        <p:spPr>
          <a:xfrm>
            <a:off x="7325106" y="3828363"/>
            <a:ext cx="209550" cy="331470"/>
          </a:xfrm>
          <a:prstGeom prst="rect">
            <a:avLst/>
          </a:prstGeom>
        </p:spPr>
        <p:txBody>
          <a:bodyPr vert="horz" wrap="square" lIns="0" tIns="13335" rIns="0" bIns="0" rtlCol="0">
            <a:spAutoFit/>
          </a:bodyPr>
          <a:lstStyle/>
          <a:p>
            <a:pPr marL="12700">
              <a:lnSpc>
                <a:spcPct val="100000"/>
              </a:lnSpc>
              <a:spcBef>
                <a:spcPts val="105"/>
              </a:spcBef>
            </a:pPr>
            <a:r>
              <a:rPr sz="2000" b="1" spc="-50" dirty="0">
                <a:latin typeface="Arial"/>
                <a:cs typeface="Arial"/>
              </a:rPr>
              <a:t>B</a:t>
            </a:r>
            <a:endParaRPr sz="2000">
              <a:latin typeface="Arial"/>
              <a:cs typeface="Arial"/>
            </a:endParaRPr>
          </a:p>
        </p:txBody>
      </p:sp>
      <p:sp>
        <p:nvSpPr>
          <p:cNvPr id="21" name="object 21">
            <a:extLst>
              <a:ext uri="{FF2B5EF4-FFF2-40B4-BE49-F238E27FC236}">
                <a16:creationId xmlns:a16="http://schemas.microsoft.com/office/drawing/2014/main" id="{E5C6FA44-97BF-836D-5E1C-EAF9F70D23AF}"/>
              </a:ext>
            </a:extLst>
          </p:cNvPr>
          <p:cNvSpPr txBox="1"/>
          <p:nvPr/>
        </p:nvSpPr>
        <p:spPr>
          <a:xfrm>
            <a:off x="7203185" y="4355624"/>
            <a:ext cx="455295" cy="997585"/>
          </a:xfrm>
          <a:prstGeom prst="rect">
            <a:avLst/>
          </a:prstGeom>
        </p:spPr>
        <p:txBody>
          <a:bodyPr vert="horz" wrap="square" lIns="0" tIns="104775" rIns="0" bIns="0" rtlCol="0">
            <a:spAutoFit/>
          </a:bodyPr>
          <a:lstStyle/>
          <a:p>
            <a:pPr marL="52069">
              <a:lnSpc>
                <a:spcPct val="100000"/>
              </a:lnSpc>
              <a:spcBef>
                <a:spcPts val="825"/>
              </a:spcBef>
            </a:pPr>
            <a:r>
              <a:rPr sz="1800" b="1" spc="-50" dirty="0">
                <a:latin typeface="Arial"/>
                <a:cs typeface="Arial"/>
              </a:rPr>
              <a:t>6</a:t>
            </a:r>
            <a:endParaRPr sz="1800">
              <a:latin typeface="Arial"/>
              <a:cs typeface="Arial"/>
            </a:endParaRPr>
          </a:p>
          <a:p>
            <a:pPr marL="128270">
              <a:lnSpc>
                <a:spcPts val="2100"/>
              </a:lnSpc>
              <a:spcBef>
                <a:spcPts val="810"/>
              </a:spcBef>
            </a:pPr>
            <a:r>
              <a:rPr sz="2000" b="1" spc="-50" dirty="0">
                <a:latin typeface="Arial"/>
                <a:cs typeface="Arial"/>
              </a:rPr>
              <a:t>G</a:t>
            </a:r>
            <a:endParaRPr sz="2000">
              <a:latin typeface="Arial"/>
              <a:cs typeface="Arial"/>
            </a:endParaRPr>
          </a:p>
          <a:p>
            <a:pPr marL="12700">
              <a:lnSpc>
                <a:spcPts val="1860"/>
              </a:lnSpc>
            </a:pPr>
            <a:r>
              <a:rPr sz="1800" spc="-20" dirty="0">
                <a:solidFill>
                  <a:srgbClr val="FFFFFF"/>
                </a:solidFill>
                <a:latin typeface="Arial MT"/>
                <a:cs typeface="Arial MT"/>
              </a:rPr>
              <a:t>goal</a:t>
            </a:r>
            <a:endParaRPr sz="1800">
              <a:latin typeface="Arial MT"/>
              <a:cs typeface="Arial MT"/>
            </a:endParaRPr>
          </a:p>
        </p:txBody>
      </p:sp>
      <p:sp>
        <p:nvSpPr>
          <p:cNvPr id="22" name="object 22">
            <a:extLst>
              <a:ext uri="{FF2B5EF4-FFF2-40B4-BE49-F238E27FC236}">
                <a16:creationId xmlns:a16="http://schemas.microsoft.com/office/drawing/2014/main" id="{F77048B4-9FF3-3062-360E-10576F330F46}"/>
              </a:ext>
            </a:extLst>
          </p:cNvPr>
          <p:cNvSpPr txBox="1"/>
          <p:nvPr/>
        </p:nvSpPr>
        <p:spPr>
          <a:xfrm>
            <a:off x="8468359" y="3828363"/>
            <a:ext cx="209550" cy="331470"/>
          </a:xfrm>
          <a:prstGeom prst="rect">
            <a:avLst/>
          </a:prstGeom>
        </p:spPr>
        <p:txBody>
          <a:bodyPr vert="horz" wrap="square" lIns="0" tIns="13335" rIns="0" bIns="0" rtlCol="0">
            <a:spAutoFit/>
          </a:bodyPr>
          <a:lstStyle/>
          <a:p>
            <a:pPr marL="12700">
              <a:lnSpc>
                <a:spcPct val="100000"/>
              </a:lnSpc>
              <a:spcBef>
                <a:spcPts val="105"/>
              </a:spcBef>
            </a:pPr>
            <a:r>
              <a:rPr sz="2000" b="1" spc="-50" dirty="0">
                <a:latin typeface="Arial"/>
                <a:cs typeface="Arial"/>
              </a:rPr>
              <a:t>C</a:t>
            </a:r>
            <a:endParaRPr sz="2000">
              <a:latin typeface="Arial"/>
              <a:cs typeface="Arial"/>
            </a:endParaRPr>
          </a:p>
        </p:txBody>
      </p:sp>
      <p:sp>
        <p:nvSpPr>
          <p:cNvPr id="23" name="object 23">
            <a:extLst>
              <a:ext uri="{FF2B5EF4-FFF2-40B4-BE49-F238E27FC236}">
                <a16:creationId xmlns:a16="http://schemas.microsoft.com/office/drawing/2014/main" id="{91C5B412-846C-0F99-34F3-70A3142A9CC1}"/>
              </a:ext>
            </a:extLst>
          </p:cNvPr>
          <p:cNvSpPr txBox="1"/>
          <p:nvPr/>
        </p:nvSpPr>
        <p:spPr>
          <a:xfrm>
            <a:off x="5267325" y="6115303"/>
            <a:ext cx="209550" cy="330835"/>
          </a:xfrm>
          <a:prstGeom prst="rect">
            <a:avLst/>
          </a:prstGeom>
        </p:spPr>
        <p:txBody>
          <a:bodyPr vert="horz" wrap="square" lIns="0" tIns="12700" rIns="0" bIns="0" rtlCol="0">
            <a:spAutoFit/>
          </a:bodyPr>
          <a:lstStyle/>
          <a:p>
            <a:pPr marL="12700">
              <a:lnSpc>
                <a:spcPct val="100000"/>
              </a:lnSpc>
              <a:spcBef>
                <a:spcPts val="100"/>
              </a:spcBef>
            </a:pPr>
            <a:r>
              <a:rPr sz="2000" b="1" spc="-50" dirty="0">
                <a:latin typeface="Arial"/>
                <a:cs typeface="Arial"/>
              </a:rPr>
              <a:t>H</a:t>
            </a:r>
            <a:endParaRPr sz="2000">
              <a:latin typeface="Arial"/>
              <a:cs typeface="Arial"/>
            </a:endParaRPr>
          </a:p>
        </p:txBody>
      </p:sp>
      <p:sp>
        <p:nvSpPr>
          <p:cNvPr id="24" name="object 24">
            <a:extLst>
              <a:ext uri="{FF2B5EF4-FFF2-40B4-BE49-F238E27FC236}">
                <a16:creationId xmlns:a16="http://schemas.microsoft.com/office/drawing/2014/main" id="{882810D7-4518-AA42-194C-787F277D1122}"/>
              </a:ext>
            </a:extLst>
          </p:cNvPr>
          <p:cNvSpPr txBox="1"/>
          <p:nvPr/>
        </p:nvSpPr>
        <p:spPr>
          <a:xfrm>
            <a:off x="6480428" y="5869025"/>
            <a:ext cx="1607185" cy="635635"/>
          </a:xfrm>
          <a:prstGeom prst="rect">
            <a:avLst/>
          </a:prstGeom>
        </p:spPr>
        <p:txBody>
          <a:bodyPr vert="horz" wrap="square" lIns="0" tIns="12700" rIns="0" bIns="0" rtlCol="0">
            <a:spAutoFit/>
          </a:bodyPr>
          <a:lstStyle/>
          <a:p>
            <a:pPr marL="12700" marR="5080">
              <a:lnSpc>
                <a:spcPct val="100000"/>
              </a:lnSpc>
              <a:spcBef>
                <a:spcPts val="100"/>
              </a:spcBef>
            </a:pPr>
            <a:r>
              <a:rPr sz="2000" b="1" dirty="0">
                <a:solidFill>
                  <a:srgbClr val="1F487C"/>
                </a:solidFill>
                <a:latin typeface="Arial"/>
                <a:cs typeface="Arial"/>
              </a:rPr>
              <a:t>path:</a:t>
            </a:r>
            <a:r>
              <a:rPr sz="2000" b="1" spc="-25" dirty="0">
                <a:solidFill>
                  <a:srgbClr val="1F487C"/>
                </a:solidFill>
                <a:latin typeface="Arial"/>
                <a:cs typeface="Arial"/>
              </a:rPr>
              <a:t> </a:t>
            </a:r>
            <a:r>
              <a:rPr sz="2000" b="1" spc="-40" dirty="0">
                <a:latin typeface="Arial"/>
                <a:cs typeface="Arial"/>
              </a:rPr>
              <a:t>S,C,F,G </a:t>
            </a:r>
            <a:r>
              <a:rPr sz="2000" b="1" dirty="0">
                <a:solidFill>
                  <a:srgbClr val="1F487C"/>
                </a:solidFill>
                <a:latin typeface="Arial"/>
                <a:cs typeface="Arial"/>
              </a:rPr>
              <a:t>cost:</a:t>
            </a:r>
            <a:r>
              <a:rPr sz="2000" b="1" spc="-25" dirty="0">
                <a:solidFill>
                  <a:srgbClr val="1F487C"/>
                </a:solidFill>
                <a:latin typeface="Arial"/>
                <a:cs typeface="Arial"/>
              </a:rPr>
              <a:t> </a:t>
            </a:r>
            <a:r>
              <a:rPr sz="2000" b="1" spc="-50" dirty="0">
                <a:latin typeface="Arial"/>
                <a:cs typeface="Arial"/>
              </a:rPr>
              <a:t>7</a:t>
            </a:r>
            <a:endParaRPr sz="2000">
              <a:latin typeface="Arial"/>
              <a:cs typeface="Arial"/>
            </a:endParaRPr>
          </a:p>
        </p:txBody>
      </p:sp>
    </p:spTree>
    <p:extLst>
      <p:ext uri="{BB962C8B-B14F-4D97-AF65-F5344CB8AC3E}">
        <p14:creationId xmlns:p14="http://schemas.microsoft.com/office/powerpoint/2010/main" val="413221273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C26D66-BD92-7292-1525-DDAAB9E7BBC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DDD6FE6-7ABD-5467-077A-BFB2F9F74D53}"/>
              </a:ext>
            </a:extLst>
          </p:cNvPr>
          <p:cNvSpPr>
            <a:spLocks noGrp="1"/>
          </p:cNvSpPr>
          <p:nvPr>
            <p:ph type="title"/>
          </p:nvPr>
        </p:nvSpPr>
        <p:spPr/>
        <p:txBody>
          <a:bodyPr/>
          <a:lstStyle/>
          <a:p>
            <a:r>
              <a:rPr lang="en-US" dirty="0"/>
              <a:t>Properties</a:t>
            </a:r>
            <a:r>
              <a:rPr lang="en-US" spc="-100" dirty="0"/>
              <a:t> </a:t>
            </a:r>
            <a:r>
              <a:rPr lang="en-US" dirty="0"/>
              <a:t>of</a:t>
            </a:r>
            <a:r>
              <a:rPr lang="en-US" spc="-60" dirty="0"/>
              <a:t> </a:t>
            </a:r>
            <a:r>
              <a:rPr lang="en-US" spc="-25" dirty="0"/>
              <a:t>Uniform-</a:t>
            </a:r>
            <a:r>
              <a:rPr lang="en-US" dirty="0"/>
              <a:t>cost</a:t>
            </a:r>
            <a:r>
              <a:rPr lang="en-US" spc="-40" dirty="0"/>
              <a:t> </a:t>
            </a:r>
            <a:r>
              <a:rPr lang="en-US" dirty="0"/>
              <a:t>Search</a:t>
            </a:r>
            <a:r>
              <a:rPr lang="en-US" spc="-85" dirty="0"/>
              <a:t> </a:t>
            </a:r>
            <a:r>
              <a:rPr lang="en-US" spc="-10" dirty="0"/>
              <a:t>(UCS)</a:t>
            </a:r>
            <a:endParaRPr lang="en-US" dirty="0"/>
          </a:p>
        </p:txBody>
      </p:sp>
      <p:sp>
        <p:nvSpPr>
          <p:cNvPr id="4" name="Content Placeholder 3">
            <a:extLst>
              <a:ext uri="{FF2B5EF4-FFF2-40B4-BE49-F238E27FC236}">
                <a16:creationId xmlns:a16="http://schemas.microsoft.com/office/drawing/2014/main" id="{3E92F182-9A51-7957-AEE2-AC1ED7FEB13F}"/>
              </a:ext>
            </a:extLst>
          </p:cNvPr>
          <p:cNvSpPr>
            <a:spLocks noGrp="1"/>
          </p:cNvSpPr>
          <p:nvPr>
            <p:ph idx="1"/>
          </p:nvPr>
        </p:nvSpPr>
        <p:spPr/>
        <p:txBody>
          <a:bodyPr/>
          <a:lstStyle/>
          <a:p>
            <a:r>
              <a:rPr lang="en-US" dirty="0"/>
              <a:t>Completeness : Yes, if branching factor (b) is finite and step cost (</a:t>
            </a:r>
            <a:r>
              <a:rPr lang="en-US" b="1" dirty="0"/>
              <a:t>ε</a:t>
            </a:r>
            <a:r>
              <a:rPr lang="en-US" dirty="0"/>
              <a:t>) is positive.</a:t>
            </a:r>
          </a:p>
          <a:p>
            <a:r>
              <a:rPr lang="en-US" dirty="0"/>
              <a:t>Time Complexity: </a:t>
            </a:r>
            <a:r>
              <a:rPr lang="en-US" b="1" dirty="0"/>
              <a:t>O(</a:t>
            </a:r>
            <a:r>
              <a:rPr lang="en-US" b="1" dirty="0" err="1"/>
              <a:t>b</a:t>
            </a:r>
            <a:r>
              <a:rPr lang="en-US" b="1" baseline="30000" dirty="0" err="1"/>
              <a:t>⌈C</a:t>
            </a:r>
            <a:r>
              <a:rPr lang="en-US" b="1" baseline="30000" dirty="0"/>
              <a:t>*/</a:t>
            </a:r>
            <a:r>
              <a:rPr lang="el-GR" b="1" baseline="30000" dirty="0"/>
              <a:t>ε⌉</a:t>
            </a:r>
            <a:r>
              <a:rPr lang="en-US" b="1" dirty="0"/>
              <a:t>)	</a:t>
            </a:r>
            <a:r>
              <a:rPr lang="en-US" dirty="0"/>
              <a:t>where C* is the cost for optimal solution</a:t>
            </a:r>
            <a:endParaRPr lang="en-US" b="1" dirty="0"/>
          </a:p>
          <a:p>
            <a:r>
              <a:rPr lang="en-US" dirty="0"/>
              <a:t>Space Complexity: </a:t>
            </a:r>
            <a:r>
              <a:rPr lang="en-US" b="1" dirty="0"/>
              <a:t>O(</a:t>
            </a:r>
            <a:r>
              <a:rPr lang="en-US" b="1" dirty="0" err="1"/>
              <a:t>b</a:t>
            </a:r>
            <a:r>
              <a:rPr lang="en-US" b="1" baseline="30000" dirty="0" err="1"/>
              <a:t>⌈C</a:t>
            </a:r>
            <a:r>
              <a:rPr lang="en-US" b="1" baseline="30000" dirty="0"/>
              <a:t>*/</a:t>
            </a:r>
            <a:r>
              <a:rPr lang="el-GR" b="1" baseline="30000" dirty="0"/>
              <a:t>ε⌉</a:t>
            </a:r>
            <a:r>
              <a:rPr lang="en-US" b="1" dirty="0"/>
              <a:t>)</a:t>
            </a:r>
          </a:p>
          <a:p>
            <a:r>
              <a:rPr lang="en-US" dirty="0"/>
              <a:t>Optimality - Yes, it’s optimal</a:t>
            </a:r>
          </a:p>
        </p:txBody>
      </p:sp>
    </p:spTree>
    <p:extLst>
      <p:ext uri="{BB962C8B-B14F-4D97-AF65-F5344CB8AC3E}">
        <p14:creationId xmlns:p14="http://schemas.microsoft.com/office/powerpoint/2010/main" val="108635030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FAAB98-CDA5-DD21-A84A-12AA6F5E19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BA1C66-D7F5-5FD9-0C52-5BED81EA0385}"/>
              </a:ext>
            </a:extLst>
          </p:cNvPr>
          <p:cNvSpPr>
            <a:spLocks noGrp="1"/>
          </p:cNvSpPr>
          <p:nvPr>
            <p:ph type="title"/>
          </p:nvPr>
        </p:nvSpPr>
        <p:spPr/>
        <p:txBody>
          <a:bodyPr/>
          <a:lstStyle/>
          <a:p>
            <a:r>
              <a:rPr lang="en-US" dirty="0"/>
              <a:t>Depth-Limited Search</a:t>
            </a:r>
          </a:p>
        </p:txBody>
      </p:sp>
      <p:sp>
        <p:nvSpPr>
          <p:cNvPr id="3" name="Content Placeholder 2">
            <a:extLst>
              <a:ext uri="{FF2B5EF4-FFF2-40B4-BE49-F238E27FC236}">
                <a16:creationId xmlns:a16="http://schemas.microsoft.com/office/drawing/2014/main" id="{AE7BED0B-70E1-77A0-F7A6-043F4C317681}"/>
              </a:ext>
            </a:extLst>
          </p:cNvPr>
          <p:cNvSpPr>
            <a:spLocks noGrp="1"/>
          </p:cNvSpPr>
          <p:nvPr>
            <p:ph idx="1"/>
          </p:nvPr>
        </p:nvSpPr>
        <p:spPr/>
        <p:txBody>
          <a:bodyPr/>
          <a:lstStyle/>
          <a:p>
            <a:r>
              <a:rPr lang="en-US" dirty="0"/>
              <a:t>A depth-limited search algorithm is similar to depth-first search with </a:t>
            </a:r>
            <a:r>
              <a:rPr lang="en-US" b="1" dirty="0">
                <a:solidFill>
                  <a:schemeClr val="accent3"/>
                </a:solidFill>
              </a:rPr>
              <a:t>a predetermined limit</a:t>
            </a:r>
            <a:r>
              <a:rPr lang="en-US" dirty="0"/>
              <a:t>.</a:t>
            </a:r>
          </a:p>
          <a:p>
            <a:r>
              <a:rPr lang="en-US" dirty="0"/>
              <a:t>In this algorithm, the </a:t>
            </a:r>
            <a:r>
              <a:rPr lang="en-US" b="1" dirty="0"/>
              <a:t>node</a:t>
            </a:r>
            <a:r>
              <a:rPr lang="en-US" dirty="0"/>
              <a:t> at the </a:t>
            </a:r>
            <a:r>
              <a:rPr lang="en-US" b="1" dirty="0"/>
              <a:t>depth limit </a:t>
            </a:r>
            <a:r>
              <a:rPr lang="en-US" dirty="0"/>
              <a:t>will be treated as if it has </a:t>
            </a:r>
            <a:r>
              <a:rPr lang="en-US" b="1" dirty="0"/>
              <a:t>no successor nodes</a:t>
            </a:r>
            <a:r>
              <a:rPr lang="en-US" dirty="0"/>
              <a:t>.</a:t>
            </a:r>
          </a:p>
          <a:p>
            <a:r>
              <a:rPr lang="en-US" dirty="0"/>
              <a:t> </a:t>
            </a:r>
          </a:p>
          <a:p>
            <a:r>
              <a:rPr lang="en-US" dirty="0"/>
              <a:t>Depth-limited search can be terminated with two conditions of failure:</a:t>
            </a:r>
          </a:p>
          <a:p>
            <a:pPr lvl="1"/>
            <a:r>
              <a:rPr lang="en-US" b="1" dirty="0"/>
              <a:t>Standard</a:t>
            </a:r>
            <a:r>
              <a:rPr lang="en-US" dirty="0"/>
              <a:t> </a:t>
            </a:r>
            <a:r>
              <a:rPr lang="en-US" b="1" dirty="0"/>
              <a:t>failure</a:t>
            </a:r>
            <a:r>
              <a:rPr lang="en-US" dirty="0"/>
              <a:t> </a:t>
            </a:r>
            <a:r>
              <a:rPr lang="en-US" b="1" dirty="0"/>
              <a:t>value</a:t>
            </a:r>
            <a:r>
              <a:rPr lang="en-US" dirty="0"/>
              <a:t>: It indicates that problem does not have any solution.</a:t>
            </a:r>
          </a:p>
          <a:p>
            <a:pPr lvl="1"/>
            <a:r>
              <a:rPr lang="en-US" b="1" dirty="0"/>
              <a:t>Cutoff</a:t>
            </a:r>
            <a:r>
              <a:rPr lang="en-US" dirty="0"/>
              <a:t> </a:t>
            </a:r>
            <a:r>
              <a:rPr lang="en-US" b="1" dirty="0"/>
              <a:t>failure</a:t>
            </a:r>
            <a:r>
              <a:rPr lang="en-US" dirty="0"/>
              <a:t> </a:t>
            </a:r>
            <a:r>
              <a:rPr lang="en-US" b="1" dirty="0"/>
              <a:t>value</a:t>
            </a:r>
            <a:r>
              <a:rPr lang="en-US" dirty="0"/>
              <a:t>: It defines no solution for the problem within a given depth limit.</a:t>
            </a:r>
          </a:p>
          <a:p>
            <a:pPr marL="0" indent="0">
              <a:buNone/>
            </a:pPr>
            <a:endParaRPr lang="en-US" dirty="0"/>
          </a:p>
          <a:p>
            <a:endParaRPr lang="en-US" dirty="0"/>
          </a:p>
        </p:txBody>
      </p:sp>
    </p:spTree>
    <p:extLst>
      <p:ext uri="{BB962C8B-B14F-4D97-AF65-F5344CB8AC3E}">
        <p14:creationId xmlns:p14="http://schemas.microsoft.com/office/powerpoint/2010/main" val="312103537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C2C3F0-3FA6-F47A-6058-FAE9895D3104}"/>
              </a:ext>
            </a:extLst>
          </p:cNvPr>
          <p:cNvSpPr>
            <a:spLocks noGrp="1"/>
          </p:cNvSpPr>
          <p:nvPr>
            <p:ph type="title"/>
          </p:nvPr>
        </p:nvSpPr>
        <p:spPr/>
        <p:txBody>
          <a:bodyPr/>
          <a:lstStyle/>
          <a:p>
            <a:r>
              <a:rPr lang="en-US" dirty="0"/>
              <a:t>Let’s Perform DLS with depth = 2</a:t>
            </a:r>
          </a:p>
        </p:txBody>
      </p:sp>
      <p:sp>
        <p:nvSpPr>
          <p:cNvPr id="3" name="Content Placeholder 2">
            <a:extLst>
              <a:ext uri="{FF2B5EF4-FFF2-40B4-BE49-F238E27FC236}">
                <a16:creationId xmlns:a16="http://schemas.microsoft.com/office/drawing/2014/main" id="{6E2C5476-24EF-B564-B351-646A2AB7CF73}"/>
              </a:ext>
            </a:extLst>
          </p:cNvPr>
          <p:cNvSpPr>
            <a:spLocks noGrp="1"/>
          </p:cNvSpPr>
          <p:nvPr>
            <p:ph idx="1"/>
          </p:nvPr>
        </p:nvSpPr>
        <p:spPr/>
        <p:txBody>
          <a:bodyPr/>
          <a:lstStyle/>
          <a:p>
            <a:r>
              <a:rPr lang="en-US" dirty="0"/>
              <a:t>Frontier - ?</a:t>
            </a:r>
          </a:p>
          <a:p>
            <a:r>
              <a:rPr lang="en-US" dirty="0"/>
              <a:t>Reached - ?</a:t>
            </a:r>
          </a:p>
          <a:p>
            <a:endParaRPr lang="en-US" dirty="0"/>
          </a:p>
          <a:p>
            <a:pPr marL="0" indent="0">
              <a:buNone/>
            </a:pPr>
            <a:r>
              <a:rPr lang="en-US" dirty="0"/>
              <a:t>Assume A is initial state, and G is goal state.</a:t>
            </a:r>
          </a:p>
        </p:txBody>
      </p:sp>
      <p:sp>
        <p:nvSpPr>
          <p:cNvPr id="4" name="object 3">
            <a:extLst>
              <a:ext uri="{FF2B5EF4-FFF2-40B4-BE49-F238E27FC236}">
                <a16:creationId xmlns:a16="http://schemas.microsoft.com/office/drawing/2014/main" id="{0CB2798C-9C86-299E-A508-3F6AA852BA7C}"/>
              </a:ext>
            </a:extLst>
          </p:cNvPr>
          <p:cNvSpPr/>
          <p:nvPr/>
        </p:nvSpPr>
        <p:spPr>
          <a:xfrm>
            <a:off x="8912685" y="2066170"/>
            <a:ext cx="685800" cy="685800"/>
          </a:xfrm>
          <a:custGeom>
            <a:avLst/>
            <a:gdLst/>
            <a:ahLst/>
            <a:cxnLst/>
            <a:rect l="l" t="t" r="r" b="b"/>
            <a:pathLst>
              <a:path w="685800" h="685800">
                <a:moveTo>
                  <a:pt x="0" y="342900"/>
                </a:moveTo>
                <a:lnTo>
                  <a:pt x="3130" y="296375"/>
                </a:lnTo>
                <a:lnTo>
                  <a:pt x="12250" y="251751"/>
                </a:lnTo>
                <a:lnTo>
                  <a:pt x="26949" y="209436"/>
                </a:lnTo>
                <a:lnTo>
                  <a:pt x="46820" y="169841"/>
                </a:lnTo>
                <a:lnTo>
                  <a:pt x="71454" y="133373"/>
                </a:lnTo>
                <a:lnTo>
                  <a:pt x="100441" y="100441"/>
                </a:lnTo>
                <a:lnTo>
                  <a:pt x="133373" y="71454"/>
                </a:lnTo>
                <a:lnTo>
                  <a:pt x="169841" y="46820"/>
                </a:lnTo>
                <a:lnTo>
                  <a:pt x="209436" y="26949"/>
                </a:lnTo>
                <a:lnTo>
                  <a:pt x="251751" y="12250"/>
                </a:lnTo>
                <a:lnTo>
                  <a:pt x="296375" y="3130"/>
                </a:lnTo>
                <a:lnTo>
                  <a:pt x="342900" y="0"/>
                </a:lnTo>
                <a:lnTo>
                  <a:pt x="389424" y="3130"/>
                </a:lnTo>
                <a:lnTo>
                  <a:pt x="434048" y="12250"/>
                </a:lnTo>
                <a:lnTo>
                  <a:pt x="476363" y="26949"/>
                </a:lnTo>
                <a:lnTo>
                  <a:pt x="515958" y="46820"/>
                </a:lnTo>
                <a:lnTo>
                  <a:pt x="552426" y="71454"/>
                </a:lnTo>
                <a:lnTo>
                  <a:pt x="585358" y="100441"/>
                </a:lnTo>
                <a:lnTo>
                  <a:pt x="614345" y="133373"/>
                </a:lnTo>
                <a:lnTo>
                  <a:pt x="638979" y="169841"/>
                </a:lnTo>
                <a:lnTo>
                  <a:pt x="658850" y="209436"/>
                </a:lnTo>
                <a:lnTo>
                  <a:pt x="673549" y="251751"/>
                </a:lnTo>
                <a:lnTo>
                  <a:pt x="682669" y="296375"/>
                </a:lnTo>
                <a:lnTo>
                  <a:pt x="685800" y="342900"/>
                </a:lnTo>
                <a:lnTo>
                  <a:pt x="682669" y="389424"/>
                </a:lnTo>
                <a:lnTo>
                  <a:pt x="673549" y="434048"/>
                </a:lnTo>
                <a:lnTo>
                  <a:pt x="658850" y="476363"/>
                </a:lnTo>
                <a:lnTo>
                  <a:pt x="638979" y="515958"/>
                </a:lnTo>
                <a:lnTo>
                  <a:pt x="614345" y="552426"/>
                </a:lnTo>
                <a:lnTo>
                  <a:pt x="585358" y="585358"/>
                </a:lnTo>
                <a:lnTo>
                  <a:pt x="552426" y="614345"/>
                </a:lnTo>
                <a:lnTo>
                  <a:pt x="515958" y="638979"/>
                </a:lnTo>
                <a:lnTo>
                  <a:pt x="476363" y="658850"/>
                </a:lnTo>
                <a:lnTo>
                  <a:pt x="434048" y="673549"/>
                </a:lnTo>
                <a:lnTo>
                  <a:pt x="389424" y="682669"/>
                </a:lnTo>
                <a:lnTo>
                  <a:pt x="342900" y="685800"/>
                </a:lnTo>
                <a:lnTo>
                  <a:pt x="296375" y="682669"/>
                </a:lnTo>
                <a:lnTo>
                  <a:pt x="251751" y="673549"/>
                </a:lnTo>
                <a:lnTo>
                  <a:pt x="209436" y="658850"/>
                </a:lnTo>
                <a:lnTo>
                  <a:pt x="169841" y="638979"/>
                </a:lnTo>
                <a:lnTo>
                  <a:pt x="133373" y="614345"/>
                </a:lnTo>
                <a:lnTo>
                  <a:pt x="100441" y="585358"/>
                </a:lnTo>
                <a:lnTo>
                  <a:pt x="71454" y="552426"/>
                </a:lnTo>
                <a:lnTo>
                  <a:pt x="46820" y="515958"/>
                </a:lnTo>
                <a:lnTo>
                  <a:pt x="26949" y="476363"/>
                </a:lnTo>
                <a:lnTo>
                  <a:pt x="12250" y="434048"/>
                </a:lnTo>
                <a:lnTo>
                  <a:pt x="3130" y="389424"/>
                </a:lnTo>
                <a:lnTo>
                  <a:pt x="0" y="342900"/>
                </a:lnTo>
                <a:close/>
              </a:path>
            </a:pathLst>
          </a:custGeom>
          <a:ln w="57150">
            <a:solidFill>
              <a:srgbClr val="385D89"/>
            </a:solidFill>
          </a:ln>
        </p:spPr>
        <p:txBody>
          <a:bodyPr wrap="square" lIns="0" tIns="0" rIns="0" bIns="0" rtlCol="0"/>
          <a:lstStyle/>
          <a:p>
            <a:endParaRPr/>
          </a:p>
        </p:txBody>
      </p:sp>
      <p:sp>
        <p:nvSpPr>
          <p:cNvPr id="5" name="object 4">
            <a:extLst>
              <a:ext uri="{FF2B5EF4-FFF2-40B4-BE49-F238E27FC236}">
                <a16:creationId xmlns:a16="http://schemas.microsoft.com/office/drawing/2014/main" id="{508F124A-9952-205B-DA61-509D40B7E316}"/>
              </a:ext>
            </a:extLst>
          </p:cNvPr>
          <p:cNvSpPr txBox="1"/>
          <p:nvPr/>
        </p:nvSpPr>
        <p:spPr>
          <a:xfrm>
            <a:off x="9111568" y="2093043"/>
            <a:ext cx="290195" cy="574675"/>
          </a:xfrm>
          <a:prstGeom prst="rect">
            <a:avLst/>
          </a:prstGeom>
        </p:spPr>
        <p:txBody>
          <a:bodyPr vert="horz" wrap="square" lIns="0" tIns="12700" rIns="0" bIns="0" rtlCol="0">
            <a:spAutoFit/>
          </a:bodyPr>
          <a:lstStyle/>
          <a:p>
            <a:pPr marL="12700">
              <a:lnSpc>
                <a:spcPct val="100000"/>
              </a:lnSpc>
              <a:spcBef>
                <a:spcPts val="100"/>
              </a:spcBef>
            </a:pPr>
            <a:r>
              <a:rPr sz="3600" spc="-50" dirty="0">
                <a:latin typeface="Calibri"/>
                <a:cs typeface="Calibri"/>
              </a:rPr>
              <a:t>A</a:t>
            </a:r>
            <a:endParaRPr sz="3600">
              <a:latin typeface="Calibri"/>
              <a:cs typeface="Calibri"/>
            </a:endParaRPr>
          </a:p>
        </p:txBody>
      </p:sp>
      <p:sp>
        <p:nvSpPr>
          <p:cNvPr id="6" name="object 5">
            <a:extLst>
              <a:ext uri="{FF2B5EF4-FFF2-40B4-BE49-F238E27FC236}">
                <a16:creationId xmlns:a16="http://schemas.microsoft.com/office/drawing/2014/main" id="{5503EF86-EAAC-206F-E16E-427B24D7C3E6}"/>
              </a:ext>
            </a:extLst>
          </p:cNvPr>
          <p:cNvSpPr/>
          <p:nvPr/>
        </p:nvSpPr>
        <p:spPr>
          <a:xfrm>
            <a:off x="7847409" y="3331089"/>
            <a:ext cx="685800" cy="685800"/>
          </a:xfrm>
          <a:custGeom>
            <a:avLst/>
            <a:gdLst/>
            <a:ahLst/>
            <a:cxnLst/>
            <a:rect l="l" t="t" r="r" b="b"/>
            <a:pathLst>
              <a:path w="685800" h="685800">
                <a:moveTo>
                  <a:pt x="0" y="342900"/>
                </a:moveTo>
                <a:lnTo>
                  <a:pt x="3130" y="296375"/>
                </a:lnTo>
                <a:lnTo>
                  <a:pt x="12250" y="251751"/>
                </a:lnTo>
                <a:lnTo>
                  <a:pt x="26949" y="209436"/>
                </a:lnTo>
                <a:lnTo>
                  <a:pt x="46820" y="169841"/>
                </a:lnTo>
                <a:lnTo>
                  <a:pt x="71454" y="133373"/>
                </a:lnTo>
                <a:lnTo>
                  <a:pt x="100441" y="100441"/>
                </a:lnTo>
                <a:lnTo>
                  <a:pt x="133373" y="71454"/>
                </a:lnTo>
                <a:lnTo>
                  <a:pt x="169841" y="46820"/>
                </a:lnTo>
                <a:lnTo>
                  <a:pt x="209436" y="26949"/>
                </a:lnTo>
                <a:lnTo>
                  <a:pt x="251751" y="12250"/>
                </a:lnTo>
                <a:lnTo>
                  <a:pt x="296375" y="3130"/>
                </a:lnTo>
                <a:lnTo>
                  <a:pt x="342900" y="0"/>
                </a:lnTo>
                <a:lnTo>
                  <a:pt x="389424" y="3130"/>
                </a:lnTo>
                <a:lnTo>
                  <a:pt x="434048" y="12250"/>
                </a:lnTo>
                <a:lnTo>
                  <a:pt x="476363" y="26949"/>
                </a:lnTo>
                <a:lnTo>
                  <a:pt x="515958" y="46820"/>
                </a:lnTo>
                <a:lnTo>
                  <a:pt x="552426" y="71454"/>
                </a:lnTo>
                <a:lnTo>
                  <a:pt x="585358" y="100441"/>
                </a:lnTo>
                <a:lnTo>
                  <a:pt x="614345" y="133373"/>
                </a:lnTo>
                <a:lnTo>
                  <a:pt x="638979" y="169841"/>
                </a:lnTo>
                <a:lnTo>
                  <a:pt x="658850" y="209436"/>
                </a:lnTo>
                <a:lnTo>
                  <a:pt x="673549" y="251751"/>
                </a:lnTo>
                <a:lnTo>
                  <a:pt x="682669" y="296375"/>
                </a:lnTo>
                <a:lnTo>
                  <a:pt x="685800" y="342900"/>
                </a:lnTo>
                <a:lnTo>
                  <a:pt x="682669" y="389424"/>
                </a:lnTo>
                <a:lnTo>
                  <a:pt x="673549" y="434048"/>
                </a:lnTo>
                <a:lnTo>
                  <a:pt x="658850" y="476363"/>
                </a:lnTo>
                <a:lnTo>
                  <a:pt x="638979" y="515958"/>
                </a:lnTo>
                <a:lnTo>
                  <a:pt x="614345" y="552426"/>
                </a:lnTo>
                <a:lnTo>
                  <a:pt x="585358" y="585358"/>
                </a:lnTo>
                <a:lnTo>
                  <a:pt x="552426" y="614345"/>
                </a:lnTo>
                <a:lnTo>
                  <a:pt x="515958" y="638979"/>
                </a:lnTo>
                <a:lnTo>
                  <a:pt x="476363" y="658850"/>
                </a:lnTo>
                <a:lnTo>
                  <a:pt x="434048" y="673549"/>
                </a:lnTo>
                <a:lnTo>
                  <a:pt x="389424" y="682669"/>
                </a:lnTo>
                <a:lnTo>
                  <a:pt x="342900" y="685800"/>
                </a:lnTo>
                <a:lnTo>
                  <a:pt x="296375" y="682669"/>
                </a:lnTo>
                <a:lnTo>
                  <a:pt x="251751" y="673549"/>
                </a:lnTo>
                <a:lnTo>
                  <a:pt x="209436" y="658850"/>
                </a:lnTo>
                <a:lnTo>
                  <a:pt x="169841" y="638979"/>
                </a:lnTo>
                <a:lnTo>
                  <a:pt x="133373" y="614345"/>
                </a:lnTo>
                <a:lnTo>
                  <a:pt x="100441" y="585358"/>
                </a:lnTo>
                <a:lnTo>
                  <a:pt x="71454" y="552426"/>
                </a:lnTo>
                <a:lnTo>
                  <a:pt x="46820" y="515958"/>
                </a:lnTo>
                <a:lnTo>
                  <a:pt x="26949" y="476363"/>
                </a:lnTo>
                <a:lnTo>
                  <a:pt x="12250" y="434048"/>
                </a:lnTo>
                <a:lnTo>
                  <a:pt x="3130" y="389424"/>
                </a:lnTo>
                <a:lnTo>
                  <a:pt x="0" y="342900"/>
                </a:lnTo>
                <a:close/>
              </a:path>
            </a:pathLst>
          </a:custGeom>
          <a:ln w="57150">
            <a:solidFill>
              <a:srgbClr val="385D89"/>
            </a:solidFill>
          </a:ln>
        </p:spPr>
        <p:txBody>
          <a:bodyPr wrap="square" lIns="0" tIns="0" rIns="0" bIns="0" rtlCol="0"/>
          <a:lstStyle/>
          <a:p>
            <a:endParaRPr/>
          </a:p>
        </p:txBody>
      </p:sp>
      <p:sp>
        <p:nvSpPr>
          <p:cNvPr id="7" name="object 6">
            <a:extLst>
              <a:ext uri="{FF2B5EF4-FFF2-40B4-BE49-F238E27FC236}">
                <a16:creationId xmlns:a16="http://schemas.microsoft.com/office/drawing/2014/main" id="{D41C4778-2F77-ADAE-888F-BA168DB6CA5C}"/>
              </a:ext>
            </a:extLst>
          </p:cNvPr>
          <p:cNvSpPr txBox="1"/>
          <p:nvPr/>
        </p:nvSpPr>
        <p:spPr>
          <a:xfrm>
            <a:off x="8053277" y="3358649"/>
            <a:ext cx="274320" cy="574040"/>
          </a:xfrm>
          <a:prstGeom prst="rect">
            <a:avLst/>
          </a:prstGeom>
        </p:spPr>
        <p:txBody>
          <a:bodyPr vert="horz" wrap="square" lIns="0" tIns="12700" rIns="0" bIns="0" rtlCol="0">
            <a:spAutoFit/>
          </a:bodyPr>
          <a:lstStyle/>
          <a:p>
            <a:pPr marL="12700">
              <a:lnSpc>
                <a:spcPct val="100000"/>
              </a:lnSpc>
              <a:spcBef>
                <a:spcPts val="100"/>
              </a:spcBef>
            </a:pPr>
            <a:r>
              <a:rPr sz="3600" spc="-50" dirty="0">
                <a:latin typeface="Calibri"/>
                <a:cs typeface="Calibri"/>
              </a:rPr>
              <a:t>B</a:t>
            </a:r>
            <a:endParaRPr sz="3600">
              <a:latin typeface="Calibri"/>
              <a:cs typeface="Calibri"/>
            </a:endParaRPr>
          </a:p>
        </p:txBody>
      </p:sp>
      <p:sp>
        <p:nvSpPr>
          <p:cNvPr id="8" name="object 7">
            <a:extLst>
              <a:ext uri="{FF2B5EF4-FFF2-40B4-BE49-F238E27FC236}">
                <a16:creationId xmlns:a16="http://schemas.microsoft.com/office/drawing/2014/main" id="{23B7C697-11CD-3469-E987-3076FFDAED91}"/>
              </a:ext>
            </a:extLst>
          </p:cNvPr>
          <p:cNvSpPr/>
          <p:nvPr/>
        </p:nvSpPr>
        <p:spPr>
          <a:xfrm>
            <a:off x="7196661" y="5987421"/>
            <a:ext cx="685800" cy="685800"/>
          </a:xfrm>
          <a:custGeom>
            <a:avLst/>
            <a:gdLst/>
            <a:ahLst/>
            <a:cxnLst/>
            <a:rect l="l" t="t" r="r" b="b"/>
            <a:pathLst>
              <a:path w="685800" h="685800">
                <a:moveTo>
                  <a:pt x="0" y="342900"/>
                </a:moveTo>
                <a:lnTo>
                  <a:pt x="3130" y="296375"/>
                </a:lnTo>
                <a:lnTo>
                  <a:pt x="12250" y="251751"/>
                </a:lnTo>
                <a:lnTo>
                  <a:pt x="26949" y="209436"/>
                </a:lnTo>
                <a:lnTo>
                  <a:pt x="46820" y="169841"/>
                </a:lnTo>
                <a:lnTo>
                  <a:pt x="71454" y="133373"/>
                </a:lnTo>
                <a:lnTo>
                  <a:pt x="100441" y="100441"/>
                </a:lnTo>
                <a:lnTo>
                  <a:pt x="133373" y="71454"/>
                </a:lnTo>
                <a:lnTo>
                  <a:pt x="169841" y="46820"/>
                </a:lnTo>
                <a:lnTo>
                  <a:pt x="209436" y="26949"/>
                </a:lnTo>
                <a:lnTo>
                  <a:pt x="251751" y="12250"/>
                </a:lnTo>
                <a:lnTo>
                  <a:pt x="296375" y="3130"/>
                </a:lnTo>
                <a:lnTo>
                  <a:pt x="342900" y="0"/>
                </a:lnTo>
                <a:lnTo>
                  <a:pt x="389424" y="3130"/>
                </a:lnTo>
                <a:lnTo>
                  <a:pt x="434048" y="12250"/>
                </a:lnTo>
                <a:lnTo>
                  <a:pt x="476363" y="26949"/>
                </a:lnTo>
                <a:lnTo>
                  <a:pt x="515958" y="46820"/>
                </a:lnTo>
                <a:lnTo>
                  <a:pt x="552426" y="71454"/>
                </a:lnTo>
                <a:lnTo>
                  <a:pt x="585358" y="100441"/>
                </a:lnTo>
                <a:lnTo>
                  <a:pt x="614345" y="133373"/>
                </a:lnTo>
                <a:lnTo>
                  <a:pt x="638979" y="169841"/>
                </a:lnTo>
                <a:lnTo>
                  <a:pt x="658850" y="209436"/>
                </a:lnTo>
                <a:lnTo>
                  <a:pt x="673549" y="251751"/>
                </a:lnTo>
                <a:lnTo>
                  <a:pt x="682669" y="296375"/>
                </a:lnTo>
                <a:lnTo>
                  <a:pt x="685800" y="342900"/>
                </a:lnTo>
                <a:lnTo>
                  <a:pt x="682669" y="389430"/>
                </a:lnTo>
                <a:lnTo>
                  <a:pt x="673549" y="434057"/>
                </a:lnTo>
                <a:lnTo>
                  <a:pt x="658850" y="476373"/>
                </a:lnTo>
                <a:lnTo>
                  <a:pt x="638979" y="515969"/>
                </a:lnTo>
                <a:lnTo>
                  <a:pt x="614345" y="552437"/>
                </a:lnTo>
                <a:lnTo>
                  <a:pt x="585358" y="585368"/>
                </a:lnTo>
                <a:lnTo>
                  <a:pt x="552426" y="614353"/>
                </a:lnTo>
                <a:lnTo>
                  <a:pt x="515958" y="638984"/>
                </a:lnTo>
                <a:lnTo>
                  <a:pt x="476363" y="658853"/>
                </a:lnTo>
                <a:lnTo>
                  <a:pt x="434048" y="673551"/>
                </a:lnTo>
                <a:lnTo>
                  <a:pt x="389424" y="682669"/>
                </a:lnTo>
                <a:lnTo>
                  <a:pt x="342900" y="685800"/>
                </a:lnTo>
                <a:lnTo>
                  <a:pt x="296375" y="682669"/>
                </a:lnTo>
                <a:lnTo>
                  <a:pt x="251751" y="673551"/>
                </a:lnTo>
                <a:lnTo>
                  <a:pt x="209436" y="658853"/>
                </a:lnTo>
                <a:lnTo>
                  <a:pt x="169841" y="638984"/>
                </a:lnTo>
                <a:lnTo>
                  <a:pt x="133373" y="614353"/>
                </a:lnTo>
                <a:lnTo>
                  <a:pt x="100441" y="585368"/>
                </a:lnTo>
                <a:lnTo>
                  <a:pt x="71454" y="552437"/>
                </a:lnTo>
                <a:lnTo>
                  <a:pt x="46820" y="515969"/>
                </a:lnTo>
                <a:lnTo>
                  <a:pt x="26949" y="476373"/>
                </a:lnTo>
                <a:lnTo>
                  <a:pt x="12250" y="434057"/>
                </a:lnTo>
                <a:lnTo>
                  <a:pt x="3130" y="389430"/>
                </a:lnTo>
                <a:lnTo>
                  <a:pt x="0" y="342900"/>
                </a:lnTo>
                <a:close/>
              </a:path>
            </a:pathLst>
          </a:custGeom>
          <a:ln w="57150">
            <a:solidFill>
              <a:srgbClr val="385D89"/>
            </a:solidFill>
          </a:ln>
        </p:spPr>
        <p:txBody>
          <a:bodyPr wrap="square" lIns="0" tIns="0" rIns="0" bIns="0" rtlCol="0"/>
          <a:lstStyle/>
          <a:p>
            <a:endParaRPr/>
          </a:p>
        </p:txBody>
      </p:sp>
      <p:sp>
        <p:nvSpPr>
          <p:cNvPr id="9" name="object 8">
            <a:extLst>
              <a:ext uri="{FF2B5EF4-FFF2-40B4-BE49-F238E27FC236}">
                <a16:creationId xmlns:a16="http://schemas.microsoft.com/office/drawing/2014/main" id="{520865F4-E0EA-BD1E-C79B-7E32F1C73F66}"/>
              </a:ext>
            </a:extLst>
          </p:cNvPr>
          <p:cNvSpPr txBox="1"/>
          <p:nvPr/>
        </p:nvSpPr>
        <p:spPr>
          <a:xfrm>
            <a:off x="7383860" y="6014955"/>
            <a:ext cx="310515" cy="574040"/>
          </a:xfrm>
          <a:prstGeom prst="rect">
            <a:avLst/>
          </a:prstGeom>
        </p:spPr>
        <p:txBody>
          <a:bodyPr vert="horz" wrap="square" lIns="0" tIns="12700" rIns="0" bIns="0" rtlCol="0">
            <a:spAutoFit/>
          </a:bodyPr>
          <a:lstStyle/>
          <a:p>
            <a:pPr marL="12700">
              <a:lnSpc>
                <a:spcPct val="100000"/>
              </a:lnSpc>
              <a:spcBef>
                <a:spcPts val="100"/>
              </a:spcBef>
            </a:pPr>
            <a:r>
              <a:rPr sz="3600" spc="-50" dirty="0">
                <a:latin typeface="Calibri"/>
                <a:cs typeface="Calibri"/>
              </a:rPr>
              <a:t>H</a:t>
            </a:r>
            <a:endParaRPr sz="3600">
              <a:latin typeface="Calibri"/>
              <a:cs typeface="Calibri"/>
            </a:endParaRPr>
          </a:p>
        </p:txBody>
      </p:sp>
      <p:sp>
        <p:nvSpPr>
          <p:cNvPr id="10" name="object 9">
            <a:extLst>
              <a:ext uri="{FF2B5EF4-FFF2-40B4-BE49-F238E27FC236}">
                <a16:creationId xmlns:a16="http://schemas.microsoft.com/office/drawing/2014/main" id="{40877B62-DF02-4284-9FAE-9E9883CECAA8}"/>
              </a:ext>
            </a:extLst>
          </p:cNvPr>
          <p:cNvSpPr/>
          <p:nvPr/>
        </p:nvSpPr>
        <p:spPr>
          <a:xfrm>
            <a:off x="9775269" y="3331089"/>
            <a:ext cx="685800" cy="685800"/>
          </a:xfrm>
          <a:custGeom>
            <a:avLst/>
            <a:gdLst/>
            <a:ahLst/>
            <a:cxnLst/>
            <a:rect l="l" t="t" r="r" b="b"/>
            <a:pathLst>
              <a:path w="685800" h="685800">
                <a:moveTo>
                  <a:pt x="0" y="342900"/>
                </a:moveTo>
                <a:lnTo>
                  <a:pt x="3130" y="296375"/>
                </a:lnTo>
                <a:lnTo>
                  <a:pt x="12250" y="251751"/>
                </a:lnTo>
                <a:lnTo>
                  <a:pt x="26949" y="209436"/>
                </a:lnTo>
                <a:lnTo>
                  <a:pt x="46820" y="169841"/>
                </a:lnTo>
                <a:lnTo>
                  <a:pt x="71454" y="133373"/>
                </a:lnTo>
                <a:lnTo>
                  <a:pt x="100441" y="100441"/>
                </a:lnTo>
                <a:lnTo>
                  <a:pt x="133373" y="71454"/>
                </a:lnTo>
                <a:lnTo>
                  <a:pt x="169841" y="46820"/>
                </a:lnTo>
                <a:lnTo>
                  <a:pt x="209436" y="26949"/>
                </a:lnTo>
                <a:lnTo>
                  <a:pt x="251751" y="12250"/>
                </a:lnTo>
                <a:lnTo>
                  <a:pt x="296375" y="3130"/>
                </a:lnTo>
                <a:lnTo>
                  <a:pt x="342900" y="0"/>
                </a:lnTo>
                <a:lnTo>
                  <a:pt x="389424" y="3130"/>
                </a:lnTo>
                <a:lnTo>
                  <a:pt x="434048" y="12250"/>
                </a:lnTo>
                <a:lnTo>
                  <a:pt x="476363" y="26949"/>
                </a:lnTo>
                <a:lnTo>
                  <a:pt x="515958" y="46820"/>
                </a:lnTo>
                <a:lnTo>
                  <a:pt x="552426" y="71454"/>
                </a:lnTo>
                <a:lnTo>
                  <a:pt x="585358" y="100441"/>
                </a:lnTo>
                <a:lnTo>
                  <a:pt x="614345" y="133373"/>
                </a:lnTo>
                <a:lnTo>
                  <a:pt x="638979" y="169841"/>
                </a:lnTo>
                <a:lnTo>
                  <a:pt x="658850" y="209436"/>
                </a:lnTo>
                <a:lnTo>
                  <a:pt x="673549" y="251751"/>
                </a:lnTo>
                <a:lnTo>
                  <a:pt x="682669" y="296375"/>
                </a:lnTo>
                <a:lnTo>
                  <a:pt x="685800" y="342900"/>
                </a:lnTo>
                <a:lnTo>
                  <a:pt x="682669" y="389424"/>
                </a:lnTo>
                <a:lnTo>
                  <a:pt x="673549" y="434048"/>
                </a:lnTo>
                <a:lnTo>
                  <a:pt x="658850" y="476363"/>
                </a:lnTo>
                <a:lnTo>
                  <a:pt x="638979" y="515958"/>
                </a:lnTo>
                <a:lnTo>
                  <a:pt x="614345" y="552426"/>
                </a:lnTo>
                <a:lnTo>
                  <a:pt x="585358" y="585358"/>
                </a:lnTo>
                <a:lnTo>
                  <a:pt x="552426" y="614345"/>
                </a:lnTo>
                <a:lnTo>
                  <a:pt x="515958" y="638979"/>
                </a:lnTo>
                <a:lnTo>
                  <a:pt x="476363" y="658850"/>
                </a:lnTo>
                <a:lnTo>
                  <a:pt x="434048" y="673549"/>
                </a:lnTo>
                <a:lnTo>
                  <a:pt x="389424" y="682669"/>
                </a:lnTo>
                <a:lnTo>
                  <a:pt x="342900" y="685800"/>
                </a:lnTo>
                <a:lnTo>
                  <a:pt x="296375" y="682669"/>
                </a:lnTo>
                <a:lnTo>
                  <a:pt x="251751" y="673549"/>
                </a:lnTo>
                <a:lnTo>
                  <a:pt x="209436" y="658850"/>
                </a:lnTo>
                <a:lnTo>
                  <a:pt x="169841" y="638979"/>
                </a:lnTo>
                <a:lnTo>
                  <a:pt x="133373" y="614345"/>
                </a:lnTo>
                <a:lnTo>
                  <a:pt x="100441" y="585358"/>
                </a:lnTo>
                <a:lnTo>
                  <a:pt x="71454" y="552426"/>
                </a:lnTo>
                <a:lnTo>
                  <a:pt x="46820" y="515958"/>
                </a:lnTo>
                <a:lnTo>
                  <a:pt x="26949" y="476363"/>
                </a:lnTo>
                <a:lnTo>
                  <a:pt x="12250" y="434048"/>
                </a:lnTo>
                <a:lnTo>
                  <a:pt x="3130" y="389424"/>
                </a:lnTo>
                <a:lnTo>
                  <a:pt x="0" y="342900"/>
                </a:lnTo>
                <a:close/>
              </a:path>
            </a:pathLst>
          </a:custGeom>
          <a:ln w="57150">
            <a:solidFill>
              <a:srgbClr val="385D89"/>
            </a:solidFill>
          </a:ln>
        </p:spPr>
        <p:txBody>
          <a:bodyPr wrap="square" lIns="0" tIns="0" rIns="0" bIns="0" rtlCol="0"/>
          <a:lstStyle/>
          <a:p>
            <a:endParaRPr/>
          </a:p>
        </p:txBody>
      </p:sp>
      <p:sp>
        <p:nvSpPr>
          <p:cNvPr id="11" name="object 10">
            <a:extLst>
              <a:ext uri="{FF2B5EF4-FFF2-40B4-BE49-F238E27FC236}">
                <a16:creationId xmlns:a16="http://schemas.microsoft.com/office/drawing/2014/main" id="{0D8D55AB-835C-418C-A89A-889E18D213FD}"/>
              </a:ext>
            </a:extLst>
          </p:cNvPr>
          <p:cNvSpPr txBox="1"/>
          <p:nvPr/>
        </p:nvSpPr>
        <p:spPr>
          <a:xfrm>
            <a:off x="9984185" y="3358649"/>
            <a:ext cx="269240" cy="574040"/>
          </a:xfrm>
          <a:prstGeom prst="rect">
            <a:avLst/>
          </a:prstGeom>
        </p:spPr>
        <p:txBody>
          <a:bodyPr vert="horz" wrap="square" lIns="0" tIns="12700" rIns="0" bIns="0" rtlCol="0">
            <a:spAutoFit/>
          </a:bodyPr>
          <a:lstStyle/>
          <a:p>
            <a:pPr marL="12700">
              <a:lnSpc>
                <a:spcPct val="100000"/>
              </a:lnSpc>
              <a:spcBef>
                <a:spcPts val="100"/>
              </a:spcBef>
            </a:pPr>
            <a:r>
              <a:rPr sz="3600" spc="-50" dirty="0">
                <a:latin typeface="Calibri"/>
                <a:cs typeface="Calibri"/>
              </a:rPr>
              <a:t>C</a:t>
            </a:r>
            <a:endParaRPr sz="3600" dirty="0">
              <a:latin typeface="Calibri"/>
              <a:cs typeface="Calibri"/>
            </a:endParaRPr>
          </a:p>
        </p:txBody>
      </p:sp>
      <p:sp>
        <p:nvSpPr>
          <p:cNvPr id="12" name="object 11">
            <a:extLst>
              <a:ext uri="{FF2B5EF4-FFF2-40B4-BE49-F238E27FC236}">
                <a16:creationId xmlns:a16="http://schemas.microsoft.com/office/drawing/2014/main" id="{081D47A3-2E1A-DC90-408B-5E72D7F76B6A}"/>
              </a:ext>
            </a:extLst>
          </p:cNvPr>
          <p:cNvSpPr/>
          <p:nvPr/>
        </p:nvSpPr>
        <p:spPr>
          <a:xfrm>
            <a:off x="7196661" y="4650874"/>
            <a:ext cx="685800" cy="685800"/>
          </a:xfrm>
          <a:custGeom>
            <a:avLst/>
            <a:gdLst/>
            <a:ahLst/>
            <a:cxnLst/>
            <a:rect l="l" t="t" r="r" b="b"/>
            <a:pathLst>
              <a:path w="685800" h="685800">
                <a:moveTo>
                  <a:pt x="0" y="342900"/>
                </a:moveTo>
                <a:lnTo>
                  <a:pt x="3130" y="296375"/>
                </a:lnTo>
                <a:lnTo>
                  <a:pt x="12250" y="251751"/>
                </a:lnTo>
                <a:lnTo>
                  <a:pt x="26949" y="209436"/>
                </a:lnTo>
                <a:lnTo>
                  <a:pt x="46820" y="169841"/>
                </a:lnTo>
                <a:lnTo>
                  <a:pt x="71454" y="133373"/>
                </a:lnTo>
                <a:lnTo>
                  <a:pt x="100441" y="100441"/>
                </a:lnTo>
                <a:lnTo>
                  <a:pt x="133373" y="71454"/>
                </a:lnTo>
                <a:lnTo>
                  <a:pt x="169841" y="46820"/>
                </a:lnTo>
                <a:lnTo>
                  <a:pt x="209436" y="26949"/>
                </a:lnTo>
                <a:lnTo>
                  <a:pt x="251751" y="12250"/>
                </a:lnTo>
                <a:lnTo>
                  <a:pt x="296375" y="3130"/>
                </a:lnTo>
                <a:lnTo>
                  <a:pt x="342900" y="0"/>
                </a:lnTo>
                <a:lnTo>
                  <a:pt x="389424" y="3130"/>
                </a:lnTo>
                <a:lnTo>
                  <a:pt x="434048" y="12250"/>
                </a:lnTo>
                <a:lnTo>
                  <a:pt x="476363" y="26949"/>
                </a:lnTo>
                <a:lnTo>
                  <a:pt x="515958" y="46820"/>
                </a:lnTo>
                <a:lnTo>
                  <a:pt x="552426" y="71454"/>
                </a:lnTo>
                <a:lnTo>
                  <a:pt x="585358" y="100441"/>
                </a:lnTo>
                <a:lnTo>
                  <a:pt x="614345" y="133373"/>
                </a:lnTo>
                <a:lnTo>
                  <a:pt x="638979" y="169841"/>
                </a:lnTo>
                <a:lnTo>
                  <a:pt x="658850" y="209436"/>
                </a:lnTo>
                <a:lnTo>
                  <a:pt x="673549" y="251751"/>
                </a:lnTo>
                <a:lnTo>
                  <a:pt x="682669" y="296375"/>
                </a:lnTo>
                <a:lnTo>
                  <a:pt x="685800" y="342900"/>
                </a:lnTo>
                <a:lnTo>
                  <a:pt x="682669" y="389424"/>
                </a:lnTo>
                <a:lnTo>
                  <a:pt x="673549" y="434048"/>
                </a:lnTo>
                <a:lnTo>
                  <a:pt x="658850" y="476363"/>
                </a:lnTo>
                <a:lnTo>
                  <a:pt x="638979" y="515958"/>
                </a:lnTo>
                <a:lnTo>
                  <a:pt x="614345" y="552426"/>
                </a:lnTo>
                <a:lnTo>
                  <a:pt x="585358" y="585358"/>
                </a:lnTo>
                <a:lnTo>
                  <a:pt x="552426" y="614345"/>
                </a:lnTo>
                <a:lnTo>
                  <a:pt x="515958" y="638979"/>
                </a:lnTo>
                <a:lnTo>
                  <a:pt x="476363" y="658850"/>
                </a:lnTo>
                <a:lnTo>
                  <a:pt x="434048" y="673549"/>
                </a:lnTo>
                <a:lnTo>
                  <a:pt x="389424" y="682669"/>
                </a:lnTo>
                <a:lnTo>
                  <a:pt x="342900" y="685800"/>
                </a:lnTo>
                <a:lnTo>
                  <a:pt x="296375" y="682669"/>
                </a:lnTo>
                <a:lnTo>
                  <a:pt x="251751" y="673549"/>
                </a:lnTo>
                <a:lnTo>
                  <a:pt x="209436" y="658850"/>
                </a:lnTo>
                <a:lnTo>
                  <a:pt x="169841" y="638979"/>
                </a:lnTo>
                <a:lnTo>
                  <a:pt x="133373" y="614345"/>
                </a:lnTo>
                <a:lnTo>
                  <a:pt x="100441" y="585358"/>
                </a:lnTo>
                <a:lnTo>
                  <a:pt x="71454" y="552426"/>
                </a:lnTo>
                <a:lnTo>
                  <a:pt x="46820" y="515958"/>
                </a:lnTo>
                <a:lnTo>
                  <a:pt x="26949" y="476363"/>
                </a:lnTo>
                <a:lnTo>
                  <a:pt x="12250" y="434048"/>
                </a:lnTo>
                <a:lnTo>
                  <a:pt x="3130" y="389424"/>
                </a:lnTo>
                <a:lnTo>
                  <a:pt x="0" y="342900"/>
                </a:lnTo>
                <a:close/>
              </a:path>
            </a:pathLst>
          </a:custGeom>
          <a:ln w="57150">
            <a:solidFill>
              <a:srgbClr val="385D89"/>
            </a:solidFill>
          </a:ln>
        </p:spPr>
        <p:txBody>
          <a:bodyPr wrap="square" lIns="0" tIns="0" rIns="0" bIns="0" rtlCol="0"/>
          <a:lstStyle/>
          <a:p>
            <a:endParaRPr/>
          </a:p>
        </p:txBody>
      </p:sp>
      <p:sp>
        <p:nvSpPr>
          <p:cNvPr id="13" name="object 12">
            <a:extLst>
              <a:ext uri="{FF2B5EF4-FFF2-40B4-BE49-F238E27FC236}">
                <a16:creationId xmlns:a16="http://schemas.microsoft.com/office/drawing/2014/main" id="{1476D664-2605-6BA8-120A-A898735F0DA0}"/>
              </a:ext>
            </a:extLst>
          </p:cNvPr>
          <p:cNvSpPr txBox="1"/>
          <p:nvPr/>
        </p:nvSpPr>
        <p:spPr>
          <a:xfrm>
            <a:off x="7415863" y="4678382"/>
            <a:ext cx="248920" cy="574675"/>
          </a:xfrm>
          <a:prstGeom prst="rect">
            <a:avLst/>
          </a:prstGeom>
        </p:spPr>
        <p:txBody>
          <a:bodyPr vert="horz" wrap="square" lIns="0" tIns="12700" rIns="0" bIns="0" rtlCol="0">
            <a:spAutoFit/>
          </a:bodyPr>
          <a:lstStyle/>
          <a:p>
            <a:pPr marL="12700">
              <a:lnSpc>
                <a:spcPct val="100000"/>
              </a:lnSpc>
              <a:spcBef>
                <a:spcPts val="100"/>
              </a:spcBef>
            </a:pPr>
            <a:r>
              <a:rPr sz="3600" spc="-50" dirty="0">
                <a:latin typeface="Calibri"/>
                <a:cs typeface="Calibri"/>
              </a:rPr>
              <a:t>E</a:t>
            </a:r>
            <a:endParaRPr sz="3600">
              <a:latin typeface="Calibri"/>
              <a:cs typeface="Calibri"/>
            </a:endParaRPr>
          </a:p>
        </p:txBody>
      </p:sp>
      <p:sp>
        <p:nvSpPr>
          <p:cNvPr id="14" name="object 13">
            <a:extLst>
              <a:ext uri="{FF2B5EF4-FFF2-40B4-BE49-F238E27FC236}">
                <a16:creationId xmlns:a16="http://schemas.microsoft.com/office/drawing/2014/main" id="{8F76A274-A639-990D-1D1E-2106BDC9A29D}"/>
              </a:ext>
            </a:extLst>
          </p:cNvPr>
          <p:cNvSpPr/>
          <p:nvPr/>
        </p:nvSpPr>
        <p:spPr>
          <a:xfrm>
            <a:off x="11227642" y="4650874"/>
            <a:ext cx="685800" cy="685800"/>
          </a:xfrm>
          <a:custGeom>
            <a:avLst/>
            <a:gdLst/>
            <a:ahLst/>
            <a:cxnLst/>
            <a:rect l="l" t="t" r="r" b="b"/>
            <a:pathLst>
              <a:path w="685800" h="685800">
                <a:moveTo>
                  <a:pt x="0" y="342900"/>
                </a:moveTo>
                <a:lnTo>
                  <a:pt x="3130" y="296375"/>
                </a:lnTo>
                <a:lnTo>
                  <a:pt x="12250" y="251751"/>
                </a:lnTo>
                <a:lnTo>
                  <a:pt x="26949" y="209436"/>
                </a:lnTo>
                <a:lnTo>
                  <a:pt x="46820" y="169841"/>
                </a:lnTo>
                <a:lnTo>
                  <a:pt x="71454" y="133373"/>
                </a:lnTo>
                <a:lnTo>
                  <a:pt x="100441" y="100441"/>
                </a:lnTo>
                <a:lnTo>
                  <a:pt x="133373" y="71454"/>
                </a:lnTo>
                <a:lnTo>
                  <a:pt x="169841" y="46820"/>
                </a:lnTo>
                <a:lnTo>
                  <a:pt x="209436" y="26949"/>
                </a:lnTo>
                <a:lnTo>
                  <a:pt x="251751" y="12250"/>
                </a:lnTo>
                <a:lnTo>
                  <a:pt x="296375" y="3130"/>
                </a:lnTo>
                <a:lnTo>
                  <a:pt x="342900" y="0"/>
                </a:lnTo>
                <a:lnTo>
                  <a:pt x="389424" y="3130"/>
                </a:lnTo>
                <a:lnTo>
                  <a:pt x="434048" y="12250"/>
                </a:lnTo>
                <a:lnTo>
                  <a:pt x="476363" y="26949"/>
                </a:lnTo>
                <a:lnTo>
                  <a:pt x="515958" y="46820"/>
                </a:lnTo>
                <a:lnTo>
                  <a:pt x="552426" y="71454"/>
                </a:lnTo>
                <a:lnTo>
                  <a:pt x="585358" y="100441"/>
                </a:lnTo>
                <a:lnTo>
                  <a:pt x="614345" y="133373"/>
                </a:lnTo>
                <a:lnTo>
                  <a:pt x="638979" y="169841"/>
                </a:lnTo>
                <a:lnTo>
                  <a:pt x="658850" y="209436"/>
                </a:lnTo>
                <a:lnTo>
                  <a:pt x="673549" y="251751"/>
                </a:lnTo>
                <a:lnTo>
                  <a:pt x="682669" y="296375"/>
                </a:lnTo>
                <a:lnTo>
                  <a:pt x="685800" y="342900"/>
                </a:lnTo>
                <a:lnTo>
                  <a:pt x="682669" y="389424"/>
                </a:lnTo>
                <a:lnTo>
                  <a:pt x="673549" y="434048"/>
                </a:lnTo>
                <a:lnTo>
                  <a:pt x="658850" y="476363"/>
                </a:lnTo>
                <a:lnTo>
                  <a:pt x="638979" y="515958"/>
                </a:lnTo>
                <a:lnTo>
                  <a:pt x="614345" y="552426"/>
                </a:lnTo>
                <a:lnTo>
                  <a:pt x="585358" y="585358"/>
                </a:lnTo>
                <a:lnTo>
                  <a:pt x="552426" y="614345"/>
                </a:lnTo>
                <a:lnTo>
                  <a:pt x="515958" y="638979"/>
                </a:lnTo>
                <a:lnTo>
                  <a:pt x="476363" y="658850"/>
                </a:lnTo>
                <a:lnTo>
                  <a:pt x="434048" y="673549"/>
                </a:lnTo>
                <a:lnTo>
                  <a:pt x="389424" y="682669"/>
                </a:lnTo>
                <a:lnTo>
                  <a:pt x="342900" y="685800"/>
                </a:lnTo>
                <a:lnTo>
                  <a:pt x="296375" y="682669"/>
                </a:lnTo>
                <a:lnTo>
                  <a:pt x="251751" y="673549"/>
                </a:lnTo>
                <a:lnTo>
                  <a:pt x="209436" y="658850"/>
                </a:lnTo>
                <a:lnTo>
                  <a:pt x="169841" y="638979"/>
                </a:lnTo>
                <a:lnTo>
                  <a:pt x="133373" y="614345"/>
                </a:lnTo>
                <a:lnTo>
                  <a:pt x="100441" y="585358"/>
                </a:lnTo>
                <a:lnTo>
                  <a:pt x="71454" y="552426"/>
                </a:lnTo>
                <a:lnTo>
                  <a:pt x="46820" y="515958"/>
                </a:lnTo>
                <a:lnTo>
                  <a:pt x="26949" y="476363"/>
                </a:lnTo>
                <a:lnTo>
                  <a:pt x="12250" y="434048"/>
                </a:lnTo>
                <a:lnTo>
                  <a:pt x="3130" y="389424"/>
                </a:lnTo>
                <a:lnTo>
                  <a:pt x="0" y="342900"/>
                </a:lnTo>
                <a:close/>
              </a:path>
            </a:pathLst>
          </a:custGeom>
          <a:ln w="57150">
            <a:solidFill>
              <a:srgbClr val="385D89"/>
            </a:solidFill>
          </a:ln>
        </p:spPr>
        <p:txBody>
          <a:bodyPr wrap="square" lIns="0" tIns="0" rIns="0" bIns="0" rtlCol="0"/>
          <a:lstStyle/>
          <a:p>
            <a:endParaRPr/>
          </a:p>
        </p:txBody>
      </p:sp>
      <p:sp>
        <p:nvSpPr>
          <p:cNvPr id="15" name="object 14">
            <a:extLst>
              <a:ext uri="{FF2B5EF4-FFF2-40B4-BE49-F238E27FC236}">
                <a16:creationId xmlns:a16="http://schemas.microsoft.com/office/drawing/2014/main" id="{86268D57-8FEB-4105-4474-8F4C53CB3614}"/>
              </a:ext>
            </a:extLst>
          </p:cNvPr>
          <p:cNvSpPr txBox="1"/>
          <p:nvPr/>
        </p:nvSpPr>
        <p:spPr>
          <a:xfrm>
            <a:off x="11413950" y="4678382"/>
            <a:ext cx="314325" cy="574675"/>
          </a:xfrm>
          <a:prstGeom prst="rect">
            <a:avLst/>
          </a:prstGeom>
        </p:spPr>
        <p:txBody>
          <a:bodyPr vert="horz" wrap="square" lIns="0" tIns="12700" rIns="0" bIns="0" rtlCol="0">
            <a:spAutoFit/>
          </a:bodyPr>
          <a:lstStyle/>
          <a:p>
            <a:pPr marL="12700">
              <a:lnSpc>
                <a:spcPct val="100000"/>
              </a:lnSpc>
              <a:spcBef>
                <a:spcPts val="100"/>
              </a:spcBef>
            </a:pPr>
            <a:r>
              <a:rPr sz="3600" spc="-50" dirty="0">
                <a:latin typeface="Calibri"/>
                <a:cs typeface="Calibri"/>
              </a:rPr>
              <a:t>G</a:t>
            </a:r>
            <a:endParaRPr sz="3600">
              <a:latin typeface="Calibri"/>
              <a:cs typeface="Calibri"/>
            </a:endParaRPr>
          </a:p>
        </p:txBody>
      </p:sp>
      <p:sp>
        <p:nvSpPr>
          <p:cNvPr id="16" name="object 15">
            <a:extLst>
              <a:ext uri="{FF2B5EF4-FFF2-40B4-BE49-F238E27FC236}">
                <a16:creationId xmlns:a16="http://schemas.microsoft.com/office/drawing/2014/main" id="{7424FD9C-C449-11E2-EFD9-759FBF464EC1}"/>
              </a:ext>
            </a:extLst>
          </p:cNvPr>
          <p:cNvSpPr/>
          <p:nvPr/>
        </p:nvSpPr>
        <p:spPr>
          <a:xfrm>
            <a:off x="11227642" y="3331089"/>
            <a:ext cx="685800" cy="685800"/>
          </a:xfrm>
          <a:custGeom>
            <a:avLst/>
            <a:gdLst/>
            <a:ahLst/>
            <a:cxnLst/>
            <a:rect l="l" t="t" r="r" b="b"/>
            <a:pathLst>
              <a:path w="685800" h="685800">
                <a:moveTo>
                  <a:pt x="0" y="342900"/>
                </a:moveTo>
                <a:lnTo>
                  <a:pt x="3130" y="296375"/>
                </a:lnTo>
                <a:lnTo>
                  <a:pt x="12250" y="251751"/>
                </a:lnTo>
                <a:lnTo>
                  <a:pt x="26949" y="209436"/>
                </a:lnTo>
                <a:lnTo>
                  <a:pt x="46820" y="169841"/>
                </a:lnTo>
                <a:lnTo>
                  <a:pt x="71454" y="133373"/>
                </a:lnTo>
                <a:lnTo>
                  <a:pt x="100441" y="100441"/>
                </a:lnTo>
                <a:lnTo>
                  <a:pt x="133373" y="71454"/>
                </a:lnTo>
                <a:lnTo>
                  <a:pt x="169841" y="46820"/>
                </a:lnTo>
                <a:lnTo>
                  <a:pt x="209436" y="26949"/>
                </a:lnTo>
                <a:lnTo>
                  <a:pt x="251751" y="12250"/>
                </a:lnTo>
                <a:lnTo>
                  <a:pt x="296375" y="3130"/>
                </a:lnTo>
                <a:lnTo>
                  <a:pt x="342900" y="0"/>
                </a:lnTo>
                <a:lnTo>
                  <a:pt x="389424" y="3130"/>
                </a:lnTo>
                <a:lnTo>
                  <a:pt x="434048" y="12250"/>
                </a:lnTo>
                <a:lnTo>
                  <a:pt x="476363" y="26949"/>
                </a:lnTo>
                <a:lnTo>
                  <a:pt x="515958" y="46820"/>
                </a:lnTo>
                <a:lnTo>
                  <a:pt x="552426" y="71454"/>
                </a:lnTo>
                <a:lnTo>
                  <a:pt x="585358" y="100441"/>
                </a:lnTo>
                <a:lnTo>
                  <a:pt x="614345" y="133373"/>
                </a:lnTo>
                <a:lnTo>
                  <a:pt x="638979" y="169841"/>
                </a:lnTo>
                <a:lnTo>
                  <a:pt x="658850" y="209436"/>
                </a:lnTo>
                <a:lnTo>
                  <a:pt x="673549" y="251751"/>
                </a:lnTo>
                <a:lnTo>
                  <a:pt x="682669" y="296375"/>
                </a:lnTo>
                <a:lnTo>
                  <a:pt x="685800" y="342900"/>
                </a:lnTo>
                <a:lnTo>
                  <a:pt x="682669" y="389424"/>
                </a:lnTo>
                <a:lnTo>
                  <a:pt x="673549" y="434048"/>
                </a:lnTo>
                <a:lnTo>
                  <a:pt x="658850" y="476363"/>
                </a:lnTo>
                <a:lnTo>
                  <a:pt x="638979" y="515958"/>
                </a:lnTo>
                <a:lnTo>
                  <a:pt x="614345" y="552426"/>
                </a:lnTo>
                <a:lnTo>
                  <a:pt x="585358" y="585358"/>
                </a:lnTo>
                <a:lnTo>
                  <a:pt x="552426" y="614345"/>
                </a:lnTo>
                <a:lnTo>
                  <a:pt x="515958" y="638979"/>
                </a:lnTo>
                <a:lnTo>
                  <a:pt x="476363" y="658850"/>
                </a:lnTo>
                <a:lnTo>
                  <a:pt x="434048" y="673549"/>
                </a:lnTo>
                <a:lnTo>
                  <a:pt x="389424" y="682669"/>
                </a:lnTo>
                <a:lnTo>
                  <a:pt x="342900" y="685800"/>
                </a:lnTo>
                <a:lnTo>
                  <a:pt x="296375" y="682669"/>
                </a:lnTo>
                <a:lnTo>
                  <a:pt x="251751" y="673549"/>
                </a:lnTo>
                <a:lnTo>
                  <a:pt x="209436" y="658850"/>
                </a:lnTo>
                <a:lnTo>
                  <a:pt x="169841" y="638979"/>
                </a:lnTo>
                <a:lnTo>
                  <a:pt x="133373" y="614345"/>
                </a:lnTo>
                <a:lnTo>
                  <a:pt x="100441" y="585358"/>
                </a:lnTo>
                <a:lnTo>
                  <a:pt x="71454" y="552426"/>
                </a:lnTo>
                <a:lnTo>
                  <a:pt x="46820" y="515958"/>
                </a:lnTo>
                <a:lnTo>
                  <a:pt x="26949" y="476363"/>
                </a:lnTo>
                <a:lnTo>
                  <a:pt x="12250" y="434048"/>
                </a:lnTo>
                <a:lnTo>
                  <a:pt x="3130" y="389424"/>
                </a:lnTo>
                <a:lnTo>
                  <a:pt x="0" y="342900"/>
                </a:lnTo>
                <a:close/>
              </a:path>
            </a:pathLst>
          </a:custGeom>
          <a:ln w="57150">
            <a:solidFill>
              <a:srgbClr val="385D89"/>
            </a:solidFill>
          </a:ln>
        </p:spPr>
        <p:txBody>
          <a:bodyPr wrap="square" lIns="0" tIns="0" rIns="0" bIns="0" rtlCol="0"/>
          <a:lstStyle/>
          <a:p>
            <a:endParaRPr/>
          </a:p>
        </p:txBody>
      </p:sp>
      <p:sp>
        <p:nvSpPr>
          <p:cNvPr id="17" name="object 16">
            <a:extLst>
              <a:ext uri="{FF2B5EF4-FFF2-40B4-BE49-F238E27FC236}">
                <a16:creationId xmlns:a16="http://schemas.microsoft.com/office/drawing/2014/main" id="{E460D342-1F51-0058-7158-3788D9365D46}"/>
              </a:ext>
            </a:extLst>
          </p:cNvPr>
          <p:cNvSpPr txBox="1"/>
          <p:nvPr/>
        </p:nvSpPr>
        <p:spPr>
          <a:xfrm>
            <a:off x="11416998" y="3358649"/>
            <a:ext cx="306705" cy="574040"/>
          </a:xfrm>
          <a:prstGeom prst="rect">
            <a:avLst/>
          </a:prstGeom>
        </p:spPr>
        <p:txBody>
          <a:bodyPr vert="horz" wrap="square" lIns="0" tIns="12700" rIns="0" bIns="0" rtlCol="0">
            <a:spAutoFit/>
          </a:bodyPr>
          <a:lstStyle/>
          <a:p>
            <a:pPr marL="12700">
              <a:lnSpc>
                <a:spcPct val="100000"/>
              </a:lnSpc>
              <a:spcBef>
                <a:spcPts val="100"/>
              </a:spcBef>
            </a:pPr>
            <a:r>
              <a:rPr sz="3600" spc="-50" dirty="0">
                <a:latin typeface="Calibri"/>
                <a:cs typeface="Calibri"/>
              </a:rPr>
              <a:t>D</a:t>
            </a:r>
            <a:endParaRPr sz="3600">
              <a:latin typeface="Calibri"/>
              <a:cs typeface="Calibri"/>
            </a:endParaRPr>
          </a:p>
        </p:txBody>
      </p:sp>
      <p:sp>
        <p:nvSpPr>
          <p:cNvPr id="18" name="object 17">
            <a:extLst>
              <a:ext uri="{FF2B5EF4-FFF2-40B4-BE49-F238E27FC236}">
                <a16:creationId xmlns:a16="http://schemas.microsoft.com/office/drawing/2014/main" id="{9D0FFD5A-108F-5A64-711D-762FBAD7CCA4}"/>
              </a:ext>
            </a:extLst>
          </p:cNvPr>
          <p:cNvSpPr/>
          <p:nvPr/>
        </p:nvSpPr>
        <p:spPr>
          <a:xfrm>
            <a:off x="8912685" y="4682877"/>
            <a:ext cx="685800" cy="685800"/>
          </a:xfrm>
          <a:custGeom>
            <a:avLst/>
            <a:gdLst/>
            <a:ahLst/>
            <a:cxnLst/>
            <a:rect l="l" t="t" r="r" b="b"/>
            <a:pathLst>
              <a:path w="685800" h="685800">
                <a:moveTo>
                  <a:pt x="0" y="342899"/>
                </a:moveTo>
                <a:lnTo>
                  <a:pt x="3130" y="296375"/>
                </a:lnTo>
                <a:lnTo>
                  <a:pt x="12250" y="251751"/>
                </a:lnTo>
                <a:lnTo>
                  <a:pt x="26949" y="209436"/>
                </a:lnTo>
                <a:lnTo>
                  <a:pt x="46820" y="169841"/>
                </a:lnTo>
                <a:lnTo>
                  <a:pt x="71454" y="133373"/>
                </a:lnTo>
                <a:lnTo>
                  <a:pt x="100441" y="100441"/>
                </a:lnTo>
                <a:lnTo>
                  <a:pt x="133373" y="71454"/>
                </a:lnTo>
                <a:lnTo>
                  <a:pt x="169841" y="46820"/>
                </a:lnTo>
                <a:lnTo>
                  <a:pt x="209436" y="26949"/>
                </a:lnTo>
                <a:lnTo>
                  <a:pt x="251751" y="12250"/>
                </a:lnTo>
                <a:lnTo>
                  <a:pt x="296375" y="3130"/>
                </a:lnTo>
                <a:lnTo>
                  <a:pt x="342900" y="0"/>
                </a:lnTo>
                <a:lnTo>
                  <a:pt x="389424" y="3130"/>
                </a:lnTo>
                <a:lnTo>
                  <a:pt x="434048" y="12250"/>
                </a:lnTo>
                <a:lnTo>
                  <a:pt x="476363" y="26949"/>
                </a:lnTo>
                <a:lnTo>
                  <a:pt x="515958" y="46820"/>
                </a:lnTo>
                <a:lnTo>
                  <a:pt x="552426" y="71454"/>
                </a:lnTo>
                <a:lnTo>
                  <a:pt x="585358" y="100441"/>
                </a:lnTo>
                <a:lnTo>
                  <a:pt x="614345" y="133373"/>
                </a:lnTo>
                <a:lnTo>
                  <a:pt x="638979" y="169841"/>
                </a:lnTo>
                <a:lnTo>
                  <a:pt x="658850" y="209436"/>
                </a:lnTo>
                <a:lnTo>
                  <a:pt x="673549" y="251751"/>
                </a:lnTo>
                <a:lnTo>
                  <a:pt x="682669" y="296375"/>
                </a:lnTo>
                <a:lnTo>
                  <a:pt x="685800" y="342899"/>
                </a:lnTo>
                <a:lnTo>
                  <a:pt x="682669" y="389424"/>
                </a:lnTo>
                <a:lnTo>
                  <a:pt x="673549" y="434048"/>
                </a:lnTo>
                <a:lnTo>
                  <a:pt x="658850" y="476363"/>
                </a:lnTo>
                <a:lnTo>
                  <a:pt x="638979" y="515958"/>
                </a:lnTo>
                <a:lnTo>
                  <a:pt x="614345" y="552426"/>
                </a:lnTo>
                <a:lnTo>
                  <a:pt x="585358" y="585358"/>
                </a:lnTo>
                <a:lnTo>
                  <a:pt x="552426" y="614345"/>
                </a:lnTo>
                <a:lnTo>
                  <a:pt x="515958" y="638979"/>
                </a:lnTo>
                <a:lnTo>
                  <a:pt x="476363" y="658850"/>
                </a:lnTo>
                <a:lnTo>
                  <a:pt x="434048" y="673549"/>
                </a:lnTo>
                <a:lnTo>
                  <a:pt x="389424" y="682669"/>
                </a:lnTo>
                <a:lnTo>
                  <a:pt x="342900" y="685799"/>
                </a:lnTo>
                <a:lnTo>
                  <a:pt x="296375" y="682669"/>
                </a:lnTo>
                <a:lnTo>
                  <a:pt x="251751" y="673549"/>
                </a:lnTo>
                <a:lnTo>
                  <a:pt x="209436" y="658850"/>
                </a:lnTo>
                <a:lnTo>
                  <a:pt x="169841" y="638979"/>
                </a:lnTo>
                <a:lnTo>
                  <a:pt x="133373" y="614345"/>
                </a:lnTo>
                <a:lnTo>
                  <a:pt x="100441" y="585358"/>
                </a:lnTo>
                <a:lnTo>
                  <a:pt x="71454" y="552426"/>
                </a:lnTo>
                <a:lnTo>
                  <a:pt x="46820" y="515958"/>
                </a:lnTo>
                <a:lnTo>
                  <a:pt x="26949" y="476363"/>
                </a:lnTo>
                <a:lnTo>
                  <a:pt x="12250" y="434048"/>
                </a:lnTo>
                <a:lnTo>
                  <a:pt x="3130" y="389424"/>
                </a:lnTo>
                <a:lnTo>
                  <a:pt x="0" y="342899"/>
                </a:lnTo>
                <a:close/>
              </a:path>
            </a:pathLst>
          </a:custGeom>
          <a:ln w="57150">
            <a:solidFill>
              <a:srgbClr val="385D89"/>
            </a:solidFill>
          </a:ln>
        </p:spPr>
        <p:txBody>
          <a:bodyPr wrap="square" lIns="0" tIns="0" rIns="0" bIns="0" rtlCol="0"/>
          <a:lstStyle/>
          <a:p>
            <a:endParaRPr/>
          </a:p>
        </p:txBody>
      </p:sp>
      <p:sp>
        <p:nvSpPr>
          <p:cNvPr id="19" name="object 18">
            <a:extLst>
              <a:ext uri="{FF2B5EF4-FFF2-40B4-BE49-F238E27FC236}">
                <a16:creationId xmlns:a16="http://schemas.microsoft.com/office/drawing/2014/main" id="{60EF6B22-CD7B-E2C8-A7E7-477B15C8646F}"/>
              </a:ext>
            </a:extLst>
          </p:cNvPr>
          <p:cNvSpPr txBox="1"/>
          <p:nvPr/>
        </p:nvSpPr>
        <p:spPr>
          <a:xfrm>
            <a:off x="9139000" y="4711071"/>
            <a:ext cx="235585" cy="574040"/>
          </a:xfrm>
          <a:prstGeom prst="rect">
            <a:avLst/>
          </a:prstGeom>
        </p:spPr>
        <p:txBody>
          <a:bodyPr vert="horz" wrap="square" lIns="0" tIns="12700" rIns="0" bIns="0" rtlCol="0">
            <a:spAutoFit/>
          </a:bodyPr>
          <a:lstStyle/>
          <a:p>
            <a:pPr marL="12700">
              <a:lnSpc>
                <a:spcPct val="100000"/>
              </a:lnSpc>
              <a:spcBef>
                <a:spcPts val="100"/>
              </a:spcBef>
            </a:pPr>
            <a:r>
              <a:rPr sz="3600" spc="-50" dirty="0">
                <a:latin typeface="Calibri"/>
                <a:cs typeface="Calibri"/>
              </a:rPr>
              <a:t>F</a:t>
            </a:r>
            <a:endParaRPr sz="3600">
              <a:latin typeface="Calibri"/>
              <a:cs typeface="Calibri"/>
            </a:endParaRPr>
          </a:p>
        </p:txBody>
      </p:sp>
      <p:sp>
        <p:nvSpPr>
          <p:cNvPr id="20" name="object 19">
            <a:extLst>
              <a:ext uri="{FF2B5EF4-FFF2-40B4-BE49-F238E27FC236}">
                <a16:creationId xmlns:a16="http://schemas.microsoft.com/office/drawing/2014/main" id="{80510A1F-994D-953F-26E9-0FFFFC93EFF1}"/>
              </a:ext>
            </a:extLst>
          </p:cNvPr>
          <p:cNvSpPr/>
          <p:nvPr/>
        </p:nvSpPr>
        <p:spPr>
          <a:xfrm>
            <a:off x="7539561" y="2409070"/>
            <a:ext cx="4030979" cy="3578225"/>
          </a:xfrm>
          <a:custGeom>
            <a:avLst/>
            <a:gdLst/>
            <a:ahLst/>
            <a:cxnLst/>
            <a:rect l="l" t="t" r="r" b="b"/>
            <a:pathLst>
              <a:path w="4030979" h="3578225">
                <a:moveTo>
                  <a:pt x="1473962" y="242315"/>
                </a:moveTo>
                <a:lnTo>
                  <a:pt x="893064" y="1022223"/>
                </a:lnTo>
              </a:path>
              <a:path w="4030979" h="3578225">
                <a:moveTo>
                  <a:pt x="496823" y="1591055"/>
                </a:moveTo>
                <a:lnTo>
                  <a:pt x="158496" y="2273172"/>
                </a:lnTo>
              </a:path>
              <a:path w="4030979" h="3578225">
                <a:moveTo>
                  <a:pt x="0" y="2927604"/>
                </a:moveTo>
                <a:lnTo>
                  <a:pt x="0" y="3577716"/>
                </a:lnTo>
              </a:path>
              <a:path w="4030979" h="3578225">
                <a:moveTo>
                  <a:pt x="893064" y="1507236"/>
                </a:moveTo>
                <a:lnTo>
                  <a:pt x="1605915" y="2273808"/>
                </a:lnTo>
              </a:path>
              <a:path w="4030979" h="3578225">
                <a:moveTo>
                  <a:pt x="993647" y="1264919"/>
                </a:moveTo>
                <a:lnTo>
                  <a:pt x="2235327" y="1264919"/>
                </a:lnTo>
              </a:path>
              <a:path w="4030979" h="3578225">
                <a:moveTo>
                  <a:pt x="1959864" y="242315"/>
                </a:moveTo>
                <a:lnTo>
                  <a:pt x="2579116" y="921892"/>
                </a:lnTo>
              </a:path>
              <a:path w="4030979" h="3578225">
                <a:moveTo>
                  <a:pt x="2058924" y="0"/>
                </a:moveTo>
                <a:lnTo>
                  <a:pt x="3787648" y="1022476"/>
                </a:lnTo>
              </a:path>
              <a:path w="4030979" h="3578225">
                <a:moveTo>
                  <a:pt x="4030980" y="1607819"/>
                </a:moveTo>
                <a:lnTo>
                  <a:pt x="4030980" y="2241804"/>
                </a:lnTo>
              </a:path>
              <a:path w="4030979" h="3578225">
                <a:moveTo>
                  <a:pt x="2579116" y="1607819"/>
                </a:moveTo>
                <a:lnTo>
                  <a:pt x="1959864" y="2374391"/>
                </a:lnTo>
              </a:path>
            </a:pathLst>
          </a:custGeom>
          <a:ln w="57150">
            <a:solidFill>
              <a:srgbClr val="497DBA"/>
            </a:solidFill>
          </a:ln>
        </p:spPr>
        <p:txBody>
          <a:bodyPr wrap="square" lIns="0" tIns="0" rIns="0" bIns="0" rtlCol="0"/>
          <a:lstStyle/>
          <a:p>
            <a:endParaRPr/>
          </a:p>
        </p:txBody>
      </p:sp>
    </p:spTree>
    <p:extLst>
      <p:ext uri="{BB962C8B-B14F-4D97-AF65-F5344CB8AC3E}">
        <p14:creationId xmlns:p14="http://schemas.microsoft.com/office/powerpoint/2010/main" val="243066481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7B114B-8AB6-AA9B-81CC-4405978DC789}"/>
              </a:ext>
            </a:extLst>
          </p:cNvPr>
          <p:cNvSpPr>
            <a:spLocks noGrp="1"/>
          </p:cNvSpPr>
          <p:nvPr>
            <p:ph type="title"/>
          </p:nvPr>
        </p:nvSpPr>
        <p:spPr/>
        <p:txBody>
          <a:bodyPr/>
          <a:lstStyle/>
          <a:p>
            <a:r>
              <a:rPr lang="en-US" dirty="0"/>
              <a:t>Properties for DLS</a:t>
            </a:r>
          </a:p>
        </p:txBody>
      </p:sp>
      <p:sp>
        <p:nvSpPr>
          <p:cNvPr id="3" name="Content Placeholder 2">
            <a:extLst>
              <a:ext uri="{FF2B5EF4-FFF2-40B4-BE49-F238E27FC236}">
                <a16:creationId xmlns:a16="http://schemas.microsoft.com/office/drawing/2014/main" id="{C5E3EFC6-8A93-7F81-BC49-F4ED9590CD9D}"/>
              </a:ext>
            </a:extLst>
          </p:cNvPr>
          <p:cNvSpPr>
            <a:spLocks noGrp="1"/>
          </p:cNvSpPr>
          <p:nvPr>
            <p:ph idx="1"/>
          </p:nvPr>
        </p:nvSpPr>
        <p:spPr/>
        <p:txBody>
          <a:bodyPr/>
          <a:lstStyle/>
          <a:p>
            <a:r>
              <a:rPr lang="en-US" dirty="0"/>
              <a:t>Completeness: </a:t>
            </a:r>
            <a:r>
              <a:rPr lang="en-US" b="1" dirty="0"/>
              <a:t>No</a:t>
            </a:r>
            <a:r>
              <a:rPr lang="en-US" dirty="0"/>
              <a:t> (if goal beyond l (l&lt;d), or infinite branch length) (l is the depth limit)</a:t>
            </a:r>
          </a:p>
          <a:p>
            <a:r>
              <a:rPr lang="en-US" dirty="0"/>
              <a:t>Time Complexity: </a:t>
            </a:r>
            <a:r>
              <a:rPr lang="en-US" b="1" dirty="0"/>
              <a:t>O(b</a:t>
            </a:r>
            <a:r>
              <a:rPr lang="en-US" b="1" baseline="30000" dirty="0"/>
              <a:t>l</a:t>
            </a:r>
            <a:r>
              <a:rPr lang="en-US" b="1" dirty="0"/>
              <a:t>)</a:t>
            </a:r>
          </a:p>
          <a:p>
            <a:r>
              <a:rPr lang="en-US" dirty="0"/>
              <a:t>Space Complexity: </a:t>
            </a:r>
            <a:r>
              <a:rPr lang="en-US" b="1" dirty="0"/>
              <a:t>O(bl)</a:t>
            </a:r>
          </a:p>
          <a:p>
            <a:r>
              <a:rPr lang="en-US" dirty="0"/>
              <a:t>Optimality: </a:t>
            </a:r>
            <a:r>
              <a:rPr lang="en-US" b="1" dirty="0"/>
              <a:t>No (if l &lt; d)</a:t>
            </a:r>
          </a:p>
          <a:p>
            <a:endParaRPr lang="en-US" dirty="0"/>
          </a:p>
        </p:txBody>
      </p:sp>
    </p:spTree>
    <p:extLst>
      <p:ext uri="{BB962C8B-B14F-4D97-AF65-F5344CB8AC3E}">
        <p14:creationId xmlns:p14="http://schemas.microsoft.com/office/powerpoint/2010/main" val="352964457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91B6E4-87EC-3249-5FC4-959B51CDA7D4}"/>
              </a:ext>
            </a:extLst>
          </p:cNvPr>
          <p:cNvSpPr>
            <a:spLocks noGrp="1"/>
          </p:cNvSpPr>
          <p:nvPr>
            <p:ph type="title"/>
          </p:nvPr>
        </p:nvSpPr>
        <p:spPr/>
        <p:txBody>
          <a:bodyPr/>
          <a:lstStyle/>
          <a:p>
            <a:r>
              <a:rPr lang="en-US" dirty="0"/>
              <a:t>Iterative Deepening Search</a:t>
            </a:r>
          </a:p>
        </p:txBody>
      </p:sp>
      <p:sp>
        <p:nvSpPr>
          <p:cNvPr id="3" name="Content Placeholder 2">
            <a:extLst>
              <a:ext uri="{FF2B5EF4-FFF2-40B4-BE49-F238E27FC236}">
                <a16:creationId xmlns:a16="http://schemas.microsoft.com/office/drawing/2014/main" id="{D0F97FBD-AD6C-AF44-3114-E07C90F15A8F}"/>
              </a:ext>
            </a:extLst>
          </p:cNvPr>
          <p:cNvSpPr>
            <a:spLocks noGrp="1"/>
          </p:cNvSpPr>
          <p:nvPr>
            <p:ph idx="1"/>
          </p:nvPr>
        </p:nvSpPr>
        <p:spPr/>
        <p:txBody>
          <a:bodyPr/>
          <a:lstStyle/>
          <a:p>
            <a:r>
              <a:rPr lang="en-US" dirty="0"/>
              <a:t>The iterative deepening algorithm is a </a:t>
            </a:r>
            <a:r>
              <a:rPr lang="en-US" b="1" dirty="0">
                <a:solidFill>
                  <a:schemeClr val="accent3"/>
                </a:solidFill>
              </a:rPr>
              <a:t>combination of DFS and BFS algorithms</a:t>
            </a:r>
            <a:r>
              <a:rPr lang="en-US" dirty="0"/>
              <a:t>. </a:t>
            </a:r>
          </a:p>
          <a:p>
            <a:endParaRPr lang="en-US" dirty="0"/>
          </a:p>
          <a:p>
            <a:r>
              <a:rPr lang="en-US" dirty="0"/>
              <a:t>This search algorithm finds out the best depth limit and does it by gradually increasing the limit until a goal is found.</a:t>
            </a:r>
          </a:p>
          <a:p>
            <a:r>
              <a:rPr lang="en-US" dirty="0"/>
              <a:t>This algorithm performs depth-first search up to a certain </a:t>
            </a:r>
            <a:r>
              <a:rPr lang="en-US" b="1" dirty="0"/>
              <a:t>"depth limit"</a:t>
            </a:r>
            <a:r>
              <a:rPr lang="en-US" dirty="0"/>
              <a:t>, and it keeps </a:t>
            </a:r>
            <a:r>
              <a:rPr lang="en-US" b="1" dirty="0"/>
              <a:t>increasing the depth limit after each iteration </a:t>
            </a:r>
            <a:r>
              <a:rPr lang="en-US" dirty="0"/>
              <a:t>until the goal node is found.</a:t>
            </a:r>
          </a:p>
          <a:p>
            <a:endParaRPr lang="en-US" dirty="0"/>
          </a:p>
        </p:txBody>
      </p:sp>
    </p:spTree>
    <p:extLst>
      <p:ext uri="{BB962C8B-B14F-4D97-AF65-F5344CB8AC3E}">
        <p14:creationId xmlns:p14="http://schemas.microsoft.com/office/powerpoint/2010/main" val="127124186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54A510-5968-FEA3-C8AE-375A557DD85C}"/>
              </a:ext>
            </a:extLst>
          </p:cNvPr>
          <p:cNvSpPr>
            <a:spLocks noGrp="1"/>
          </p:cNvSpPr>
          <p:nvPr>
            <p:ph type="title"/>
          </p:nvPr>
        </p:nvSpPr>
        <p:spPr/>
        <p:txBody>
          <a:bodyPr/>
          <a:lstStyle/>
          <a:p>
            <a:r>
              <a:rPr lang="en-US" dirty="0"/>
              <a:t>IDS  - Example</a:t>
            </a:r>
          </a:p>
        </p:txBody>
      </p:sp>
      <p:sp>
        <p:nvSpPr>
          <p:cNvPr id="3" name="Content Placeholder 2">
            <a:extLst>
              <a:ext uri="{FF2B5EF4-FFF2-40B4-BE49-F238E27FC236}">
                <a16:creationId xmlns:a16="http://schemas.microsoft.com/office/drawing/2014/main" id="{36A8EE98-EEBB-40FD-F99F-9D571BCAD28E}"/>
              </a:ext>
            </a:extLst>
          </p:cNvPr>
          <p:cNvSpPr>
            <a:spLocks noGrp="1"/>
          </p:cNvSpPr>
          <p:nvPr>
            <p:ph idx="1"/>
          </p:nvPr>
        </p:nvSpPr>
        <p:spPr/>
        <p:txBody>
          <a:bodyPr/>
          <a:lstStyle/>
          <a:p>
            <a:endParaRPr lang="en-US" dirty="0"/>
          </a:p>
        </p:txBody>
      </p:sp>
      <p:sp>
        <p:nvSpPr>
          <p:cNvPr id="5" name="Content Placeholder 2">
            <a:extLst>
              <a:ext uri="{FF2B5EF4-FFF2-40B4-BE49-F238E27FC236}">
                <a16:creationId xmlns:a16="http://schemas.microsoft.com/office/drawing/2014/main" id="{D41594D5-C275-1E88-2C9C-5DC18CC4F0B5}"/>
              </a:ext>
            </a:extLst>
          </p:cNvPr>
          <p:cNvSpPr txBox="1">
            <a:spLocks/>
          </p:cNvSpPr>
          <p:nvPr/>
        </p:nvSpPr>
        <p:spPr>
          <a:xfrm>
            <a:off x="818712" y="2222287"/>
            <a:ext cx="10554574" cy="3636511"/>
          </a:xfrm>
          <a:prstGeom prst="rect">
            <a:avLst/>
          </a:prstGeom>
          <a:effectLst>
            <a:outerShdw blurRad="50800" dir="14400000">
              <a:srgbClr val="000000">
                <a:alpha val="40000"/>
              </a:srgbClr>
            </a:outerShdw>
          </a:effectLst>
        </p:spPr>
        <p:txBody>
          <a:bodyPr vert="horz" lIns="91440" tIns="45720" rIns="91440" bIns="45720" rtlCol="0" anchor="ctr">
            <a:normAutofit/>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r>
              <a:rPr lang="en-US"/>
              <a:t>Frontier - ?</a:t>
            </a:r>
          </a:p>
          <a:p>
            <a:r>
              <a:rPr lang="en-US"/>
              <a:t>Reached - ?</a:t>
            </a:r>
          </a:p>
          <a:p>
            <a:endParaRPr lang="en-US"/>
          </a:p>
          <a:p>
            <a:pPr marL="0" indent="0">
              <a:buFont typeface="Wingdings 2" charset="2"/>
              <a:buNone/>
            </a:pPr>
            <a:r>
              <a:rPr lang="en-US"/>
              <a:t>Assume A is initial state, and G is goal state.</a:t>
            </a:r>
            <a:endParaRPr lang="en-US" dirty="0"/>
          </a:p>
        </p:txBody>
      </p:sp>
      <p:sp>
        <p:nvSpPr>
          <p:cNvPr id="6" name="object 3">
            <a:extLst>
              <a:ext uri="{FF2B5EF4-FFF2-40B4-BE49-F238E27FC236}">
                <a16:creationId xmlns:a16="http://schemas.microsoft.com/office/drawing/2014/main" id="{6FE76AE4-8381-CA6C-AA18-18F623A74908}"/>
              </a:ext>
            </a:extLst>
          </p:cNvPr>
          <p:cNvSpPr/>
          <p:nvPr/>
        </p:nvSpPr>
        <p:spPr>
          <a:xfrm>
            <a:off x="8912685" y="2066170"/>
            <a:ext cx="685800" cy="685800"/>
          </a:xfrm>
          <a:custGeom>
            <a:avLst/>
            <a:gdLst/>
            <a:ahLst/>
            <a:cxnLst/>
            <a:rect l="l" t="t" r="r" b="b"/>
            <a:pathLst>
              <a:path w="685800" h="685800">
                <a:moveTo>
                  <a:pt x="0" y="342900"/>
                </a:moveTo>
                <a:lnTo>
                  <a:pt x="3130" y="296375"/>
                </a:lnTo>
                <a:lnTo>
                  <a:pt x="12250" y="251751"/>
                </a:lnTo>
                <a:lnTo>
                  <a:pt x="26949" y="209436"/>
                </a:lnTo>
                <a:lnTo>
                  <a:pt x="46820" y="169841"/>
                </a:lnTo>
                <a:lnTo>
                  <a:pt x="71454" y="133373"/>
                </a:lnTo>
                <a:lnTo>
                  <a:pt x="100441" y="100441"/>
                </a:lnTo>
                <a:lnTo>
                  <a:pt x="133373" y="71454"/>
                </a:lnTo>
                <a:lnTo>
                  <a:pt x="169841" y="46820"/>
                </a:lnTo>
                <a:lnTo>
                  <a:pt x="209436" y="26949"/>
                </a:lnTo>
                <a:lnTo>
                  <a:pt x="251751" y="12250"/>
                </a:lnTo>
                <a:lnTo>
                  <a:pt x="296375" y="3130"/>
                </a:lnTo>
                <a:lnTo>
                  <a:pt x="342900" y="0"/>
                </a:lnTo>
                <a:lnTo>
                  <a:pt x="389424" y="3130"/>
                </a:lnTo>
                <a:lnTo>
                  <a:pt x="434048" y="12250"/>
                </a:lnTo>
                <a:lnTo>
                  <a:pt x="476363" y="26949"/>
                </a:lnTo>
                <a:lnTo>
                  <a:pt x="515958" y="46820"/>
                </a:lnTo>
                <a:lnTo>
                  <a:pt x="552426" y="71454"/>
                </a:lnTo>
                <a:lnTo>
                  <a:pt x="585358" y="100441"/>
                </a:lnTo>
                <a:lnTo>
                  <a:pt x="614345" y="133373"/>
                </a:lnTo>
                <a:lnTo>
                  <a:pt x="638979" y="169841"/>
                </a:lnTo>
                <a:lnTo>
                  <a:pt x="658850" y="209436"/>
                </a:lnTo>
                <a:lnTo>
                  <a:pt x="673549" y="251751"/>
                </a:lnTo>
                <a:lnTo>
                  <a:pt x="682669" y="296375"/>
                </a:lnTo>
                <a:lnTo>
                  <a:pt x="685800" y="342900"/>
                </a:lnTo>
                <a:lnTo>
                  <a:pt x="682669" y="389424"/>
                </a:lnTo>
                <a:lnTo>
                  <a:pt x="673549" y="434048"/>
                </a:lnTo>
                <a:lnTo>
                  <a:pt x="658850" y="476363"/>
                </a:lnTo>
                <a:lnTo>
                  <a:pt x="638979" y="515958"/>
                </a:lnTo>
                <a:lnTo>
                  <a:pt x="614345" y="552426"/>
                </a:lnTo>
                <a:lnTo>
                  <a:pt x="585358" y="585358"/>
                </a:lnTo>
                <a:lnTo>
                  <a:pt x="552426" y="614345"/>
                </a:lnTo>
                <a:lnTo>
                  <a:pt x="515958" y="638979"/>
                </a:lnTo>
                <a:lnTo>
                  <a:pt x="476363" y="658850"/>
                </a:lnTo>
                <a:lnTo>
                  <a:pt x="434048" y="673549"/>
                </a:lnTo>
                <a:lnTo>
                  <a:pt x="389424" y="682669"/>
                </a:lnTo>
                <a:lnTo>
                  <a:pt x="342900" y="685800"/>
                </a:lnTo>
                <a:lnTo>
                  <a:pt x="296375" y="682669"/>
                </a:lnTo>
                <a:lnTo>
                  <a:pt x="251751" y="673549"/>
                </a:lnTo>
                <a:lnTo>
                  <a:pt x="209436" y="658850"/>
                </a:lnTo>
                <a:lnTo>
                  <a:pt x="169841" y="638979"/>
                </a:lnTo>
                <a:lnTo>
                  <a:pt x="133373" y="614345"/>
                </a:lnTo>
                <a:lnTo>
                  <a:pt x="100441" y="585358"/>
                </a:lnTo>
                <a:lnTo>
                  <a:pt x="71454" y="552426"/>
                </a:lnTo>
                <a:lnTo>
                  <a:pt x="46820" y="515958"/>
                </a:lnTo>
                <a:lnTo>
                  <a:pt x="26949" y="476363"/>
                </a:lnTo>
                <a:lnTo>
                  <a:pt x="12250" y="434048"/>
                </a:lnTo>
                <a:lnTo>
                  <a:pt x="3130" y="389424"/>
                </a:lnTo>
                <a:lnTo>
                  <a:pt x="0" y="342900"/>
                </a:lnTo>
                <a:close/>
              </a:path>
            </a:pathLst>
          </a:custGeom>
          <a:ln w="57150">
            <a:solidFill>
              <a:srgbClr val="385D89"/>
            </a:solidFill>
          </a:ln>
        </p:spPr>
        <p:txBody>
          <a:bodyPr wrap="square" lIns="0" tIns="0" rIns="0" bIns="0" rtlCol="0"/>
          <a:lstStyle/>
          <a:p>
            <a:endParaRPr/>
          </a:p>
        </p:txBody>
      </p:sp>
      <p:sp>
        <p:nvSpPr>
          <p:cNvPr id="7" name="object 4">
            <a:extLst>
              <a:ext uri="{FF2B5EF4-FFF2-40B4-BE49-F238E27FC236}">
                <a16:creationId xmlns:a16="http://schemas.microsoft.com/office/drawing/2014/main" id="{EBFFAE9F-470D-66DE-9A9D-AF203288D650}"/>
              </a:ext>
            </a:extLst>
          </p:cNvPr>
          <p:cNvSpPr txBox="1"/>
          <p:nvPr/>
        </p:nvSpPr>
        <p:spPr>
          <a:xfrm>
            <a:off x="9111568" y="2093043"/>
            <a:ext cx="290195" cy="574675"/>
          </a:xfrm>
          <a:prstGeom prst="rect">
            <a:avLst/>
          </a:prstGeom>
        </p:spPr>
        <p:txBody>
          <a:bodyPr vert="horz" wrap="square" lIns="0" tIns="12700" rIns="0" bIns="0" rtlCol="0">
            <a:spAutoFit/>
          </a:bodyPr>
          <a:lstStyle/>
          <a:p>
            <a:pPr marL="12700">
              <a:lnSpc>
                <a:spcPct val="100000"/>
              </a:lnSpc>
              <a:spcBef>
                <a:spcPts val="100"/>
              </a:spcBef>
            </a:pPr>
            <a:r>
              <a:rPr sz="3600" spc="-50" dirty="0">
                <a:latin typeface="Calibri"/>
                <a:cs typeface="Calibri"/>
              </a:rPr>
              <a:t>A</a:t>
            </a:r>
            <a:endParaRPr sz="3600">
              <a:latin typeface="Calibri"/>
              <a:cs typeface="Calibri"/>
            </a:endParaRPr>
          </a:p>
        </p:txBody>
      </p:sp>
      <p:sp>
        <p:nvSpPr>
          <p:cNvPr id="8" name="object 5">
            <a:extLst>
              <a:ext uri="{FF2B5EF4-FFF2-40B4-BE49-F238E27FC236}">
                <a16:creationId xmlns:a16="http://schemas.microsoft.com/office/drawing/2014/main" id="{40800C45-331D-8ECA-4E94-B6E3BE2CF02E}"/>
              </a:ext>
            </a:extLst>
          </p:cNvPr>
          <p:cNvSpPr/>
          <p:nvPr/>
        </p:nvSpPr>
        <p:spPr>
          <a:xfrm>
            <a:off x="7847409" y="3331089"/>
            <a:ext cx="685800" cy="685800"/>
          </a:xfrm>
          <a:custGeom>
            <a:avLst/>
            <a:gdLst/>
            <a:ahLst/>
            <a:cxnLst/>
            <a:rect l="l" t="t" r="r" b="b"/>
            <a:pathLst>
              <a:path w="685800" h="685800">
                <a:moveTo>
                  <a:pt x="0" y="342900"/>
                </a:moveTo>
                <a:lnTo>
                  <a:pt x="3130" y="296375"/>
                </a:lnTo>
                <a:lnTo>
                  <a:pt x="12250" y="251751"/>
                </a:lnTo>
                <a:lnTo>
                  <a:pt x="26949" y="209436"/>
                </a:lnTo>
                <a:lnTo>
                  <a:pt x="46820" y="169841"/>
                </a:lnTo>
                <a:lnTo>
                  <a:pt x="71454" y="133373"/>
                </a:lnTo>
                <a:lnTo>
                  <a:pt x="100441" y="100441"/>
                </a:lnTo>
                <a:lnTo>
                  <a:pt x="133373" y="71454"/>
                </a:lnTo>
                <a:lnTo>
                  <a:pt x="169841" y="46820"/>
                </a:lnTo>
                <a:lnTo>
                  <a:pt x="209436" y="26949"/>
                </a:lnTo>
                <a:lnTo>
                  <a:pt x="251751" y="12250"/>
                </a:lnTo>
                <a:lnTo>
                  <a:pt x="296375" y="3130"/>
                </a:lnTo>
                <a:lnTo>
                  <a:pt x="342900" y="0"/>
                </a:lnTo>
                <a:lnTo>
                  <a:pt x="389424" y="3130"/>
                </a:lnTo>
                <a:lnTo>
                  <a:pt x="434048" y="12250"/>
                </a:lnTo>
                <a:lnTo>
                  <a:pt x="476363" y="26949"/>
                </a:lnTo>
                <a:lnTo>
                  <a:pt x="515958" y="46820"/>
                </a:lnTo>
                <a:lnTo>
                  <a:pt x="552426" y="71454"/>
                </a:lnTo>
                <a:lnTo>
                  <a:pt x="585358" y="100441"/>
                </a:lnTo>
                <a:lnTo>
                  <a:pt x="614345" y="133373"/>
                </a:lnTo>
                <a:lnTo>
                  <a:pt x="638979" y="169841"/>
                </a:lnTo>
                <a:lnTo>
                  <a:pt x="658850" y="209436"/>
                </a:lnTo>
                <a:lnTo>
                  <a:pt x="673549" y="251751"/>
                </a:lnTo>
                <a:lnTo>
                  <a:pt x="682669" y="296375"/>
                </a:lnTo>
                <a:lnTo>
                  <a:pt x="685800" y="342900"/>
                </a:lnTo>
                <a:lnTo>
                  <a:pt x="682669" y="389424"/>
                </a:lnTo>
                <a:lnTo>
                  <a:pt x="673549" y="434048"/>
                </a:lnTo>
                <a:lnTo>
                  <a:pt x="658850" y="476363"/>
                </a:lnTo>
                <a:lnTo>
                  <a:pt x="638979" y="515958"/>
                </a:lnTo>
                <a:lnTo>
                  <a:pt x="614345" y="552426"/>
                </a:lnTo>
                <a:lnTo>
                  <a:pt x="585358" y="585358"/>
                </a:lnTo>
                <a:lnTo>
                  <a:pt x="552426" y="614345"/>
                </a:lnTo>
                <a:lnTo>
                  <a:pt x="515958" y="638979"/>
                </a:lnTo>
                <a:lnTo>
                  <a:pt x="476363" y="658850"/>
                </a:lnTo>
                <a:lnTo>
                  <a:pt x="434048" y="673549"/>
                </a:lnTo>
                <a:lnTo>
                  <a:pt x="389424" y="682669"/>
                </a:lnTo>
                <a:lnTo>
                  <a:pt x="342900" y="685800"/>
                </a:lnTo>
                <a:lnTo>
                  <a:pt x="296375" y="682669"/>
                </a:lnTo>
                <a:lnTo>
                  <a:pt x="251751" y="673549"/>
                </a:lnTo>
                <a:lnTo>
                  <a:pt x="209436" y="658850"/>
                </a:lnTo>
                <a:lnTo>
                  <a:pt x="169841" y="638979"/>
                </a:lnTo>
                <a:lnTo>
                  <a:pt x="133373" y="614345"/>
                </a:lnTo>
                <a:lnTo>
                  <a:pt x="100441" y="585358"/>
                </a:lnTo>
                <a:lnTo>
                  <a:pt x="71454" y="552426"/>
                </a:lnTo>
                <a:lnTo>
                  <a:pt x="46820" y="515958"/>
                </a:lnTo>
                <a:lnTo>
                  <a:pt x="26949" y="476363"/>
                </a:lnTo>
                <a:lnTo>
                  <a:pt x="12250" y="434048"/>
                </a:lnTo>
                <a:lnTo>
                  <a:pt x="3130" y="389424"/>
                </a:lnTo>
                <a:lnTo>
                  <a:pt x="0" y="342900"/>
                </a:lnTo>
                <a:close/>
              </a:path>
            </a:pathLst>
          </a:custGeom>
          <a:ln w="57150">
            <a:solidFill>
              <a:srgbClr val="385D89"/>
            </a:solidFill>
          </a:ln>
        </p:spPr>
        <p:txBody>
          <a:bodyPr wrap="square" lIns="0" tIns="0" rIns="0" bIns="0" rtlCol="0"/>
          <a:lstStyle/>
          <a:p>
            <a:endParaRPr/>
          </a:p>
        </p:txBody>
      </p:sp>
      <p:sp>
        <p:nvSpPr>
          <p:cNvPr id="9" name="object 6">
            <a:extLst>
              <a:ext uri="{FF2B5EF4-FFF2-40B4-BE49-F238E27FC236}">
                <a16:creationId xmlns:a16="http://schemas.microsoft.com/office/drawing/2014/main" id="{EC670180-370A-8823-F592-C5341C895034}"/>
              </a:ext>
            </a:extLst>
          </p:cNvPr>
          <p:cNvSpPr txBox="1"/>
          <p:nvPr/>
        </p:nvSpPr>
        <p:spPr>
          <a:xfrm>
            <a:off x="8053277" y="3358649"/>
            <a:ext cx="274320" cy="574040"/>
          </a:xfrm>
          <a:prstGeom prst="rect">
            <a:avLst/>
          </a:prstGeom>
        </p:spPr>
        <p:txBody>
          <a:bodyPr vert="horz" wrap="square" lIns="0" tIns="12700" rIns="0" bIns="0" rtlCol="0">
            <a:spAutoFit/>
          </a:bodyPr>
          <a:lstStyle/>
          <a:p>
            <a:pPr marL="12700">
              <a:lnSpc>
                <a:spcPct val="100000"/>
              </a:lnSpc>
              <a:spcBef>
                <a:spcPts val="100"/>
              </a:spcBef>
            </a:pPr>
            <a:r>
              <a:rPr sz="3600" spc="-50" dirty="0">
                <a:latin typeface="Calibri"/>
                <a:cs typeface="Calibri"/>
              </a:rPr>
              <a:t>B</a:t>
            </a:r>
            <a:endParaRPr sz="3600">
              <a:latin typeface="Calibri"/>
              <a:cs typeface="Calibri"/>
            </a:endParaRPr>
          </a:p>
        </p:txBody>
      </p:sp>
      <p:sp>
        <p:nvSpPr>
          <p:cNvPr id="10" name="object 7">
            <a:extLst>
              <a:ext uri="{FF2B5EF4-FFF2-40B4-BE49-F238E27FC236}">
                <a16:creationId xmlns:a16="http://schemas.microsoft.com/office/drawing/2014/main" id="{42F20DE7-2F07-47E3-9F9B-F78FFECDF816}"/>
              </a:ext>
            </a:extLst>
          </p:cNvPr>
          <p:cNvSpPr/>
          <p:nvPr/>
        </p:nvSpPr>
        <p:spPr>
          <a:xfrm>
            <a:off x="7196661" y="5987421"/>
            <a:ext cx="685800" cy="685800"/>
          </a:xfrm>
          <a:custGeom>
            <a:avLst/>
            <a:gdLst/>
            <a:ahLst/>
            <a:cxnLst/>
            <a:rect l="l" t="t" r="r" b="b"/>
            <a:pathLst>
              <a:path w="685800" h="685800">
                <a:moveTo>
                  <a:pt x="0" y="342900"/>
                </a:moveTo>
                <a:lnTo>
                  <a:pt x="3130" y="296375"/>
                </a:lnTo>
                <a:lnTo>
                  <a:pt x="12250" y="251751"/>
                </a:lnTo>
                <a:lnTo>
                  <a:pt x="26949" y="209436"/>
                </a:lnTo>
                <a:lnTo>
                  <a:pt x="46820" y="169841"/>
                </a:lnTo>
                <a:lnTo>
                  <a:pt x="71454" y="133373"/>
                </a:lnTo>
                <a:lnTo>
                  <a:pt x="100441" y="100441"/>
                </a:lnTo>
                <a:lnTo>
                  <a:pt x="133373" y="71454"/>
                </a:lnTo>
                <a:lnTo>
                  <a:pt x="169841" y="46820"/>
                </a:lnTo>
                <a:lnTo>
                  <a:pt x="209436" y="26949"/>
                </a:lnTo>
                <a:lnTo>
                  <a:pt x="251751" y="12250"/>
                </a:lnTo>
                <a:lnTo>
                  <a:pt x="296375" y="3130"/>
                </a:lnTo>
                <a:lnTo>
                  <a:pt x="342900" y="0"/>
                </a:lnTo>
                <a:lnTo>
                  <a:pt x="389424" y="3130"/>
                </a:lnTo>
                <a:lnTo>
                  <a:pt x="434048" y="12250"/>
                </a:lnTo>
                <a:lnTo>
                  <a:pt x="476363" y="26949"/>
                </a:lnTo>
                <a:lnTo>
                  <a:pt x="515958" y="46820"/>
                </a:lnTo>
                <a:lnTo>
                  <a:pt x="552426" y="71454"/>
                </a:lnTo>
                <a:lnTo>
                  <a:pt x="585358" y="100441"/>
                </a:lnTo>
                <a:lnTo>
                  <a:pt x="614345" y="133373"/>
                </a:lnTo>
                <a:lnTo>
                  <a:pt x="638979" y="169841"/>
                </a:lnTo>
                <a:lnTo>
                  <a:pt x="658850" y="209436"/>
                </a:lnTo>
                <a:lnTo>
                  <a:pt x="673549" y="251751"/>
                </a:lnTo>
                <a:lnTo>
                  <a:pt x="682669" y="296375"/>
                </a:lnTo>
                <a:lnTo>
                  <a:pt x="685800" y="342900"/>
                </a:lnTo>
                <a:lnTo>
                  <a:pt x="682669" y="389430"/>
                </a:lnTo>
                <a:lnTo>
                  <a:pt x="673549" y="434057"/>
                </a:lnTo>
                <a:lnTo>
                  <a:pt x="658850" y="476373"/>
                </a:lnTo>
                <a:lnTo>
                  <a:pt x="638979" y="515969"/>
                </a:lnTo>
                <a:lnTo>
                  <a:pt x="614345" y="552437"/>
                </a:lnTo>
                <a:lnTo>
                  <a:pt x="585358" y="585368"/>
                </a:lnTo>
                <a:lnTo>
                  <a:pt x="552426" y="614353"/>
                </a:lnTo>
                <a:lnTo>
                  <a:pt x="515958" y="638984"/>
                </a:lnTo>
                <a:lnTo>
                  <a:pt x="476363" y="658853"/>
                </a:lnTo>
                <a:lnTo>
                  <a:pt x="434048" y="673551"/>
                </a:lnTo>
                <a:lnTo>
                  <a:pt x="389424" y="682669"/>
                </a:lnTo>
                <a:lnTo>
                  <a:pt x="342900" y="685800"/>
                </a:lnTo>
                <a:lnTo>
                  <a:pt x="296375" y="682669"/>
                </a:lnTo>
                <a:lnTo>
                  <a:pt x="251751" y="673551"/>
                </a:lnTo>
                <a:lnTo>
                  <a:pt x="209436" y="658853"/>
                </a:lnTo>
                <a:lnTo>
                  <a:pt x="169841" y="638984"/>
                </a:lnTo>
                <a:lnTo>
                  <a:pt x="133373" y="614353"/>
                </a:lnTo>
                <a:lnTo>
                  <a:pt x="100441" y="585368"/>
                </a:lnTo>
                <a:lnTo>
                  <a:pt x="71454" y="552437"/>
                </a:lnTo>
                <a:lnTo>
                  <a:pt x="46820" y="515969"/>
                </a:lnTo>
                <a:lnTo>
                  <a:pt x="26949" y="476373"/>
                </a:lnTo>
                <a:lnTo>
                  <a:pt x="12250" y="434057"/>
                </a:lnTo>
                <a:lnTo>
                  <a:pt x="3130" y="389430"/>
                </a:lnTo>
                <a:lnTo>
                  <a:pt x="0" y="342900"/>
                </a:lnTo>
                <a:close/>
              </a:path>
            </a:pathLst>
          </a:custGeom>
          <a:ln w="57150">
            <a:solidFill>
              <a:srgbClr val="385D89"/>
            </a:solidFill>
          </a:ln>
        </p:spPr>
        <p:txBody>
          <a:bodyPr wrap="square" lIns="0" tIns="0" rIns="0" bIns="0" rtlCol="0"/>
          <a:lstStyle/>
          <a:p>
            <a:endParaRPr/>
          </a:p>
        </p:txBody>
      </p:sp>
      <p:sp>
        <p:nvSpPr>
          <p:cNvPr id="11" name="object 8">
            <a:extLst>
              <a:ext uri="{FF2B5EF4-FFF2-40B4-BE49-F238E27FC236}">
                <a16:creationId xmlns:a16="http://schemas.microsoft.com/office/drawing/2014/main" id="{3A4ACF16-0114-AF95-82C7-627C469887D6}"/>
              </a:ext>
            </a:extLst>
          </p:cNvPr>
          <p:cNvSpPr txBox="1"/>
          <p:nvPr/>
        </p:nvSpPr>
        <p:spPr>
          <a:xfrm>
            <a:off x="7383860" y="6014955"/>
            <a:ext cx="310515" cy="574040"/>
          </a:xfrm>
          <a:prstGeom prst="rect">
            <a:avLst/>
          </a:prstGeom>
        </p:spPr>
        <p:txBody>
          <a:bodyPr vert="horz" wrap="square" lIns="0" tIns="12700" rIns="0" bIns="0" rtlCol="0">
            <a:spAutoFit/>
          </a:bodyPr>
          <a:lstStyle/>
          <a:p>
            <a:pPr marL="12700">
              <a:lnSpc>
                <a:spcPct val="100000"/>
              </a:lnSpc>
              <a:spcBef>
                <a:spcPts val="100"/>
              </a:spcBef>
            </a:pPr>
            <a:r>
              <a:rPr sz="3600" spc="-50" dirty="0">
                <a:latin typeface="Calibri"/>
                <a:cs typeface="Calibri"/>
              </a:rPr>
              <a:t>H</a:t>
            </a:r>
            <a:endParaRPr sz="3600">
              <a:latin typeface="Calibri"/>
              <a:cs typeface="Calibri"/>
            </a:endParaRPr>
          </a:p>
        </p:txBody>
      </p:sp>
      <p:sp>
        <p:nvSpPr>
          <p:cNvPr id="12" name="object 9">
            <a:extLst>
              <a:ext uri="{FF2B5EF4-FFF2-40B4-BE49-F238E27FC236}">
                <a16:creationId xmlns:a16="http://schemas.microsoft.com/office/drawing/2014/main" id="{9C8F4321-B23B-A5FF-4DFF-427015C3A38C}"/>
              </a:ext>
            </a:extLst>
          </p:cNvPr>
          <p:cNvSpPr/>
          <p:nvPr/>
        </p:nvSpPr>
        <p:spPr>
          <a:xfrm>
            <a:off x="9775269" y="3331089"/>
            <a:ext cx="685800" cy="685800"/>
          </a:xfrm>
          <a:custGeom>
            <a:avLst/>
            <a:gdLst/>
            <a:ahLst/>
            <a:cxnLst/>
            <a:rect l="l" t="t" r="r" b="b"/>
            <a:pathLst>
              <a:path w="685800" h="685800">
                <a:moveTo>
                  <a:pt x="0" y="342900"/>
                </a:moveTo>
                <a:lnTo>
                  <a:pt x="3130" y="296375"/>
                </a:lnTo>
                <a:lnTo>
                  <a:pt x="12250" y="251751"/>
                </a:lnTo>
                <a:lnTo>
                  <a:pt x="26949" y="209436"/>
                </a:lnTo>
                <a:lnTo>
                  <a:pt x="46820" y="169841"/>
                </a:lnTo>
                <a:lnTo>
                  <a:pt x="71454" y="133373"/>
                </a:lnTo>
                <a:lnTo>
                  <a:pt x="100441" y="100441"/>
                </a:lnTo>
                <a:lnTo>
                  <a:pt x="133373" y="71454"/>
                </a:lnTo>
                <a:lnTo>
                  <a:pt x="169841" y="46820"/>
                </a:lnTo>
                <a:lnTo>
                  <a:pt x="209436" y="26949"/>
                </a:lnTo>
                <a:lnTo>
                  <a:pt x="251751" y="12250"/>
                </a:lnTo>
                <a:lnTo>
                  <a:pt x="296375" y="3130"/>
                </a:lnTo>
                <a:lnTo>
                  <a:pt x="342900" y="0"/>
                </a:lnTo>
                <a:lnTo>
                  <a:pt x="389424" y="3130"/>
                </a:lnTo>
                <a:lnTo>
                  <a:pt x="434048" y="12250"/>
                </a:lnTo>
                <a:lnTo>
                  <a:pt x="476363" y="26949"/>
                </a:lnTo>
                <a:lnTo>
                  <a:pt x="515958" y="46820"/>
                </a:lnTo>
                <a:lnTo>
                  <a:pt x="552426" y="71454"/>
                </a:lnTo>
                <a:lnTo>
                  <a:pt x="585358" y="100441"/>
                </a:lnTo>
                <a:lnTo>
                  <a:pt x="614345" y="133373"/>
                </a:lnTo>
                <a:lnTo>
                  <a:pt x="638979" y="169841"/>
                </a:lnTo>
                <a:lnTo>
                  <a:pt x="658850" y="209436"/>
                </a:lnTo>
                <a:lnTo>
                  <a:pt x="673549" y="251751"/>
                </a:lnTo>
                <a:lnTo>
                  <a:pt x="682669" y="296375"/>
                </a:lnTo>
                <a:lnTo>
                  <a:pt x="685800" y="342900"/>
                </a:lnTo>
                <a:lnTo>
                  <a:pt x="682669" y="389424"/>
                </a:lnTo>
                <a:lnTo>
                  <a:pt x="673549" y="434048"/>
                </a:lnTo>
                <a:lnTo>
                  <a:pt x="658850" y="476363"/>
                </a:lnTo>
                <a:lnTo>
                  <a:pt x="638979" y="515958"/>
                </a:lnTo>
                <a:lnTo>
                  <a:pt x="614345" y="552426"/>
                </a:lnTo>
                <a:lnTo>
                  <a:pt x="585358" y="585358"/>
                </a:lnTo>
                <a:lnTo>
                  <a:pt x="552426" y="614345"/>
                </a:lnTo>
                <a:lnTo>
                  <a:pt x="515958" y="638979"/>
                </a:lnTo>
                <a:lnTo>
                  <a:pt x="476363" y="658850"/>
                </a:lnTo>
                <a:lnTo>
                  <a:pt x="434048" y="673549"/>
                </a:lnTo>
                <a:lnTo>
                  <a:pt x="389424" y="682669"/>
                </a:lnTo>
                <a:lnTo>
                  <a:pt x="342900" y="685800"/>
                </a:lnTo>
                <a:lnTo>
                  <a:pt x="296375" y="682669"/>
                </a:lnTo>
                <a:lnTo>
                  <a:pt x="251751" y="673549"/>
                </a:lnTo>
                <a:lnTo>
                  <a:pt x="209436" y="658850"/>
                </a:lnTo>
                <a:lnTo>
                  <a:pt x="169841" y="638979"/>
                </a:lnTo>
                <a:lnTo>
                  <a:pt x="133373" y="614345"/>
                </a:lnTo>
                <a:lnTo>
                  <a:pt x="100441" y="585358"/>
                </a:lnTo>
                <a:lnTo>
                  <a:pt x="71454" y="552426"/>
                </a:lnTo>
                <a:lnTo>
                  <a:pt x="46820" y="515958"/>
                </a:lnTo>
                <a:lnTo>
                  <a:pt x="26949" y="476363"/>
                </a:lnTo>
                <a:lnTo>
                  <a:pt x="12250" y="434048"/>
                </a:lnTo>
                <a:lnTo>
                  <a:pt x="3130" y="389424"/>
                </a:lnTo>
                <a:lnTo>
                  <a:pt x="0" y="342900"/>
                </a:lnTo>
                <a:close/>
              </a:path>
            </a:pathLst>
          </a:custGeom>
          <a:ln w="57150">
            <a:solidFill>
              <a:srgbClr val="385D89"/>
            </a:solidFill>
          </a:ln>
        </p:spPr>
        <p:txBody>
          <a:bodyPr wrap="square" lIns="0" tIns="0" rIns="0" bIns="0" rtlCol="0"/>
          <a:lstStyle/>
          <a:p>
            <a:endParaRPr/>
          </a:p>
        </p:txBody>
      </p:sp>
      <p:sp>
        <p:nvSpPr>
          <p:cNvPr id="13" name="object 10">
            <a:extLst>
              <a:ext uri="{FF2B5EF4-FFF2-40B4-BE49-F238E27FC236}">
                <a16:creationId xmlns:a16="http://schemas.microsoft.com/office/drawing/2014/main" id="{77C54E71-4E29-6DA7-23CC-0941F516F7AE}"/>
              </a:ext>
            </a:extLst>
          </p:cNvPr>
          <p:cNvSpPr txBox="1"/>
          <p:nvPr/>
        </p:nvSpPr>
        <p:spPr>
          <a:xfrm>
            <a:off x="9984185" y="3358649"/>
            <a:ext cx="269240" cy="574040"/>
          </a:xfrm>
          <a:prstGeom prst="rect">
            <a:avLst/>
          </a:prstGeom>
        </p:spPr>
        <p:txBody>
          <a:bodyPr vert="horz" wrap="square" lIns="0" tIns="12700" rIns="0" bIns="0" rtlCol="0">
            <a:spAutoFit/>
          </a:bodyPr>
          <a:lstStyle/>
          <a:p>
            <a:pPr marL="12700">
              <a:lnSpc>
                <a:spcPct val="100000"/>
              </a:lnSpc>
              <a:spcBef>
                <a:spcPts val="100"/>
              </a:spcBef>
            </a:pPr>
            <a:r>
              <a:rPr sz="3600" spc="-50" dirty="0">
                <a:latin typeface="Calibri"/>
                <a:cs typeface="Calibri"/>
              </a:rPr>
              <a:t>C</a:t>
            </a:r>
            <a:endParaRPr sz="3600" dirty="0">
              <a:latin typeface="Calibri"/>
              <a:cs typeface="Calibri"/>
            </a:endParaRPr>
          </a:p>
        </p:txBody>
      </p:sp>
      <p:sp>
        <p:nvSpPr>
          <p:cNvPr id="14" name="object 11">
            <a:extLst>
              <a:ext uri="{FF2B5EF4-FFF2-40B4-BE49-F238E27FC236}">
                <a16:creationId xmlns:a16="http://schemas.microsoft.com/office/drawing/2014/main" id="{5373F4F7-0F5D-0E26-0863-C4E9EDA6C971}"/>
              </a:ext>
            </a:extLst>
          </p:cNvPr>
          <p:cNvSpPr/>
          <p:nvPr/>
        </p:nvSpPr>
        <p:spPr>
          <a:xfrm>
            <a:off x="7196661" y="4650874"/>
            <a:ext cx="685800" cy="685800"/>
          </a:xfrm>
          <a:custGeom>
            <a:avLst/>
            <a:gdLst/>
            <a:ahLst/>
            <a:cxnLst/>
            <a:rect l="l" t="t" r="r" b="b"/>
            <a:pathLst>
              <a:path w="685800" h="685800">
                <a:moveTo>
                  <a:pt x="0" y="342900"/>
                </a:moveTo>
                <a:lnTo>
                  <a:pt x="3130" y="296375"/>
                </a:lnTo>
                <a:lnTo>
                  <a:pt x="12250" y="251751"/>
                </a:lnTo>
                <a:lnTo>
                  <a:pt x="26949" y="209436"/>
                </a:lnTo>
                <a:lnTo>
                  <a:pt x="46820" y="169841"/>
                </a:lnTo>
                <a:lnTo>
                  <a:pt x="71454" y="133373"/>
                </a:lnTo>
                <a:lnTo>
                  <a:pt x="100441" y="100441"/>
                </a:lnTo>
                <a:lnTo>
                  <a:pt x="133373" y="71454"/>
                </a:lnTo>
                <a:lnTo>
                  <a:pt x="169841" y="46820"/>
                </a:lnTo>
                <a:lnTo>
                  <a:pt x="209436" y="26949"/>
                </a:lnTo>
                <a:lnTo>
                  <a:pt x="251751" y="12250"/>
                </a:lnTo>
                <a:lnTo>
                  <a:pt x="296375" y="3130"/>
                </a:lnTo>
                <a:lnTo>
                  <a:pt x="342900" y="0"/>
                </a:lnTo>
                <a:lnTo>
                  <a:pt x="389424" y="3130"/>
                </a:lnTo>
                <a:lnTo>
                  <a:pt x="434048" y="12250"/>
                </a:lnTo>
                <a:lnTo>
                  <a:pt x="476363" y="26949"/>
                </a:lnTo>
                <a:lnTo>
                  <a:pt x="515958" y="46820"/>
                </a:lnTo>
                <a:lnTo>
                  <a:pt x="552426" y="71454"/>
                </a:lnTo>
                <a:lnTo>
                  <a:pt x="585358" y="100441"/>
                </a:lnTo>
                <a:lnTo>
                  <a:pt x="614345" y="133373"/>
                </a:lnTo>
                <a:lnTo>
                  <a:pt x="638979" y="169841"/>
                </a:lnTo>
                <a:lnTo>
                  <a:pt x="658850" y="209436"/>
                </a:lnTo>
                <a:lnTo>
                  <a:pt x="673549" y="251751"/>
                </a:lnTo>
                <a:lnTo>
                  <a:pt x="682669" y="296375"/>
                </a:lnTo>
                <a:lnTo>
                  <a:pt x="685800" y="342900"/>
                </a:lnTo>
                <a:lnTo>
                  <a:pt x="682669" y="389424"/>
                </a:lnTo>
                <a:lnTo>
                  <a:pt x="673549" y="434048"/>
                </a:lnTo>
                <a:lnTo>
                  <a:pt x="658850" y="476363"/>
                </a:lnTo>
                <a:lnTo>
                  <a:pt x="638979" y="515958"/>
                </a:lnTo>
                <a:lnTo>
                  <a:pt x="614345" y="552426"/>
                </a:lnTo>
                <a:lnTo>
                  <a:pt x="585358" y="585358"/>
                </a:lnTo>
                <a:lnTo>
                  <a:pt x="552426" y="614345"/>
                </a:lnTo>
                <a:lnTo>
                  <a:pt x="515958" y="638979"/>
                </a:lnTo>
                <a:lnTo>
                  <a:pt x="476363" y="658850"/>
                </a:lnTo>
                <a:lnTo>
                  <a:pt x="434048" y="673549"/>
                </a:lnTo>
                <a:lnTo>
                  <a:pt x="389424" y="682669"/>
                </a:lnTo>
                <a:lnTo>
                  <a:pt x="342900" y="685800"/>
                </a:lnTo>
                <a:lnTo>
                  <a:pt x="296375" y="682669"/>
                </a:lnTo>
                <a:lnTo>
                  <a:pt x="251751" y="673549"/>
                </a:lnTo>
                <a:lnTo>
                  <a:pt x="209436" y="658850"/>
                </a:lnTo>
                <a:lnTo>
                  <a:pt x="169841" y="638979"/>
                </a:lnTo>
                <a:lnTo>
                  <a:pt x="133373" y="614345"/>
                </a:lnTo>
                <a:lnTo>
                  <a:pt x="100441" y="585358"/>
                </a:lnTo>
                <a:lnTo>
                  <a:pt x="71454" y="552426"/>
                </a:lnTo>
                <a:lnTo>
                  <a:pt x="46820" y="515958"/>
                </a:lnTo>
                <a:lnTo>
                  <a:pt x="26949" y="476363"/>
                </a:lnTo>
                <a:lnTo>
                  <a:pt x="12250" y="434048"/>
                </a:lnTo>
                <a:lnTo>
                  <a:pt x="3130" y="389424"/>
                </a:lnTo>
                <a:lnTo>
                  <a:pt x="0" y="342900"/>
                </a:lnTo>
                <a:close/>
              </a:path>
            </a:pathLst>
          </a:custGeom>
          <a:ln w="57150">
            <a:solidFill>
              <a:srgbClr val="385D89"/>
            </a:solidFill>
          </a:ln>
        </p:spPr>
        <p:txBody>
          <a:bodyPr wrap="square" lIns="0" tIns="0" rIns="0" bIns="0" rtlCol="0"/>
          <a:lstStyle/>
          <a:p>
            <a:endParaRPr/>
          </a:p>
        </p:txBody>
      </p:sp>
      <p:sp>
        <p:nvSpPr>
          <p:cNvPr id="15" name="object 12">
            <a:extLst>
              <a:ext uri="{FF2B5EF4-FFF2-40B4-BE49-F238E27FC236}">
                <a16:creationId xmlns:a16="http://schemas.microsoft.com/office/drawing/2014/main" id="{78FE4CAD-5A14-EA5D-DA0C-978067621FF7}"/>
              </a:ext>
            </a:extLst>
          </p:cNvPr>
          <p:cNvSpPr txBox="1"/>
          <p:nvPr/>
        </p:nvSpPr>
        <p:spPr>
          <a:xfrm>
            <a:off x="7415863" y="4678382"/>
            <a:ext cx="248920" cy="574675"/>
          </a:xfrm>
          <a:prstGeom prst="rect">
            <a:avLst/>
          </a:prstGeom>
        </p:spPr>
        <p:txBody>
          <a:bodyPr vert="horz" wrap="square" lIns="0" tIns="12700" rIns="0" bIns="0" rtlCol="0">
            <a:spAutoFit/>
          </a:bodyPr>
          <a:lstStyle/>
          <a:p>
            <a:pPr marL="12700">
              <a:lnSpc>
                <a:spcPct val="100000"/>
              </a:lnSpc>
              <a:spcBef>
                <a:spcPts val="100"/>
              </a:spcBef>
            </a:pPr>
            <a:r>
              <a:rPr sz="3600" spc="-50" dirty="0">
                <a:latin typeface="Calibri"/>
                <a:cs typeface="Calibri"/>
              </a:rPr>
              <a:t>E</a:t>
            </a:r>
            <a:endParaRPr sz="3600">
              <a:latin typeface="Calibri"/>
              <a:cs typeface="Calibri"/>
            </a:endParaRPr>
          </a:p>
        </p:txBody>
      </p:sp>
      <p:sp>
        <p:nvSpPr>
          <p:cNvPr id="16" name="object 13">
            <a:extLst>
              <a:ext uri="{FF2B5EF4-FFF2-40B4-BE49-F238E27FC236}">
                <a16:creationId xmlns:a16="http://schemas.microsoft.com/office/drawing/2014/main" id="{2FB6F930-08C2-FB90-E181-95F7DE19AA45}"/>
              </a:ext>
            </a:extLst>
          </p:cNvPr>
          <p:cNvSpPr/>
          <p:nvPr/>
        </p:nvSpPr>
        <p:spPr>
          <a:xfrm>
            <a:off x="11227642" y="4650874"/>
            <a:ext cx="685800" cy="685800"/>
          </a:xfrm>
          <a:custGeom>
            <a:avLst/>
            <a:gdLst/>
            <a:ahLst/>
            <a:cxnLst/>
            <a:rect l="l" t="t" r="r" b="b"/>
            <a:pathLst>
              <a:path w="685800" h="685800">
                <a:moveTo>
                  <a:pt x="0" y="342900"/>
                </a:moveTo>
                <a:lnTo>
                  <a:pt x="3130" y="296375"/>
                </a:lnTo>
                <a:lnTo>
                  <a:pt x="12250" y="251751"/>
                </a:lnTo>
                <a:lnTo>
                  <a:pt x="26949" y="209436"/>
                </a:lnTo>
                <a:lnTo>
                  <a:pt x="46820" y="169841"/>
                </a:lnTo>
                <a:lnTo>
                  <a:pt x="71454" y="133373"/>
                </a:lnTo>
                <a:lnTo>
                  <a:pt x="100441" y="100441"/>
                </a:lnTo>
                <a:lnTo>
                  <a:pt x="133373" y="71454"/>
                </a:lnTo>
                <a:lnTo>
                  <a:pt x="169841" y="46820"/>
                </a:lnTo>
                <a:lnTo>
                  <a:pt x="209436" y="26949"/>
                </a:lnTo>
                <a:lnTo>
                  <a:pt x="251751" y="12250"/>
                </a:lnTo>
                <a:lnTo>
                  <a:pt x="296375" y="3130"/>
                </a:lnTo>
                <a:lnTo>
                  <a:pt x="342900" y="0"/>
                </a:lnTo>
                <a:lnTo>
                  <a:pt x="389424" y="3130"/>
                </a:lnTo>
                <a:lnTo>
                  <a:pt x="434048" y="12250"/>
                </a:lnTo>
                <a:lnTo>
                  <a:pt x="476363" y="26949"/>
                </a:lnTo>
                <a:lnTo>
                  <a:pt x="515958" y="46820"/>
                </a:lnTo>
                <a:lnTo>
                  <a:pt x="552426" y="71454"/>
                </a:lnTo>
                <a:lnTo>
                  <a:pt x="585358" y="100441"/>
                </a:lnTo>
                <a:lnTo>
                  <a:pt x="614345" y="133373"/>
                </a:lnTo>
                <a:lnTo>
                  <a:pt x="638979" y="169841"/>
                </a:lnTo>
                <a:lnTo>
                  <a:pt x="658850" y="209436"/>
                </a:lnTo>
                <a:lnTo>
                  <a:pt x="673549" y="251751"/>
                </a:lnTo>
                <a:lnTo>
                  <a:pt x="682669" y="296375"/>
                </a:lnTo>
                <a:lnTo>
                  <a:pt x="685800" y="342900"/>
                </a:lnTo>
                <a:lnTo>
                  <a:pt x="682669" y="389424"/>
                </a:lnTo>
                <a:lnTo>
                  <a:pt x="673549" y="434048"/>
                </a:lnTo>
                <a:lnTo>
                  <a:pt x="658850" y="476363"/>
                </a:lnTo>
                <a:lnTo>
                  <a:pt x="638979" y="515958"/>
                </a:lnTo>
                <a:lnTo>
                  <a:pt x="614345" y="552426"/>
                </a:lnTo>
                <a:lnTo>
                  <a:pt x="585358" y="585358"/>
                </a:lnTo>
                <a:lnTo>
                  <a:pt x="552426" y="614345"/>
                </a:lnTo>
                <a:lnTo>
                  <a:pt x="515958" y="638979"/>
                </a:lnTo>
                <a:lnTo>
                  <a:pt x="476363" y="658850"/>
                </a:lnTo>
                <a:lnTo>
                  <a:pt x="434048" y="673549"/>
                </a:lnTo>
                <a:lnTo>
                  <a:pt x="389424" y="682669"/>
                </a:lnTo>
                <a:lnTo>
                  <a:pt x="342900" y="685800"/>
                </a:lnTo>
                <a:lnTo>
                  <a:pt x="296375" y="682669"/>
                </a:lnTo>
                <a:lnTo>
                  <a:pt x="251751" y="673549"/>
                </a:lnTo>
                <a:lnTo>
                  <a:pt x="209436" y="658850"/>
                </a:lnTo>
                <a:lnTo>
                  <a:pt x="169841" y="638979"/>
                </a:lnTo>
                <a:lnTo>
                  <a:pt x="133373" y="614345"/>
                </a:lnTo>
                <a:lnTo>
                  <a:pt x="100441" y="585358"/>
                </a:lnTo>
                <a:lnTo>
                  <a:pt x="71454" y="552426"/>
                </a:lnTo>
                <a:lnTo>
                  <a:pt x="46820" y="515958"/>
                </a:lnTo>
                <a:lnTo>
                  <a:pt x="26949" y="476363"/>
                </a:lnTo>
                <a:lnTo>
                  <a:pt x="12250" y="434048"/>
                </a:lnTo>
                <a:lnTo>
                  <a:pt x="3130" y="389424"/>
                </a:lnTo>
                <a:lnTo>
                  <a:pt x="0" y="342900"/>
                </a:lnTo>
                <a:close/>
              </a:path>
            </a:pathLst>
          </a:custGeom>
          <a:ln w="57150">
            <a:solidFill>
              <a:srgbClr val="385D89"/>
            </a:solidFill>
          </a:ln>
        </p:spPr>
        <p:txBody>
          <a:bodyPr wrap="square" lIns="0" tIns="0" rIns="0" bIns="0" rtlCol="0"/>
          <a:lstStyle/>
          <a:p>
            <a:endParaRPr/>
          </a:p>
        </p:txBody>
      </p:sp>
      <p:sp>
        <p:nvSpPr>
          <p:cNvPr id="17" name="object 14">
            <a:extLst>
              <a:ext uri="{FF2B5EF4-FFF2-40B4-BE49-F238E27FC236}">
                <a16:creationId xmlns:a16="http://schemas.microsoft.com/office/drawing/2014/main" id="{B1B3B0F1-1E9B-2215-F46A-A08F40BD6183}"/>
              </a:ext>
            </a:extLst>
          </p:cNvPr>
          <p:cNvSpPr txBox="1"/>
          <p:nvPr/>
        </p:nvSpPr>
        <p:spPr>
          <a:xfrm>
            <a:off x="11413950" y="4678382"/>
            <a:ext cx="314325" cy="574675"/>
          </a:xfrm>
          <a:prstGeom prst="rect">
            <a:avLst/>
          </a:prstGeom>
        </p:spPr>
        <p:txBody>
          <a:bodyPr vert="horz" wrap="square" lIns="0" tIns="12700" rIns="0" bIns="0" rtlCol="0">
            <a:spAutoFit/>
          </a:bodyPr>
          <a:lstStyle/>
          <a:p>
            <a:pPr marL="12700">
              <a:lnSpc>
                <a:spcPct val="100000"/>
              </a:lnSpc>
              <a:spcBef>
                <a:spcPts val="100"/>
              </a:spcBef>
            </a:pPr>
            <a:r>
              <a:rPr sz="3600" spc="-50" dirty="0">
                <a:latin typeface="Calibri"/>
                <a:cs typeface="Calibri"/>
              </a:rPr>
              <a:t>G</a:t>
            </a:r>
            <a:endParaRPr sz="3600">
              <a:latin typeface="Calibri"/>
              <a:cs typeface="Calibri"/>
            </a:endParaRPr>
          </a:p>
        </p:txBody>
      </p:sp>
      <p:sp>
        <p:nvSpPr>
          <p:cNvPr id="18" name="object 15">
            <a:extLst>
              <a:ext uri="{FF2B5EF4-FFF2-40B4-BE49-F238E27FC236}">
                <a16:creationId xmlns:a16="http://schemas.microsoft.com/office/drawing/2014/main" id="{FF44C0D5-E286-953C-7437-2F4E69A8E0EF}"/>
              </a:ext>
            </a:extLst>
          </p:cNvPr>
          <p:cNvSpPr/>
          <p:nvPr/>
        </p:nvSpPr>
        <p:spPr>
          <a:xfrm>
            <a:off x="11227642" y="3331089"/>
            <a:ext cx="685800" cy="685800"/>
          </a:xfrm>
          <a:custGeom>
            <a:avLst/>
            <a:gdLst/>
            <a:ahLst/>
            <a:cxnLst/>
            <a:rect l="l" t="t" r="r" b="b"/>
            <a:pathLst>
              <a:path w="685800" h="685800">
                <a:moveTo>
                  <a:pt x="0" y="342900"/>
                </a:moveTo>
                <a:lnTo>
                  <a:pt x="3130" y="296375"/>
                </a:lnTo>
                <a:lnTo>
                  <a:pt x="12250" y="251751"/>
                </a:lnTo>
                <a:lnTo>
                  <a:pt x="26949" y="209436"/>
                </a:lnTo>
                <a:lnTo>
                  <a:pt x="46820" y="169841"/>
                </a:lnTo>
                <a:lnTo>
                  <a:pt x="71454" y="133373"/>
                </a:lnTo>
                <a:lnTo>
                  <a:pt x="100441" y="100441"/>
                </a:lnTo>
                <a:lnTo>
                  <a:pt x="133373" y="71454"/>
                </a:lnTo>
                <a:lnTo>
                  <a:pt x="169841" y="46820"/>
                </a:lnTo>
                <a:lnTo>
                  <a:pt x="209436" y="26949"/>
                </a:lnTo>
                <a:lnTo>
                  <a:pt x="251751" y="12250"/>
                </a:lnTo>
                <a:lnTo>
                  <a:pt x="296375" y="3130"/>
                </a:lnTo>
                <a:lnTo>
                  <a:pt x="342900" y="0"/>
                </a:lnTo>
                <a:lnTo>
                  <a:pt x="389424" y="3130"/>
                </a:lnTo>
                <a:lnTo>
                  <a:pt x="434048" y="12250"/>
                </a:lnTo>
                <a:lnTo>
                  <a:pt x="476363" y="26949"/>
                </a:lnTo>
                <a:lnTo>
                  <a:pt x="515958" y="46820"/>
                </a:lnTo>
                <a:lnTo>
                  <a:pt x="552426" y="71454"/>
                </a:lnTo>
                <a:lnTo>
                  <a:pt x="585358" y="100441"/>
                </a:lnTo>
                <a:lnTo>
                  <a:pt x="614345" y="133373"/>
                </a:lnTo>
                <a:lnTo>
                  <a:pt x="638979" y="169841"/>
                </a:lnTo>
                <a:lnTo>
                  <a:pt x="658850" y="209436"/>
                </a:lnTo>
                <a:lnTo>
                  <a:pt x="673549" y="251751"/>
                </a:lnTo>
                <a:lnTo>
                  <a:pt x="682669" y="296375"/>
                </a:lnTo>
                <a:lnTo>
                  <a:pt x="685800" y="342900"/>
                </a:lnTo>
                <a:lnTo>
                  <a:pt x="682669" y="389424"/>
                </a:lnTo>
                <a:lnTo>
                  <a:pt x="673549" y="434048"/>
                </a:lnTo>
                <a:lnTo>
                  <a:pt x="658850" y="476363"/>
                </a:lnTo>
                <a:lnTo>
                  <a:pt x="638979" y="515958"/>
                </a:lnTo>
                <a:lnTo>
                  <a:pt x="614345" y="552426"/>
                </a:lnTo>
                <a:lnTo>
                  <a:pt x="585358" y="585358"/>
                </a:lnTo>
                <a:lnTo>
                  <a:pt x="552426" y="614345"/>
                </a:lnTo>
                <a:lnTo>
                  <a:pt x="515958" y="638979"/>
                </a:lnTo>
                <a:lnTo>
                  <a:pt x="476363" y="658850"/>
                </a:lnTo>
                <a:lnTo>
                  <a:pt x="434048" y="673549"/>
                </a:lnTo>
                <a:lnTo>
                  <a:pt x="389424" y="682669"/>
                </a:lnTo>
                <a:lnTo>
                  <a:pt x="342900" y="685800"/>
                </a:lnTo>
                <a:lnTo>
                  <a:pt x="296375" y="682669"/>
                </a:lnTo>
                <a:lnTo>
                  <a:pt x="251751" y="673549"/>
                </a:lnTo>
                <a:lnTo>
                  <a:pt x="209436" y="658850"/>
                </a:lnTo>
                <a:lnTo>
                  <a:pt x="169841" y="638979"/>
                </a:lnTo>
                <a:lnTo>
                  <a:pt x="133373" y="614345"/>
                </a:lnTo>
                <a:lnTo>
                  <a:pt x="100441" y="585358"/>
                </a:lnTo>
                <a:lnTo>
                  <a:pt x="71454" y="552426"/>
                </a:lnTo>
                <a:lnTo>
                  <a:pt x="46820" y="515958"/>
                </a:lnTo>
                <a:lnTo>
                  <a:pt x="26949" y="476363"/>
                </a:lnTo>
                <a:lnTo>
                  <a:pt x="12250" y="434048"/>
                </a:lnTo>
                <a:lnTo>
                  <a:pt x="3130" y="389424"/>
                </a:lnTo>
                <a:lnTo>
                  <a:pt x="0" y="342900"/>
                </a:lnTo>
                <a:close/>
              </a:path>
            </a:pathLst>
          </a:custGeom>
          <a:ln w="57150">
            <a:solidFill>
              <a:srgbClr val="385D89"/>
            </a:solidFill>
          </a:ln>
        </p:spPr>
        <p:txBody>
          <a:bodyPr wrap="square" lIns="0" tIns="0" rIns="0" bIns="0" rtlCol="0"/>
          <a:lstStyle/>
          <a:p>
            <a:endParaRPr/>
          </a:p>
        </p:txBody>
      </p:sp>
      <p:sp>
        <p:nvSpPr>
          <p:cNvPr id="19" name="object 16">
            <a:extLst>
              <a:ext uri="{FF2B5EF4-FFF2-40B4-BE49-F238E27FC236}">
                <a16:creationId xmlns:a16="http://schemas.microsoft.com/office/drawing/2014/main" id="{716B42F8-CE30-FA0C-4012-DD66E6E72BB6}"/>
              </a:ext>
            </a:extLst>
          </p:cNvPr>
          <p:cNvSpPr txBox="1"/>
          <p:nvPr/>
        </p:nvSpPr>
        <p:spPr>
          <a:xfrm>
            <a:off x="11416998" y="3358649"/>
            <a:ext cx="306705" cy="574040"/>
          </a:xfrm>
          <a:prstGeom prst="rect">
            <a:avLst/>
          </a:prstGeom>
        </p:spPr>
        <p:txBody>
          <a:bodyPr vert="horz" wrap="square" lIns="0" tIns="12700" rIns="0" bIns="0" rtlCol="0">
            <a:spAutoFit/>
          </a:bodyPr>
          <a:lstStyle/>
          <a:p>
            <a:pPr marL="12700">
              <a:lnSpc>
                <a:spcPct val="100000"/>
              </a:lnSpc>
              <a:spcBef>
                <a:spcPts val="100"/>
              </a:spcBef>
            </a:pPr>
            <a:r>
              <a:rPr sz="3600" spc="-50" dirty="0">
                <a:latin typeface="Calibri"/>
                <a:cs typeface="Calibri"/>
              </a:rPr>
              <a:t>D</a:t>
            </a:r>
            <a:endParaRPr sz="3600">
              <a:latin typeface="Calibri"/>
              <a:cs typeface="Calibri"/>
            </a:endParaRPr>
          </a:p>
        </p:txBody>
      </p:sp>
      <p:sp>
        <p:nvSpPr>
          <p:cNvPr id="20" name="object 17">
            <a:extLst>
              <a:ext uri="{FF2B5EF4-FFF2-40B4-BE49-F238E27FC236}">
                <a16:creationId xmlns:a16="http://schemas.microsoft.com/office/drawing/2014/main" id="{6B55628C-0BEE-029A-CE28-CBB43C49C068}"/>
              </a:ext>
            </a:extLst>
          </p:cNvPr>
          <p:cNvSpPr/>
          <p:nvPr/>
        </p:nvSpPr>
        <p:spPr>
          <a:xfrm>
            <a:off x="8912685" y="4682877"/>
            <a:ext cx="685800" cy="685800"/>
          </a:xfrm>
          <a:custGeom>
            <a:avLst/>
            <a:gdLst/>
            <a:ahLst/>
            <a:cxnLst/>
            <a:rect l="l" t="t" r="r" b="b"/>
            <a:pathLst>
              <a:path w="685800" h="685800">
                <a:moveTo>
                  <a:pt x="0" y="342899"/>
                </a:moveTo>
                <a:lnTo>
                  <a:pt x="3130" y="296375"/>
                </a:lnTo>
                <a:lnTo>
                  <a:pt x="12250" y="251751"/>
                </a:lnTo>
                <a:lnTo>
                  <a:pt x="26949" y="209436"/>
                </a:lnTo>
                <a:lnTo>
                  <a:pt x="46820" y="169841"/>
                </a:lnTo>
                <a:lnTo>
                  <a:pt x="71454" y="133373"/>
                </a:lnTo>
                <a:lnTo>
                  <a:pt x="100441" y="100441"/>
                </a:lnTo>
                <a:lnTo>
                  <a:pt x="133373" y="71454"/>
                </a:lnTo>
                <a:lnTo>
                  <a:pt x="169841" y="46820"/>
                </a:lnTo>
                <a:lnTo>
                  <a:pt x="209436" y="26949"/>
                </a:lnTo>
                <a:lnTo>
                  <a:pt x="251751" y="12250"/>
                </a:lnTo>
                <a:lnTo>
                  <a:pt x="296375" y="3130"/>
                </a:lnTo>
                <a:lnTo>
                  <a:pt x="342900" y="0"/>
                </a:lnTo>
                <a:lnTo>
                  <a:pt x="389424" y="3130"/>
                </a:lnTo>
                <a:lnTo>
                  <a:pt x="434048" y="12250"/>
                </a:lnTo>
                <a:lnTo>
                  <a:pt x="476363" y="26949"/>
                </a:lnTo>
                <a:lnTo>
                  <a:pt x="515958" y="46820"/>
                </a:lnTo>
                <a:lnTo>
                  <a:pt x="552426" y="71454"/>
                </a:lnTo>
                <a:lnTo>
                  <a:pt x="585358" y="100441"/>
                </a:lnTo>
                <a:lnTo>
                  <a:pt x="614345" y="133373"/>
                </a:lnTo>
                <a:lnTo>
                  <a:pt x="638979" y="169841"/>
                </a:lnTo>
                <a:lnTo>
                  <a:pt x="658850" y="209436"/>
                </a:lnTo>
                <a:lnTo>
                  <a:pt x="673549" y="251751"/>
                </a:lnTo>
                <a:lnTo>
                  <a:pt x="682669" y="296375"/>
                </a:lnTo>
                <a:lnTo>
                  <a:pt x="685800" y="342899"/>
                </a:lnTo>
                <a:lnTo>
                  <a:pt x="682669" y="389424"/>
                </a:lnTo>
                <a:lnTo>
                  <a:pt x="673549" y="434048"/>
                </a:lnTo>
                <a:lnTo>
                  <a:pt x="658850" y="476363"/>
                </a:lnTo>
                <a:lnTo>
                  <a:pt x="638979" y="515958"/>
                </a:lnTo>
                <a:lnTo>
                  <a:pt x="614345" y="552426"/>
                </a:lnTo>
                <a:lnTo>
                  <a:pt x="585358" y="585358"/>
                </a:lnTo>
                <a:lnTo>
                  <a:pt x="552426" y="614345"/>
                </a:lnTo>
                <a:lnTo>
                  <a:pt x="515958" y="638979"/>
                </a:lnTo>
                <a:lnTo>
                  <a:pt x="476363" y="658850"/>
                </a:lnTo>
                <a:lnTo>
                  <a:pt x="434048" y="673549"/>
                </a:lnTo>
                <a:lnTo>
                  <a:pt x="389424" y="682669"/>
                </a:lnTo>
                <a:lnTo>
                  <a:pt x="342900" y="685799"/>
                </a:lnTo>
                <a:lnTo>
                  <a:pt x="296375" y="682669"/>
                </a:lnTo>
                <a:lnTo>
                  <a:pt x="251751" y="673549"/>
                </a:lnTo>
                <a:lnTo>
                  <a:pt x="209436" y="658850"/>
                </a:lnTo>
                <a:lnTo>
                  <a:pt x="169841" y="638979"/>
                </a:lnTo>
                <a:lnTo>
                  <a:pt x="133373" y="614345"/>
                </a:lnTo>
                <a:lnTo>
                  <a:pt x="100441" y="585358"/>
                </a:lnTo>
                <a:lnTo>
                  <a:pt x="71454" y="552426"/>
                </a:lnTo>
                <a:lnTo>
                  <a:pt x="46820" y="515958"/>
                </a:lnTo>
                <a:lnTo>
                  <a:pt x="26949" y="476363"/>
                </a:lnTo>
                <a:lnTo>
                  <a:pt x="12250" y="434048"/>
                </a:lnTo>
                <a:lnTo>
                  <a:pt x="3130" y="389424"/>
                </a:lnTo>
                <a:lnTo>
                  <a:pt x="0" y="342899"/>
                </a:lnTo>
                <a:close/>
              </a:path>
            </a:pathLst>
          </a:custGeom>
          <a:ln w="57150">
            <a:solidFill>
              <a:srgbClr val="385D89"/>
            </a:solidFill>
          </a:ln>
        </p:spPr>
        <p:txBody>
          <a:bodyPr wrap="square" lIns="0" tIns="0" rIns="0" bIns="0" rtlCol="0"/>
          <a:lstStyle/>
          <a:p>
            <a:endParaRPr/>
          </a:p>
        </p:txBody>
      </p:sp>
      <p:sp>
        <p:nvSpPr>
          <p:cNvPr id="21" name="object 18">
            <a:extLst>
              <a:ext uri="{FF2B5EF4-FFF2-40B4-BE49-F238E27FC236}">
                <a16:creationId xmlns:a16="http://schemas.microsoft.com/office/drawing/2014/main" id="{B1979191-7B8B-7D20-5844-8D755C5AD220}"/>
              </a:ext>
            </a:extLst>
          </p:cNvPr>
          <p:cNvSpPr txBox="1"/>
          <p:nvPr/>
        </p:nvSpPr>
        <p:spPr>
          <a:xfrm>
            <a:off x="9139000" y="4711071"/>
            <a:ext cx="235585" cy="574040"/>
          </a:xfrm>
          <a:prstGeom prst="rect">
            <a:avLst/>
          </a:prstGeom>
        </p:spPr>
        <p:txBody>
          <a:bodyPr vert="horz" wrap="square" lIns="0" tIns="12700" rIns="0" bIns="0" rtlCol="0">
            <a:spAutoFit/>
          </a:bodyPr>
          <a:lstStyle/>
          <a:p>
            <a:pPr marL="12700">
              <a:lnSpc>
                <a:spcPct val="100000"/>
              </a:lnSpc>
              <a:spcBef>
                <a:spcPts val="100"/>
              </a:spcBef>
            </a:pPr>
            <a:r>
              <a:rPr sz="3600" spc="-50" dirty="0">
                <a:latin typeface="Calibri"/>
                <a:cs typeface="Calibri"/>
              </a:rPr>
              <a:t>F</a:t>
            </a:r>
            <a:endParaRPr sz="3600">
              <a:latin typeface="Calibri"/>
              <a:cs typeface="Calibri"/>
            </a:endParaRPr>
          </a:p>
        </p:txBody>
      </p:sp>
      <p:sp>
        <p:nvSpPr>
          <p:cNvPr id="22" name="object 19">
            <a:extLst>
              <a:ext uri="{FF2B5EF4-FFF2-40B4-BE49-F238E27FC236}">
                <a16:creationId xmlns:a16="http://schemas.microsoft.com/office/drawing/2014/main" id="{774A973D-E5D4-6116-F61F-B682A0673581}"/>
              </a:ext>
            </a:extLst>
          </p:cNvPr>
          <p:cNvSpPr/>
          <p:nvPr/>
        </p:nvSpPr>
        <p:spPr>
          <a:xfrm>
            <a:off x="7539561" y="2409070"/>
            <a:ext cx="4030979" cy="3578225"/>
          </a:xfrm>
          <a:custGeom>
            <a:avLst/>
            <a:gdLst/>
            <a:ahLst/>
            <a:cxnLst/>
            <a:rect l="l" t="t" r="r" b="b"/>
            <a:pathLst>
              <a:path w="4030979" h="3578225">
                <a:moveTo>
                  <a:pt x="1473962" y="242315"/>
                </a:moveTo>
                <a:lnTo>
                  <a:pt x="893064" y="1022223"/>
                </a:lnTo>
              </a:path>
              <a:path w="4030979" h="3578225">
                <a:moveTo>
                  <a:pt x="496823" y="1591055"/>
                </a:moveTo>
                <a:lnTo>
                  <a:pt x="158496" y="2273172"/>
                </a:lnTo>
              </a:path>
              <a:path w="4030979" h="3578225">
                <a:moveTo>
                  <a:pt x="0" y="2927604"/>
                </a:moveTo>
                <a:lnTo>
                  <a:pt x="0" y="3577716"/>
                </a:lnTo>
              </a:path>
              <a:path w="4030979" h="3578225">
                <a:moveTo>
                  <a:pt x="893064" y="1507236"/>
                </a:moveTo>
                <a:lnTo>
                  <a:pt x="1605915" y="2273808"/>
                </a:lnTo>
              </a:path>
              <a:path w="4030979" h="3578225">
                <a:moveTo>
                  <a:pt x="993647" y="1264919"/>
                </a:moveTo>
                <a:lnTo>
                  <a:pt x="2235327" y="1264919"/>
                </a:lnTo>
              </a:path>
              <a:path w="4030979" h="3578225">
                <a:moveTo>
                  <a:pt x="1959864" y="242315"/>
                </a:moveTo>
                <a:lnTo>
                  <a:pt x="2579116" y="921892"/>
                </a:lnTo>
              </a:path>
              <a:path w="4030979" h="3578225">
                <a:moveTo>
                  <a:pt x="2058924" y="0"/>
                </a:moveTo>
                <a:lnTo>
                  <a:pt x="3787648" y="1022476"/>
                </a:lnTo>
              </a:path>
              <a:path w="4030979" h="3578225">
                <a:moveTo>
                  <a:pt x="4030980" y="1607819"/>
                </a:moveTo>
                <a:lnTo>
                  <a:pt x="4030980" y="2241804"/>
                </a:lnTo>
              </a:path>
              <a:path w="4030979" h="3578225">
                <a:moveTo>
                  <a:pt x="2579116" y="1607819"/>
                </a:moveTo>
                <a:lnTo>
                  <a:pt x="1959864" y="2374391"/>
                </a:lnTo>
              </a:path>
            </a:pathLst>
          </a:custGeom>
          <a:ln w="57150">
            <a:solidFill>
              <a:srgbClr val="497DBA"/>
            </a:solidFill>
          </a:ln>
        </p:spPr>
        <p:txBody>
          <a:bodyPr wrap="square" lIns="0" tIns="0" rIns="0" bIns="0" rtlCol="0"/>
          <a:lstStyle/>
          <a:p>
            <a:endParaRPr/>
          </a:p>
        </p:txBody>
      </p:sp>
    </p:spTree>
    <p:extLst>
      <p:ext uri="{BB962C8B-B14F-4D97-AF65-F5344CB8AC3E}">
        <p14:creationId xmlns:p14="http://schemas.microsoft.com/office/powerpoint/2010/main" val="33859175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FC6C02-AB34-66AF-0300-620286F134CD}"/>
              </a:ext>
            </a:extLst>
          </p:cNvPr>
          <p:cNvSpPr>
            <a:spLocks noGrp="1"/>
          </p:cNvSpPr>
          <p:nvPr>
            <p:ph type="title"/>
          </p:nvPr>
        </p:nvSpPr>
        <p:spPr/>
        <p:txBody>
          <a:bodyPr/>
          <a:lstStyle/>
          <a:p>
            <a:r>
              <a:rPr lang="en-US" dirty="0"/>
              <a:t>IDS – Limit 0</a:t>
            </a:r>
          </a:p>
        </p:txBody>
      </p:sp>
      <p:pic>
        <p:nvPicPr>
          <p:cNvPr id="5" name="Content Placeholder 4">
            <a:extLst>
              <a:ext uri="{FF2B5EF4-FFF2-40B4-BE49-F238E27FC236}">
                <a16:creationId xmlns:a16="http://schemas.microsoft.com/office/drawing/2014/main" id="{B8A916AD-A4A3-26CA-000D-464FEFF26816}"/>
              </a:ext>
            </a:extLst>
          </p:cNvPr>
          <p:cNvPicPr>
            <a:picLocks noGrp="1" noChangeAspect="1"/>
          </p:cNvPicPr>
          <p:nvPr>
            <p:ph idx="1"/>
          </p:nvPr>
        </p:nvPicPr>
        <p:blipFill>
          <a:blip r:embed="rId2"/>
          <a:stretch>
            <a:fillRect/>
          </a:stretch>
        </p:blipFill>
        <p:spPr>
          <a:xfrm>
            <a:off x="3423864" y="3469401"/>
            <a:ext cx="5344271" cy="1143160"/>
          </a:xfrm>
          <a:prstGeom prst="rect">
            <a:avLst/>
          </a:prstGeom>
          <a:effectLst>
            <a:outerShdw blurRad="50800" dir="14400000">
              <a:srgbClr val="000000">
                <a:alpha val="40000"/>
              </a:srgbClr>
            </a:outerShdw>
          </a:effectLst>
        </p:spPr>
      </p:pic>
    </p:spTree>
    <p:extLst>
      <p:ext uri="{BB962C8B-B14F-4D97-AF65-F5344CB8AC3E}">
        <p14:creationId xmlns:p14="http://schemas.microsoft.com/office/powerpoint/2010/main" val="241617335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792B0B-6F1A-78D9-84B0-651E5C8FC6E9}"/>
              </a:ext>
            </a:extLst>
          </p:cNvPr>
          <p:cNvSpPr>
            <a:spLocks noGrp="1"/>
          </p:cNvSpPr>
          <p:nvPr>
            <p:ph type="title"/>
          </p:nvPr>
        </p:nvSpPr>
        <p:spPr/>
        <p:txBody>
          <a:bodyPr/>
          <a:lstStyle/>
          <a:p>
            <a:r>
              <a:rPr lang="en-US" dirty="0"/>
              <a:t>IDS – Limit 1</a:t>
            </a:r>
          </a:p>
        </p:txBody>
      </p:sp>
      <p:pic>
        <p:nvPicPr>
          <p:cNvPr id="5" name="Content Placeholder 4">
            <a:extLst>
              <a:ext uri="{FF2B5EF4-FFF2-40B4-BE49-F238E27FC236}">
                <a16:creationId xmlns:a16="http://schemas.microsoft.com/office/drawing/2014/main" id="{9BE8C771-2C00-FC6A-9BEC-3D6C5B04311A}"/>
              </a:ext>
            </a:extLst>
          </p:cNvPr>
          <p:cNvPicPr>
            <a:picLocks noGrp="1" noChangeAspect="1"/>
          </p:cNvPicPr>
          <p:nvPr>
            <p:ph idx="1"/>
          </p:nvPr>
        </p:nvPicPr>
        <p:blipFill>
          <a:blip r:embed="rId2"/>
          <a:stretch>
            <a:fillRect/>
          </a:stretch>
        </p:blipFill>
        <p:spPr>
          <a:xfrm>
            <a:off x="819150" y="3326787"/>
            <a:ext cx="10553700" cy="1428388"/>
          </a:xfrm>
          <a:prstGeom prst="rect">
            <a:avLst/>
          </a:prstGeom>
          <a:effectLst>
            <a:outerShdw blurRad="50800" dir="14400000">
              <a:srgbClr val="000000">
                <a:alpha val="40000"/>
              </a:srgbClr>
            </a:outerShdw>
          </a:effectLst>
        </p:spPr>
      </p:pic>
    </p:spTree>
    <p:extLst>
      <p:ext uri="{BB962C8B-B14F-4D97-AF65-F5344CB8AC3E}">
        <p14:creationId xmlns:p14="http://schemas.microsoft.com/office/powerpoint/2010/main" val="110405014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38B1CA-ECC6-2727-F6A2-E19A518F4B86}"/>
              </a:ext>
            </a:extLst>
          </p:cNvPr>
          <p:cNvSpPr>
            <a:spLocks noGrp="1"/>
          </p:cNvSpPr>
          <p:nvPr>
            <p:ph type="title"/>
          </p:nvPr>
        </p:nvSpPr>
        <p:spPr/>
        <p:txBody>
          <a:bodyPr/>
          <a:lstStyle/>
          <a:p>
            <a:r>
              <a:rPr lang="en-US" dirty="0"/>
              <a:t>IDS – Limit 2</a:t>
            </a:r>
          </a:p>
        </p:txBody>
      </p:sp>
      <p:pic>
        <p:nvPicPr>
          <p:cNvPr id="5" name="Content Placeholder 4">
            <a:extLst>
              <a:ext uri="{FF2B5EF4-FFF2-40B4-BE49-F238E27FC236}">
                <a16:creationId xmlns:a16="http://schemas.microsoft.com/office/drawing/2014/main" id="{0D21267D-BBA8-A720-D5EA-25B30620E6C0}"/>
              </a:ext>
            </a:extLst>
          </p:cNvPr>
          <p:cNvPicPr>
            <a:picLocks noGrp="1" noChangeAspect="1"/>
          </p:cNvPicPr>
          <p:nvPr>
            <p:ph idx="1"/>
          </p:nvPr>
        </p:nvPicPr>
        <p:blipFill>
          <a:blip r:embed="rId2"/>
          <a:stretch>
            <a:fillRect/>
          </a:stretch>
        </p:blipFill>
        <p:spPr>
          <a:xfrm>
            <a:off x="381529" y="2643311"/>
            <a:ext cx="11428941" cy="3244533"/>
          </a:xfrm>
          <a:prstGeom prst="rect">
            <a:avLst/>
          </a:prstGeom>
          <a:effectLst>
            <a:outerShdw blurRad="50800" dir="14400000">
              <a:srgbClr val="000000">
                <a:alpha val="40000"/>
              </a:srgbClr>
            </a:outerShdw>
          </a:effectLst>
        </p:spPr>
      </p:pic>
    </p:spTree>
    <p:extLst>
      <p:ext uri="{BB962C8B-B14F-4D97-AF65-F5344CB8AC3E}">
        <p14:creationId xmlns:p14="http://schemas.microsoft.com/office/powerpoint/2010/main" val="335895908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3B97E6-9AD1-C94D-502E-0FD114737D9F}"/>
              </a:ext>
            </a:extLst>
          </p:cNvPr>
          <p:cNvSpPr>
            <a:spLocks noGrp="1"/>
          </p:cNvSpPr>
          <p:nvPr>
            <p:ph type="title"/>
          </p:nvPr>
        </p:nvSpPr>
        <p:spPr/>
        <p:txBody>
          <a:bodyPr/>
          <a:lstStyle/>
          <a:p>
            <a:r>
              <a:rPr lang="en-US" dirty="0"/>
              <a:t>IDS – Limit 3</a:t>
            </a:r>
          </a:p>
        </p:txBody>
      </p:sp>
      <p:pic>
        <p:nvPicPr>
          <p:cNvPr id="5" name="Content Placeholder 4">
            <a:extLst>
              <a:ext uri="{FF2B5EF4-FFF2-40B4-BE49-F238E27FC236}">
                <a16:creationId xmlns:a16="http://schemas.microsoft.com/office/drawing/2014/main" id="{3A998492-7872-6A65-0D80-37C9EB04DF54}"/>
              </a:ext>
            </a:extLst>
          </p:cNvPr>
          <p:cNvPicPr>
            <a:picLocks noGrp="1" noChangeAspect="1"/>
          </p:cNvPicPr>
          <p:nvPr>
            <p:ph idx="1"/>
          </p:nvPr>
        </p:nvPicPr>
        <p:blipFill>
          <a:blip r:embed="rId2"/>
          <a:stretch>
            <a:fillRect/>
          </a:stretch>
        </p:blipFill>
        <p:spPr>
          <a:xfrm>
            <a:off x="1213623" y="2200197"/>
            <a:ext cx="9764754" cy="4557441"/>
          </a:xfrm>
          <a:prstGeom prst="rect">
            <a:avLst/>
          </a:prstGeom>
          <a:effectLst>
            <a:outerShdw blurRad="50800" dir="14400000">
              <a:srgbClr val="000000">
                <a:alpha val="40000"/>
              </a:srgbClr>
            </a:outerShdw>
          </a:effectLst>
        </p:spPr>
      </p:pic>
    </p:spTree>
    <p:extLst>
      <p:ext uri="{BB962C8B-B14F-4D97-AF65-F5344CB8AC3E}">
        <p14:creationId xmlns:p14="http://schemas.microsoft.com/office/powerpoint/2010/main" val="131815297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AEEB2C-1883-D26D-5BAA-E74CACDEE429}"/>
              </a:ext>
            </a:extLst>
          </p:cNvPr>
          <p:cNvSpPr>
            <a:spLocks noGrp="1"/>
          </p:cNvSpPr>
          <p:nvPr>
            <p:ph type="title"/>
          </p:nvPr>
        </p:nvSpPr>
        <p:spPr/>
        <p:txBody>
          <a:bodyPr/>
          <a:lstStyle/>
          <a:p>
            <a:r>
              <a:rPr lang="en-US" dirty="0"/>
              <a:t>Properties of IDS</a:t>
            </a:r>
          </a:p>
        </p:txBody>
      </p:sp>
      <p:sp>
        <p:nvSpPr>
          <p:cNvPr id="3" name="Content Placeholder 2">
            <a:extLst>
              <a:ext uri="{FF2B5EF4-FFF2-40B4-BE49-F238E27FC236}">
                <a16:creationId xmlns:a16="http://schemas.microsoft.com/office/drawing/2014/main" id="{4DDC5451-3945-B9BE-A7BB-25C3C393D9B7}"/>
              </a:ext>
            </a:extLst>
          </p:cNvPr>
          <p:cNvSpPr>
            <a:spLocks noGrp="1"/>
          </p:cNvSpPr>
          <p:nvPr>
            <p:ph idx="1"/>
          </p:nvPr>
        </p:nvSpPr>
        <p:spPr/>
        <p:txBody>
          <a:bodyPr/>
          <a:lstStyle/>
          <a:p>
            <a:r>
              <a:rPr lang="en-US" dirty="0"/>
              <a:t>Complete: </a:t>
            </a:r>
            <a:r>
              <a:rPr lang="en-US" b="1" dirty="0"/>
              <a:t>Yes</a:t>
            </a:r>
            <a:r>
              <a:rPr lang="en-US" dirty="0"/>
              <a:t> (if the b is finite)</a:t>
            </a:r>
          </a:p>
          <a:p>
            <a:r>
              <a:rPr lang="en-US" dirty="0"/>
              <a:t>Time: (d+1)b</a:t>
            </a:r>
            <a:r>
              <a:rPr lang="en-US" baseline="30000" dirty="0"/>
              <a:t>0</a:t>
            </a:r>
            <a:r>
              <a:rPr lang="en-US" dirty="0"/>
              <a:t> + d b</a:t>
            </a:r>
            <a:r>
              <a:rPr lang="en-US" baseline="30000" dirty="0"/>
              <a:t>1</a:t>
            </a:r>
            <a:r>
              <a:rPr lang="en-US" dirty="0"/>
              <a:t> + (d-1)b</a:t>
            </a:r>
            <a:r>
              <a:rPr lang="en-US" baseline="30000" dirty="0"/>
              <a:t>2</a:t>
            </a:r>
            <a:r>
              <a:rPr lang="en-US" dirty="0"/>
              <a:t> + … + b</a:t>
            </a:r>
            <a:r>
              <a:rPr lang="en-US" baseline="30000" dirty="0"/>
              <a:t>d</a:t>
            </a:r>
            <a:r>
              <a:rPr lang="en-US" dirty="0"/>
              <a:t> = </a:t>
            </a:r>
            <a:r>
              <a:rPr lang="en-US" b="1" dirty="0"/>
              <a:t>O(b</a:t>
            </a:r>
            <a:r>
              <a:rPr lang="en-US" b="1" baseline="30000" dirty="0"/>
              <a:t>d</a:t>
            </a:r>
            <a:r>
              <a:rPr lang="en-US" b="1" dirty="0"/>
              <a:t>)</a:t>
            </a:r>
          </a:p>
          <a:p>
            <a:r>
              <a:rPr lang="en-US" dirty="0"/>
              <a:t>Space: </a:t>
            </a:r>
            <a:r>
              <a:rPr lang="en-US" b="1" dirty="0"/>
              <a:t>O(bd)</a:t>
            </a:r>
          </a:p>
          <a:p>
            <a:r>
              <a:rPr lang="en-US" dirty="0"/>
              <a:t>Optimal: Yes, if step cost = 1</a:t>
            </a:r>
          </a:p>
        </p:txBody>
      </p:sp>
    </p:spTree>
    <p:extLst>
      <p:ext uri="{BB962C8B-B14F-4D97-AF65-F5344CB8AC3E}">
        <p14:creationId xmlns:p14="http://schemas.microsoft.com/office/powerpoint/2010/main" val="94502530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85C5E4-CA6A-5BA5-5F2F-DBE629440DF7}"/>
              </a:ext>
            </a:extLst>
          </p:cNvPr>
          <p:cNvSpPr>
            <a:spLocks noGrp="1"/>
          </p:cNvSpPr>
          <p:nvPr>
            <p:ph type="title"/>
          </p:nvPr>
        </p:nvSpPr>
        <p:spPr/>
        <p:txBody>
          <a:bodyPr/>
          <a:lstStyle/>
          <a:p>
            <a:r>
              <a:rPr lang="en-US" spc="-5" dirty="0">
                <a:solidFill>
                  <a:schemeClr val="tx2"/>
                </a:solidFill>
              </a:rPr>
              <a:t>Bi-directional</a:t>
            </a:r>
            <a:r>
              <a:rPr lang="en-US" spc="-60" dirty="0">
                <a:solidFill>
                  <a:schemeClr val="tx2"/>
                </a:solidFill>
              </a:rPr>
              <a:t> </a:t>
            </a:r>
            <a:r>
              <a:rPr lang="en-US" spc="-5" dirty="0">
                <a:solidFill>
                  <a:schemeClr val="tx2"/>
                </a:solidFill>
              </a:rPr>
              <a:t>Search</a:t>
            </a:r>
            <a:endParaRPr lang="en-US" dirty="0"/>
          </a:p>
        </p:txBody>
      </p:sp>
      <p:sp>
        <p:nvSpPr>
          <p:cNvPr id="3" name="Content Placeholder 2">
            <a:extLst>
              <a:ext uri="{FF2B5EF4-FFF2-40B4-BE49-F238E27FC236}">
                <a16:creationId xmlns:a16="http://schemas.microsoft.com/office/drawing/2014/main" id="{01B9CAA7-144F-35A4-980C-5530A97E89BF}"/>
              </a:ext>
            </a:extLst>
          </p:cNvPr>
          <p:cNvSpPr>
            <a:spLocks noGrp="1"/>
          </p:cNvSpPr>
          <p:nvPr>
            <p:ph idx="1"/>
          </p:nvPr>
        </p:nvSpPr>
        <p:spPr/>
        <p:txBody>
          <a:bodyPr>
            <a:normAutofit/>
          </a:bodyPr>
          <a:lstStyle/>
          <a:p>
            <a:r>
              <a:rPr lang="en-US" dirty="0"/>
              <a:t>Bidirectional search algorithm runs </a:t>
            </a:r>
            <a:r>
              <a:rPr lang="en-US" b="1" dirty="0"/>
              <a:t>two</a:t>
            </a:r>
            <a:r>
              <a:rPr lang="en-US" dirty="0"/>
              <a:t> </a:t>
            </a:r>
            <a:r>
              <a:rPr lang="en-US" b="1" dirty="0"/>
              <a:t>simultaneous</a:t>
            </a:r>
            <a:r>
              <a:rPr lang="en-US" dirty="0"/>
              <a:t> </a:t>
            </a:r>
            <a:r>
              <a:rPr lang="en-US" b="1" dirty="0"/>
              <a:t>searches</a:t>
            </a:r>
            <a:r>
              <a:rPr lang="en-US" dirty="0"/>
              <a:t>, one form initial state called as </a:t>
            </a:r>
            <a:r>
              <a:rPr lang="en-US" b="1" dirty="0">
                <a:solidFill>
                  <a:schemeClr val="accent3"/>
                </a:solidFill>
              </a:rPr>
              <a:t>forward-search</a:t>
            </a:r>
            <a:r>
              <a:rPr lang="en-US" dirty="0"/>
              <a:t> and other from goal node called as </a:t>
            </a:r>
            <a:r>
              <a:rPr lang="en-US" b="1" dirty="0">
                <a:solidFill>
                  <a:schemeClr val="accent3"/>
                </a:solidFill>
              </a:rPr>
              <a:t>backward-search</a:t>
            </a:r>
            <a:r>
              <a:rPr lang="en-US" dirty="0"/>
              <a:t>, to find the goal node.</a:t>
            </a:r>
          </a:p>
          <a:p>
            <a:endParaRPr lang="en-US" dirty="0"/>
          </a:p>
          <a:p>
            <a:r>
              <a:rPr lang="en-US" dirty="0"/>
              <a:t> Bidirectional search replaces one single search graph with two small subgraphs in which one starts the search from an initial vertex and other starts from goal vertex.</a:t>
            </a:r>
          </a:p>
          <a:p>
            <a:r>
              <a:rPr lang="en-US" dirty="0"/>
              <a:t> The search stops when these two graphs intersect each other.</a:t>
            </a:r>
          </a:p>
          <a:p>
            <a:endParaRPr lang="en-US" dirty="0"/>
          </a:p>
          <a:p>
            <a:r>
              <a:rPr lang="en-US" dirty="0"/>
              <a:t>Bidirectional search can use search techniques such as BFS, DFS, etc.</a:t>
            </a:r>
          </a:p>
        </p:txBody>
      </p:sp>
    </p:spTree>
    <p:extLst>
      <p:ext uri="{BB962C8B-B14F-4D97-AF65-F5344CB8AC3E}">
        <p14:creationId xmlns:p14="http://schemas.microsoft.com/office/powerpoint/2010/main" val="219370823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C001DE-6610-238B-CAD7-85FAA241F24E}"/>
              </a:ext>
            </a:extLst>
          </p:cNvPr>
          <p:cNvSpPr>
            <a:spLocks noGrp="1"/>
          </p:cNvSpPr>
          <p:nvPr>
            <p:ph type="title"/>
          </p:nvPr>
        </p:nvSpPr>
        <p:spPr/>
        <p:txBody>
          <a:bodyPr/>
          <a:lstStyle/>
          <a:p>
            <a:r>
              <a:rPr lang="en-US" dirty="0"/>
              <a:t>Bi-directional Search</a:t>
            </a:r>
          </a:p>
        </p:txBody>
      </p:sp>
      <p:sp>
        <p:nvSpPr>
          <p:cNvPr id="3" name="Content Placeholder 2">
            <a:extLst>
              <a:ext uri="{FF2B5EF4-FFF2-40B4-BE49-F238E27FC236}">
                <a16:creationId xmlns:a16="http://schemas.microsoft.com/office/drawing/2014/main" id="{47D00218-6D2F-A220-0428-F1649E8F513C}"/>
              </a:ext>
            </a:extLst>
          </p:cNvPr>
          <p:cNvSpPr>
            <a:spLocks noGrp="1"/>
          </p:cNvSpPr>
          <p:nvPr>
            <p:ph idx="1"/>
          </p:nvPr>
        </p:nvSpPr>
        <p:spPr/>
        <p:txBody>
          <a:bodyPr/>
          <a:lstStyle/>
          <a:p>
            <a:r>
              <a:rPr lang="en-US" dirty="0"/>
              <a:t>Both search </a:t>
            </a:r>
            <a:r>
              <a:rPr lang="en-US" b="1" dirty="0"/>
              <a:t>forward</a:t>
            </a:r>
            <a:r>
              <a:rPr lang="en-US" dirty="0"/>
              <a:t> from </a:t>
            </a:r>
            <a:r>
              <a:rPr lang="en-US" b="1" dirty="0"/>
              <a:t>initial</a:t>
            </a:r>
            <a:r>
              <a:rPr lang="en-US" dirty="0"/>
              <a:t> </a:t>
            </a:r>
            <a:r>
              <a:rPr lang="en-US" b="1" dirty="0"/>
              <a:t>state</a:t>
            </a:r>
            <a:r>
              <a:rPr lang="en-US" dirty="0"/>
              <a:t>, and </a:t>
            </a:r>
            <a:r>
              <a:rPr lang="en-US" b="1" dirty="0"/>
              <a:t>backwards</a:t>
            </a:r>
            <a:r>
              <a:rPr lang="en-US" dirty="0"/>
              <a:t> from </a:t>
            </a:r>
            <a:r>
              <a:rPr lang="en-US" b="1" dirty="0"/>
              <a:t>goal state</a:t>
            </a:r>
            <a:r>
              <a:rPr lang="en-US" dirty="0"/>
              <a:t>.</a:t>
            </a:r>
          </a:p>
          <a:p>
            <a:r>
              <a:rPr lang="en-US" dirty="0"/>
              <a:t>Motivation: </a:t>
            </a:r>
            <a:r>
              <a:rPr lang="en-US" b="1" dirty="0"/>
              <a:t>b</a:t>
            </a:r>
            <a:r>
              <a:rPr lang="en-US" b="1" baseline="30000" dirty="0"/>
              <a:t>d/2</a:t>
            </a:r>
            <a:r>
              <a:rPr lang="en-US" b="1" dirty="0"/>
              <a:t> + b</a:t>
            </a:r>
            <a:r>
              <a:rPr lang="en-US" b="1" baseline="30000" dirty="0"/>
              <a:t>d/2</a:t>
            </a:r>
            <a:r>
              <a:rPr lang="en-US" b="1" dirty="0"/>
              <a:t> is much less than b</a:t>
            </a:r>
            <a:r>
              <a:rPr lang="en-US" b="1" baseline="30000" dirty="0"/>
              <a:t>d</a:t>
            </a:r>
          </a:p>
          <a:p>
            <a:endParaRPr lang="en-US" dirty="0"/>
          </a:p>
          <a:p>
            <a:r>
              <a:rPr lang="en-US" b="1" dirty="0"/>
              <a:t>Replace the goal test </a:t>
            </a:r>
            <a:r>
              <a:rPr lang="en-US" dirty="0"/>
              <a:t>with a check to see </a:t>
            </a:r>
            <a:r>
              <a:rPr lang="en-US" b="1" dirty="0"/>
              <a:t>whether the frontiers of the two searches intersect</a:t>
            </a:r>
            <a:r>
              <a:rPr lang="en-US" dirty="0"/>
              <a:t>, if yes then solution is found.</a:t>
            </a:r>
          </a:p>
          <a:p>
            <a:endParaRPr lang="en-US" dirty="0"/>
          </a:p>
          <a:p>
            <a:endParaRPr lang="en-US" dirty="0"/>
          </a:p>
        </p:txBody>
      </p:sp>
    </p:spTree>
    <p:extLst>
      <p:ext uri="{BB962C8B-B14F-4D97-AF65-F5344CB8AC3E}">
        <p14:creationId xmlns:p14="http://schemas.microsoft.com/office/powerpoint/2010/main" val="244796535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object 8">
            <a:extLst>
              <a:ext uri="{FF2B5EF4-FFF2-40B4-BE49-F238E27FC236}">
                <a16:creationId xmlns:a16="http://schemas.microsoft.com/office/drawing/2014/main" id="{E1AE5114-E5DC-70BF-6A26-C683099794BD}"/>
              </a:ext>
            </a:extLst>
          </p:cNvPr>
          <p:cNvPicPr/>
          <p:nvPr/>
        </p:nvPicPr>
        <p:blipFill>
          <a:blip r:embed="rId2" cstate="print"/>
          <a:stretch>
            <a:fillRect/>
          </a:stretch>
        </p:blipFill>
        <p:spPr>
          <a:xfrm>
            <a:off x="3314700" y="723646"/>
            <a:ext cx="5562599" cy="5410708"/>
          </a:xfrm>
          <a:prstGeom prst="rect">
            <a:avLst/>
          </a:prstGeom>
        </p:spPr>
      </p:pic>
      <p:sp>
        <p:nvSpPr>
          <p:cNvPr id="27" name="object 9">
            <a:extLst>
              <a:ext uri="{FF2B5EF4-FFF2-40B4-BE49-F238E27FC236}">
                <a16:creationId xmlns:a16="http://schemas.microsoft.com/office/drawing/2014/main" id="{721A229D-8563-20DA-3B80-E9B7072306AD}"/>
              </a:ext>
            </a:extLst>
          </p:cNvPr>
          <p:cNvSpPr txBox="1"/>
          <p:nvPr/>
        </p:nvSpPr>
        <p:spPr>
          <a:xfrm>
            <a:off x="5880100" y="740155"/>
            <a:ext cx="178435" cy="299720"/>
          </a:xfrm>
          <a:prstGeom prst="rect">
            <a:avLst/>
          </a:prstGeom>
        </p:spPr>
        <p:txBody>
          <a:bodyPr vert="horz" wrap="square" lIns="0" tIns="12700" rIns="0" bIns="0" rtlCol="0">
            <a:spAutoFit/>
          </a:bodyPr>
          <a:lstStyle/>
          <a:p>
            <a:pPr marL="12700">
              <a:lnSpc>
                <a:spcPct val="100000"/>
              </a:lnSpc>
              <a:spcBef>
                <a:spcPts val="100"/>
              </a:spcBef>
            </a:pPr>
            <a:r>
              <a:rPr sz="1800" b="1" spc="-50" dirty="0">
                <a:latin typeface="Arial"/>
                <a:cs typeface="Arial"/>
              </a:rPr>
              <a:t>S</a:t>
            </a:r>
            <a:endParaRPr sz="1800">
              <a:latin typeface="Arial"/>
              <a:cs typeface="Arial"/>
            </a:endParaRPr>
          </a:p>
        </p:txBody>
      </p:sp>
      <p:sp>
        <p:nvSpPr>
          <p:cNvPr id="28" name="object 10">
            <a:extLst>
              <a:ext uri="{FF2B5EF4-FFF2-40B4-BE49-F238E27FC236}">
                <a16:creationId xmlns:a16="http://schemas.microsoft.com/office/drawing/2014/main" id="{C1646F08-0983-B1A9-D48B-571EE638AE21}"/>
              </a:ext>
            </a:extLst>
          </p:cNvPr>
          <p:cNvSpPr txBox="1"/>
          <p:nvPr/>
        </p:nvSpPr>
        <p:spPr>
          <a:xfrm>
            <a:off x="4508246" y="1426210"/>
            <a:ext cx="190500" cy="299720"/>
          </a:xfrm>
          <a:prstGeom prst="rect">
            <a:avLst/>
          </a:prstGeom>
        </p:spPr>
        <p:txBody>
          <a:bodyPr vert="horz" wrap="square" lIns="0" tIns="12700" rIns="0" bIns="0" rtlCol="0">
            <a:spAutoFit/>
          </a:bodyPr>
          <a:lstStyle/>
          <a:p>
            <a:pPr marL="12700">
              <a:lnSpc>
                <a:spcPct val="100000"/>
              </a:lnSpc>
              <a:spcBef>
                <a:spcPts val="100"/>
              </a:spcBef>
            </a:pPr>
            <a:r>
              <a:rPr sz="1800" b="1" spc="-50" dirty="0">
                <a:latin typeface="Arial"/>
                <a:cs typeface="Arial"/>
              </a:rPr>
              <a:t>A</a:t>
            </a:r>
            <a:endParaRPr sz="1800">
              <a:latin typeface="Arial"/>
              <a:cs typeface="Arial"/>
            </a:endParaRPr>
          </a:p>
        </p:txBody>
      </p:sp>
      <p:sp>
        <p:nvSpPr>
          <p:cNvPr id="29" name="object 11">
            <a:extLst>
              <a:ext uri="{FF2B5EF4-FFF2-40B4-BE49-F238E27FC236}">
                <a16:creationId xmlns:a16="http://schemas.microsoft.com/office/drawing/2014/main" id="{AA1C1478-7E69-C9AD-CA62-3423501E76F7}"/>
              </a:ext>
            </a:extLst>
          </p:cNvPr>
          <p:cNvSpPr txBox="1"/>
          <p:nvPr/>
        </p:nvSpPr>
        <p:spPr>
          <a:xfrm>
            <a:off x="7023100" y="1426210"/>
            <a:ext cx="190500" cy="299720"/>
          </a:xfrm>
          <a:prstGeom prst="rect">
            <a:avLst/>
          </a:prstGeom>
        </p:spPr>
        <p:txBody>
          <a:bodyPr vert="horz" wrap="square" lIns="0" tIns="12700" rIns="0" bIns="0" rtlCol="0">
            <a:spAutoFit/>
          </a:bodyPr>
          <a:lstStyle/>
          <a:p>
            <a:pPr marL="12700">
              <a:lnSpc>
                <a:spcPct val="100000"/>
              </a:lnSpc>
              <a:spcBef>
                <a:spcPts val="100"/>
              </a:spcBef>
            </a:pPr>
            <a:r>
              <a:rPr sz="1800" b="1" spc="-50" dirty="0">
                <a:latin typeface="Arial"/>
                <a:cs typeface="Arial"/>
              </a:rPr>
              <a:t>D</a:t>
            </a:r>
            <a:endParaRPr sz="1800">
              <a:latin typeface="Arial"/>
              <a:cs typeface="Arial"/>
            </a:endParaRPr>
          </a:p>
        </p:txBody>
      </p:sp>
      <p:sp>
        <p:nvSpPr>
          <p:cNvPr id="30" name="object 12">
            <a:extLst>
              <a:ext uri="{FF2B5EF4-FFF2-40B4-BE49-F238E27FC236}">
                <a16:creationId xmlns:a16="http://schemas.microsoft.com/office/drawing/2014/main" id="{1BF44883-0215-5C7C-ED9D-2112250C1FFB}"/>
              </a:ext>
            </a:extLst>
          </p:cNvPr>
          <p:cNvSpPr txBox="1"/>
          <p:nvPr/>
        </p:nvSpPr>
        <p:spPr>
          <a:xfrm>
            <a:off x="3745993" y="2264791"/>
            <a:ext cx="190500" cy="299720"/>
          </a:xfrm>
          <a:prstGeom prst="rect">
            <a:avLst/>
          </a:prstGeom>
        </p:spPr>
        <p:txBody>
          <a:bodyPr vert="horz" wrap="square" lIns="0" tIns="12700" rIns="0" bIns="0" rtlCol="0">
            <a:spAutoFit/>
          </a:bodyPr>
          <a:lstStyle/>
          <a:p>
            <a:pPr marL="12700">
              <a:lnSpc>
                <a:spcPct val="100000"/>
              </a:lnSpc>
              <a:spcBef>
                <a:spcPts val="100"/>
              </a:spcBef>
            </a:pPr>
            <a:r>
              <a:rPr sz="1800" b="1" spc="-50" dirty="0">
                <a:latin typeface="Arial"/>
                <a:cs typeface="Arial"/>
              </a:rPr>
              <a:t>B</a:t>
            </a:r>
            <a:endParaRPr sz="1800">
              <a:latin typeface="Arial"/>
              <a:cs typeface="Arial"/>
            </a:endParaRPr>
          </a:p>
        </p:txBody>
      </p:sp>
      <p:sp>
        <p:nvSpPr>
          <p:cNvPr id="31" name="object 13">
            <a:extLst>
              <a:ext uri="{FF2B5EF4-FFF2-40B4-BE49-F238E27FC236}">
                <a16:creationId xmlns:a16="http://schemas.microsoft.com/office/drawing/2014/main" id="{7574EA9A-F8C9-B041-D6D5-CC8B50A51D8D}"/>
              </a:ext>
            </a:extLst>
          </p:cNvPr>
          <p:cNvSpPr txBox="1"/>
          <p:nvPr/>
        </p:nvSpPr>
        <p:spPr>
          <a:xfrm>
            <a:off x="4965447" y="2264791"/>
            <a:ext cx="190500" cy="299720"/>
          </a:xfrm>
          <a:prstGeom prst="rect">
            <a:avLst/>
          </a:prstGeom>
        </p:spPr>
        <p:txBody>
          <a:bodyPr vert="horz" wrap="square" lIns="0" tIns="12700" rIns="0" bIns="0" rtlCol="0">
            <a:spAutoFit/>
          </a:bodyPr>
          <a:lstStyle/>
          <a:p>
            <a:pPr marL="12700">
              <a:lnSpc>
                <a:spcPct val="100000"/>
              </a:lnSpc>
              <a:spcBef>
                <a:spcPts val="100"/>
              </a:spcBef>
            </a:pPr>
            <a:r>
              <a:rPr sz="1800" b="1" spc="-50" dirty="0">
                <a:latin typeface="Arial"/>
                <a:cs typeface="Arial"/>
              </a:rPr>
              <a:t>D</a:t>
            </a:r>
            <a:endParaRPr sz="1800">
              <a:latin typeface="Arial"/>
              <a:cs typeface="Arial"/>
            </a:endParaRPr>
          </a:p>
        </p:txBody>
      </p:sp>
      <p:sp>
        <p:nvSpPr>
          <p:cNvPr id="32" name="object 14">
            <a:extLst>
              <a:ext uri="{FF2B5EF4-FFF2-40B4-BE49-F238E27FC236}">
                <a16:creationId xmlns:a16="http://schemas.microsoft.com/office/drawing/2014/main" id="{BEF30186-B963-A753-27BC-6C87E931D595}"/>
              </a:ext>
            </a:extLst>
          </p:cNvPr>
          <p:cNvSpPr txBox="1"/>
          <p:nvPr/>
        </p:nvSpPr>
        <p:spPr>
          <a:xfrm>
            <a:off x="6184900" y="2264791"/>
            <a:ext cx="190500" cy="299720"/>
          </a:xfrm>
          <a:prstGeom prst="rect">
            <a:avLst/>
          </a:prstGeom>
        </p:spPr>
        <p:txBody>
          <a:bodyPr vert="horz" wrap="square" lIns="0" tIns="12700" rIns="0" bIns="0" rtlCol="0">
            <a:spAutoFit/>
          </a:bodyPr>
          <a:lstStyle/>
          <a:p>
            <a:pPr marL="12700">
              <a:lnSpc>
                <a:spcPct val="100000"/>
              </a:lnSpc>
              <a:spcBef>
                <a:spcPts val="100"/>
              </a:spcBef>
            </a:pPr>
            <a:r>
              <a:rPr sz="1800" b="1" spc="-50" dirty="0">
                <a:latin typeface="Arial"/>
                <a:cs typeface="Arial"/>
              </a:rPr>
              <a:t>A</a:t>
            </a:r>
            <a:endParaRPr sz="1800">
              <a:latin typeface="Arial"/>
              <a:cs typeface="Arial"/>
            </a:endParaRPr>
          </a:p>
        </p:txBody>
      </p:sp>
      <p:sp>
        <p:nvSpPr>
          <p:cNvPr id="33" name="object 15">
            <a:extLst>
              <a:ext uri="{FF2B5EF4-FFF2-40B4-BE49-F238E27FC236}">
                <a16:creationId xmlns:a16="http://schemas.microsoft.com/office/drawing/2014/main" id="{3E7B9FB8-66EB-CDF2-7BC8-60E97B45A1D3}"/>
              </a:ext>
            </a:extLst>
          </p:cNvPr>
          <p:cNvSpPr txBox="1"/>
          <p:nvPr/>
        </p:nvSpPr>
        <p:spPr>
          <a:xfrm>
            <a:off x="7861681" y="2264791"/>
            <a:ext cx="178435" cy="299720"/>
          </a:xfrm>
          <a:prstGeom prst="rect">
            <a:avLst/>
          </a:prstGeom>
        </p:spPr>
        <p:txBody>
          <a:bodyPr vert="horz" wrap="square" lIns="0" tIns="12700" rIns="0" bIns="0" rtlCol="0">
            <a:spAutoFit/>
          </a:bodyPr>
          <a:lstStyle/>
          <a:p>
            <a:pPr marL="12700">
              <a:lnSpc>
                <a:spcPct val="100000"/>
              </a:lnSpc>
              <a:spcBef>
                <a:spcPts val="100"/>
              </a:spcBef>
            </a:pPr>
            <a:r>
              <a:rPr sz="1800" b="1" spc="-50" dirty="0">
                <a:latin typeface="Arial"/>
                <a:cs typeface="Arial"/>
              </a:rPr>
              <a:t>E</a:t>
            </a:r>
            <a:endParaRPr sz="1800">
              <a:latin typeface="Arial"/>
              <a:cs typeface="Arial"/>
            </a:endParaRPr>
          </a:p>
        </p:txBody>
      </p:sp>
      <p:sp>
        <p:nvSpPr>
          <p:cNvPr id="34" name="object 16">
            <a:extLst>
              <a:ext uri="{FF2B5EF4-FFF2-40B4-BE49-F238E27FC236}">
                <a16:creationId xmlns:a16="http://schemas.microsoft.com/office/drawing/2014/main" id="{3B896195-A1A0-07F3-6CAC-75B4128DE516}"/>
              </a:ext>
            </a:extLst>
          </p:cNvPr>
          <p:cNvSpPr txBox="1"/>
          <p:nvPr/>
        </p:nvSpPr>
        <p:spPr>
          <a:xfrm>
            <a:off x="4279646" y="3179191"/>
            <a:ext cx="178435" cy="299720"/>
          </a:xfrm>
          <a:prstGeom prst="rect">
            <a:avLst/>
          </a:prstGeom>
        </p:spPr>
        <p:txBody>
          <a:bodyPr vert="horz" wrap="square" lIns="0" tIns="12700" rIns="0" bIns="0" rtlCol="0">
            <a:spAutoFit/>
          </a:bodyPr>
          <a:lstStyle/>
          <a:p>
            <a:pPr marL="12700">
              <a:lnSpc>
                <a:spcPct val="100000"/>
              </a:lnSpc>
              <a:spcBef>
                <a:spcPts val="100"/>
              </a:spcBef>
            </a:pPr>
            <a:r>
              <a:rPr sz="1800" b="1" spc="-50" dirty="0">
                <a:latin typeface="Arial"/>
                <a:cs typeface="Arial"/>
              </a:rPr>
              <a:t>E</a:t>
            </a:r>
            <a:endParaRPr sz="1800">
              <a:latin typeface="Arial"/>
              <a:cs typeface="Arial"/>
            </a:endParaRPr>
          </a:p>
        </p:txBody>
      </p:sp>
      <p:sp>
        <p:nvSpPr>
          <p:cNvPr id="35" name="object 17">
            <a:extLst>
              <a:ext uri="{FF2B5EF4-FFF2-40B4-BE49-F238E27FC236}">
                <a16:creationId xmlns:a16="http://schemas.microsoft.com/office/drawing/2014/main" id="{8163139D-0515-B9E8-847A-AF7989324388}"/>
              </a:ext>
            </a:extLst>
          </p:cNvPr>
          <p:cNvSpPr txBox="1"/>
          <p:nvPr/>
        </p:nvSpPr>
        <p:spPr>
          <a:xfrm>
            <a:off x="5346447" y="3179191"/>
            <a:ext cx="178435" cy="299720"/>
          </a:xfrm>
          <a:prstGeom prst="rect">
            <a:avLst/>
          </a:prstGeom>
        </p:spPr>
        <p:txBody>
          <a:bodyPr vert="horz" wrap="square" lIns="0" tIns="12700" rIns="0" bIns="0" rtlCol="0">
            <a:spAutoFit/>
          </a:bodyPr>
          <a:lstStyle/>
          <a:p>
            <a:pPr marL="12700">
              <a:lnSpc>
                <a:spcPct val="100000"/>
              </a:lnSpc>
              <a:spcBef>
                <a:spcPts val="100"/>
              </a:spcBef>
            </a:pPr>
            <a:r>
              <a:rPr sz="1800" b="1" spc="-50" dirty="0">
                <a:latin typeface="Arial"/>
                <a:cs typeface="Arial"/>
              </a:rPr>
              <a:t>E</a:t>
            </a:r>
            <a:endParaRPr sz="1800">
              <a:latin typeface="Arial"/>
              <a:cs typeface="Arial"/>
            </a:endParaRPr>
          </a:p>
        </p:txBody>
      </p:sp>
      <p:sp>
        <p:nvSpPr>
          <p:cNvPr id="36" name="object 18">
            <a:extLst>
              <a:ext uri="{FF2B5EF4-FFF2-40B4-BE49-F238E27FC236}">
                <a16:creationId xmlns:a16="http://schemas.microsoft.com/office/drawing/2014/main" id="{51BA71F0-FF9B-CB2B-2DF0-E6F9402D0D5A}"/>
              </a:ext>
            </a:extLst>
          </p:cNvPr>
          <p:cNvSpPr txBox="1"/>
          <p:nvPr/>
        </p:nvSpPr>
        <p:spPr>
          <a:xfrm>
            <a:off x="6261100" y="3179191"/>
            <a:ext cx="190500" cy="299720"/>
          </a:xfrm>
          <a:prstGeom prst="rect">
            <a:avLst/>
          </a:prstGeom>
        </p:spPr>
        <p:txBody>
          <a:bodyPr vert="horz" wrap="square" lIns="0" tIns="12700" rIns="0" bIns="0" rtlCol="0">
            <a:spAutoFit/>
          </a:bodyPr>
          <a:lstStyle/>
          <a:p>
            <a:pPr marL="12700">
              <a:lnSpc>
                <a:spcPct val="100000"/>
              </a:lnSpc>
              <a:spcBef>
                <a:spcPts val="100"/>
              </a:spcBef>
            </a:pPr>
            <a:r>
              <a:rPr sz="1800" b="1" spc="-50" dirty="0">
                <a:latin typeface="Arial"/>
                <a:cs typeface="Arial"/>
              </a:rPr>
              <a:t>B</a:t>
            </a:r>
            <a:endParaRPr sz="1800">
              <a:latin typeface="Arial"/>
              <a:cs typeface="Arial"/>
            </a:endParaRPr>
          </a:p>
        </p:txBody>
      </p:sp>
      <p:sp>
        <p:nvSpPr>
          <p:cNvPr id="37" name="object 19">
            <a:extLst>
              <a:ext uri="{FF2B5EF4-FFF2-40B4-BE49-F238E27FC236}">
                <a16:creationId xmlns:a16="http://schemas.microsoft.com/office/drawing/2014/main" id="{EE1D7896-CEF1-E904-38B5-84FD14B59511}"/>
              </a:ext>
            </a:extLst>
          </p:cNvPr>
          <p:cNvSpPr txBox="1"/>
          <p:nvPr/>
        </p:nvSpPr>
        <p:spPr>
          <a:xfrm>
            <a:off x="7099300" y="3179191"/>
            <a:ext cx="190500" cy="299720"/>
          </a:xfrm>
          <a:prstGeom prst="rect">
            <a:avLst/>
          </a:prstGeom>
        </p:spPr>
        <p:txBody>
          <a:bodyPr vert="horz" wrap="square" lIns="0" tIns="12700" rIns="0" bIns="0" rtlCol="0">
            <a:spAutoFit/>
          </a:bodyPr>
          <a:lstStyle/>
          <a:p>
            <a:pPr marL="12700">
              <a:lnSpc>
                <a:spcPct val="100000"/>
              </a:lnSpc>
              <a:spcBef>
                <a:spcPts val="100"/>
              </a:spcBef>
            </a:pPr>
            <a:r>
              <a:rPr sz="1800" b="1" spc="-50" dirty="0">
                <a:latin typeface="Arial"/>
                <a:cs typeface="Arial"/>
              </a:rPr>
              <a:t>B</a:t>
            </a:r>
            <a:endParaRPr sz="1800">
              <a:latin typeface="Arial"/>
              <a:cs typeface="Arial"/>
            </a:endParaRPr>
          </a:p>
        </p:txBody>
      </p:sp>
      <p:sp>
        <p:nvSpPr>
          <p:cNvPr id="38" name="object 20">
            <a:extLst>
              <a:ext uri="{FF2B5EF4-FFF2-40B4-BE49-F238E27FC236}">
                <a16:creationId xmlns:a16="http://schemas.microsoft.com/office/drawing/2014/main" id="{4962E511-6F93-B32A-310B-F922C6AF66C4}"/>
              </a:ext>
            </a:extLst>
          </p:cNvPr>
          <p:cNvSpPr txBox="1"/>
          <p:nvPr/>
        </p:nvSpPr>
        <p:spPr>
          <a:xfrm>
            <a:off x="8090281" y="3179191"/>
            <a:ext cx="165100" cy="299720"/>
          </a:xfrm>
          <a:prstGeom prst="rect">
            <a:avLst/>
          </a:prstGeom>
        </p:spPr>
        <p:txBody>
          <a:bodyPr vert="horz" wrap="square" lIns="0" tIns="12700" rIns="0" bIns="0" rtlCol="0">
            <a:spAutoFit/>
          </a:bodyPr>
          <a:lstStyle/>
          <a:p>
            <a:pPr marL="12700">
              <a:lnSpc>
                <a:spcPct val="100000"/>
              </a:lnSpc>
              <a:spcBef>
                <a:spcPts val="100"/>
              </a:spcBef>
            </a:pPr>
            <a:r>
              <a:rPr sz="1800" b="1" spc="-50" dirty="0">
                <a:latin typeface="Arial"/>
                <a:cs typeface="Arial"/>
              </a:rPr>
              <a:t>F</a:t>
            </a:r>
            <a:endParaRPr sz="1800">
              <a:latin typeface="Arial"/>
              <a:cs typeface="Arial"/>
            </a:endParaRPr>
          </a:p>
        </p:txBody>
      </p:sp>
      <p:sp>
        <p:nvSpPr>
          <p:cNvPr id="39" name="object 21">
            <a:extLst>
              <a:ext uri="{FF2B5EF4-FFF2-40B4-BE49-F238E27FC236}">
                <a16:creationId xmlns:a16="http://schemas.microsoft.com/office/drawing/2014/main" id="{06A14189-83D2-346E-1E0C-C066B0A1D377}"/>
              </a:ext>
            </a:extLst>
          </p:cNvPr>
          <p:cNvSpPr txBox="1"/>
          <p:nvPr/>
        </p:nvSpPr>
        <p:spPr>
          <a:xfrm>
            <a:off x="4813046" y="4322444"/>
            <a:ext cx="774700" cy="299720"/>
          </a:xfrm>
          <a:prstGeom prst="rect">
            <a:avLst/>
          </a:prstGeom>
        </p:spPr>
        <p:txBody>
          <a:bodyPr vert="horz" wrap="square" lIns="0" tIns="12700" rIns="0" bIns="0" rtlCol="0">
            <a:spAutoFit/>
          </a:bodyPr>
          <a:lstStyle/>
          <a:p>
            <a:pPr marL="12700">
              <a:lnSpc>
                <a:spcPct val="100000"/>
              </a:lnSpc>
              <a:spcBef>
                <a:spcPts val="100"/>
              </a:spcBef>
              <a:tabLst>
                <a:tab pos="621665" algn="l"/>
              </a:tabLst>
            </a:pPr>
            <a:r>
              <a:rPr sz="1800" b="1" spc="-50" dirty="0">
                <a:latin typeface="Arial"/>
                <a:cs typeface="Arial"/>
              </a:rPr>
              <a:t>B</a:t>
            </a:r>
            <a:r>
              <a:rPr sz="1800" b="1" dirty="0">
                <a:latin typeface="Arial"/>
                <a:cs typeface="Arial"/>
              </a:rPr>
              <a:t>	</a:t>
            </a:r>
            <a:r>
              <a:rPr sz="1800" b="1" spc="-50" dirty="0">
                <a:latin typeface="Arial"/>
                <a:cs typeface="Arial"/>
              </a:rPr>
              <a:t>F</a:t>
            </a:r>
            <a:endParaRPr sz="1800">
              <a:latin typeface="Arial"/>
              <a:cs typeface="Arial"/>
            </a:endParaRPr>
          </a:p>
        </p:txBody>
      </p:sp>
      <p:sp>
        <p:nvSpPr>
          <p:cNvPr id="40" name="object 22">
            <a:extLst>
              <a:ext uri="{FF2B5EF4-FFF2-40B4-BE49-F238E27FC236}">
                <a16:creationId xmlns:a16="http://schemas.microsoft.com/office/drawing/2014/main" id="{7BCC25FD-DC94-DCAA-F69B-1E16D196EC10}"/>
              </a:ext>
            </a:extLst>
          </p:cNvPr>
          <p:cNvSpPr txBox="1"/>
          <p:nvPr/>
        </p:nvSpPr>
        <p:spPr>
          <a:xfrm>
            <a:off x="6642100" y="5237175"/>
            <a:ext cx="165100" cy="299720"/>
          </a:xfrm>
          <a:prstGeom prst="rect">
            <a:avLst/>
          </a:prstGeom>
        </p:spPr>
        <p:txBody>
          <a:bodyPr vert="horz" wrap="square" lIns="0" tIns="12700" rIns="0" bIns="0" rtlCol="0">
            <a:spAutoFit/>
          </a:bodyPr>
          <a:lstStyle/>
          <a:p>
            <a:pPr marL="12700">
              <a:lnSpc>
                <a:spcPct val="100000"/>
              </a:lnSpc>
              <a:spcBef>
                <a:spcPts val="100"/>
              </a:spcBef>
            </a:pPr>
            <a:r>
              <a:rPr sz="1800" b="1" spc="-50" dirty="0">
                <a:latin typeface="Arial"/>
                <a:cs typeface="Arial"/>
              </a:rPr>
              <a:t>F</a:t>
            </a:r>
            <a:endParaRPr sz="1800">
              <a:latin typeface="Arial"/>
              <a:cs typeface="Arial"/>
            </a:endParaRPr>
          </a:p>
        </p:txBody>
      </p:sp>
      <p:sp>
        <p:nvSpPr>
          <p:cNvPr id="41" name="object 23">
            <a:extLst>
              <a:ext uri="{FF2B5EF4-FFF2-40B4-BE49-F238E27FC236}">
                <a16:creationId xmlns:a16="http://schemas.microsoft.com/office/drawing/2014/main" id="{D453C466-EFDA-C866-4785-32325ED0B329}"/>
              </a:ext>
            </a:extLst>
          </p:cNvPr>
          <p:cNvSpPr txBox="1"/>
          <p:nvPr/>
        </p:nvSpPr>
        <p:spPr>
          <a:xfrm>
            <a:off x="3517393" y="4215384"/>
            <a:ext cx="775335" cy="788670"/>
          </a:xfrm>
          <a:prstGeom prst="rect">
            <a:avLst/>
          </a:prstGeom>
        </p:spPr>
        <p:txBody>
          <a:bodyPr vert="horz" wrap="square" lIns="0" tIns="119380" rIns="0" bIns="0" rtlCol="0">
            <a:spAutoFit/>
          </a:bodyPr>
          <a:lstStyle/>
          <a:p>
            <a:pPr marL="12700">
              <a:lnSpc>
                <a:spcPct val="100000"/>
              </a:lnSpc>
              <a:spcBef>
                <a:spcPts val="940"/>
              </a:spcBef>
              <a:tabLst>
                <a:tab pos="622300" algn="l"/>
              </a:tabLst>
            </a:pPr>
            <a:r>
              <a:rPr sz="1800" b="1" spc="-50" dirty="0">
                <a:latin typeface="Arial"/>
                <a:cs typeface="Arial"/>
              </a:rPr>
              <a:t>D</a:t>
            </a:r>
            <a:r>
              <a:rPr sz="1800" b="1" dirty="0">
                <a:latin typeface="Arial"/>
                <a:cs typeface="Arial"/>
              </a:rPr>
              <a:t>	</a:t>
            </a:r>
            <a:r>
              <a:rPr sz="1800" b="1" spc="-50" dirty="0">
                <a:latin typeface="Arial"/>
                <a:cs typeface="Arial"/>
              </a:rPr>
              <a:t>F</a:t>
            </a:r>
            <a:endParaRPr sz="1800">
              <a:latin typeface="Arial"/>
              <a:cs typeface="Arial"/>
            </a:endParaRPr>
          </a:p>
          <a:p>
            <a:pPr marL="12700">
              <a:lnSpc>
                <a:spcPct val="100000"/>
              </a:lnSpc>
              <a:spcBef>
                <a:spcPts val="844"/>
              </a:spcBef>
            </a:pPr>
            <a:r>
              <a:rPr sz="1800" b="1" spc="-25" dirty="0">
                <a:latin typeface="Arial"/>
                <a:cs typeface="Arial"/>
              </a:rPr>
              <a:t>14</a:t>
            </a:r>
            <a:endParaRPr sz="1800">
              <a:latin typeface="Arial"/>
              <a:cs typeface="Arial"/>
            </a:endParaRPr>
          </a:p>
        </p:txBody>
      </p:sp>
      <p:sp>
        <p:nvSpPr>
          <p:cNvPr id="42" name="object 24">
            <a:extLst>
              <a:ext uri="{FF2B5EF4-FFF2-40B4-BE49-F238E27FC236}">
                <a16:creationId xmlns:a16="http://schemas.microsoft.com/office/drawing/2014/main" id="{B87FB5C7-6F56-B20F-314B-E47C78EBD677}"/>
              </a:ext>
            </a:extLst>
          </p:cNvPr>
          <p:cNvSpPr txBox="1"/>
          <p:nvPr/>
        </p:nvSpPr>
        <p:spPr>
          <a:xfrm>
            <a:off x="4051046" y="5130495"/>
            <a:ext cx="280035" cy="739241"/>
          </a:xfrm>
          <a:prstGeom prst="rect">
            <a:avLst/>
          </a:prstGeom>
        </p:spPr>
        <p:txBody>
          <a:bodyPr vert="horz" wrap="square" lIns="0" tIns="12700" rIns="0" bIns="0" rtlCol="0">
            <a:spAutoFit/>
          </a:bodyPr>
          <a:lstStyle/>
          <a:p>
            <a:pPr marL="12700" marR="5080" indent="76200">
              <a:lnSpc>
                <a:spcPct val="138900"/>
              </a:lnSpc>
              <a:spcBef>
                <a:spcPts val="100"/>
              </a:spcBef>
            </a:pPr>
            <a:r>
              <a:rPr sz="1800" b="1" spc="-50" dirty="0">
                <a:latin typeface="Arial"/>
                <a:cs typeface="Arial"/>
              </a:rPr>
              <a:t>G </a:t>
            </a:r>
            <a:r>
              <a:rPr sz="1800" b="1" spc="-25" dirty="0">
                <a:latin typeface="Arial"/>
                <a:cs typeface="Arial"/>
              </a:rPr>
              <a:t>19</a:t>
            </a:r>
            <a:endParaRPr sz="1800">
              <a:latin typeface="Arial"/>
              <a:cs typeface="Arial"/>
            </a:endParaRPr>
          </a:p>
        </p:txBody>
      </p:sp>
      <p:sp>
        <p:nvSpPr>
          <p:cNvPr id="43" name="object 25">
            <a:extLst>
              <a:ext uri="{FF2B5EF4-FFF2-40B4-BE49-F238E27FC236}">
                <a16:creationId xmlns:a16="http://schemas.microsoft.com/office/drawing/2014/main" id="{9C352055-6D68-9804-3ABE-9560C40F8394}"/>
              </a:ext>
            </a:extLst>
          </p:cNvPr>
          <p:cNvSpPr txBox="1"/>
          <p:nvPr/>
        </p:nvSpPr>
        <p:spPr>
          <a:xfrm>
            <a:off x="4813046" y="5130495"/>
            <a:ext cx="888365" cy="787400"/>
          </a:xfrm>
          <a:prstGeom prst="rect">
            <a:avLst/>
          </a:prstGeom>
        </p:spPr>
        <p:txBody>
          <a:bodyPr vert="horz" wrap="square" lIns="0" tIns="119380" rIns="0" bIns="0" rtlCol="0">
            <a:spAutoFit/>
          </a:bodyPr>
          <a:lstStyle/>
          <a:p>
            <a:pPr marL="12700">
              <a:lnSpc>
                <a:spcPct val="100000"/>
              </a:lnSpc>
              <a:spcBef>
                <a:spcPts val="940"/>
              </a:spcBef>
              <a:tabLst>
                <a:tab pos="621665" algn="l"/>
              </a:tabLst>
            </a:pPr>
            <a:r>
              <a:rPr sz="1800" b="1" spc="-50" dirty="0">
                <a:latin typeface="Arial"/>
                <a:cs typeface="Arial"/>
              </a:rPr>
              <a:t>C</a:t>
            </a:r>
            <a:r>
              <a:rPr sz="1800" b="1" dirty="0">
                <a:latin typeface="Arial"/>
                <a:cs typeface="Arial"/>
              </a:rPr>
              <a:t>	</a:t>
            </a:r>
            <a:r>
              <a:rPr sz="1800" b="1" spc="-50" dirty="0">
                <a:latin typeface="Arial"/>
                <a:cs typeface="Arial"/>
              </a:rPr>
              <a:t>G</a:t>
            </a:r>
            <a:endParaRPr sz="1800">
              <a:latin typeface="Arial"/>
              <a:cs typeface="Arial"/>
            </a:endParaRPr>
          </a:p>
          <a:p>
            <a:pPr marL="12700">
              <a:lnSpc>
                <a:spcPct val="100000"/>
              </a:lnSpc>
              <a:spcBef>
                <a:spcPts val="840"/>
              </a:spcBef>
              <a:tabLst>
                <a:tab pos="621665" algn="l"/>
              </a:tabLst>
            </a:pPr>
            <a:r>
              <a:rPr sz="1800" b="1" spc="-25" dirty="0">
                <a:latin typeface="Arial"/>
                <a:cs typeface="Arial"/>
              </a:rPr>
              <a:t>19</a:t>
            </a:r>
            <a:r>
              <a:rPr sz="1800" b="1" dirty="0">
                <a:latin typeface="Arial"/>
                <a:cs typeface="Arial"/>
              </a:rPr>
              <a:t>	</a:t>
            </a:r>
            <a:r>
              <a:rPr sz="1800" b="1" spc="-25" dirty="0">
                <a:latin typeface="Arial"/>
                <a:cs typeface="Arial"/>
              </a:rPr>
              <a:t>17</a:t>
            </a:r>
            <a:endParaRPr sz="1800">
              <a:latin typeface="Arial"/>
              <a:cs typeface="Arial"/>
            </a:endParaRPr>
          </a:p>
        </p:txBody>
      </p:sp>
      <p:sp>
        <p:nvSpPr>
          <p:cNvPr id="44" name="object 26">
            <a:extLst>
              <a:ext uri="{FF2B5EF4-FFF2-40B4-BE49-F238E27FC236}">
                <a16:creationId xmlns:a16="http://schemas.microsoft.com/office/drawing/2014/main" id="{9672B518-05B2-0BD5-5C09-9231021DE040}"/>
              </a:ext>
            </a:extLst>
          </p:cNvPr>
          <p:cNvSpPr txBox="1"/>
          <p:nvPr/>
        </p:nvSpPr>
        <p:spPr>
          <a:xfrm>
            <a:off x="5956300" y="4215384"/>
            <a:ext cx="2793365" cy="788670"/>
          </a:xfrm>
          <a:prstGeom prst="rect">
            <a:avLst/>
          </a:prstGeom>
        </p:spPr>
        <p:txBody>
          <a:bodyPr vert="horz" wrap="square" lIns="0" tIns="119380" rIns="0" bIns="0" rtlCol="0">
            <a:spAutoFit/>
          </a:bodyPr>
          <a:lstStyle/>
          <a:p>
            <a:pPr marL="88900">
              <a:lnSpc>
                <a:spcPct val="100000"/>
              </a:lnSpc>
              <a:spcBef>
                <a:spcPts val="940"/>
              </a:spcBef>
              <a:tabLst>
                <a:tab pos="697865" algn="l"/>
                <a:tab pos="1307465" algn="l"/>
                <a:tab pos="1917700" algn="l"/>
                <a:tab pos="2527300" algn="l"/>
              </a:tabLst>
            </a:pPr>
            <a:r>
              <a:rPr sz="1800" b="1" spc="-50" dirty="0">
                <a:latin typeface="Arial"/>
                <a:cs typeface="Arial"/>
              </a:rPr>
              <a:t>C</a:t>
            </a:r>
            <a:r>
              <a:rPr sz="1800" b="1" dirty="0">
                <a:latin typeface="Arial"/>
                <a:cs typeface="Arial"/>
              </a:rPr>
              <a:t>	</a:t>
            </a:r>
            <a:r>
              <a:rPr sz="1800" b="1" spc="-50" dirty="0">
                <a:latin typeface="Arial"/>
                <a:cs typeface="Arial"/>
              </a:rPr>
              <a:t>E</a:t>
            </a:r>
            <a:r>
              <a:rPr sz="1800" b="1" dirty="0">
                <a:latin typeface="Arial"/>
                <a:cs typeface="Arial"/>
              </a:rPr>
              <a:t>	</a:t>
            </a:r>
            <a:r>
              <a:rPr sz="1800" b="1" spc="-50" dirty="0">
                <a:latin typeface="Arial"/>
                <a:cs typeface="Arial"/>
              </a:rPr>
              <a:t>A</a:t>
            </a:r>
            <a:r>
              <a:rPr sz="1800" b="1" dirty="0">
                <a:latin typeface="Arial"/>
                <a:cs typeface="Arial"/>
              </a:rPr>
              <a:t>	</a:t>
            </a:r>
            <a:r>
              <a:rPr sz="1800" b="1" spc="-50" dirty="0">
                <a:latin typeface="Arial"/>
                <a:cs typeface="Arial"/>
              </a:rPr>
              <a:t>C</a:t>
            </a:r>
            <a:r>
              <a:rPr sz="1800" b="1" dirty="0">
                <a:latin typeface="Arial"/>
                <a:cs typeface="Arial"/>
              </a:rPr>
              <a:t>	</a:t>
            </a:r>
            <a:r>
              <a:rPr sz="1800" b="1" spc="-50" dirty="0">
                <a:latin typeface="Arial"/>
                <a:cs typeface="Arial"/>
              </a:rPr>
              <a:t>G</a:t>
            </a:r>
            <a:endParaRPr sz="1800">
              <a:latin typeface="Arial"/>
              <a:cs typeface="Arial"/>
            </a:endParaRPr>
          </a:p>
          <a:p>
            <a:pPr marL="12700">
              <a:lnSpc>
                <a:spcPct val="100000"/>
              </a:lnSpc>
              <a:spcBef>
                <a:spcPts val="844"/>
              </a:spcBef>
              <a:tabLst>
                <a:tab pos="1307465" algn="l"/>
                <a:tab pos="1917700" algn="l"/>
                <a:tab pos="2527300" algn="l"/>
              </a:tabLst>
            </a:pPr>
            <a:r>
              <a:rPr sz="1800" b="1" spc="-25" dirty="0">
                <a:latin typeface="Arial"/>
                <a:cs typeface="Arial"/>
              </a:rPr>
              <a:t>17</a:t>
            </a:r>
            <a:r>
              <a:rPr sz="1800" b="1" dirty="0">
                <a:latin typeface="Arial"/>
                <a:cs typeface="Arial"/>
              </a:rPr>
              <a:t>	</a:t>
            </a:r>
            <a:r>
              <a:rPr sz="1800" b="1" spc="-25" dirty="0">
                <a:latin typeface="Arial"/>
                <a:cs typeface="Arial"/>
              </a:rPr>
              <a:t>15</a:t>
            </a:r>
            <a:r>
              <a:rPr sz="1800" b="1" dirty="0">
                <a:latin typeface="Arial"/>
                <a:cs typeface="Arial"/>
              </a:rPr>
              <a:t>	</a:t>
            </a:r>
            <a:r>
              <a:rPr sz="1800" b="1" spc="-25" dirty="0">
                <a:latin typeface="Arial"/>
                <a:cs typeface="Arial"/>
              </a:rPr>
              <a:t>15</a:t>
            </a:r>
            <a:r>
              <a:rPr sz="1800" b="1" dirty="0">
                <a:latin typeface="Arial"/>
                <a:cs typeface="Arial"/>
              </a:rPr>
              <a:t>	</a:t>
            </a:r>
            <a:r>
              <a:rPr sz="1800" b="1" spc="-25" dirty="0">
                <a:latin typeface="Arial"/>
                <a:cs typeface="Arial"/>
              </a:rPr>
              <a:t>13</a:t>
            </a:r>
            <a:endParaRPr sz="1800">
              <a:latin typeface="Arial"/>
              <a:cs typeface="Arial"/>
            </a:endParaRPr>
          </a:p>
        </p:txBody>
      </p:sp>
      <p:sp>
        <p:nvSpPr>
          <p:cNvPr id="45" name="object 27">
            <a:extLst>
              <a:ext uri="{FF2B5EF4-FFF2-40B4-BE49-F238E27FC236}">
                <a16:creationId xmlns:a16="http://schemas.microsoft.com/office/drawing/2014/main" id="{2016493E-9B93-3A48-D5E0-2D93D03DC91D}"/>
              </a:ext>
            </a:extLst>
          </p:cNvPr>
          <p:cNvSpPr txBox="1"/>
          <p:nvPr/>
        </p:nvSpPr>
        <p:spPr>
          <a:xfrm>
            <a:off x="6642100" y="5770270"/>
            <a:ext cx="659765" cy="300355"/>
          </a:xfrm>
          <a:prstGeom prst="rect">
            <a:avLst/>
          </a:prstGeom>
        </p:spPr>
        <p:txBody>
          <a:bodyPr vert="horz" wrap="square" lIns="0" tIns="12700" rIns="0" bIns="0" rtlCol="0">
            <a:spAutoFit/>
          </a:bodyPr>
          <a:lstStyle/>
          <a:p>
            <a:pPr marL="12700">
              <a:lnSpc>
                <a:spcPct val="100000"/>
              </a:lnSpc>
              <a:spcBef>
                <a:spcPts val="100"/>
              </a:spcBef>
              <a:tabLst>
                <a:tab pos="393065" algn="l"/>
              </a:tabLst>
            </a:pPr>
            <a:r>
              <a:rPr sz="1800" b="1" spc="-50" dirty="0">
                <a:latin typeface="Arial"/>
                <a:cs typeface="Arial"/>
              </a:rPr>
              <a:t>G</a:t>
            </a:r>
            <a:r>
              <a:rPr sz="1800" b="1" dirty="0">
                <a:latin typeface="Arial"/>
                <a:cs typeface="Arial"/>
              </a:rPr>
              <a:t>	</a:t>
            </a:r>
            <a:r>
              <a:rPr sz="1800" b="1" spc="-25" dirty="0">
                <a:latin typeface="Arial"/>
                <a:cs typeface="Arial"/>
              </a:rPr>
              <a:t>25</a:t>
            </a:r>
            <a:endParaRPr sz="1800">
              <a:latin typeface="Arial"/>
              <a:cs typeface="Arial"/>
            </a:endParaRPr>
          </a:p>
        </p:txBody>
      </p:sp>
      <p:sp>
        <p:nvSpPr>
          <p:cNvPr id="46" name="object 28">
            <a:extLst>
              <a:ext uri="{FF2B5EF4-FFF2-40B4-BE49-F238E27FC236}">
                <a16:creationId xmlns:a16="http://schemas.microsoft.com/office/drawing/2014/main" id="{E8D2E6B5-EE94-B043-1BB7-7E8EE614952A}"/>
              </a:ext>
            </a:extLst>
          </p:cNvPr>
          <p:cNvSpPr txBox="1"/>
          <p:nvPr/>
        </p:nvSpPr>
        <p:spPr>
          <a:xfrm>
            <a:off x="3441193" y="3072257"/>
            <a:ext cx="266700" cy="739241"/>
          </a:xfrm>
          <a:prstGeom prst="rect">
            <a:avLst/>
          </a:prstGeom>
        </p:spPr>
        <p:txBody>
          <a:bodyPr vert="horz" wrap="square" lIns="0" tIns="12700" rIns="0" bIns="0" rtlCol="0">
            <a:spAutoFit/>
          </a:bodyPr>
          <a:lstStyle/>
          <a:p>
            <a:pPr marL="12700" marR="5080" indent="76200">
              <a:lnSpc>
                <a:spcPct val="139000"/>
              </a:lnSpc>
              <a:spcBef>
                <a:spcPts val="100"/>
              </a:spcBef>
            </a:pPr>
            <a:r>
              <a:rPr sz="1800" b="1" spc="-50" dirty="0">
                <a:latin typeface="Arial"/>
                <a:cs typeface="Arial"/>
              </a:rPr>
              <a:t>C </a:t>
            </a:r>
            <a:r>
              <a:rPr sz="1800" b="1" spc="-70" dirty="0">
                <a:latin typeface="Arial"/>
                <a:cs typeface="Arial"/>
              </a:rPr>
              <a:t>11</a:t>
            </a:r>
            <a:endParaRPr sz="1800">
              <a:latin typeface="Arial"/>
              <a:cs typeface="Arial"/>
            </a:endParaRPr>
          </a:p>
        </p:txBody>
      </p:sp>
      <p:sp>
        <p:nvSpPr>
          <p:cNvPr id="47" name="object 29">
            <a:extLst>
              <a:ext uri="{FF2B5EF4-FFF2-40B4-BE49-F238E27FC236}">
                <a16:creationId xmlns:a16="http://schemas.microsoft.com/office/drawing/2014/main" id="{2048EEDF-A0E9-E9AC-2534-311C1D5B82D6}"/>
              </a:ext>
            </a:extLst>
          </p:cNvPr>
          <p:cNvSpPr txBox="1"/>
          <p:nvPr/>
        </p:nvSpPr>
        <p:spPr>
          <a:xfrm>
            <a:off x="9004682" y="862330"/>
            <a:ext cx="1235710" cy="739241"/>
          </a:xfrm>
          <a:prstGeom prst="rect">
            <a:avLst/>
          </a:prstGeom>
        </p:spPr>
        <p:txBody>
          <a:bodyPr vert="horz" wrap="square" lIns="0" tIns="12700" rIns="0" bIns="0" rtlCol="0">
            <a:spAutoFit/>
          </a:bodyPr>
          <a:lstStyle/>
          <a:p>
            <a:pPr marL="12700" marR="5080">
              <a:lnSpc>
                <a:spcPct val="138900"/>
              </a:lnSpc>
              <a:spcBef>
                <a:spcPts val="100"/>
              </a:spcBef>
            </a:pPr>
            <a:r>
              <a:rPr sz="1800" b="1" spc="-10" dirty="0">
                <a:latin typeface="Arial"/>
                <a:cs typeface="Arial"/>
              </a:rPr>
              <a:t>Forward Backwards</a:t>
            </a:r>
            <a:endParaRPr sz="1800">
              <a:latin typeface="Arial"/>
              <a:cs typeface="Arial"/>
            </a:endParaRPr>
          </a:p>
        </p:txBody>
      </p:sp>
    </p:spTree>
    <p:extLst>
      <p:ext uri="{BB962C8B-B14F-4D97-AF65-F5344CB8AC3E}">
        <p14:creationId xmlns:p14="http://schemas.microsoft.com/office/powerpoint/2010/main" val="215548325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4A337C-0743-3A8D-D04F-3BC102D9935F}"/>
              </a:ext>
            </a:extLst>
          </p:cNvPr>
          <p:cNvSpPr>
            <a:spLocks noGrp="1"/>
          </p:cNvSpPr>
          <p:nvPr>
            <p:ph type="title"/>
          </p:nvPr>
        </p:nvSpPr>
        <p:spPr/>
        <p:txBody>
          <a:bodyPr/>
          <a:lstStyle/>
          <a:p>
            <a:r>
              <a:rPr lang="en-US" dirty="0"/>
              <a:t>Properties of Bi-directional Search</a:t>
            </a:r>
          </a:p>
        </p:txBody>
      </p:sp>
      <p:sp>
        <p:nvSpPr>
          <p:cNvPr id="3" name="Content Placeholder 2">
            <a:extLst>
              <a:ext uri="{FF2B5EF4-FFF2-40B4-BE49-F238E27FC236}">
                <a16:creationId xmlns:a16="http://schemas.microsoft.com/office/drawing/2014/main" id="{9E2A3C5C-BDD0-498F-05ED-A4AF97D9CC37}"/>
              </a:ext>
            </a:extLst>
          </p:cNvPr>
          <p:cNvSpPr>
            <a:spLocks noGrp="1"/>
          </p:cNvSpPr>
          <p:nvPr>
            <p:ph idx="1"/>
          </p:nvPr>
        </p:nvSpPr>
        <p:spPr/>
        <p:txBody>
          <a:bodyPr/>
          <a:lstStyle/>
          <a:p>
            <a:r>
              <a:rPr lang="en-US" b="1" dirty="0"/>
              <a:t>Completeness</a:t>
            </a:r>
            <a:r>
              <a:rPr lang="en-US" dirty="0"/>
              <a:t>: Bidirectional Search is complete if we use BFS in both searches.</a:t>
            </a:r>
          </a:p>
          <a:p>
            <a:r>
              <a:rPr lang="en-US" b="1" dirty="0"/>
              <a:t>Time</a:t>
            </a:r>
            <a:r>
              <a:rPr lang="en-US" dirty="0"/>
              <a:t> </a:t>
            </a:r>
            <a:r>
              <a:rPr lang="en-US" b="1" dirty="0"/>
              <a:t>Complexity</a:t>
            </a:r>
            <a:r>
              <a:rPr lang="en-US" dirty="0"/>
              <a:t>: Time complexity of bidirectional search using BFS is </a:t>
            </a:r>
            <a:r>
              <a:rPr lang="en-US" b="1" dirty="0"/>
              <a:t>O(bd)</a:t>
            </a:r>
            <a:r>
              <a:rPr lang="en-US" dirty="0"/>
              <a:t>.</a:t>
            </a:r>
          </a:p>
          <a:p>
            <a:r>
              <a:rPr lang="en-US" b="1" dirty="0"/>
              <a:t>Space</a:t>
            </a:r>
            <a:r>
              <a:rPr lang="en-US" dirty="0"/>
              <a:t> </a:t>
            </a:r>
            <a:r>
              <a:rPr lang="en-US" b="1" dirty="0"/>
              <a:t>Complexity</a:t>
            </a:r>
            <a:r>
              <a:rPr lang="en-US" dirty="0"/>
              <a:t>: Space complexity of bidirectional search is </a:t>
            </a:r>
            <a:r>
              <a:rPr lang="en-US" b="1" dirty="0"/>
              <a:t>O(bd).</a:t>
            </a:r>
          </a:p>
          <a:p>
            <a:r>
              <a:rPr lang="en-US" b="1" dirty="0"/>
              <a:t>Optimal</a:t>
            </a:r>
            <a:r>
              <a:rPr lang="en-US" dirty="0"/>
              <a:t>: Bidirectional search is Optimal.</a:t>
            </a:r>
          </a:p>
          <a:p>
            <a:endParaRPr lang="en-US" dirty="0"/>
          </a:p>
        </p:txBody>
      </p:sp>
    </p:spTree>
    <p:extLst>
      <p:ext uri="{BB962C8B-B14F-4D97-AF65-F5344CB8AC3E}">
        <p14:creationId xmlns:p14="http://schemas.microsoft.com/office/powerpoint/2010/main" val="224501540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1C8238-0AA7-7103-7E9E-0D948A4A1526}"/>
              </a:ext>
            </a:extLst>
          </p:cNvPr>
          <p:cNvSpPr>
            <a:spLocks noGrp="1"/>
          </p:cNvSpPr>
          <p:nvPr>
            <p:ph type="title"/>
          </p:nvPr>
        </p:nvSpPr>
        <p:spPr/>
        <p:txBody>
          <a:bodyPr/>
          <a:lstStyle/>
          <a:p>
            <a:r>
              <a:rPr lang="en-US" dirty="0"/>
              <a:t>Quick Summary</a:t>
            </a:r>
          </a:p>
        </p:txBody>
      </p:sp>
      <p:sp>
        <p:nvSpPr>
          <p:cNvPr id="3" name="Content Placeholder 2">
            <a:extLst>
              <a:ext uri="{FF2B5EF4-FFF2-40B4-BE49-F238E27FC236}">
                <a16:creationId xmlns:a16="http://schemas.microsoft.com/office/drawing/2014/main" id="{27225696-7B62-072B-2447-E11BD38F3AE6}"/>
              </a:ext>
            </a:extLst>
          </p:cNvPr>
          <p:cNvSpPr>
            <a:spLocks noGrp="1"/>
          </p:cNvSpPr>
          <p:nvPr>
            <p:ph idx="1"/>
          </p:nvPr>
        </p:nvSpPr>
        <p:spPr>
          <a:xfrm>
            <a:off x="818712" y="2222287"/>
            <a:ext cx="10554574" cy="4423840"/>
          </a:xfrm>
        </p:spPr>
        <p:txBody>
          <a:bodyPr>
            <a:normAutofit lnSpcReduction="10000"/>
          </a:bodyPr>
          <a:lstStyle/>
          <a:p>
            <a:pPr marL="0" indent="0">
              <a:buNone/>
            </a:pPr>
            <a:r>
              <a:rPr lang="en-US" b="1" dirty="0"/>
              <a:t>Breadth-First Search:</a:t>
            </a:r>
          </a:p>
          <a:p>
            <a:r>
              <a:rPr lang="en-US" dirty="0"/>
              <a:t>Some solutions are known to be shallow</a:t>
            </a:r>
          </a:p>
          <a:p>
            <a:pPr marL="0" indent="0">
              <a:buNone/>
            </a:pPr>
            <a:r>
              <a:rPr lang="en-US" b="1" dirty="0"/>
              <a:t>Uniform-Cost Search:</a:t>
            </a:r>
          </a:p>
          <a:p>
            <a:r>
              <a:rPr lang="en-US" dirty="0"/>
              <a:t>Actions have varying costs</a:t>
            </a:r>
          </a:p>
          <a:p>
            <a:r>
              <a:rPr lang="en-US" dirty="0"/>
              <a:t>Least cost solution is the required</a:t>
            </a:r>
          </a:p>
          <a:p>
            <a:r>
              <a:rPr lang="en-US" dirty="0"/>
              <a:t>This is the only uninformed search that worries about costs.</a:t>
            </a:r>
          </a:p>
          <a:p>
            <a:pPr marL="0" indent="0">
              <a:buNone/>
            </a:pPr>
            <a:r>
              <a:rPr lang="en-US" b="1" dirty="0"/>
              <a:t>Depth-First Search:</a:t>
            </a:r>
          </a:p>
          <a:p>
            <a:r>
              <a:rPr lang="en-US" dirty="0"/>
              <a:t>Many solutions exist</a:t>
            </a:r>
          </a:p>
          <a:p>
            <a:r>
              <a:rPr lang="en-US" dirty="0"/>
              <a:t>Know (or have a good estimate of) the depth of solution</a:t>
            </a:r>
          </a:p>
          <a:p>
            <a:pPr marL="0" indent="0">
              <a:buNone/>
            </a:pPr>
            <a:r>
              <a:rPr lang="en-US" b="1" dirty="0"/>
              <a:t>Iterative-Deepening Search:</a:t>
            </a:r>
          </a:p>
          <a:p>
            <a:r>
              <a:rPr lang="en-US" dirty="0"/>
              <a:t>Space is limited and the shortest solution path is required</a:t>
            </a:r>
          </a:p>
          <a:p>
            <a:endParaRPr lang="en-US" dirty="0"/>
          </a:p>
        </p:txBody>
      </p:sp>
    </p:spTree>
    <p:extLst>
      <p:ext uri="{BB962C8B-B14F-4D97-AF65-F5344CB8AC3E}">
        <p14:creationId xmlns:p14="http://schemas.microsoft.com/office/powerpoint/2010/main" val="308204936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3BCBDB-855C-EEFC-9CD6-F01EE0B11DAF}"/>
              </a:ext>
            </a:extLst>
          </p:cNvPr>
          <p:cNvSpPr>
            <a:spLocks noGrp="1"/>
          </p:cNvSpPr>
          <p:nvPr>
            <p:ph type="title"/>
          </p:nvPr>
        </p:nvSpPr>
        <p:spPr/>
        <p:txBody>
          <a:bodyPr/>
          <a:lstStyle/>
          <a:p>
            <a:r>
              <a:rPr lang="en-US" dirty="0"/>
              <a:t>Quick Summary</a:t>
            </a:r>
          </a:p>
        </p:txBody>
      </p:sp>
      <p:pic>
        <p:nvPicPr>
          <p:cNvPr id="5" name="Content Placeholder 4">
            <a:extLst>
              <a:ext uri="{FF2B5EF4-FFF2-40B4-BE49-F238E27FC236}">
                <a16:creationId xmlns:a16="http://schemas.microsoft.com/office/drawing/2014/main" id="{A51E3EDD-047B-DDAA-F0F6-A8B059A1080F}"/>
              </a:ext>
            </a:extLst>
          </p:cNvPr>
          <p:cNvPicPr>
            <a:picLocks noGrp="1" noChangeAspect="1"/>
          </p:cNvPicPr>
          <p:nvPr>
            <p:ph idx="1"/>
          </p:nvPr>
        </p:nvPicPr>
        <p:blipFill>
          <a:blip r:embed="rId2"/>
          <a:stretch>
            <a:fillRect/>
          </a:stretch>
        </p:blipFill>
        <p:spPr>
          <a:xfrm>
            <a:off x="1556704" y="2974032"/>
            <a:ext cx="9078592" cy="2133898"/>
          </a:xfrm>
          <a:prstGeom prst="rect">
            <a:avLst/>
          </a:prstGeom>
          <a:effectLst>
            <a:outerShdw blurRad="50800" dir="14400000">
              <a:srgbClr val="000000">
                <a:alpha val="40000"/>
              </a:srgbClr>
            </a:outerShdw>
          </a:effectLst>
        </p:spPr>
      </p:pic>
      <p:sp>
        <p:nvSpPr>
          <p:cNvPr id="7" name="TextBox 6">
            <a:extLst>
              <a:ext uri="{FF2B5EF4-FFF2-40B4-BE49-F238E27FC236}">
                <a16:creationId xmlns:a16="http://schemas.microsoft.com/office/drawing/2014/main" id="{5FFD386F-AFD5-9403-7FC1-01506349987E}"/>
              </a:ext>
            </a:extLst>
          </p:cNvPr>
          <p:cNvSpPr txBox="1"/>
          <p:nvPr/>
        </p:nvSpPr>
        <p:spPr>
          <a:xfrm>
            <a:off x="1556705" y="5309659"/>
            <a:ext cx="9078592" cy="1200329"/>
          </a:xfrm>
          <a:prstGeom prst="rect">
            <a:avLst/>
          </a:prstGeom>
          <a:noFill/>
          <a:ln>
            <a:solidFill>
              <a:schemeClr val="accent1"/>
            </a:solidFill>
            <a:prstDash val="lgDash"/>
          </a:ln>
          <a:effectLst>
            <a:outerShdw blurRad="50800" dist="38100" dir="5400000" algn="t" rotWithShape="0">
              <a:prstClr val="black">
                <a:alpha val="40000"/>
              </a:prstClr>
            </a:outerShdw>
          </a:effectLst>
        </p:spPr>
        <p:txBody>
          <a:bodyPr wrap="square">
            <a:spAutoFit/>
          </a:bodyPr>
          <a:lstStyle/>
          <a:p>
            <a:r>
              <a:rPr lang="en-US" b="1" dirty="0"/>
              <a:t>1</a:t>
            </a:r>
            <a:r>
              <a:rPr lang="en-US" dirty="0"/>
              <a:t> complete if b is finite, and the state space either has a solution or is finite. </a:t>
            </a:r>
          </a:p>
          <a:p>
            <a:r>
              <a:rPr lang="en-US" b="1" dirty="0"/>
              <a:t>2</a:t>
            </a:r>
            <a:r>
              <a:rPr lang="en-US" dirty="0"/>
              <a:t> complete if all action costs are ≥  &gt; 0; </a:t>
            </a:r>
          </a:p>
          <a:p>
            <a:r>
              <a:rPr lang="en-US" b="1" dirty="0"/>
              <a:t>3</a:t>
            </a:r>
            <a:r>
              <a:rPr lang="en-US" dirty="0"/>
              <a:t> cost-optimal if action costs are all identical; </a:t>
            </a:r>
          </a:p>
          <a:p>
            <a:r>
              <a:rPr lang="en-US" b="1" dirty="0"/>
              <a:t>4</a:t>
            </a:r>
            <a:r>
              <a:rPr lang="en-US" dirty="0"/>
              <a:t> if both directions are breadth-first or uniform-cost. </a:t>
            </a:r>
          </a:p>
        </p:txBody>
      </p:sp>
    </p:spTree>
    <p:extLst>
      <p:ext uri="{BB962C8B-B14F-4D97-AF65-F5344CB8AC3E}">
        <p14:creationId xmlns:p14="http://schemas.microsoft.com/office/powerpoint/2010/main" val="351184331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C271B6-4AD8-51F9-07D2-4273F7842106}"/>
              </a:ext>
            </a:extLst>
          </p:cNvPr>
          <p:cNvSpPr>
            <a:spLocks noGrp="1"/>
          </p:cNvSpPr>
          <p:nvPr>
            <p:ph type="title"/>
          </p:nvPr>
        </p:nvSpPr>
        <p:spPr/>
        <p:txBody>
          <a:bodyPr/>
          <a:lstStyle/>
          <a:p>
            <a:r>
              <a:rPr lang="en-US" dirty="0"/>
              <a:t>Best First Search</a:t>
            </a:r>
          </a:p>
        </p:txBody>
      </p:sp>
      <p:sp>
        <p:nvSpPr>
          <p:cNvPr id="3" name="Content Placeholder 2">
            <a:extLst>
              <a:ext uri="{FF2B5EF4-FFF2-40B4-BE49-F238E27FC236}">
                <a16:creationId xmlns:a16="http://schemas.microsoft.com/office/drawing/2014/main" id="{815A396A-53E9-A6E1-4552-24F683AEF8BB}"/>
              </a:ext>
            </a:extLst>
          </p:cNvPr>
          <p:cNvSpPr>
            <a:spLocks noGrp="1"/>
          </p:cNvSpPr>
          <p:nvPr>
            <p:ph idx="1"/>
          </p:nvPr>
        </p:nvSpPr>
        <p:spPr/>
        <p:txBody>
          <a:bodyPr/>
          <a:lstStyle/>
          <a:p>
            <a:r>
              <a:rPr lang="en-US" b="1" dirty="0"/>
              <a:t>ACTIONS</a:t>
            </a:r>
            <a:r>
              <a:rPr lang="en-US" dirty="0"/>
              <a:t> – available actions for a state</a:t>
            </a:r>
          </a:p>
          <a:p>
            <a:r>
              <a:rPr lang="en-US" b="1" dirty="0"/>
              <a:t>RESULT</a:t>
            </a:r>
            <a:r>
              <a:rPr lang="en-US" dirty="0"/>
              <a:t> – where does the action lead to</a:t>
            </a:r>
          </a:p>
          <a:p>
            <a:r>
              <a:rPr lang="en-US" b="1" dirty="0"/>
              <a:t>“Frontier”</a:t>
            </a:r>
            <a:r>
              <a:rPr lang="en-US" dirty="0"/>
              <a:t> – Un-expanded nodes</a:t>
            </a:r>
          </a:p>
          <a:p>
            <a:r>
              <a:rPr lang="en-US" b="1" dirty="0"/>
              <a:t>“Reached”</a:t>
            </a:r>
            <a:r>
              <a:rPr lang="en-US" dirty="0"/>
              <a:t> – Nodes you have already reached</a:t>
            </a:r>
          </a:p>
        </p:txBody>
      </p:sp>
    </p:spTree>
    <p:extLst>
      <p:ext uri="{BB962C8B-B14F-4D97-AF65-F5344CB8AC3E}">
        <p14:creationId xmlns:p14="http://schemas.microsoft.com/office/powerpoint/2010/main" val="42642493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0F7B87-048E-7400-FBE1-D99DE4722FA1}"/>
              </a:ext>
            </a:extLst>
          </p:cNvPr>
          <p:cNvSpPr>
            <a:spLocks noGrp="1"/>
          </p:cNvSpPr>
          <p:nvPr>
            <p:ph type="title"/>
          </p:nvPr>
        </p:nvSpPr>
        <p:spPr/>
        <p:txBody>
          <a:bodyPr/>
          <a:lstStyle/>
          <a:p>
            <a:r>
              <a:rPr lang="en-US" dirty="0"/>
              <a:t>We’ll be using a Search Data Structure</a:t>
            </a:r>
          </a:p>
        </p:txBody>
      </p:sp>
      <p:sp>
        <p:nvSpPr>
          <p:cNvPr id="3" name="Content Placeholder 2">
            <a:extLst>
              <a:ext uri="{FF2B5EF4-FFF2-40B4-BE49-F238E27FC236}">
                <a16:creationId xmlns:a16="http://schemas.microsoft.com/office/drawing/2014/main" id="{DC5A9A34-95C9-2EF2-A05A-0FE935DE5ADD}"/>
              </a:ext>
            </a:extLst>
          </p:cNvPr>
          <p:cNvSpPr>
            <a:spLocks noGrp="1"/>
          </p:cNvSpPr>
          <p:nvPr>
            <p:ph idx="1"/>
          </p:nvPr>
        </p:nvSpPr>
        <p:spPr/>
        <p:txBody>
          <a:bodyPr/>
          <a:lstStyle/>
          <a:p>
            <a:pPr marL="0" indent="0">
              <a:buNone/>
            </a:pPr>
            <a:r>
              <a:rPr lang="en-US" b="1" dirty="0"/>
              <a:t>Node </a:t>
            </a:r>
            <a:r>
              <a:rPr lang="en-US" dirty="0"/>
              <a:t>(for the tree):</a:t>
            </a:r>
          </a:p>
          <a:p>
            <a:r>
              <a:rPr lang="en-US" b="1" dirty="0" err="1"/>
              <a:t>node.STATE</a:t>
            </a:r>
            <a:r>
              <a:rPr lang="en-US" b="1" dirty="0"/>
              <a:t>: </a:t>
            </a:r>
            <a:r>
              <a:rPr lang="en-US" dirty="0"/>
              <a:t>the state to which the node corresponds;</a:t>
            </a:r>
          </a:p>
          <a:p>
            <a:r>
              <a:rPr lang="en-US" b="1" dirty="0" err="1"/>
              <a:t>node.PARENT</a:t>
            </a:r>
            <a:r>
              <a:rPr lang="en-US" b="1" dirty="0"/>
              <a:t>: </a:t>
            </a:r>
            <a:r>
              <a:rPr lang="en-US" dirty="0"/>
              <a:t>the node in the tree that generated this node; </a:t>
            </a:r>
          </a:p>
          <a:p>
            <a:r>
              <a:rPr lang="en-US" b="1" dirty="0" err="1"/>
              <a:t>node.ACTION</a:t>
            </a:r>
            <a:r>
              <a:rPr lang="en-US" b="1" dirty="0"/>
              <a:t>: </a:t>
            </a:r>
            <a:r>
              <a:rPr lang="en-US" dirty="0"/>
              <a:t>the action that was applied to the parent’s state to generate this node;</a:t>
            </a:r>
          </a:p>
          <a:p>
            <a:r>
              <a:rPr lang="en-US" b="1" dirty="0" err="1"/>
              <a:t>node.PATH</a:t>
            </a:r>
            <a:r>
              <a:rPr lang="en-US" b="1" dirty="0"/>
              <a:t>-COST: </a:t>
            </a:r>
            <a:r>
              <a:rPr lang="en-US" dirty="0"/>
              <a:t>the total cost of the path from the initial state to this node. In mathematical formulas, we use g(node) as a synonym for PATH-COST. </a:t>
            </a:r>
          </a:p>
        </p:txBody>
      </p:sp>
    </p:spTree>
    <p:extLst>
      <p:ext uri="{BB962C8B-B14F-4D97-AF65-F5344CB8AC3E}">
        <p14:creationId xmlns:p14="http://schemas.microsoft.com/office/powerpoint/2010/main" val="172312359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FE042E-CD33-64AF-7BA2-423BF6368793}"/>
              </a:ext>
            </a:extLst>
          </p:cNvPr>
          <p:cNvSpPr>
            <a:spLocks noGrp="1"/>
          </p:cNvSpPr>
          <p:nvPr>
            <p:ph type="title"/>
          </p:nvPr>
        </p:nvSpPr>
        <p:spPr/>
        <p:txBody>
          <a:bodyPr/>
          <a:lstStyle/>
          <a:p>
            <a:r>
              <a:rPr lang="en-US" dirty="0"/>
              <a:t>Queue for the Frontier</a:t>
            </a:r>
          </a:p>
        </p:txBody>
      </p:sp>
      <p:sp>
        <p:nvSpPr>
          <p:cNvPr id="3" name="Content Placeholder 2">
            <a:extLst>
              <a:ext uri="{FF2B5EF4-FFF2-40B4-BE49-F238E27FC236}">
                <a16:creationId xmlns:a16="http://schemas.microsoft.com/office/drawing/2014/main" id="{D48F5EEC-637A-895A-8FFB-5DD601FB780B}"/>
              </a:ext>
            </a:extLst>
          </p:cNvPr>
          <p:cNvSpPr>
            <a:spLocks noGrp="1"/>
          </p:cNvSpPr>
          <p:nvPr>
            <p:ph idx="1"/>
          </p:nvPr>
        </p:nvSpPr>
        <p:spPr/>
        <p:txBody>
          <a:bodyPr/>
          <a:lstStyle/>
          <a:p>
            <a:r>
              <a:rPr lang="en-US" b="1" dirty="0"/>
              <a:t>IS-EMPTY</a:t>
            </a:r>
            <a:r>
              <a:rPr lang="en-US" dirty="0"/>
              <a:t>(frontier) returns true only if there are no nodes in the frontier. </a:t>
            </a:r>
          </a:p>
          <a:p>
            <a:r>
              <a:rPr lang="en-US" b="1" dirty="0"/>
              <a:t>POP</a:t>
            </a:r>
            <a:r>
              <a:rPr lang="en-US" dirty="0"/>
              <a:t>(frontier) removes the top node from the frontier and returns it. </a:t>
            </a:r>
          </a:p>
          <a:p>
            <a:r>
              <a:rPr lang="en-US" b="1" dirty="0"/>
              <a:t>TOP</a:t>
            </a:r>
            <a:r>
              <a:rPr lang="en-US" dirty="0"/>
              <a:t>(frontier) returns (but does not remove) the top node of the frontier. </a:t>
            </a:r>
          </a:p>
          <a:p>
            <a:r>
              <a:rPr lang="en-US" b="1" dirty="0"/>
              <a:t>ADD</a:t>
            </a:r>
            <a:r>
              <a:rPr lang="en-US" dirty="0"/>
              <a:t>(node, frontier) inserts node into its proper place in the queue.</a:t>
            </a:r>
          </a:p>
          <a:p>
            <a:endParaRPr lang="en-US" dirty="0"/>
          </a:p>
          <a:p>
            <a:pPr marL="0" indent="0">
              <a:buNone/>
            </a:pPr>
            <a:r>
              <a:rPr lang="en-US" dirty="0"/>
              <a:t>Usually, we use one of the following queues:</a:t>
            </a:r>
          </a:p>
          <a:p>
            <a:r>
              <a:rPr lang="en-US" dirty="0"/>
              <a:t>LIFO (stack)</a:t>
            </a:r>
          </a:p>
          <a:p>
            <a:r>
              <a:rPr lang="en-US" dirty="0"/>
              <a:t>FIFO</a:t>
            </a:r>
          </a:p>
          <a:p>
            <a:r>
              <a:rPr lang="en-US" dirty="0"/>
              <a:t>Priority Queue</a:t>
            </a:r>
          </a:p>
        </p:txBody>
      </p:sp>
    </p:spTree>
    <p:extLst>
      <p:ext uri="{BB962C8B-B14F-4D97-AF65-F5344CB8AC3E}">
        <p14:creationId xmlns:p14="http://schemas.microsoft.com/office/powerpoint/2010/main" val="64838033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7700BD-CFE3-EC25-51BB-1A764E7FADF5}"/>
              </a:ext>
            </a:extLst>
          </p:cNvPr>
          <p:cNvSpPr>
            <a:spLocks noGrp="1"/>
          </p:cNvSpPr>
          <p:nvPr>
            <p:ph type="title"/>
          </p:nvPr>
        </p:nvSpPr>
        <p:spPr/>
        <p:txBody>
          <a:bodyPr/>
          <a:lstStyle/>
          <a:p>
            <a:r>
              <a:rPr lang="en-US" dirty="0"/>
              <a:t>Algorithm for Best First Search</a:t>
            </a:r>
          </a:p>
        </p:txBody>
      </p:sp>
      <p:pic>
        <p:nvPicPr>
          <p:cNvPr id="5" name="Content Placeholder 4">
            <a:extLst>
              <a:ext uri="{FF2B5EF4-FFF2-40B4-BE49-F238E27FC236}">
                <a16:creationId xmlns:a16="http://schemas.microsoft.com/office/drawing/2014/main" id="{10A07A3C-02D1-D0E7-C178-4B28B6DAA905}"/>
              </a:ext>
            </a:extLst>
          </p:cNvPr>
          <p:cNvPicPr>
            <a:picLocks noGrp="1" noChangeAspect="1"/>
          </p:cNvPicPr>
          <p:nvPr>
            <p:ph idx="1"/>
          </p:nvPr>
        </p:nvPicPr>
        <p:blipFill>
          <a:blip r:embed="rId2"/>
          <a:stretch>
            <a:fillRect/>
          </a:stretch>
        </p:blipFill>
        <p:spPr>
          <a:xfrm>
            <a:off x="2419814" y="1895707"/>
            <a:ext cx="7114478" cy="4962293"/>
          </a:xfrm>
          <a:prstGeom prst="rect">
            <a:avLst/>
          </a:prstGeom>
          <a:effectLst>
            <a:outerShdw blurRad="50800" dir="14400000">
              <a:srgbClr val="000000">
                <a:alpha val="40000"/>
              </a:srgbClr>
            </a:outerShdw>
          </a:effectLst>
        </p:spPr>
      </p:pic>
    </p:spTree>
    <p:extLst>
      <p:ext uri="{BB962C8B-B14F-4D97-AF65-F5344CB8AC3E}">
        <p14:creationId xmlns:p14="http://schemas.microsoft.com/office/powerpoint/2010/main" val="207918265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FB866F5-29C6-0532-2C76-8DF119A1E6CB}"/>
              </a:ext>
            </a:extLst>
          </p:cNvPr>
          <p:cNvSpPr>
            <a:spLocks noGrp="1"/>
          </p:cNvSpPr>
          <p:nvPr>
            <p:ph type="ctrTitle"/>
          </p:nvPr>
        </p:nvSpPr>
        <p:spPr/>
        <p:txBody>
          <a:bodyPr/>
          <a:lstStyle/>
          <a:p>
            <a:pPr algn="ctr"/>
            <a:r>
              <a:rPr lang="en-US" dirty="0"/>
              <a:t>Fin.</a:t>
            </a:r>
          </a:p>
        </p:txBody>
      </p:sp>
      <p:sp>
        <p:nvSpPr>
          <p:cNvPr id="5" name="Subtitle 4">
            <a:extLst>
              <a:ext uri="{FF2B5EF4-FFF2-40B4-BE49-F238E27FC236}">
                <a16:creationId xmlns:a16="http://schemas.microsoft.com/office/drawing/2014/main" id="{6F757602-BCBC-E3F9-9A8C-6576B2DAA980}"/>
              </a:ext>
            </a:extLst>
          </p:cNvPr>
          <p:cNvSpPr>
            <a:spLocks noGrp="1"/>
          </p:cNvSpPr>
          <p:nvPr>
            <p:ph type="subTitle" idx="1"/>
          </p:nvPr>
        </p:nvSpPr>
        <p:spPr>
          <a:xfrm rot="3024798">
            <a:off x="2274907" y="5312664"/>
            <a:ext cx="533607" cy="434974"/>
          </a:xfrm>
        </p:spPr>
        <p:txBody>
          <a:bodyPr/>
          <a:lstStyle/>
          <a:p>
            <a:r>
              <a:rPr lang="en-US" dirty="0"/>
              <a:t>&gt;:3</a:t>
            </a:r>
          </a:p>
        </p:txBody>
      </p:sp>
    </p:spTree>
    <p:extLst>
      <p:ext uri="{BB962C8B-B14F-4D97-AF65-F5344CB8AC3E}">
        <p14:creationId xmlns:p14="http://schemas.microsoft.com/office/powerpoint/2010/main" val="247922297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Quotable">
  <a:themeElements>
    <a:clrScheme name="Custom 1">
      <a:dk1>
        <a:srgbClr val="181818"/>
      </a:dk1>
      <a:lt1>
        <a:srgbClr val="181818"/>
      </a:lt1>
      <a:dk2>
        <a:srgbClr val="FFFFFF"/>
      </a:dk2>
      <a:lt2>
        <a:srgbClr val="FFFFFF"/>
      </a:lt2>
      <a:accent1>
        <a:srgbClr val="843AAB"/>
      </a:accent1>
      <a:accent2>
        <a:srgbClr val="E19933"/>
      </a:accent2>
      <a:accent3>
        <a:srgbClr val="DC5D3D"/>
      </a:accent3>
      <a:accent4>
        <a:srgbClr val="A967CB"/>
      </a:accent4>
      <a:accent5>
        <a:srgbClr val="5EA5DD"/>
      </a:accent5>
      <a:accent6>
        <a:srgbClr val="44BEA9"/>
      </a:accent6>
      <a:hlink>
        <a:srgbClr val="002060"/>
      </a:hlink>
      <a:folHlink>
        <a:srgbClr val="0070C0"/>
      </a:folHlink>
    </a:clrScheme>
    <a:fontScheme name="Quotable">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Quotable">
      <a:fillStyleLst>
        <a:solidFill>
          <a:schemeClr val="phClr"/>
        </a:solidFill>
        <a:gradFill rotWithShape="1">
          <a:gsLst>
            <a:gs pos="0">
              <a:schemeClr val="phClr">
                <a:tint val="80000"/>
                <a:lumMod val="105000"/>
              </a:schemeClr>
            </a:gs>
            <a:gs pos="100000">
              <a:schemeClr val="phClr">
                <a:tint val="90000"/>
              </a:schemeClr>
            </a:gs>
          </a:gsLst>
          <a:lin ang="5400000" scaled="0"/>
        </a:gradFill>
        <a:blipFill rotWithShape="1">
          <a:blip xmlns:r="http://schemas.openxmlformats.org/officeDocument/2006/relationships" r:embed="rId1">
            <a:duotone>
              <a:schemeClr val="phClr">
                <a:tint val="98000"/>
                <a:lumMod val="102000"/>
              </a:schemeClr>
              <a:schemeClr val="phClr">
                <a:shade val="98000"/>
                <a:lumMod val="98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effectStyle>
        <a:effectStyle>
          <a:effectLst>
            <a:innerShdw blurRad="63500" dist="25400" dir="13500000">
              <a:srgbClr val="000000">
                <a:alpha val="75000"/>
              </a:srgbClr>
            </a:innerShdw>
          </a:effectLst>
        </a:effectStyle>
      </a:effectStyleLst>
      <a:bgFillStyleLst>
        <a:solidFill>
          <a:schemeClr val="phClr"/>
        </a:solidFill>
        <a:gradFill rotWithShape="1">
          <a:gsLst>
            <a:gs pos="0">
              <a:schemeClr val="phClr">
                <a:tint val="100000"/>
              </a:schemeClr>
            </a:gs>
            <a:gs pos="100000">
              <a:schemeClr val="phClr">
                <a:tint val="84000"/>
                <a:shade val="84000"/>
                <a:lumMod val="90000"/>
              </a:schemeClr>
            </a:gs>
          </a:gsLst>
          <a:lin ang="5400000" scaled="0"/>
        </a:gradFill>
        <a:gradFill rotWithShape="1">
          <a:gsLst>
            <a:gs pos="0">
              <a:schemeClr val="phClr">
                <a:tint val="84000"/>
                <a:shade val="90000"/>
                <a:satMod val="120000"/>
                <a:lumMod val="90000"/>
              </a:schemeClr>
            </a:gs>
            <a:gs pos="100000">
              <a:schemeClr val="phClr"/>
            </a:gs>
          </a:gsLst>
          <a:lin ang="5400000" scaled="0"/>
        </a:gradFill>
      </a:bgFillStyleLst>
    </a:fmtScheme>
  </a:themeElements>
  <a:objectDefaults/>
  <a:extraClrSchemeLst/>
  <a:extLst>
    <a:ext uri="{05A4C25C-085E-4340-85A3-A5531E510DB2}">
      <thm15:themeFamily xmlns:thm15="http://schemas.microsoft.com/office/thememl/2012/main" name="Quotable" id="{39EC5628-30ED-4578-ACD8-9820EDB8E15A}" vid="{6F3559E9-1A4C-49D8-94D4-F41003531C4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Quotable</Template>
  <TotalTime>2100</TotalTime>
  <Words>3200</Words>
  <Application>Microsoft Office PowerPoint</Application>
  <PresentationFormat>Widescreen</PresentationFormat>
  <Paragraphs>566</Paragraphs>
  <Slides>53</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53</vt:i4>
      </vt:variant>
    </vt:vector>
  </HeadingPairs>
  <TitlesOfParts>
    <vt:vector size="61" baseType="lpstr">
      <vt:lpstr>Arial</vt:lpstr>
      <vt:lpstr>Arial MT</vt:lpstr>
      <vt:lpstr>Calibri</vt:lpstr>
      <vt:lpstr>Century Gothic</vt:lpstr>
      <vt:lpstr>Courier New</vt:lpstr>
      <vt:lpstr>Times New Roman</vt:lpstr>
      <vt:lpstr>Wingdings 2</vt:lpstr>
      <vt:lpstr>Quotable</vt:lpstr>
      <vt:lpstr>Solving Problems by Searching</vt:lpstr>
      <vt:lpstr>Problem-Solving Agent</vt:lpstr>
      <vt:lpstr>Romania Route-Finding Problem</vt:lpstr>
      <vt:lpstr>Search Problem Definition</vt:lpstr>
      <vt:lpstr>Solution for a Problem</vt:lpstr>
      <vt:lpstr>Formulating Problems</vt:lpstr>
      <vt:lpstr>Some Standardized Problems  (Vacuum Cleaner World)</vt:lpstr>
      <vt:lpstr>Some Standardized Problems Sokoban – 8-Puzzle</vt:lpstr>
      <vt:lpstr>Water Lemonade-Jug Problem (yes, I had ChatGPT make the image)</vt:lpstr>
      <vt:lpstr>Real-World Problems Route-Finding Problem</vt:lpstr>
      <vt:lpstr>Search Algorithms</vt:lpstr>
      <vt:lpstr>Types of Search Algorithms</vt:lpstr>
      <vt:lpstr>Uninformed (Blind) Search</vt:lpstr>
      <vt:lpstr>Informed (Heuristic) Search</vt:lpstr>
      <vt:lpstr>Evaluation of Search Strategies</vt:lpstr>
      <vt:lpstr>Search Trees</vt:lpstr>
      <vt:lpstr>Search Tree – Romania Problem</vt:lpstr>
      <vt:lpstr>Search Tree – Romania Problem</vt:lpstr>
      <vt:lpstr>Searching for Solutions (steps)</vt:lpstr>
      <vt:lpstr>Search Tree</vt:lpstr>
      <vt:lpstr>Let’s Apply the Terms on This One!</vt:lpstr>
      <vt:lpstr>Breadth-First Search/Depth-First Search</vt:lpstr>
      <vt:lpstr>Uniform Cost Search</vt:lpstr>
      <vt:lpstr>Uniform Cost Search</vt:lpstr>
      <vt:lpstr>Uniform Cost Search</vt:lpstr>
      <vt:lpstr>Uniform Cost Search</vt:lpstr>
      <vt:lpstr>Uniform Cost Search</vt:lpstr>
      <vt:lpstr>Uniform Cost Search</vt:lpstr>
      <vt:lpstr>Uniform Cost Search</vt:lpstr>
      <vt:lpstr>Uniform Cost Search</vt:lpstr>
      <vt:lpstr>Uniform Cost Search</vt:lpstr>
      <vt:lpstr>Properties of Uniform-cost Search (UCS)</vt:lpstr>
      <vt:lpstr>Depth-Limited Search</vt:lpstr>
      <vt:lpstr>Let’s Perform DLS with depth = 2</vt:lpstr>
      <vt:lpstr>Properties for DLS</vt:lpstr>
      <vt:lpstr>Iterative Deepening Search</vt:lpstr>
      <vt:lpstr>IDS  - Example</vt:lpstr>
      <vt:lpstr>IDS – Limit 0</vt:lpstr>
      <vt:lpstr>IDS – Limit 1</vt:lpstr>
      <vt:lpstr>IDS – Limit 2</vt:lpstr>
      <vt:lpstr>IDS – Limit 3</vt:lpstr>
      <vt:lpstr>Properties of IDS</vt:lpstr>
      <vt:lpstr>Bi-directional Search</vt:lpstr>
      <vt:lpstr>Bi-directional Search</vt:lpstr>
      <vt:lpstr>PowerPoint Presentation</vt:lpstr>
      <vt:lpstr>Properties of Bi-directional Search</vt:lpstr>
      <vt:lpstr>Quick Summary</vt:lpstr>
      <vt:lpstr>Quick Summary</vt:lpstr>
      <vt:lpstr>Best First Search</vt:lpstr>
      <vt:lpstr>We’ll be using a Search Data Structure</vt:lpstr>
      <vt:lpstr>Queue for the Frontier</vt:lpstr>
      <vt:lpstr>Algorithm for Best First Search</vt:lpstr>
      <vt:lpstr>Fin.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Abeeha Sattar</dc:creator>
  <cp:lastModifiedBy>Abeeha Sattar</cp:lastModifiedBy>
  <cp:revision>407</cp:revision>
  <dcterms:created xsi:type="dcterms:W3CDTF">2026-01-20T09:40:17Z</dcterms:created>
  <dcterms:modified xsi:type="dcterms:W3CDTF">2026-02-10T04:54:46Z</dcterms:modified>
</cp:coreProperties>
</file>