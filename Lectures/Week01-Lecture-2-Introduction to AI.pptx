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1" r:id="rId3"/>
    <p:sldId id="262" r:id="rId4"/>
    <p:sldId id="257" r:id="rId5"/>
    <p:sldId id="259" r:id="rId6"/>
    <p:sldId id="260" r:id="rId7"/>
    <p:sldId id="263" r:id="rId8"/>
    <p:sldId id="264" r:id="rId9"/>
    <p:sldId id="265" r:id="rId10"/>
    <p:sldId id="266" r:id="rId11"/>
    <p:sldId id="267" r:id="rId12"/>
    <p:sldId id="258" r:id="rId13"/>
    <p:sldId id="281" r:id="rId14"/>
    <p:sldId id="282" r:id="rId15"/>
    <p:sldId id="285" r:id="rId16"/>
    <p:sldId id="287" r:id="rId17"/>
    <p:sldId id="284" r:id="rId18"/>
    <p:sldId id="283" r:id="rId19"/>
    <p:sldId id="286" r:id="rId20"/>
    <p:sldId id="268" r:id="rId21"/>
    <p:sldId id="269" r:id="rId22"/>
    <p:sldId id="270" r:id="rId23"/>
    <p:sldId id="271" r:id="rId24"/>
    <p:sldId id="272" r:id="rId25"/>
    <p:sldId id="273" r:id="rId26"/>
    <p:sldId id="274" r:id="rId27"/>
    <p:sldId id="275" r:id="rId28"/>
    <p:sldId id="276" r:id="rId29"/>
    <p:sldId id="277" r:id="rId30"/>
    <p:sldId id="278" r:id="rId31"/>
    <p:sldId id="288" r:id="rId32"/>
    <p:sldId id="280"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91AA9B-B4C2-4627-B34D-0BE95DFB103F}" type="doc">
      <dgm:prSet loTypeId="urn:microsoft.com/office/officeart/2005/8/layout/process1" loCatId="process" qsTypeId="urn:microsoft.com/office/officeart/2005/8/quickstyle/3d3" qsCatId="3D" csTypeId="urn:microsoft.com/office/officeart/2005/8/colors/colorful1" csCatId="colorful" phldr="1"/>
      <dgm:spPr/>
      <dgm:t>
        <a:bodyPr/>
        <a:lstStyle/>
        <a:p>
          <a:endParaRPr lang="en-US"/>
        </a:p>
      </dgm:t>
    </dgm:pt>
    <dgm:pt modelId="{091945A0-66A5-46CA-AC66-F48E4A9BEBE8}">
      <dgm:prSet phldrT="[Text]" phldr="0" custT="1"/>
      <dgm:spPr/>
      <dgm:t>
        <a:bodyPr/>
        <a:lstStyle/>
        <a:p>
          <a:r>
            <a:rPr lang="en-US" sz="3200" dirty="0"/>
            <a:t>Training Data</a:t>
          </a:r>
        </a:p>
      </dgm:t>
    </dgm:pt>
    <dgm:pt modelId="{57A9D946-DE90-4AB5-A29D-1E4DD6058600}" type="parTrans" cxnId="{10BC42F8-FB30-4108-BF19-8F785814E6A2}">
      <dgm:prSet/>
      <dgm:spPr/>
      <dgm:t>
        <a:bodyPr/>
        <a:lstStyle/>
        <a:p>
          <a:endParaRPr lang="en-US"/>
        </a:p>
      </dgm:t>
    </dgm:pt>
    <dgm:pt modelId="{8257B6BA-D4BE-49FD-BB5C-02A34FA7EE18}" type="sibTrans" cxnId="{10BC42F8-FB30-4108-BF19-8F785814E6A2}">
      <dgm:prSet/>
      <dgm:spPr/>
      <dgm:t>
        <a:bodyPr/>
        <a:lstStyle/>
        <a:p>
          <a:endParaRPr lang="en-US"/>
        </a:p>
      </dgm:t>
    </dgm:pt>
    <dgm:pt modelId="{E3CD607B-C75B-4FA1-A4E9-A7C02799F702}">
      <dgm:prSet phldrT="[Text]" phldr="0" custT="1"/>
      <dgm:spPr/>
      <dgm:t>
        <a:bodyPr/>
        <a:lstStyle/>
        <a:p>
          <a:r>
            <a:rPr lang="en-US" sz="3200" dirty="0"/>
            <a:t>Computer</a:t>
          </a:r>
        </a:p>
      </dgm:t>
    </dgm:pt>
    <dgm:pt modelId="{DAF68388-F48C-49E8-9EE2-186AF7B100D0}" type="parTrans" cxnId="{ED97F445-48C7-41A7-83FB-2FFA55DDA0A7}">
      <dgm:prSet/>
      <dgm:spPr/>
      <dgm:t>
        <a:bodyPr/>
        <a:lstStyle/>
        <a:p>
          <a:endParaRPr lang="en-US"/>
        </a:p>
      </dgm:t>
    </dgm:pt>
    <dgm:pt modelId="{1C1724EE-CD59-43EE-8C69-23F7AA236E9B}" type="sibTrans" cxnId="{ED97F445-48C7-41A7-83FB-2FFA55DDA0A7}">
      <dgm:prSet/>
      <dgm:spPr/>
      <dgm:t>
        <a:bodyPr/>
        <a:lstStyle/>
        <a:p>
          <a:endParaRPr lang="en-US"/>
        </a:p>
      </dgm:t>
    </dgm:pt>
    <dgm:pt modelId="{876934F4-A9E0-447A-9BB0-50AE5FD7C1EC}">
      <dgm:prSet phldrT="[Text]" phldr="0" custT="1"/>
      <dgm:spPr/>
      <dgm:t>
        <a:bodyPr/>
        <a:lstStyle/>
        <a:p>
          <a:r>
            <a:rPr lang="en-US" sz="3200" dirty="0"/>
            <a:t>Self-Driving Cars</a:t>
          </a:r>
        </a:p>
      </dgm:t>
    </dgm:pt>
    <dgm:pt modelId="{A9579F1C-FE4F-414F-B527-20EB011A879B}" type="parTrans" cxnId="{9B0174CC-C746-4D11-82DC-983A660CEA5A}">
      <dgm:prSet/>
      <dgm:spPr/>
      <dgm:t>
        <a:bodyPr/>
        <a:lstStyle/>
        <a:p>
          <a:endParaRPr lang="en-US"/>
        </a:p>
      </dgm:t>
    </dgm:pt>
    <dgm:pt modelId="{8B6D91A8-D22B-437D-9A28-5F9D31CC5A0B}" type="sibTrans" cxnId="{9B0174CC-C746-4D11-82DC-983A660CEA5A}">
      <dgm:prSet/>
      <dgm:spPr/>
      <dgm:t>
        <a:bodyPr/>
        <a:lstStyle/>
        <a:p>
          <a:endParaRPr lang="en-US"/>
        </a:p>
      </dgm:t>
    </dgm:pt>
    <dgm:pt modelId="{7B9F9A3C-F493-41F1-8101-3AA5B08D19E9}" type="pres">
      <dgm:prSet presAssocID="{CC91AA9B-B4C2-4627-B34D-0BE95DFB103F}" presName="Name0" presStyleCnt="0">
        <dgm:presLayoutVars>
          <dgm:dir/>
          <dgm:resizeHandles val="exact"/>
        </dgm:presLayoutVars>
      </dgm:prSet>
      <dgm:spPr/>
    </dgm:pt>
    <dgm:pt modelId="{90FFD28E-9A6C-452A-9071-7DD087198E95}" type="pres">
      <dgm:prSet presAssocID="{091945A0-66A5-46CA-AC66-F48E4A9BEBE8}" presName="node" presStyleLbl="node1" presStyleIdx="0" presStyleCnt="3">
        <dgm:presLayoutVars>
          <dgm:bulletEnabled val="1"/>
        </dgm:presLayoutVars>
      </dgm:prSet>
      <dgm:spPr/>
    </dgm:pt>
    <dgm:pt modelId="{0C909BBC-98C6-4925-9AA1-443E0E4C4CC1}" type="pres">
      <dgm:prSet presAssocID="{8257B6BA-D4BE-49FD-BB5C-02A34FA7EE18}" presName="sibTrans" presStyleLbl="sibTrans2D1" presStyleIdx="0" presStyleCnt="2"/>
      <dgm:spPr/>
    </dgm:pt>
    <dgm:pt modelId="{722218D0-AAB1-41EB-A61F-5D3FD74FC3EC}" type="pres">
      <dgm:prSet presAssocID="{8257B6BA-D4BE-49FD-BB5C-02A34FA7EE18}" presName="connectorText" presStyleLbl="sibTrans2D1" presStyleIdx="0" presStyleCnt="2"/>
      <dgm:spPr/>
    </dgm:pt>
    <dgm:pt modelId="{8FE5FFFC-B58A-4793-9FB9-422A5C814735}" type="pres">
      <dgm:prSet presAssocID="{E3CD607B-C75B-4FA1-A4E9-A7C02799F702}" presName="node" presStyleLbl="node1" presStyleIdx="1" presStyleCnt="3">
        <dgm:presLayoutVars>
          <dgm:bulletEnabled val="1"/>
        </dgm:presLayoutVars>
      </dgm:prSet>
      <dgm:spPr/>
    </dgm:pt>
    <dgm:pt modelId="{A257B42B-077A-4558-BFD2-4F30D09D8840}" type="pres">
      <dgm:prSet presAssocID="{1C1724EE-CD59-43EE-8C69-23F7AA236E9B}" presName="sibTrans" presStyleLbl="sibTrans2D1" presStyleIdx="1" presStyleCnt="2"/>
      <dgm:spPr/>
    </dgm:pt>
    <dgm:pt modelId="{F8959C13-55BB-48D0-BD0F-B0A1F1D8AD01}" type="pres">
      <dgm:prSet presAssocID="{1C1724EE-CD59-43EE-8C69-23F7AA236E9B}" presName="connectorText" presStyleLbl="sibTrans2D1" presStyleIdx="1" presStyleCnt="2"/>
      <dgm:spPr/>
    </dgm:pt>
    <dgm:pt modelId="{C575985E-C20B-4AE2-A6D8-C26C9E408CDD}" type="pres">
      <dgm:prSet presAssocID="{876934F4-A9E0-447A-9BB0-50AE5FD7C1EC}" presName="node" presStyleLbl="node1" presStyleIdx="2" presStyleCnt="3">
        <dgm:presLayoutVars>
          <dgm:bulletEnabled val="1"/>
        </dgm:presLayoutVars>
      </dgm:prSet>
      <dgm:spPr/>
    </dgm:pt>
  </dgm:ptLst>
  <dgm:cxnLst>
    <dgm:cxn modelId="{D4B4A806-0CED-4743-A044-8F52F7F58C70}" type="presOf" srcId="{1C1724EE-CD59-43EE-8C69-23F7AA236E9B}" destId="{A257B42B-077A-4558-BFD2-4F30D09D8840}" srcOrd="0" destOrd="0" presId="urn:microsoft.com/office/officeart/2005/8/layout/process1"/>
    <dgm:cxn modelId="{FA51EB62-4FAA-4A85-A049-DD64ED3A050A}" type="presOf" srcId="{1C1724EE-CD59-43EE-8C69-23F7AA236E9B}" destId="{F8959C13-55BB-48D0-BD0F-B0A1F1D8AD01}" srcOrd="1" destOrd="0" presId="urn:microsoft.com/office/officeart/2005/8/layout/process1"/>
    <dgm:cxn modelId="{ED97F445-48C7-41A7-83FB-2FFA55DDA0A7}" srcId="{CC91AA9B-B4C2-4627-B34D-0BE95DFB103F}" destId="{E3CD607B-C75B-4FA1-A4E9-A7C02799F702}" srcOrd="1" destOrd="0" parTransId="{DAF68388-F48C-49E8-9EE2-186AF7B100D0}" sibTransId="{1C1724EE-CD59-43EE-8C69-23F7AA236E9B}"/>
    <dgm:cxn modelId="{8128EC84-6DB9-4F42-848B-5B7334E08A9B}" type="presOf" srcId="{8257B6BA-D4BE-49FD-BB5C-02A34FA7EE18}" destId="{722218D0-AAB1-41EB-A61F-5D3FD74FC3EC}" srcOrd="1" destOrd="0" presId="urn:microsoft.com/office/officeart/2005/8/layout/process1"/>
    <dgm:cxn modelId="{83865D88-18D2-4BAA-B0F3-ED609B48842C}" type="presOf" srcId="{CC91AA9B-B4C2-4627-B34D-0BE95DFB103F}" destId="{7B9F9A3C-F493-41F1-8101-3AA5B08D19E9}" srcOrd="0" destOrd="0" presId="urn:microsoft.com/office/officeart/2005/8/layout/process1"/>
    <dgm:cxn modelId="{06CAFB93-900E-494B-97AA-309FDD7358CE}" type="presOf" srcId="{091945A0-66A5-46CA-AC66-F48E4A9BEBE8}" destId="{90FFD28E-9A6C-452A-9071-7DD087198E95}" srcOrd="0" destOrd="0" presId="urn:microsoft.com/office/officeart/2005/8/layout/process1"/>
    <dgm:cxn modelId="{C41610C4-46DD-485C-8FCC-4822FAFFAC61}" type="presOf" srcId="{8257B6BA-D4BE-49FD-BB5C-02A34FA7EE18}" destId="{0C909BBC-98C6-4925-9AA1-443E0E4C4CC1}" srcOrd="0" destOrd="0" presId="urn:microsoft.com/office/officeart/2005/8/layout/process1"/>
    <dgm:cxn modelId="{9B0174CC-C746-4D11-82DC-983A660CEA5A}" srcId="{CC91AA9B-B4C2-4627-B34D-0BE95DFB103F}" destId="{876934F4-A9E0-447A-9BB0-50AE5FD7C1EC}" srcOrd="2" destOrd="0" parTransId="{A9579F1C-FE4F-414F-B527-20EB011A879B}" sibTransId="{8B6D91A8-D22B-437D-9A28-5F9D31CC5A0B}"/>
    <dgm:cxn modelId="{1404A5E1-A98C-468D-A4B9-4494C4874C04}" type="presOf" srcId="{E3CD607B-C75B-4FA1-A4E9-A7C02799F702}" destId="{8FE5FFFC-B58A-4793-9FB9-422A5C814735}" srcOrd="0" destOrd="0" presId="urn:microsoft.com/office/officeart/2005/8/layout/process1"/>
    <dgm:cxn modelId="{29F204E7-8424-4C60-8C7C-513CCE9AAC85}" type="presOf" srcId="{876934F4-A9E0-447A-9BB0-50AE5FD7C1EC}" destId="{C575985E-C20B-4AE2-A6D8-C26C9E408CDD}" srcOrd="0" destOrd="0" presId="urn:microsoft.com/office/officeart/2005/8/layout/process1"/>
    <dgm:cxn modelId="{10BC42F8-FB30-4108-BF19-8F785814E6A2}" srcId="{CC91AA9B-B4C2-4627-B34D-0BE95DFB103F}" destId="{091945A0-66A5-46CA-AC66-F48E4A9BEBE8}" srcOrd="0" destOrd="0" parTransId="{57A9D946-DE90-4AB5-A29D-1E4DD6058600}" sibTransId="{8257B6BA-D4BE-49FD-BB5C-02A34FA7EE18}"/>
    <dgm:cxn modelId="{0365FDD2-6A2C-4CDB-B1C6-F7B65185D73A}" type="presParOf" srcId="{7B9F9A3C-F493-41F1-8101-3AA5B08D19E9}" destId="{90FFD28E-9A6C-452A-9071-7DD087198E95}" srcOrd="0" destOrd="0" presId="urn:microsoft.com/office/officeart/2005/8/layout/process1"/>
    <dgm:cxn modelId="{8D5AF5B2-06DE-45EB-A236-65569C859DB1}" type="presParOf" srcId="{7B9F9A3C-F493-41F1-8101-3AA5B08D19E9}" destId="{0C909BBC-98C6-4925-9AA1-443E0E4C4CC1}" srcOrd="1" destOrd="0" presId="urn:microsoft.com/office/officeart/2005/8/layout/process1"/>
    <dgm:cxn modelId="{6834B9F9-2BD5-4E54-A977-B5C227F56337}" type="presParOf" srcId="{0C909BBC-98C6-4925-9AA1-443E0E4C4CC1}" destId="{722218D0-AAB1-41EB-A61F-5D3FD74FC3EC}" srcOrd="0" destOrd="0" presId="urn:microsoft.com/office/officeart/2005/8/layout/process1"/>
    <dgm:cxn modelId="{0733674D-CC8F-4FE0-A377-D966E01D683E}" type="presParOf" srcId="{7B9F9A3C-F493-41F1-8101-3AA5B08D19E9}" destId="{8FE5FFFC-B58A-4793-9FB9-422A5C814735}" srcOrd="2" destOrd="0" presId="urn:microsoft.com/office/officeart/2005/8/layout/process1"/>
    <dgm:cxn modelId="{8149EE4D-C1C1-4DAB-AF1A-78FA5A094D1C}" type="presParOf" srcId="{7B9F9A3C-F493-41F1-8101-3AA5B08D19E9}" destId="{A257B42B-077A-4558-BFD2-4F30D09D8840}" srcOrd="3" destOrd="0" presId="urn:microsoft.com/office/officeart/2005/8/layout/process1"/>
    <dgm:cxn modelId="{3CC819F9-68B2-484A-AD24-4948E9804986}" type="presParOf" srcId="{A257B42B-077A-4558-BFD2-4F30D09D8840}" destId="{F8959C13-55BB-48D0-BD0F-B0A1F1D8AD01}" srcOrd="0" destOrd="0" presId="urn:microsoft.com/office/officeart/2005/8/layout/process1"/>
    <dgm:cxn modelId="{7531AA43-954F-44FD-B203-E18C7D225B9A}" type="presParOf" srcId="{7B9F9A3C-F493-41F1-8101-3AA5B08D19E9}" destId="{C575985E-C20B-4AE2-A6D8-C26C9E408CDD}"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752C5D-F8E9-4E88-9C84-BB17CC72940B}" type="doc">
      <dgm:prSet loTypeId="urn:microsoft.com/office/officeart/2005/8/layout/matrix2" loCatId="matrix" qsTypeId="urn:microsoft.com/office/officeart/2005/8/quickstyle/3d3" qsCatId="3D" csTypeId="urn:microsoft.com/office/officeart/2005/8/colors/accent1_2" csCatId="accent1" phldr="1"/>
      <dgm:spPr/>
      <dgm:t>
        <a:bodyPr/>
        <a:lstStyle/>
        <a:p>
          <a:endParaRPr lang="en-US"/>
        </a:p>
      </dgm:t>
    </dgm:pt>
    <dgm:pt modelId="{0C9300FB-4ED7-4EAA-806B-FF1EE6F4602C}">
      <dgm:prSet phldrT="[Text]" phldr="0"/>
      <dgm:spPr>
        <a:solidFill>
          <a:schemeClr val="accent5">
            <a:lumMod val="75000"/>
          </a:schemeClr>
        </a:solidFill>
      </dgm:spPr>
      <dgm:t>
        <a:bodyPr/>
        <a:lstStyle/>
        <a:p>
          <a:r>
            <a:rPr lang="en-US" b="1" dirty="0"/>
            <a:t>Thinking Rationally</a:t>
          </a:r>
        </a:p>
      </dgm:t>
    </dgm:pt>
    <dgm:pt modelId="{50C67DBD-F1E1-4625-8FE3-F7345CFD8D89}" type="parTrans" cxnId="{4DDA51E4-B1C9-4DA0-875C-604ACFD1ED8D}">
      <dgm:prSet/>
      <dgm:spPr/>
      <dgm:t>
        <a:bodyPr/>
        <a:lstStyle/>
        <a:p>
          <a:endParaRPr lang="en-US"/>
        </a:p>
      </dgm:t>
    </dgm:pt>
    <dgm:pt modelId="{352640C7-4556-4DC2-8A6A-472233E6CEBF}" type="sibTrans" cxnId="{4DDA51E4-B1C9-4DA0-875C-604ACFD1ED8D}">
      <dgm:prSet/>
      <dgm:spPr/>
      <dgm:t>
        <a:bodyPr/>
        <a:lstStyle/>
        <a:p>
          <a:endParaRPr lang="en-US"/>
        </a:p>
      </dgm:t>
    </dgm:pt>
    <dgm:pt modelId="{19118A42-D66D-47F1-B97C-36576EFA4ADF}">
      <dgm:prSet phldrT="[Text]" phldr="0"/>
      <dgm:spPr>
        <a:solidFill>
          <a:schemeClr val="accent5">
            <a:lumMod val="75000"/>
          </a:schemeClr>
        </a:solidFill>
      </dgm:spPr>
      <dgm:t>
        <a:bodyPr/>
        <a:lstStyle/>
        <a:p>
          <a:r>
            <a:rPr lang="en-US" b="1" dirty="0"/>
            <a:t>Acting Rationally</a:t>
          </a:r>
        </a:p>
      </dgm:t>
    </dgm:pt>
    <dgm:pt modelId="{206E384F-83AF-4992-B0B0-01ABAC4B2882}" type="parTrans" cxnId="{0E9E237B-A6F4-4B12-80D5-2B0325337E08}">
      <dgm:prSet/>
      <dgm:spPr/>
      <dgm:t>
        <a:bodyPr/>
        <a:lstStyle/>
        <a:p>
          <a:endParaRPr lang="en-US"/>
        </a:p>
      </dgm:t>
    </dgm:pt>
    <dgm:pt modelId="{F1B12375-8B16-4E76-BC2D-B75B72981DB1}" type="sibTrans" cxnId="{0E9E237B-A6F4-4B12-80D5-2B0325337E08}">
      <dgm:prSet/>
      <dgm:spPr/>
      <dgm:t>
        <a:bodyPr/>
        <a:lstStyle/>
        <a:p>
          <a:endParaRPr lang="en-US"/>
        </a:p>
      </dgm:t>
    </dgm:pt>
    <dgm:pt modelId="{CFB14506-225B-4C49-9189-80CC4C0531D7}">
      <dgm:prSet phldrT="[Text]" phldr="0"/>
      <dgm:spPr>
        <a:solidFill>
          <a:schemeClr val="accent5">
            <a:lumMod val="75000"/>
          </a:schemeClr>
        </a:solidFill>
      </dgm:spPr>
      <dgm:t>
        <a:bodyPr/>
        <a:lstStyle/>
        <a:p>
          <a:r>
            <a:rPr lang="en-US" b="1" dirty="0"/>
            <a:t>Thinking Humanly</a:t>
          </a:r>
        </a:p>
      </dgm:t>
    </dgm:pt>
    <dgm:pt modelId="{82EF5DDB-3E64-40DD-8A9E-8A011495B2E0}" type="parTrans" cxnId="{4DE69F32-7933-486B-BF9B-DB23A51C2746}">
      <dgm:prSet/>
      <dgm:spPr/>
      <dgm:t>
        <a:bodyPr/>
        <a:lstStyle/>
        <a:p>
          <a:endParaRPr lang="en-US"/>
        </a:p>
      </dgm:t>
    </dgm:pt>
    <dgm:pt modelId="{2A642C42-51D0-46C6-977F-6B1D265733A8}" type="sibTrans" cxnId="{4DE69F32-7933-486B-BF9B-DB23A51C2746}">
      <dgm:prSet/>
      <dgm:spPr/>
      <dgm:t>
        <a:bodyPr/>
        <a:lstStyle/>
        <a:p>
          <a:endParaRPr lang="en-US"/>
        </a:p>
      </dgm:t>
    </dgm:pt>
    <dgm:pt modelId="{64DB9340-8685-466F-A915-C3D56C3B72C9}">
      <dgm:prSet phldrT="[Text]" phldr="0"/>
      <dgm:spPr>
        <a:solidFill>
          <a:schemeClr val="accent5">
            <a:lumMod val="75000"/>
          </a:schemeClr>
        </a:solidFill>
      </dgm:spPr>
      <dgm:t>
        <a:bodyPr/>
        <a:lstStyle/>
        <a:p>
          <a:r>
            <a:rPr lang="en-US" b="1" dirty="0"/>
            <a:t>Acting Humanly</a:t>
          </a:r>
        </a:p>
      </dgm:t>
    </dgm:pt>
    <dgm:pt modelId="{65F0C416-D20D-455A-815F-1F94C4067635}" type="parTrans" cxnId="{26C1A179-906B-494A-9B98-585E6D482939}">
      <dgm:prSet/>
      <dgm:spPr/>
      <dgm:t>
        <a:bodyPr/>
        <a:lstStyle/>
        <a:p>
          <a:endParaRPr lang="en-US"/>
        </a:p>
      </dgm:t>
    </dgm:pt>
    <dgm:pt modelId="{BA6BD936-8E66-41FE-93E5-1A6D7BF1C511}" type="sibTrans" cxnId="{26C1A179-906B-494A-9B98-585E6D482939}">
      <dgm:prSet/>
      <dgm:spPr/>
      <dgm:t>
        <a:bodyPr/>
        <a:lstStyle/>
        <a:p>
          <a:endParaRPr lang="en-US"/>
        </a:p>
      </dgm:t>
    </dgm:pt>
    <dgm:pt modelId="{7A0A79B1-5AB4-46F8-AC86-D3F30435B161}">
      <dgm:prSet/>
      <dgm:spPr/>
    </dgm:pt>
    <dgm:pt modelId="{0EE7CB6F-4D17-47C4-9429-CC8DA95595FD}" type="parTrans" cxnId="{F970D358-7A84-4774-AAD7-B92A9A1E15CA}">
      <dgm:prSet/>
      <dgm:spPr/>
      <dgm:t>
        <a:bodyPr/>
        <a:lstStyle/>
        <a:p>
          <a:endParaRPr lang="en-US"/>
        </a:p>
      </dgm:t>
    </dgm:pt>
    <dgm:pt modelId="{FE2D0937-752B-4932-B99C-9C4EEA714E22}" type="sibTrans" cxnId="{F970D358-7A84-4774-AAD7-B92A9A1E15CA}">
      <dgm:prSet/>
      <dgm:spPr/>
      <dgm:t>
        <a:bodyPr/>
        <a:lstStyle/>
        <a:p>
          <a:endParaRPr lang="en-US"/>
        </a:p>
      </dgm:t>
    </dgm:pt>
    <dgm:pt modelId="{0CF62259-4503-4481-A713-D44D9DF34B62}" type="pres">
      <dgm:prSet presAssocID="{5B752C5D-F8E9-4E88-9C84-BB17CC72940B}" presName="matrix" presStyleCnt="0">
        <dgm:presLayoutVars>
          <dgm:chMax val="1"/>
          <dgm:dir/>
          <dgm:resizeHandles val="exact"/>
        </dgm:presLayoutVars>
      </dgm:prSet>
      <dgm:spPr/>
    </dgm:pt>
    <dgm:pt modelId="{C96DE607-1613-420A-BF59-B53162A4830D}" type="pres">
      <dgm:prSet presAssocID="{5B752C5D-F8E9-4E88-9C84-BB17CC72940B}" presName="axisShape" presStyleLbl="bgShp" presStyleIdx="0" presStyleCnt="1" custScaleX="126695"/>
      <dgm:spPr>
        <a:solidFill>
          <a:srgbClr val="7030A0"/>
        </a:solidFill>
      </dgm:spPr>
    </dgm:pt>
    <dgm:pt modelId="{CD378D16-E7A4-4DD0-8D73-C1711151E127}" type="pres">
      <dgm:prSet presAssocID="{5B752C5D-F8E9-4E88-9C84-BB17CC72940B}" presName="rect1" presStyleLbl="node1" presStyleIdx="0" presStyleCnt="4">
        <dgm:presLayoutVars>
          <dgm:chMax val="0"/>
          <dgm:chPref val="0"/>
          <dgm:bulletEnabled val="1"/>
        </dgm:presLayoutVars>
      </dgm:prSet>
      <dgm:spPr/>
    </dgm:pt>
    <dgm:pt modelId="{1449B220-46F8-464B-994D-E6CA4C681F9A}" type="pres">
      <dgm:prSet presAssocID="{5B752C5D-F8E9-4E88-9C84-BB17CC72940B}" presName="rect2" presStyleLbl="node1" presStyleIdx="1" presStyleCnt="4">
        <dgm:presLayoutVars>
          <dgm:chMax val="0"/>
          <dgm:chPref val="0"/>
          <dgm:bulletEnabled val="1"/>
        </dgm:presLayoutVars>
      </dgm:prSet>
      <dgm:spPr/>
    </dgm:pt>
    <dgm:pt modelId="{9CB5677D-551D-4A2C-8E50-83A42D19817E}" type="pres">
      <dgm:prSet presAssocID="{5B752C5D-F8E9-4E88-9C84-BB17CC72940B}" presName="rect3" presStyleLbl="node1" presStyleIdx="2" presStyleCnt="4">
        <dgm:presLayoutVars>
          <dgm:chMax val="0"/>
          <dgm:chPref val="0"/>
          <dgm:bulletEnabled val="1"/>
        </dgm:presLayoutVars>
      </dgm:prSet>
      <dgm:spPr/>
    </dgm:pt>
    <dgm:pt modelId="{9C71FB80-4C8D-4A73-BE16-1E14BFEE92ED}" type="pres">
      <dgm:prSet presAssocID="{5B752C5D-F8E9-4E88-9C84-BB17CC72940B}" presName="rect4" presStyleLbl="node1" presStyleIdx="3" presStyleCnt="4">
        <dgm:presLayoutVars>
          <dgm:chMax val="0"/>
          <dgm:chPref val="0"/>
          <dgm:bulletEnabled val="1"/>
        </dgm:presLayoutVars>
      </dgm:prSet>
      <dgm:spPr/>
    </dgm:pt>
  </dgm:ptLst>
  <dgm:cxnLst>
    <dgm:cxn modelId="{4DE69F32-7933-486B-BF9B-DB23A51C2746}" srcId="{5B752C5D-F8E9-4E88-9C84-BB17CC72940B}" destId="{CFB14506-225B-4C49-9189-80CC4C0531D7}" srcOrd="2" destOrd="0" parTransId="{82EF5DDB-3E64-40DD-8A9E-8A011495B2E0}" sibTransId="{2A642C42-51D0-46C6-977F-6B1D265733A8}"/>
    <dgm:cxn modelId="{1BE7DA49-1497-43AD-9503-1029DFE12726}" type="presOf" srcId="{0C9300FB-4ED7-4EAA-806B-FF1EE6F4602C}" destId="{CD378D16-E7A4-4DD0-8D73-C1711151E127}" srcOrd="0" destOrd="0" presId="urn:microsoft.com/office/officeart/2005/8/layout/matrix2"/>
    <dgm:cxn modelId="{F970D358-7A84-4774-AAD7-B92A9A1E15CA}" srcId="{5B752C5D-F8E9-4E88-9C84-BB17CC72940B}" destId="{7A0A79B1-5AB4-46F8-AC86-D3F30435B161}" srcOrd="4" destOrd="0" parTransId="{0EE7CB6F-4D17-47C4-9429-CC8DA95595FD}" sibTransId="{FE2D0937-752B-4932-B99C-9C4EEA714E22}"/>
    <dgm:cxn modelId="{26C1A179-906B-494A-9B98-585E6D482939}" srcId="{5B752C5D-F8E9-4E88-9C84-BB17CC72940B}" destId="{64DB9340-8685-466F-A915-C3D56C3B72C9}" srcOrd="3" destOrd="0" parTransId="{65F0C416-D20D-455A-815F-1F94C4067635}" sibTransId="{BA6BD936-8E66-41FE-93E5-1A6D7BF1C511}"/>
    <dgm:cxn modelId="{0E9E237B-A6F4-4B12-80D5-2B0325337E08}" srcId="{5B752C5D-F8E9-4E88-9C84-BB17CC72940B}" destId="{19118A42-D66D-47F1-B97C-36576EFA4ADF}" srcOrd="1" destOrd="0" parTransId="{206E384F-83AF-4992-B0B0-01ABAC4B2882}" sibTransId="{F1B12375-8B16-4E76-BC2D-B75B72981DB1}"/>
    <dgm:cxn modelId="{CFE22889-026D-4761-8AC9-884F4FB72DF8}" type="presOf" srcId="{64DB9340-8685-466F-A915-C3D56C3B72C9}" destId="{9C71FB80-4C8D-4A73-BE16-1E14BFEE92ED}" srcOrd="0" destOrd="0" presId="urn:microsoft.com/office/officeart/2005/8/layout/matrix2"/>
    <dgm:cxn modelId="{B258A695-7CA9-4685-ABA2-A8A695E4CF65}" type="presOf" srcId="{CFB14506-225B-4C49-9189-80CC4C0531D7}" destId="{9CB5677D-551D-4A2C-8E50-83A42D19817E}" srcOrd="0" destOrd="0" presId="urn:microsoft.com/office/officeart/2005/8/layout/matrix2"/>
    <dgm:cxn modelId="{EFDAECA9-FEE4-4BF4-B01E-88C76946DC2E}" type="presOf" srcId="{5B752C5D-F8E9-4E88-9C84-BB17CC72940B}" destId="{0CF62259-4503-4481-A713-D44D9DF34B62}" srcOrd="0" destOrd="0" presId="urn:microsoft.com/office/officeart/2005/8/layout/matrix2"/>
    <dgm:cxn modelId="{0F4A24CC-3613-4B0F-A5B1-C0E19F4287C8}" type="presOf" srcId="{19118A42-D66D-47F1-B97C-36576EFA4ADF}" destId="{1449B220-46F8-464B-994D-E6CA4C681F9A}" srcOrd="0" destOrd="0" presId="urn:microsoft.com/office/officeart/2005/8/layout/matrix2"/>
    <dgm:cxn modelId="{4DDA51E4-B1C9-4DA0-875C-604ACFD1ED8D}" srcId="{5B752C5D-F8E9-4E88-9C84-BB17CC72940B}" destId="{0C9300FB-4ED7-4EAA-806B-FF1EE6F4602C}" srcOrd="0" destOrd="0" parTransId="{50C67DBD-F1E1-4625-8FE3-F7345CFD8D89}" sibTransId="{352640C7-4556-4DC2-8A6A-472233E6CEBF}"/>
    <dgm:cxn modelId="{4DBA37CF-E245-4FE3-95E0-FB409E01EC56}" type="presParOf" srcId="{0CF62259-4503-4481-A713-D44D9DF34B62}" destId="{C96DE607-1613-420A-BF59-B53162A4830D}" srcOrd="0" destOrd="0" presId="urn:microsoft.com/office/officeart/2005/8/layout/matrix2"/>
    <dgm:cxn modelId="{78C5394C-1416-4506-811F-10403AD0BCE0}" type="presParOf" srcId="{0CF62259-4503-4481-A713-D44D9DF34B62}" destId="{CD378D16-E7A4-4DD0-8D73-C1711151E127}" srcOrd="1" destOrd="0" presId="urn:microsoft.com/office/officeart/2005/8/layout/matrix2"/>
    <dgm:cxn modelId="{38449A69-2D0B-4D23-9300-8AEC737B8418}" type="presParOf" srcId="{0CF62259-4503-4481-A713-D44D9DF34B62}" destId="{1449B220-46F8-464B-994D-E6CA4C681F9A}" srcOrd="2" destOrd="0" presId="urn:microsoft.com/office/officeart/2005/8/layout/matrix2"/>
    <dgm:cxn modelId="{35D7B470-C46A-44DE-ADD4-DBF13B5A2138}" type="presParOf" srcId="{0CF62259-4503-4481-A713-D44D9DF34B62}" destId="{9CB5677D-551D-4A2C-8E50-83A42D19817E}" srcOrd="3" destOrd="0" presId="urn:microsoft.com/office/officeart/2005/8/layout/matrix2"/>
    <dgm:cxn modelId="{A1535DFF-2A1D-4D3A-BDB0-8BC050BB4808}" type="presParOf" srcId="{0CF62259-4503-4481-A713-D44D9DF34B62}" destId="{9C71FB80-4C8D-4A73-BE16-1E14BFEE92ED}" srcOrd="4" destOrd="0" presId="urn:microsoft.com/office/officeart/2005/8/layout/matrix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6C8B43-D30E-4B54-BC6A-5B6962DD2A8F}" type="doc">
      <dgm:prSet loTypeId="urn:microsoft.com/office/officeart/2005/8/layout/cycle2" loCatId="cycle" qsTypeId="urn:microsoft.com/office/officeart/2005/8/quickstyle/3d3" qsCatId="3D" csTypeId="urn:microsoft.com/office/officeart/2005/8/colors/colorful1" csCatId="colorful" phldr="1"/>
      <dgm:spPr/>
      <dgm:t>
        <a:bodyPr/>
        <a:lstStyle/>
        <a:p>
          <a:endParaRPr lang="en-US"/>
        </a:p>
      </dgm:t>
    </dgm:pt>
    <dgm:pt modelId="{B9C8B2AA-6135-4583-9C69-0FF352B50191}">
      <dgm:prSet phldrT="[Text]" phldr="0"/>
      <dgm:spPr/>
      <dgm:t>
        <a:bodyPr/>
        <a:lstStyle/>
        <a:p>
          <a:r>
            <a:rPr lang="en-US" b="1" dirty="0"/>
            <a:t>Collect Data</a:t>
          </a:r>
        </a:p>
      </dgm:t>
    </dgm:pt>
    <dgm:pt modelId="{66791F4C-C6D8-44F1-BEBD-C2A2A137FE4C}" type="parTrans" cxnId="{C5EBFA2D-27E5-47A6-A604-096551962720}">
      <dgm:prSet/>
      <dgm:spPr/>
      <dgm:t>
        <a:bodyPr/>
        <a:lstStyle/>
        <a:p>
          <a:endParaRPr lang="en-US"/>
        </a:p>
      </dgm:t>
    </dgm:pt>
    <dgm:pt modelId="{05BE6D66-C830-4D02-83A9-5BE532F58420}" type="sibTrans" cxnId="{C5EBFA2D-27E5-47A6-A604-096551962720}">
      <dgm:prSet/>
      <dgm:spPr/>
      <dgm:t>
        <a:bodyPr/>
        <a:lstStyle/>
        <a:p>
          <a:endParaRPr lang="en-US"/>
        </a:p>
      </dgm:t>
    </dgm:pt>
    <dgm:pt modelId="{8FD2970D-4D58-4DD3-A43C-998BF384B270}">
      <dgm:prSet phldrT="[Text]" phldr="0"/>
      <dgm:spPr/>
      <dgm:t>
        <a:bodyPr/>
        <a:lstStyle/>
        <a:p>
          <a:r>
            <a:rPr lang="en-US" b="1" dirty="0"/>
            <a:t>Data Cleaning and Feature Engineering</a:t>
          </a:r>
        </a:p>
      </dgm:t>
    </dgm:pt>
    <dgm:pt modelId="{06A34DCE-25C3-412E-A572-E347D25BB9A8}" type="parTrans" cxnId="{43475F31-39EA-4DAB-8A22-4CAA6DD1C02B}">
      <dgm:prSet/>
      <dgm:spPr/>
      <dgm:t>
        <a:bodyPr/>
        <a:lstStyle/>
        <a:p>
          <a:endParaRPr lang="en-US"/>
        </a:p>
      </dgm:t>
    </dgm:pt>
    <dgm:pt modelId="{92D8A69A-5ABA-47A0-9940-814460A1414E}" type="sibTrans" cxnId="{43475F31-39EA-4DAB-8A22-4CAA6DD1C02B}">
      <dgm:prSet/>
      <dgm:spPr/>
      <dgm:t>
        <a:bodyPr/>
        <a:lstStyle/>
        <a:p>
          <a:endParaRPr lang="en-US"/>
        </a:p>
      </dgm:t>
    </dgm:pt>
    <dgm:pt modelId="{003FF567-D9E7-43A4-A98B-4E80B2020188}">
      <dgm:prSet phldrT="[Text]" phldr="0"/>
      <dgm:spPr/>
      <dgm:t>
        <a:bodyPr/>
        <a:lstStyle/>
        <a:p>
          <a:r>
            <a:rPr lang="en-US" b="1" dirty="0"/>
            <a:t>Building a model with the correct algorithm</a:t>
          </a:r>
        </a:p>
      </dgm:t>
    </dgm:pt>
    <dgm:pt modelId="{F280D12F-6D29-4F71-B8D3-0F9BD97CD612}" type="parTrans" cxnId="{394C1BDD-A59D-47B6-8D61-75BA4FCD444E}">
      <dgm:prSet/>
      <dgm:spPr/>
      <dgm:t>
        <a:bodyPr/>
        <a:lstStyle/>
        <a:p>
          <a:endParaRPr lang="en-US"/>
        </a:p>
      </dgm:t>
    </dgm:pt>
    <dgm:pt modelId="{B1D97297-F8FC-4D67-814B-57D45A4A9D15}" type="sibTrans" cxnId="{394C1BDD-A59D-47B6-8D61-75BA4FCD444E}">
      <dgm:prSet/>
      <dgm:spPr/>
      <dgm:t>
        <a:bodyPr/>
        <a:lstStyle/>
        <a:p>
          <a:endParaRPr lang="en-US"/>
        </a:p>
      </dgm:t>
    </dgm:pt>
    <dgm:pt modelId="{A7852874-0B97-4AE6-AA06-253FA2A6200E}">
      <dgm:prSet phldrT="[Text]" phldr="0"/>
      <dgm:spPr/>
      <dgm:t>
        <a:bodyPr/>
        <a:lstStyle/>
        <a:p>
          <a:r>
            <a:rPr lang="en-US" b="1" dirty="0"/>
            <a:t>Evaluate the model</a:t>
          </a:r>
        </a:p>
      </dgm:t>
    </dgm:pt>
    <dgm:pt modelId="{8C386F1E-905D-4D54-96F8-5713B355A601}" type="parTrans" cxnId="{F040B6FA-2FDA-489E-B6D5-5970F76459C2}">
      <dgm:prSet/>
      <dgm:spPr/>
      <dgm:t>
        <a:bodyPr/>
        <a:lstStyle/>
        <a:p>
          <a:endParaRPr lang="en-US"/>
        </a:p>
      </dgm:t>
    </dgm:pt>
    <dgm:pt modelId="{D180AA5C-328D-41CD-99F8-C5F2C909F4B3}" type="sibTrans" cxnId="{F040B6FA-2FDA-489E-B6D5-5970F76459C2}">
      <dgm:prSet/>
      <dgm:spPr/>
      <dgm:t>
        <a:bodyPr/>
        <a:lstStyle/>
        <a:p>
          <a:endParaRPr lang="en-US"/>
        </a:p>
      </dgm:t>
    </dgm:pt>
    <dgm:pt modelId="{B2BC12D1-F4D4-4AD9-BF2D-F8602AEB027C}">
      <dgm:prSet phldrT="[Text]" phldr="0"/>
      <dgm:spPr/>
      <dgm:t>
        <a:bodyPr/>
        <a:lstStyle/>
        <a:p>
          <a:r>
            <a:rPr lang="en-US" b="1" dirty="0"/>
            <a:t>Deploy the model</a:t>
          </a:r>
        </a:p>
      </dgm:t>
    </dgm:pt>
    <dgm:pt modelId="{7D63DAF1-124E-469D-8ACB-FA51509755C2}" type="parTrans" cxnId="{43AA5FB0-7CFC-4954-896F-9DC30BE7A02D}">
      <dgm:prSet/>
      <dgm:spPr/>
      <dgm:t>
        <a:bodyPr/>
        <a:lstStyle/>
        <a:p>
          <a:endParaRPr lang="en-US"/>
        </a:p>
      </dgm:t>
    </dgm:pt>
    <dgm:pt modelId="{F885E595-AC37-4CBC-9AA2-D744593BBE33}" type="sibTrans" cxnId="{43AA5FB0-7CFC-4954-896F-9DC30BE7A02D}">
      <dgm:prSet/>
      <dgm:spPr/>
      <dgm:t>
        <a:bodyPr/>
        <a:lstStyle/>
        <a:p>
          <a:endParaRPr lang="en-US"/>
        </a:p>
      </dgm:t>
    </dgm:pt>
    <dgm:pt modelId="{9E80C578-EEEB-469E-9FC1-AA2B7C617DA0}" type="pres">
      <dgm:prSet presAssocID="{C16C8B43-D30E-4B54-BC6A-5B6962DD2A8F}" presName="cycle" presStyleCnt="0">
        <dgm:presLayoutVars>
          <dgm:dir/>
          <dgm:resizeHandles val="exact"/>
        </dgm:presLayoutVars>
      </dgm:prSet>
      <dgm:spPr/>
    </dgm:pt>
    <dgm:pt modelId="{09668702-1514-43DD-A357-54D4EFE9BD81}" type="pres">
      <dgm:prSet presAssocID="{B9C8B2AA-6135-4583-9C69-0FF352B50191}" presName="node" presStyleLbl="node1" presStyleIdx="0" presStyleCnt="5">
        <dgm:presLayoutVars>
          <dgm:bulletEnabled val="1"/>
        </dgm:presLayoutVars>
      </dgm:prSet>
      <dgm:spPr/>
    </dgm:pt>
    <dgm:pt modelId="{40F15244-8FCA-4A74-979D-B14DC8237214}" type="pres">
      <dgm:prSet presAssocID="{05BE6D66-C830-4D02-83A9-5BE532F58420}" presName="sibTrans" presStyleLbl="sibTrans2D1" presStyleIdx="0" presStyleCnt="5"/>
      <dgm:spPr/>
    </dgm:pt>
    <dgm:pt modelId="{3E8F70A7-B45F-4E83-A486-37004CD354D1}" type="pres">
      <dgm:prSet presAssocID="{05BE6D66-C830-4D02-83A9-5BE532F58420}" presName="connectorText" presStyleLbl="sibTrans2D1" presStyleIdx="0" presStyleCnt="5"/>
      <dgm:spPr/>
    </dgm:pt>
    <dgm:pt modelId="{F2F34104-010C-415A-8CA4-33C1C693461E}" type="pres">
      <dgm:prSet presAssocID="{8FD2970D-4D58-4DD3-A43C-998BF384B270}" presName="node" presStyleLbl="node1" presStyleIdx="1" presStyleCnt="5">
        <dgm:presLayoutVars>
          <dgm:bulletEnabled val="1"/>
        </dgm:presLayoutVars>
      </dgm:prSet>
      <dgm:spPr/>
    </dgm:pt>
    <dgm:pt modelId="{0707FFFE-FC5F-4052-8C9F-414059820DFA}" type="pres">
      <dgm:prSet presAssocID="{92D8A69A-5ABA-47A0-9940-814460A1414E}" presName="sibTrans" presStyleLbl="sibTrans2D1" presStyleIdx="1" presStyleCnt="5"/>
      <dgm:spPr/>
    </dgm:pt>
    <dgm:pt modelId="{D6FE3705-D819-46E5-8FAE-BC277B15717A}" type="pres">
      <dgm:prSet presAssocID="{92D8A69A-5ABA-47A0-9940-814460A1414E}" presName="connectorText" presStyleLbl="sibTrans2D1" presStyleIdx="1" presStyleCnt="5"/>
      <dgm:spPr/>
    </dgm:pt>
    <dgm:pt modelId="{C1A33DEF-A45F-4703-920F-7B6E734DE133}" type="pres">
      <dgm:prSet presAssocID="{003FF567-D9E7-43A4-A98B-4E80B2020188}" presName="node" presStyleLbl="node1" presStyleIdx="2" presStyleCnt="5">
        <dgm:presLayoutVars>
          <dgm:bulletEnabled val="1"/>
        </dgm:presLayoutVars>
      </dgm:prSet>
      <dgm:spPr/>
    </dgm:pt>
    <dgm:pt modelId="{43DD9042-BA2A-4448-B4F9-D12DF7192C54}" type="pres">
      <dgm:prSet presAssocID="{B1D97297-F8FC-4D67-814B-57D45A4A9D15}" presName="sibTrans" presStyleLbl="sibTrans2D1" presStyleIdx="2" presStyleCnt="5"/>
      <dgm:spPr/>
    </dgm:pt>
    <dgm:pt modelId="{2D21613C-9E7C-4569-BA7B-B417C231BC99}" type="pres">
      <dgm:prSet presAssocID="{B1D97297-F8FC-4D67-814B-57D45A4A9D15}" presName="connectorText" presStyleLbl="sibTrans2D1" presStyleIdx="2" presStyleCnt="5"/>
      <dgm:spPr/>
    </dgm:pt>
    <dgm:pt modelId="{541CB35C-14EE-4059-BED8-8916FF4CEE80}" type="pres">
      <dgm:prSet presAssocID="{A7852874-0B97-4AE6-AA06-253FA2A6200E}" presName="node" presStyleLbl="node1" presStyleIdx="3" presStyleCnt="5">
        <dgm:presLayoutVars>
          <dgm:bulletEnabled val="1"/>
        </dgm:presLayoutVars>
      </dgm:prSet>
      <dgm:spPr/>
    </dgm:pt>
    <dgm:pt modelId="{001A21A4-4522-458F-8313-09ECD7F04BF5}" type="pres">
      <dgm:prSet presAssocID="{D180AA5C-328D-41CD-99F8-C5F2C909F4B3}" presName="sibTrans" presStyleLbl="sibTrans2D1" presStyleIdx="3" presStyleCnt="5"/>
      <dgm:spPr/>
    </dgm:pt>
    <dgm:pt modelId="{FCF7DAFF-71E8-4FAC-AFE9-ACCA5A8FB8F7}" type="pres">
      <dgm:prSet presAssocID="{D180AA5C-328D-41CD-99F8-C5F2C909F4B3}" presName="connectorText" presStyleLbl="sibTrans2D1" presStyleIdx="3" presStyleCnt="5"/>
      <dgm:spPr/>
    </dgm:pt>
    <dgm:pt modelId="{B4FD4098-62F8-448E-9C8E-541DAFFBBD35}" type="pres">
      <dgm:prSet presAssocID="{B2BC12D1-F4D4-4AD9-BF2D-F8602AEB027C}" presName="node" presStyleLbl="node1" presStyleIdx="4" presStyleCnt="5">
        <dgm:presLayoutVars>
          <dgm:bulletEnabled val="1"/>
        </dgm:presLayoutVars>
      </dgm:prSet>
      <dgm:spPr/>
    </dgm:pt>
    <dgm:pt modelId="{A8AEDB65-BAE5-4150-8D5E-7699B540D0FE}" type="pres">
      <dgm:prSet presAssocID="{F885E595-AC37-4CBC-9AA2-D744593BBE33}" presName="sibTrans" presStyleLbl="sibTrans2D1" presStyleIdx="4" presStyleCnt="5"/>
      <dgm:spPr/>
    </dgm:pt>
    <dgm:pt modelId="{98778756-AC15-4ED4-92B8-2E56C844856D}" type="pres">
      <dgm:prSet presAssocID="{F885E595-AC37-4CBC-9AA2-D744593BBE33}" presName="connectorText" presStyleLbl="sibTrans2D1" presStyleIdx="4" presStyleCnt="5"/>
      <dgm:spPr/>
    </dgm:pt>
  </dgm:ptLst>
  <dgm:cxnLst>
    <dgm:cxn modelId="{03680410-27FF-46BA-A320-22D50E6BD88F}" type="presOf" srcId="{D180AA5C-328D-41CD-99F8-C5F2C909F4B3}" destId="{001A21A4-4522-458F-8313-09ECD7F04BF5}" srcOrd="0" destOrd="0" presId="urn:microsoft.com/office/officeart/2005/8/layout/cycle2"/>
    <dgm:cxn modelId="{354DE320-8715-45C2-B473-29BBBBBEF223}" type="presOf" srcId="{A7852874-0B97-4AE6-AA06-253FA2A6200E}" destId="{541CB35C-14EE-4059-BED8-8916FF4CEE80}" srcOrd="0" destOrd="0" presId="urn:microsoft.com/office/officeart/2005/8/layout/cycle2"/>
    <dgm:cxn modelId="{CF44C229-DF0F-460B-99DC-97DB34143CFF}" type="presOf" srcId="{8FD2970D-4D58-4DD3-A43C-998BF384B270}" destId="{F2F34104-010C-415A-8CA4-33C1C693461E}" srcOrd="0" destOrd="0" presId="urn:microsoft.com/office/officeart/2005/8/layout/cycle2"/>
    <dgm:cxn modelId="{C5EBFA2D-27E5-47A6-A604-096551962720}" srcId="{C16C8B43-D30E-4B54-BC6A-5B6962DD2A8F}" destId="{B9C8B2AA-6135-4583-9C69-0FF352B50191}" srcOrd="0" destOrd="0" parTransId="{66791F4C-C6D8-44F1-BEBD-C2A2A137FE4C}" sibTransId="{05BE6D66-C830-4D02-83A9-5BE532F58420}"/>
    <dgm:cxn modelId="{43475F31-39EA-4DAB-8A22-4CAA6DD1C02B}" srcId="{C16C8B43-D30E-4B54-BC6A-5B6962DD2A8F}" destId="{8FD2970D-4D58-4DD3-A43C-998BF384B270}" srcOrd="1" destOrd="0" parTransId="{06A34DCE-25C3-412E-A572-E347D25BB9A8}" sibTransId="{92D8A69A-5ABA-47A0-9940-814460A1414E}"/>
    <dgm:cxn modelId="{F362E336-87BF-4F11-84DB-22CBE84DA762}" type="presOf" srcId="{05BE6D66-C830-4D02-83A9-5BE532F58420}" destId="{3E8F70A7-B45F-4E83-A486-37004CD354D1}" srcOrd="1" destOrd="0" presId="urn:microsoft.com/office/officeart/2005/8/layout/cycle2"/>
    <dgm:cxn modelId="{ED9E8337-2D7C-4440-8AF5-24044CA12FBC}" type="presOf" srcId="{B2BC12D1-F4D4-4AD9-BF2D-F8602AEB027C}" destId="{B4FD4098-62F8-448E-9C8E-541DAFFBBD35}" srcOrd="0" destOrd="0" presId="urn:microsoft.com/office/officeart/2005/8/layout/cycle2"/>
    <dgm:cxn modelId="{7F79E96F-3F92-4A3C-8272-8121AC1838F1}" type="presOf" srcId="{F885E595-AC37-4CBC-9AA2-D744593BBE33}" destId="{A8AEDB65-BAE5-4150-8D5E-7699B540D0FE}" srcOrd="0" destOrd="0" presId="urn:microsoft.com/office/officeart/2005/8/layout/cycle2"/>
    <dgm:cxn modelId="{474A547C-2916-429A-9330-886D07FF8F98}" type="presOf" srcId="{B1D97297-F8FC-4D67-814B-57D45A4A9D15}" destId="{2D21613C-9E7C-4569-BA7B-B417C231BC99}" srcOrd="1" destOrd="0" presId="urn:microsoft.com/office/officeart/2005/8/layout/cycle2"/>
    <dgm:cxn modelId="{57760E84-F82B-438D-82FF-E8F6CABB9FF0}" type="presOf" srcId="{92D8A69A-5ABA-47A0-9940-814460A1414E}" destId="{0707FFFE-FC5F-4052-8C9F-414059820DFA}" srcOrd="0" destOrd="0" presId="urn:microsoft.com/office/officeart/2005/8/layout/cycle2"/>
    <dgm:cxn modelId="{4CC71484-639E-4FA3-B951-7EA903C1CDE1}" type="presOf" srcId="{B9C8B2AA-6135-4583-9C69-0FF352B50191}" destId="{09668702-1514-43DD-A357-54D4EFE9BD81}" srcOrd="0" destOrd="0" presId="urn:microsoft.com/office/officeart/2005/8/layout/cycle2"/>
    <dgm:cxn modelId="{7D566C8D-0B60-4C04-B834-29AEEAB8A8EB}" type="presOf" srcId="{D180AA5C-328D-41CD-99F8-C5F2C909F4B3}" destId="{FCF7DAFF-71E8-4FAC-AFE9-ACCA5A8FB8F7}" srcOrd="1" destOrd="0" presId="urn:microsoft.com/office/officeart/2005/8/layout/cycle2"/>
    <dgm:cxn modelId="{5A02688F-C44F-4AE3-803B-F2A25BB51956}" type="presOf" srcId="{003FF567-D9E7-43A4-A98B-4E80B2020188}" destId="{C1A33DEF-A45F-4703-920F-7B6E734DE133}" srcOrd="0" destOrd="0" presId="urn:microsoft.com/office/officeart/2005/8/layout/cycle2"/>
    <dgm:cxn modelId="{3FAF129A-4246-45EA-B512-81E8623DE5A2}" type="presOf" srcId="{92D8A69A-5ABA-47A0-9940-814460A1414E}" destId="{D6FE3705-D819-46E5-8FAE-BC277B15717A}" srcOrd="1" destOrd="0" presId="urn:microsoft.com/office/officeart/2005/8/layout/cycle2"/>
    <dgm:cxn modelId="{EB4543AA-6527-4864-BA78-BBF17C448352}" type="presOf" srcId="{F885E595-AC37-4CBC-9AA2-D744593BBE33}" destId="{98778756-AC15-4ED4-92B8-2E56C844856D}" srcOrd="1" destOrd="0" presId="urn:microsoft.com/office/officeart/2005/8/layout/cycle2"/>
    <dgm:cxn modelId="{43AA5FB0-7CFC-4954-896F-9DC30BE7A02D}" srcId="{C16C8B43-D30E-4B54-BC6A-5B6962DD2A8F}" destId="{B2BC12D1-F4D4-4AD9-BF2D-F8602AEB027C}" srcOrd="4" destOrd="0" parTransId="{7D63DAF1-124E-469D-8ACB-FA51509755C2}" sibTransId="{F885E595-AC37-4CBC-9AA2-D744593BBE33}"/>
    <dgm:cxn modelId="{394C1BDD-A59D-47B6-8D61-75BA4FCD444E}" srcId="{C16C8B43-D30E-4B54-BC6A-5B6962DD2A8F}" destId="{003FF567-D9E7-43A4-A98B-4E80B2020188}" srcOrd="2" destOrd="0" parTransId="{F280D12F-6D29-4F71-B8D3-0F9BD97CD612}" sibTransId="{B1D97297-F8FC-4D67-814B-57D45A4A9D15}"/>
    <dgm:cxn modelId="{D3DDE9EE-A72A-4DE1-90BE-1DD319D98539}" type="presOf" srcId="{C16C8B43-D30E-4B54-BC6A-5B6962DD2A8F}" destId="{9E80C578-EEEB-469E-9FC1-AA2B7C617DA0}" srcOrd="0" destOrd="0" presId="urn:microsoft.com/office/officeart/2005/8/layout/cycle2"/>
    <dgm:cxn modelId="{9FFA49F4-5BEA-46FB-9C72-78078A204992}" type="presOf" srcId="{05BE6D66-C830-4D02-83A9-5BE532F58420}" destId="{40F15244-8FCA-4A74-979D-B14DC8237214}" srcOrd="0" destOrd="0" presId="urn:microsoft.com/office/officeart/2005/8/layout/cycle2"/>
    <dgm:cxn modelId="{408459F9-246A-4F91-B39A-CF795FD6377F}" type="presOf" srcId="{B1D97297-F8FC-4D67-814B-57D45A4A9D15}" destId="{43DD9042-BA2A-4448-B4F9-D12DF7192C54}" srcOrd="0" destOrd="0" presId="urn:microsoft.com/office/officeart/2005/8/layout/cycle2"/>
    <dgm:cxn modelId="{F040B6FA-2FDA-489E-B6D5-5970F76459C2}" srcId="{C16C8B43-D30E-4B54-BC6A-5B6962DD2A8F}" destId="{A7852874-0B97-4AE6-AA06-253FA2A6200E}" srcOrd="3" destOrd="0" parTransId="{8C386F1E-905D-4D54-96F8-5713B355A601}" sibTransId="{D180AA5C-328D-41CD-99F8-C5F2C909F4B3}"/>
    <dgm:cxn modelId="{8154ED89-9551-4B9B-AE9A-B8EBE81331CB}" type="presParOf" srcId="{9E80C578-EEEB-469E-9FC1-AA2B7C617DA0}" destId="{09668702-1514-43DD-A357-54D4EFE9BD81}" srcOrd="0" destOrd="0" presId="urn:microsoft.com/office/officeart/2005/8/layout/cycle2"/>
    <dgm:cxn modelId="{B8B36616-308A-45B2-90DC-6C491FC90465}" type="presParOf" srcId="{9E80C578-EEEB-469E-9FC1-AA2B7C617DA0}" destId="{40F15244-8FCA-4A74-979D-B14DC8237214}" srcOrd="1" destOrd="0" presId="urn:microsoft.com/office/officeart/2005/8/layout/cycle2"/>
    <dgm:cxn modelId="{FA16B5B0-3F29-4279-B82C-4F8899249740}" type="presParOf" srcId="{40F15244-8FCA-4A74-979D-B14DC8237214}" destId="{3E8F70A7-B45F-4E83-A486-37004CD354D1}" srcOrd="0" destOrd="0" presId="urn:microsoft.com/office/officeart/2005/8/layout/cycle2"/>
    <dgm:cxn modelId="{9342103B-63C1-4939-BF0E-A80ABDE2B442}" type="presParOf" srcId="{9E80C578-EEEB-469E-9FC1-AA2B7C617DA0}" destId="{F2F34104-010C-415A-8CA4-33C1C693461E}" srcOrd="2" destOrd="0" presId="urn:microsoft.com/office/officeart/2005/8/layout/cycle2"/>
    <dgm:cxn modelId="{FF25BA8A-099F-4098-AFA9-184B46088E38}" type="presParOf" srcId="{9E80C578-EEEB-469E-9FC1-AA2B7C617DA0}" destId="{0707FFFE-FC5F-4052-8C9F-414059820DFA}" srcOrd="3" destOrd="0" presId="urn:microsoft.com/office/officeart/2005/8/layout/cycle2"/>
    <dgm:cxn modelId="{551F16DE-73D3-427E-A628-7941AC5939ED}" type="presParOf" srcId="{0707FFFE-FC5F-4052-8C9F-414059820DFA}" destId="{D6FE3705-D819-46E5-8FAE-BC277B15717A}" srcOrd="0" destOrd="0" presId="urn:microsoft.com/office/officeart/2005/8/layout/cycle2"/>
    <dgm:cxn modelId="{1219069E-D20D-4414-97F8-62B11985D4A2}" type="presParOf" srcId="{9E80C578-EEEB-469E-9FC1-AA2B7C617DA0}" destId="{C1A33DEF-A45F-4703-920F-7B6E734DE133}" srcOrd="4" destOrd="0" presId="urn:microsoft.com/office/officeart/2005/8/layout/cycle2"/>
    <dgm:cxn modelId="{94AD0859-4830-4352-B4BC-BC60A20009AB}" type="presParOf" srcId="{9E80C578-EEEB-469E-9FC1-AA2B7C617DA0}" destId="{43DD9042-BA2A-4448-B4F9-D12DF7192C54}" srcOrd="5" destOrd="0" presId="urn:microsoft.com/office/officeart/2005/8/layout/cycle2"/>
    <dgm:cxn modelId="{26F4CAD5-D2F0-412F-95E6-6B81BF3752B9}" type="presParOf" srcId="{43DD9042-BA2A-4448-B4F9-D12DF7192C54}" destId="{2D21613C-9E7C-4569-BA7B-B417C231BC99}" srcOrd="0" destOrd="0" presId="urn:microsoft.com/office/officeart/2005/8/layout/cycle2"/>
    <dgm:cxn modelId="{3D3A9E59-5067-4EF4-911C-DCF592459597}" type="presParOf" srcId="{9E80C578-EEEB-469E-9FC1-AA2B7C617DA0}" destId="{541CB35C-14EE-4059-BED8-8916FF4CEE80}" srcOrd="6" destOrd="0" presId="urn:microsoft.com/office/officeart/2005/8/layout/cycle2"/>
    <dgm:cxn modelId="{FC01124B-70B6-44C1-A4DF-8D782A2E4678}" type="presParOf" srcId="{9E80C578-EEEB-469E-9FC1-AA2B7C617DA0}" destId="{001A21A4-4522-458F-8313-09ECD7F04BF5}" srcOrd="7" destOrd="0" presId="urn:microsoft.com/office/officeart/2005/8/layout/cycle2"/>
    <dgm:cxn modelId="{819E9CB9-FC21-4D96-A734-96BEB85F21DD}" type="presParOf" srcId="{001A21A4-4522-458F-8313-09ECD7F04BF5}" destId="{FCF7DAFF-71E8-4FAC-AFE9-ACCA5A8FB8F7}" srcOrd="0" destOrd="0" presId="urn:microsoft.com/office/officeart/2005/8/layout/cycle2"/>
    <dgm:cxn modelId="{D68C6EE4-F582-4F1B-97BD-E45B276A116D}" type="presParOf" srcId="{9E80C578-EEEB-469E-9FC1-AA2B7C617DA0}" destId="{B4FD4098-62F8-448E-9C8E-541DAFFBBD35}" srcOrd="8" destOrd="0" presId="urn:microsoft.com/office/officeart/2005/8/layout/cycle2"/>
    <dgm:cxn modelId="{BE56B6FA-BC66-4377-B4BF-6581FB90C32F}" type="presParOf" srcId="{9E80C578-EEEB-469E-9FC1-AA2B7C617DA0}" destId="{A8AEDB65-BAE5-4150-8D5E-7699B540D0FE}" srcOrd="9" destOrd="0" presId="urn:microsoft.com/office/officeart/2005/8/layout/cycle2"/>
    <dgm:cxn modelId="{1E237C80-EF8F-4C11-97F7-AAC5833F6476}" type="presParOf" srcId="{A8AEDB65-BAE5-4150-8D5E-7699B540D0FE}" destId="{98778756-AC15-4ED4-92B8-2E56C844856D}"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FFD28E-9A6C-452A-9071-7DD087198E95}">
      <dsp:nvSpPr>
        <dsp:cNvPr id="0" name=""/>
        <dsp:cNvSpPr/>
      </dsp:nvSpPr>
      <dsp:spPr>
        <a:xfrm>
          <a:off x="12738" y="0"/>
          <a:ext cx="2446794" cy="1481418"/>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Training Data</a:t>
          </a:r>
        </a:p>
      </dsp:txBody>
      <dsp:txXfrm>
        <a:off x="56127" y="43389"/>
        <a:ext cx="2360016" cy="1394640"/>
      </dsp:txXfrm>
    </dsp:sp>
    <dsp:sp modelId="{0C909BBC-98C6-4925-9AA1-443E0E4C4CC1}">
      <dsp:nvSpPr>
        <dsp:cNvPr id="0" name=""/>
        <dsp:cNvSpPr/>
      </dsp:nvSpPr>
      <dsp:spPr>
        <a:xfrm>
          <a:off x="2704212" y="437306"/>
          <a:ext cx="518720" cy="606804"/>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2704212" y="558667"/>
        <a:ext cx="363104" cy="364082"/>
      </dsp:txXfrm>
    </dsp:sp>
    <dsp:sp modelId="{8FE5FFFC-B58A-4793-9FB9-422A5C814735}">
      <dsp:nvSpPr>
        <dsp:cNvPr id="0" name=""/>
        <dsp:cNvSpPr/>
      </dsp:nvSpPr>
      <dsp:spPr>
        <a:xfrm>
          <a:off x="3438250" y="0"/>
          <a:ext cx="2446794" cy="1481418"/>
        </a:xfrm>
        <a:prstGeom prst="roundRect">
          <a:avLst>
            <a:gd name="adj" fmla="val 1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Computer</a:t>
          </a:r>
        </a:p>
      </dsp:txBody>
      <dsp:txXfrm>
        <a:off x="3481639" y="43389"/>
        <a:ext cx="2360016" cy="1394640"/>
      </dsp:txXfrm>
    </dsp:sp>
    <dsp:sp modelId="{A257B42B-077A-4558-BFD2-4F30D09D8840}">
      <dsp:nvSpPr>
        <dsp:cNvPr id="0" name=""/>
        <dsp:cNvSpPr/>
      </dsp:nvSpPr>
      <dsp:spPr>
        <a:xfrm>
          <a:off x="6129723" y="437306"/>
          <a:ext cx="518720" cy="606804"/>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6129723" y="558667"/>
        <a:ext cx="363104" cy="364082"/>
      </dsp:txXfrm>
    </dsp:sp>
    <dsp:sp modelId="{C575985E-C20B-4AE2-A6D8-C26C9E408CDD}">
      <dsp:nvSpPr>
        <dsp:cNvPr id="0" name=""/>
        <dsp:cNvSpPr/>
      </dsp:nvSpPr>
      <dsp:spPr>
        <a:xfrm>
          <a:off x="6863762" y="0"/>
          <a:ext cx="2446794" cy="1481418"/>
        </a:xfrm>
        <a:prstGeom prst="roundRect">
          <a:avLst>
            <a:gd name="adj" fmla="val 1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Self-Driving Cars</a:t>
          </a:r>
        </a:p>
      </dsp:txBody>
      <dsp:txXfrm>
        <a:off x="6907151" y="43389"/>
        <a:ext cx="2360016" cy="13946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DE607-1613-420A-BF59-B53162A4830D}">
      <dsp:nvSpPr>
        <dsp:cNvPr id="0" name=""/>
        <dsp:cNvSpPr/>
      </dsp:nvSpPr>
      <dsp:spPr>
        <a:xfrm>
          <a:off x="2326102" y="0"/>
          <a:ext cx="5815210" cy="4589929"/>
        </a:xfrm>
        <a:prstGeom prst="quadArrow">
          <a:avLst>
            <a:gd name="adj1" fmla="val 2000"/>
            <a:gd name="adj2" fmla="val 4000"/>
            <a:gd name="adj3" fmla="val 5000"/>
          </a:avLst>
        </a:prstGeom>
        <a:solidFill>
          <a:srgbClr val="7030A0"/>
        </a:solidFill>
        <a:ln w="9525" cap="rnd"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CD378D16-E7A4-4DD0-8D73-C1711151E127}">
      <dsp:nvSpPr>
        <dsp:cNvPr id="0" name=""/>
        <dsp:cNvSpPr/>
      </dsp:nvSpPr>
      <dsp:spPr>
        <a:xfrm>
          <a:off x="3237088" y="298345"/>
          <a:ext cx="1835971" cy="1835971"/>
        </a:xfrm>
        <a:prstGeom prst="roundRect">
          <a:avLst/>
        </a:prstGeom>
        <a:solidFill>
          <a:schemeClr val="accent5">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Thinking Rationally</a:t>
          </a:r>
        </a:p>
      </dsp:txBody>
      <dsp:txXfrm>
        <a:off x="3326713" y="387970"/>
        <a:ext cx="1656721" cy="1656721"/>
      </dsp:txXfrm>
    </dsp:sp>
    <dsp:sp modelId="{1449B220-46F8-464B-994D-E6CA4C681F9A}">
      <dsp:nvSpPr>
        <dsp:cNvPr id="0" name=""/>
        <dsp:cNvSpPr/>
      </dsp:nvSpPr>
      <dsp:spPr>
        <a:xfrm>
          <a:off x="5394355" y="298345"/>
          <a:ext cx="1835971" cy="1835971"/>
        </a:xfrm>
        <a:prstGeom prst="roundRect">
          <a:avLst/>
        </a:prstGeom>
        <a:solidFill>
          <a:schemeClr val="accent5">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Acting Rationally</a:t>
          </a:r>
        </a:p>
      </dsp:txBody>
      <dsp:txXfrm>
        <a:off x="5483980" y="387970"/>
        <a:ext cx="1656721" cy="1656721"/>
      </dsp:txXfrm>
    </dsp:sp>
    <dsp:sp modelId="{9CB5677D-551D-4A2C-8E50-83A42D19817E}">
      <dsp:nvSpPr>
        <dsp:cNvPr id="0" name=""/>
        <dsp:cNvSpPr/>
      </dsp:nvSpPr>
      <dsp:spPr>
        <a:xfrm>
          <a:off x="3237088" y="2455612"/>
          <a:ext cx="1835971" cy="1835971"/>
        </a:xfrm>
        <a:prstGeom prst="roundRect">
          <a:avLst/>
        </a:prstGeom>
        <a:solidFill>
          <a:schemeClr val="accent5">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Thinking Humanly</a:t>
          </a:r>
        </a:p>
      </dsp:txBody>
      <dsp:txXfrm>
        <a:off x="3326713" y="2545237"/>
        <a:ext cx="1656721" cy="1656721"/>
      </dsp:txXfrm>
    </dsp:sp>
    <dsp:sp modelId="{9C71FB80-4C8D-4A73-BE16-1E14BFEE92ED}">
      <dsp:nvSpPr>
        <dsp:cNvPr id="0" name=""/>
        <dsp:cNvSpPr/>
      </dsp:nvSpPr>
      <dsp:spPr>
        <a:xfrm>
          <a:off x="5394355" y="2455612"/>
          <a:ext cx="1835971" cy="1835971"/>
        </a:xfrm>
        <a:prstGeom prst="roundRect">
          <a:avLst/>
        </a:prstGeom>
        <a:solidFill>
          <a:schemeClr val="accent5">
            <a:lumMod val="7500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Acting Humanly</a:t>
          </a:r>
        </a:p>
      </dsp:txBody>
      <dsp:txXfrm>
        <a:off x="5483980" y="2545237"/>
        <a:ext cx="1656721" cy="16567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668702-1514-43DD-A357-54D4EFE9BD81}">
      <dsp:nvSpPr>
        <dsp:cNvPr id="0" name=""/>
        <dsp:cNvSpPr/>
      </dsp:nvSpPr>
      <dsp:spPr>
        <a:xfrm>
          <a:off x="4541234" y="1171"/>
          <a:ext cx="1471231" cy="1471231"/>
        </a:xfrm>
        <a:prstGeom prst="ellipse">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Collect Data</a:t>
          </a:r>
        </a:p>
      </dsp:txBody>
      <dsp:txXfrm>
        <a:off x="4756691" y="216628"/>
        <a:ext cx="1040317" cy="1040317"/>
      </dsp:txXfrm>
    </dsp:sp>
    <dsp:sp modelId="{40F15244-8FCA-4A74-979D-B14DC8237214}">
      <dsp:nvSpPr>
        <dsp:cNvPr id="0" name=""/>
        <dsp:cNvSpPr/>
      </dsp:nvSpPr>
      <dsp:spPr>
        <a:xfrm rot="2160000">
          <a:off x="5966272" y="1131948"/>
          <a:ext cx="392368" cy="496540"/>
        </a:xfrm>
        <a:prstGeom prst="rightArrow">
          <a:avLst>
            <a:gd name="adj1" fmla="val 60000"/>
            <a:gd name="adj2" fmla="val 5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977512" y="1196662"/>
        <a:ext cx="274658" cy="297924"/>
      </dsp:txXfrm>
    </dsp:sp>
    <dsp:sp modelId="{F2F34104-010C-415A-8CA4-33C1C693461E}">
      <dsp:nvSpPr>
        <dsp:cNvPr id="0" name=""/>
        <dsp:cNvSpPr/>
      </dsp:nvSpPr>
      <dsp:spPr>
        <a:xfrm>
          <a:off x="6330415" y="1301088"/>
          <a:ext cx="1471231" cy="1471231"/>
        </a:xfrm>
        <a:prstGeom prst="ellipse">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Data Cleaning and Feature Engineering</a:t>
          </a:r>
        </a:p>
      </dsp:txBody>
      <dsp:txXfrm>
        <a:off x="6545872" y="1516545"/>
        <a:ext cx="1040317" cy="1040317"/>
      </dsp:txXfrm>
    </dsp:sp>
    <dsp:sp modelId="{0707FFFE-FC5F-4052-8C9F-414059820DFA}">
      <dsp:nvSpPr>
        <dsp:cNvPr id="0" name=""/>
        <dsp:cNvSpPr/>
      </dsp:nvSpPr>
      <dsp:spPr>
        <a:xfrm rot="6480000">
          <a:off x="6531575" y="2829526"/>
          <a:ext cx="392368" cy="496540"/>
        </a:xfrm>
        <a:prstGeom prst="rightArrow">
          <a:avLst>
            <a:gd name="adj1" fmla="val 60000"/>
            <a:gd name="adj2" fmla="val 50000"/>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6608617" y="2872860"/>
        <a:ext cx="274658" cy="297924"/>
      </dsp:txXfrm>
    </dsp:sp>
    <dsp:sp modelId="{C1A33DEF-A45F-4703-920F-7B6E734DE133}">
      <dsp:nvSpPr>
        <dsp:cNvPr id="0" name=""/>
        <dsp:cNvSpPr/>
      </dsp:nvSpPr>
      <dsp:spPr>
        <a:xfrm>
          <a:off x="5647009" y="3404397"/>
          <a:ext cx="1471231" cy="1471231"/>
        </a:xfrm>
        <a:prstGeom prst="ellipse">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Building a model with the correct algorithm</a:t>
          </a:r>
        </a:p>
      </dsp:txBody>
      <dsp:txXfrm>
        <a:off x="5862466" y="3619854"/>
        <a:ext cx="1040317" cy="1040317"/>
      </dsp:txXfrm>
    </dsp:sp>
    <dsp:sp modelId="{43DD9042-BA2A-4448-B4F9-D12DF7192C54}">
      <dsp:nvSpPr>
        <dsp:cNvPr id="0" name=""/>
        <dsp:cNvSpPr/>
      </dsp:nvSpPr>
      <dsp:spPr>
        <a:xfrm rot="10800000">
          <a:off x="5091770" y="3891742"/>
          <a:ext cx="392368" cy="496540"/>
        </a:xfrm>
        <a:prstGeom prst="rightArrow">
          <a:avLst>
            <a:gd name="adj1" fmla="val 60000"/>
            <a:gd name="adj2" fmla="val 50000"/>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5209480" y="3991050"/>
        <a:ext cx="274658" cy="297924"/>
      </dsp:txXfrm>
    </dsp:sp>
    <dsp:sp modelId="{541CB35C-14EE-4059-BED8-8916FF4CEE80}">
      <dsp:nvSpPr>
        <dsp:cNvPr id="0" name=""/>
        <dsp:cNvSpPr/>
      </dsp:nvSpPr>
      <dsp:spPr>
        <a:xfrm>
          <a:off x="3435459" y="3404397"/>
          <a:ext cx="1471231" cy="1471231"/>
        </a:xfrm>
        <a:prstGeom prst="ellipse">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Evaluate the model</a:t>
          </a:r>
        </a:p>
      </dsp:txBody>
      <dsp:txXfrm>
        <a:off x="3650916" y="3619854"/>
        <a:ext cx="1040317" cy="1040317"/>
      </dsp:txXfrm>
    </dsp:sp>
    <dsp:sp modelId="{001A21A4-4522-458F-8313-09ECD7F04BF5}">
      <dsp:nvSpPr>
        <dsp:cNvPr id="0" name=""/>
        <dsp:cNvSpPr/>
      </dsp:nvSpPr>
      <dsp:spPr>
        <a:xfrm rot="15120000">
          <a:off x="3636618" y="2850649"/>
          <a:ext cx="392368" cy="496540"/>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10800000">
        <a:off x="3713660" y="3005931"/>
        <a:ext cx="274658" cy="297924"/>
      </dsp:txXfrm>
    </dsp:sp>
    <dsp:sp modelId="{B4FD4098-62F8-448E-9C8E-541DAFFBBD35}">
      <dsp:nvSpPr>
        <dsp:cNvPr id="0" name=""/>
        <dsp:cNvSpPr/>
      </dsp:nvSpPr>
      <dsp:spPr>
        <a:xfrm>
          <a:off x="2752053" y="1301088"/>
          <a:ext cx="1471231" cy="1471231"/>
        </a:xfrm>
        <a:prstGeom prst="ellipse">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b="1" kern="1200" dirty="0"/>
            <a:t>Deploy the model</a:t>
          </a:r>
        </a:p>
      </dsp:txBody>
      <dsp:txXfrm>
        <a:off x="2967510" y="1516545"/>
        <a:ext cx="1040317" cy="1040317"/>
      </dsp:txXfrm>
    </dsp:sp>
    <dsp:sp modelId="{A8AEDB65-BAE5-4150-8D5E-7699B540D0FE}">
      <dsp:nvSpPr>
        <dsp:cNvPr id="0" name=""/>
        <dsp:cNvSpPr/>
      </dsp:nvSpPr>
      <dsp:spPr>
        <a:xfrm rot="19440000">
          <a:off x="4177090" y="1145002"/>
          <a:ext cx="392368" cy="496540"/>
        </a:xfrm>
        <a:prstGeom prst="rightArrow">
          <a:avLst>
            <a:gd name="adj1" fmla="val 60000"/>
            <a:gd name="adj2" fmla="val 50000"/>
          </a:avLst>
        </a:prstGeom>
        <a:solidFill>
          <a:schemeClr val="accent6">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188330" y="1278904"/>
        <a:ext cx="274658" cy="29792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C72E4F-7DFD-4C1A-A1A9-E4120F2AD69C}"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828753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72E4F-7DFD-4C1A-A1A9-E4120F2AD69C}"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059260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C72E4F-7DFD-4C1A-A1A9-E4120F2AD69C}"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224414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C72E4F-7DFD-4C1A-A1A9-E4120F2AD69C}"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2723879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C72E4F-7DFD-4C1A-A1A9-E4120F2AD69C}" type="datetimeFigureOut">
              <a:rPr lang="en-US" smtClean="0"/>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157875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C72E4F-7DFD-4C1A-A1A9-E4120F2AD69C}" type="datetimeFigureOut">
              <a:rPr lang="en-US" smtClean="0"/>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433553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C72E4F-7DFD-4C1A-A1A9-E4120F2AD69C}"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340362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C72E4F-7DFD-4C1A-A1A9-E4120F2AD69C}"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1326876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0FC72E4F-7DFD-4C1A-A1A9-E4120F2AD69C}" type="datetimeFigureOut">
              <a:rPr lang="en-US" smtClean="0"/>
              <a:t>1/27/2026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796560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C72E4F-7DFD-4C1A-A1A9-E4120F2AD69C}" type="datetimeFigureOut">
              <a:rPr lang="en-US" smtClean="0"/>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534275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0FC72E4F-7DFD-4C1A-A1A9-E4120F2AD69C}"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455226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0FC72E4F-7DFD-4C1A-A1A9-E4120F2AD69C}" type="datetimeFigureOut">
              <a:rPr lang="en-US" smtClean="0"/>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426511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72E4F-7DFD-4C1A-A1A9-E4120F2AD69C}"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761801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C72E4F-7DFD-4C1A-A1A9-E4120F2AD69C}" type="datetimeFigureOut">
              <a:rPr lang="en-US" smtClean="0"/>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F68B03-EF67-4A02-9879-B0436ED06920}" type="slidenum">
              <a:rPr lang="en-US" smtClean="0"/>
              <a:t>‹#›</a:t>
            </a:fld>
            <a:endParaRPr lang="en-US"/>
          </a:p>
        </p:txBody>
      </p:sp>
    </p:spTree>
    <p:extLst>
      <p:ext uri="{BB962C8B-B14F-4D97-AF65-F5344CB8AC3E}">
        <p14:creationId xmlns:p14="http://schemas.microsoft.com/office/powerpoint/2010/main" val="3391210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FC72E4F-7DFD-4C1A-A1A9-E4120F2AD69C}" type="datetimeFigureOut">
              <a:rPr lang="en-US" smtClean="0"/>
              <a:t>1/27/2026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1F68B03-EF67-4A02-9879-B0436ED06920}" type="slidenum">
              <a:rPr lang="en-US" smtClean="0"/>
              <a:t>‹#›</a:t>
            </a:fld>
            <a:endParaRPr lang="en-US"/>
          </a:p>
        </p:txBody>
      </p:sp>
    </p:spTree>
    <p:extLst>
      <p:ext uri="{BB962C8B-B14F-4D97-AF65-F5344CB8AC3E}">
        <p14:creationId xmlns:p14="http://schemas.microsoft.com/office/powerpoint/2010/main" val="20142472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masswerk.at/elizabo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3" Type="http://schemas.openxmlformats.org/officeDocument/2006/relationships/hyperlink" Target="https://www.edureka.co/blog/what-is-a-neural-network/" TargetMode="External"/><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lamarr-institute.org/blog/deep-neural-networks/"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80121-2090-C428-98C6-5A952B630D1E}"/>
              </a:ext>
            </a:extLst>
          </p:cNvPr>
          <p:cNvSpPr>
            <a:spLocks noGrp="1"/>
          </p:cNvSpPr>
          <p:nvPr>
            <p:ph type="ctrTitle"/>
          </p:nvPr>
        </p:nvSpPr>
        <p:spPr/>
        <p:txBody>
          <a:bodyPr/>
          <a:lstStyle/>
          <a:p>
            <a:pPr algn="ctr"/>
            <a:r>
              <a:rPr lang="en-US" dirty="0"/>
              <a:t>Introduction to Artificial Intelligence</a:t>
            </a:r>
          </a:p>
        </p:txBody>
      </p:sp>
      <p:sp>
        <p:nvSpPr>
          <p:cNvPr id="3" name="Subtitle 2">
            <a:extLst>
              <a:ext uri="{FF2B5EF4-FFF2-40B4-BE49-F238E27FC236}">
                <a16:creationId xmlns:a16="http://schemas.microsoft.com/office/drawing/2014/main" id="{8ACE1F8C-E5DE-EC85-D5FE-365A58F48FC7}"/>
              </a:ext>
            </a:extLst>
          </p:cNvPr>
          <p:cNvSpPr>
            <a:spLocks noGrp="1"/>
          </p:cNvSpPr>
          <p:nvPr>
            <p:ph type="subTitle" idx="1"/>
          </p:nvPr>
        </p:nvSpPr>
        <p:spPr/>
        <p:txBody>
          <a:bodyPr/>
          <a:lstStyle/>
          <a:p>
            <a:r>
              <a:rPr lang="en-US" dirty="0"/>
              <a:t>By Abeeha Sattar</a:t>
            </a:r>
          </a:p>
        </p:txBody>
      </p:sp>
    </p:spTree>
    <p:extLst>
      <p:ext uri="{BB962C8B-B14F-4D97-AF65-F5344CB8AC3E}">
        <p14:creationId xmlns:p14="http://schemas.microsoft.com/office/powerpoint/2010/main" val="397044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40B84-2D33-3266-365D-FAD60A603717}"/>
              </a:ext>
            </a:extLst>
          </p:cNvPr>
          <p:cNvSpPr>
            <a:spLocks noGrp="1"/>
          </p:cNvSpPr>
          <p:nvPr>
            <p:ph type="title"/>
          </p:nvPr>
        </p:nvSpPr>
        <p:spPr/>
        <p:txBody>
          <a:bodyPr/>
          <a:lstStyle/>
          <a:p>
            <a:r>
              <a:rPr lang="en-US" dirty="0"/>
              <a:t>What makes Humans Intelligent?</a:t>
            </a:r>
          </a:p>
        </p:txBody>
      </p:sp>
      <p:sp>
        <p:nvSpPr>
          <p:cNvPr id="3" name="Content Placeholder 2">
            <a:extLst>
              <a:ext uri="{FF2B5EF4-FFF2-40B4-BE49-F238E27FC236}">
                <a16:creationId xmlns:a16="http://schemas.microsoft.com/office/drawing/2014/main" id="{724BD36E-CCD5-35F5-F230-AE003177EC28}"/>
              </a:ext>
            </a:extLst>
          </p:cNvPr>
          <p:cNvSpPr>
            <a:spLocks noGrp="1"/>
          </p:cNvSpPr>
          <p:nvPr>
            <p:ph idx="1"/>
          </p:nvPr>
        </p:nvSpPr>
        <p:spPr>
          <a:xfrm>
            <a:off x="818712" y="2222287"/>
            <a:ext cx="2067923" cy="3636511"/>
          </a:xfrm>
        </p:spPr>
        <p:txBody>
          <a:bodyPr/>
          <a:lstStyle/>
          <a:p>
            <a:pPr marL="0" indent="0">
              <a:buNone/>
            </a:pPr>
            <a:r>
              <a:rPr lang="en-US" dirty="0"/>
              <a:t>The ability to:</a:t>
            </a:r>
          </a:p>
          <a:p>
            <a:r>
              <a:rPr lang="en-US" dirty="0"/>
              <a:t>Perceive</a:t>
            </a:r>
          </a:p>
          <a:p>
            <a:r>
              <a:rPr lang="en-US" dirty="0"/>
              <a:t>Understand</a:t>
            </a:r>
          </a:p>
          <a:p>
            <a:r>
              <a:rPr lang="en-US" dirty="0"/>
              <a:t>Predict</a:t>
            </a:r>
          </a:p>
          <a:p>
            <a:r>
              <a:rPr lang="en-US" dirty="0"/>
              <a:t>Manipulate</a:t>
            </a:r>
          </a:p>
        </p:txBody>
      </p:sp>
      <p:sp>
        <p:nvSpPr>
          <p:cNvPr id="4" name="Content Placeholder 2">
            <a:extLst>
              <a:ext uri="{FF2B5EF4-FFF2-40B4-BE49-F238E27FC236}">
                <a16:creationId xmlns:a16="http://schemas.microsoft.com/office/drawing/2014/main" id="{49943BC5-4949-AECE-B68C-2B3BDE2E648A}"/>
              </a:ext>
            </a:extLst>
          </p:cNvPr>
          <p:cNvSpPr txBox="1">
            <a:spLocks/>
          </p:cNvSpPr>
          <p:nvPr/>
        </p:nvSpPr>
        <p:spPr>
          <a:xfrm>
            <a:off x="8973672" y="2222286"/>
            <a:ext cx="2453151"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Wingdings 2" charset="2"/>
              <a:buNone/>
            </a:pPr>
            <a:r>
              <a:rPr lang="en-US" dirty="0"/>
              <a:t>The ability to:</a:t>
            </a:r>
          </a:p>
          <a:p>
            <a:r>
              <a:rPr lang="en-US" dirty="0"/>
              <a:t>Think</a:t>
            </a:r>
          </a:p>
          <a:p>
            <a:r>
              <a:rPr lang="en-US" dirty="0"/>
              <a:t>Learn</a:t>
            </a:r>
          </a:p>
          <a:p>
            <a:r>
              <a:rPr lang="en-US" dirty="0"/>
              <a:t>Make Decisions</a:t>
            </a:r>
          </a:p>
        </p:txBody>
      </p:sp>
      <p:pic>
        <p:nvPicPr>
          <p:cNvPr id="6" name="Picture 5">
            <a:extLst>
              <a:ext uri="{FF2B5EF4-FFF2-40B4-BE49-F238E27FC236}">
                <a16:creationId xmlns:a16="http://schemas.microsoft.com/office/drawing/2014/main" id="{A50D435F-0D15-D676-4334-8F644B9B73B4}"/>
              </a:ext>
            </a:extLst>
          </p:cNvPr>
          <p:cNvPicPr>
            <a:picLocks noChangeAspect="1"/>
          </p:cNvPicPr>
          <p:nvPr/>
        </p:nvPicPr>
        <p:blipFill>
          <a:blip r:embed="rId2"/>
          <a:stretch>
            <a:fillRect/>
          </a:stretch>
        </p:blipFill>
        <p:spPr>
          <a:xfrm>
            <a:off x="3361144" y="1888636"/>
            <a:ext cx="5469711" cy="4969364"/>
          </a:xfrm>
          <a:prstGeom prst="rect">
            <a:avLst/>
          </a:prstGeom>
        </p:spPr>
      </p:pic>
    </p:spTree>
    <p:extLst>
      <p:ext uri="{BB962C8B-B14F-4D97-AF65-F5344CB8AC3E}">
        <p14:creationId xmlns:p14="http://schemas.microsoft.com/office/powerpoint/2010/main" val="4029440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3A621-C19D-1FFE-1DE8-5953BE437AF2}"/>
              </a:ext>
            </a:extLst>
          </p:cNvPr>
          <p:cNvSpPr>
            <a:spLocks noGrp="1"/>
          </p:cNvSpPr>
          <p:nvPr>
            <p:ph type="title"/>
          </p:nvPr>
        </p:nvSpPr>
        <p:spPr/>
        <p:txBody>
          <a:bodyPr/>
          <a:lstStyle/>
          <a:p>
            <a:r>
              <a:rPr lang="en-US" dirty="0"/>
              <a:t>Intelligent Machines</a:t>
            </a:r>
          </a:p>
        </p:txBody>
      </p:sp>
      <p:sp>
        <p:nvSpPr>
          <p:cNvPr id="3" name="Content Placeholder 2">
            <a:extLst>
              <a:ext uri="{FF2B5EF4-FFF2-40B4-BE49-F238E27FC236}">
                <a16:creationId xmlns:a16="http://schemas.microsoft.com/office/drawing/2014/main" id="{A824A332-2D0F-A6AF-3EEB-E096B810D8C7}"/>
              </a:ext>
            </a:extLst>
          </p:cNvPr>
          <p:cNvSpPr>
            <a:spLocks noGrp="1"/>
          </p:cNvSpPr>
          <p:nvPr>
            <p:ph idx="1"/>
          </p:nvPr>
        </p:nvSpPr>
        <p:spPr/>
        <p:txBody>
          <a:bodyPr/>
          <a:lstStyle/>
          <a:p>
            <a:r>
              <a:rPr lang="en-US" dirty="0"/>
              <a:t>If a machine is able to do exactly that, would it be an intelligent machine?</a:t>
            </a:r>
          </a:p>
          <a:p>
            <a:endParaRPr lang="en-US" dirty="0"/>
          </a:p>
          <a:p>
            <a:r>
              <a:rPr lang="en-US" dirty="0"/>
              <a:t>Well… maybe? (Turing Test)</a:t>
            </a:r>
          </a:p>
        </p:txBody>
      </p:sp>
    </p:spTree>
    <p:extLst>
      <p:ext uri="{BB962C8B-B14F-4D97-AF65-F5344CB8AC3E}">
        <p14:creationId xmlns:p14="http://schemas.microsoft.com/office/powerpoint/2010/main" val="3466649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EA9FF-D162-48D4-E10A-83236D18DE7A}"/>
              </a:ext>
            </a:extLst>
          </p:cNvPr>
          <p:cNvSpPr>
            <a:spLocks noGrp="1"/>
          </p:cNvSpPr>
          <p:nvPr>
            <p:ph type="title"/>
          </p:nvPr>
        </p:nvSpPr>
        <p:spPr/>
        <p:txBody>
          <a:bodyPr/>
          <a:lstStyle/>
          <a:p>
            <a:r>
              <a:rPr lang="en-US" dirty="0"/>
              <a:t>What is AI?</a:t>
            </a:r>
          </a:p>
        </p:txBody>
      </p:sp>
      <p:sp>
        <p:nvSpPr>
          <p:cNvPr id="3" name="Content Placeholder 2">
            <a:extLst>
              <a:ext uri="{FF2B5EF4-FFF2-40B4-BE49-F238E27FC236}">
                <a16:creationId xmlns:a16="http://schemas.microsoft.com/office/drawing/2014/main" id="{1BE7988F-3E82-8DEA-821D-FC3B7C031C67}"/>
              </a:ext>
            </a:extLst>
          </p:cNvPr>
          <p:cNvSpPr>
            <a:spLocks noGrp="1"/>
          </p:cNvSpPr>
          <p:nvPr>
            <p:ph idx="1"/>
          </p:nvPr>
        </p:nvSpPr>
        <p:spPr/>
        <p:txBody>
          <a:bodyPr/>
          <a:lstStyle/>
          <a:p>
            <a:r>
              <a:rPr lang="en-US" dirty="0"/>
              <a:t>Algorithms enabled by…</a:t>
            </a:r>
          </a:p>
          <a:p>
            <a:r>
              <a:rPr lang="en-US" dirty="0"/>
              <a:t>… Constraints exposed by…</a:t>
            </a:r>
          </a:p>
          <a:p>
            <a:r>
              <a:rPr lang="en-US" dirty="0"/>
              <a:t>… Representations that support…</a:t>
            </a:r>
          </a:p>
          <a:p>
            <a:r>
              <a:rPr lang="en-US" dirty="0"/>
              <a:t>… Models targeted at…</a:t>
            </a:r>
          </a:p>
          <a:p>
            <a:pPr lvl="1"/>
            <a:r>
              <a:rPr lang="en-US" sz="1800" dirty="0"/>
              <a:t>Thinking</a:t>
            </a:r>
          </a:p>
          <a:p>
            <a:pPr lvl="1"/>
            <a:r>
              <a:rPr lang="en-US" sz="1800" dirty="0"/>
              <a:t>Perception, and</a:t>
            </a:r>
          </a:p>
          <a:p>
            <a:pPr lvl="1"/>
            <a:r>
              <a:rPr lang="en-US" sz="1800" dirty="0"/>
              <a:t>Action</a:t>
            </a:r>
          </a:p>
          <a:p>
            <a:pPr marL="457200" lvl="1" indent="0">
              <a:buNone/>
            </a:pPr>
            <a:r>
              <a:rPr lang="en-US" sz="1800" dirty="0"/>
              <a:t>Credits: </a:t>
            </a:r>
            <a:r>
              <a:rPr lang="en-US" dirty="0"/>
              <a:t>Patrick H. Winston</a:t>
            </a:r>
            <a:endParaRPr lang="en-US" sz="1800" dirty="0"/>
          </a:p>
        </p:txBody>
      </p:sp>
    </p:spTree>
    <p:extLst>
      <p:ext uri="{BB962C8B-B14F-4D97-AF65-F5344CB8AC3E}">
        <p14:creationId xmlns:p14="http://schemas.microsoft.com/office/powerpoint/2010/main" val="3984633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fade">
                                      <p:cBhvr>
                                        <p:cTn id="2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BEA87-7ADE-E9F1-FAEB-42EC0B0310FC}"/>
              </a:ext>
            </a:extLst>
          </p:cNvPr>
          <p:cNvSpPr>
            <a:spLocks noGrp="1"/>
          </p:cNvSpPr>
          <p:nvPr>
            <p:ph type="title"/>
          </p:nvPr>
        </p:nvSpPr>
        <p:spPr/>
        <p:txBody>
          <a:bodyPr/>
          <a:lstStyle/>
          <a:p>
            <a:r>
              <a:rPr lang="en-US" dirty="0"/>
              <a:t>Representation Example:</a:t>
            </a:r>
          </a:p>
        </p:txBody>
      </p:sp>
      <p:sp>
        <p:nvSpPr>
          <p:cNvPr id="3" name="Content Placeholder 2">
            <a:extLst>
              <a:ext uri="{FF2B5EF4-FFF2-40B4-BE49-F238E27FC236}">
                <a16:creationId xmlns:a16="http://schemas.microsoft.com/office/drawing/2014/main" id="{8180B7D8-61BF-A5B2-1211-3C517AB40BD7}"/>
              </a:ext>
            </a:extLst>
          </p:cNvPr>
          <p:cNvSpPr>
            <a:spLocks noGrp="1"/>
          </p:cNvSpPr>
          <p:nvPr>
            <p:ph idx="1"/>
          </p:nvPr>
        </p:nvSpPr>
        <p:spPr>
          <a:xfrm>
            <a:off x="693206" y="2095931"/>
            <a:ext cx="10554574" cy="927670"/>
          </a:xfrm>
        </p:spPr>
        <p:txBody>
          <a:bodyPr>
            <a:normAutofit/>
          </a:bodyPr>
          <a:lstStyle/>
          <a:p>
            <a:r>
              <a:rPr lang="en-US" dirty="0"/>
              <a:t>Think of the puzzle… Farmer, Sheep, Wolf and Cabbage</a:t>
            </a:r>
          </a:p>
          <a:p>
            <a:r>
              <a:rPr lang="en-US" dirty="0"/>
              <a:t>What ways can you think of to represent it?</a:t>
            </a:r>
          </a:p>
        </p:txBody>
      </p:sp>
      <p:pic>
        <p:nvPicPr>
          <p:cNvPr id="1026" name="Picture 2" descr="Old Farmer Cartoon PNG &amp; SVG Design For T-Shirts">
            <a:extLst>
              <a:ext uri="{FF2B5EF4-FFF2-40B4-BE49-F238E27FC236}">
                <a16:creationId xmlns:a16="http://schemas.microsoft.com/office/drawing/2014/main" id="{4F303832-B0CE-E13D-77E2-980532B4AC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053" y="2935941"/>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miling cartoon sheep design on white background | Premium AI-generated  image">
            <a:extLst>
              <a:ext uri="{FF2B5EF4-FFF2-40B4-BE49-F238E27FC236}">
                <a16:creationId xmlns:a16="http://schemas.microsoft.com/office/drawing/2014/main" id="{49B0EF0B-BE6C-8C49-4EC9-E2AE447CD5C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043" t="20156" r="25493" b="17375"/>
          <a:stretch>
            <a:fillRect/>
          </a:stretch>
        </p:blipFill>
        <p:spPr bwMode="auto">
          <a:xfrm>
            <a:off x="2236521" y="4155141"/>
            <a:ext cx="834063" cy="105335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2,100+ Scary Wolf Cartoons Stock Photos, Pictures &amp; Royalty-Free Images -  iStock">
            <a:extLst>
              <a:ext uri="{FF2B5EF4-FFF2-40B4-BE49-F238E27FC236}">
                <a16:creationId xmlns:a16="http://schemas.microsoft.com/office/drawing/2014/main" id="{1DB836BB-B6A0-0D7F-9194-1FDA815D133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33" t="4863" r="4787" b="4095"/>
          <a:stretch>
            <a:fillRect/>
          </a:stretch>
        </p:blipFill>
        <p:spPr bwMode="auto">
          <a:xfrm flipH="1">
            <a:off x="3070584" y="3980330"/>
            <a:ext cx="1221941" cy="122816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Cabbage vegetable cartoon style vector illustration on white background  high quality line art png | Premium AI-generated vector">
            <a:extLst>
              <a:ext uri="{FF2B5EF4-FFF2-40B4-BE49-F238E27FC236}">
                <a16:creationId xmlns:a16="http://schemas.microsoft.com/office/drawing/2014/main" id="{F8DA297B-D998-765E-8A61-7089782BBB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6287" y="4668261"/>
            <a:ext cx="540234" cy="54023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39,600+ River Cartoon Stock Photos, Pictures &amp; Royalty-Free Images - iStock  | River vector, Couple">
            <a:extLst>
              <a:ext uri="{FF2B5EF4-FFF2-40B4-BE49-F238E27FC236}">
                <a16:creationId xmlns:a16="http://schemas.microsoft.com/office/drawing/2014/main" id="{7587AFAA-B778-B8CF-2323-BF86E427FE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2525" y="2935941"/>
            <a:ext cx="5124839" cy="3709647"/>
          </a:xfrm>
          <a:prstGeom prst="rect">
            <a:avLst/>
          </a:prstGeom>
          <a:noFill/>
          <a:extLst>
            <a:ext uri="{909E8E84-426E-40DD-AFC4-6F175D3DCCD1}">
              <a14:hiddenFill xmlns:a14="http://schemas.microsoft.com/office/drawing/2010/main">
                <a:solidFill>
                  <a:srgbClr val="FFFFFF"/>
                </a:solidFill>
              </a14:hiddenFill>
            </a:ext>
          </a:extLst>
        </p:spPr>
      </p:pic>
      <p:sp>
        <p:nvSpPr>
          <p:cNvPr id="4" name="Arc 3">
            <a:extLst>
              <a:ext uri="{FF2B5EF4-FFF2-40B4-BE49-F238E27FC236}">
                <a16:creationId xmlns:a16="http://schemas.microsoft.com/office/drawing/2014/main" id="{44C39C84-4B5D-BD96-EBDC-828205932768}"/>
              </a:ext>
            </a:extLst>
          </p:cNvPr>
          <p:cNvSpPr/>
          <p:nvPr/>
        </p:nvSpPr>
        <p:spPr>
          <a:xfrm>
            <a:off x="3079317" y="3133166"/>
            <a:ext cx="6530848" cy="1228165"/>
          </a:xfrm>
          <a:prstGeom prst="arc">
            <a:avLst>
              <a:gd name="adj1" fmla="val 10712358"/>
              <a:gd name="adj2" fmla="val 21443219"/>
            </a:avLst>
          </a:prstGeom>
          <a:ln w="3810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US"/>
          </a:p>
        </p:txBody>
      </p:sp>
      <p:pic>
        <p:nvPicPr>
          <p:cNvPr id="6" name="Picture 5">
            <a:extLst>
              <a:ext uri="{FF2B5EF4-FFF2-40B4-BE49-F238E27FC236}">
                <a16:creationId xmlns:a16="http://schemas.microsoft.com/office/drawing/2014/main" id="{E9771E71-AAF8-6E1B-846E-34FB1039427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4270898" y="4938378"/>
            <a:ext cx="2258520" cy="1535794"/>
          </a:xfrm>
          <a:prstGeom prst="rect">
            <a:avLst/>
          </a:prstGeom>
        </p:spPr>
      </p:pic>
    </p:spTree>
    <p:extLst>
      <p:ext uri="{BB962C8B-B14F-4D97-AF65-F5344CB8AC3E}">
        <p14:creationId xmlns:p14="http://schemas.microsoft.com/office/powerpoint/2010/main" val="246645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04CFD-2068-B743-99A1-F5ED3A2DDE6C}"/>
              </a:ext>
            </a:extLst>
          </p:cNvPr>
          <p:cNvSpPr>
            <a:spLocks noGrp="1"/>
          </p:cNvSpPr>
          <p:nvPr>
            <p:ph type="title"/>
          </p:nvPr>
        </p:nvSpPr>
        <p:spPr/>
        <p:txBody>
          <a:bodyPr/>
          <a:lstStyle/>
          <a:p>
            <a:r>
              <a:rPr lang="en-US" dirty="0"/>
              <a:t>Solving the Puzzle – Constraints!</a:t>
            </a:r>
          </a:p>
        </p:txBody>
      </p:sp>
      <p:sp>
        <p:nvSpPr>
          <p:cNvPr id="3" name="Content Placeholder 2">
            <a:extLst>
              <a:ext uri="{FF2B5EF4-FFF2-40B4-BE49-F238E27FC236}">
                <a16:creationId xmlns:a16="http://schemas.microsoft.com/office/drawing/2014/main" id="{F835C4F3-962C-E1F1-08A3-071674A416FD}"/>
              </a:ext>
            </a:extLst>
          </p:cNvPr>
          <p:cNvSpPr>
            <a:spLocks noGrp="1"/>
          </p:cNvSpPr>
          <p:nvPr>
            <p:ph idx="1"/>
          </p:nvPr>
        </p:nvSpPr>
        <p:spPr/>
        <p:txBody>
          <a:bodyPr/>
          <a:lstStyle/>
          <a:p>
            <a:r>
              <a:rPr lang="en-US" dirty="0"/>
              <a:t>Finding out all combinations – 2^4 – 16 combinations:</a:t>
            </a:r>
          </a:p>
          <a:p>
            <a:pPr marL="0" indent="0">
              <a:buNone/>
            </a:pPr>
            <a:r>
              <a:rPr lang="en-US" dirty="0"/>
              <a:t>{</a:t>
            </a:r>
          </a:p>
          <a:p>
            <a:pPr marL="0" indent="0">
              <a:buNone/>
            </a:pPr>
            <a:endParaRPr lang="en-US" dirty="0"/>
          </a:p>
          <a:p>
            <a:pPr marL="0" indent="0">
              <a:buNone/>
            </a:pPr>
            <a:r>
              <a:rPr lang="en-US" dirty="0"/>
              <a:t>														}</a:t>
            </a:r>
          </a:p>
          <a:p>
            <a:r>
              <a:rPr lang="en-US" dirty="0"/>
              <a:t>Find out the constraints:</a:t>
            </a:r>
          </a:p>
          <a:p>
            <a:pPr marL="0" indent="0">
              <a:buNone/>
            </a:pPr>
            <a:endParaRPr lang="en-US" dirty="0"/>
          </a:p>
          <a:p>
            <a:r>
              <a:rPr lang="en-US" dirty="0"/>
              <a:t>Write an algorithm…</a:t>
            </a:r>
          </a:p>
        </p:txBody>
      </p:sp>
    </p:spTree>
    <p:extLst>
      <p:ext uri="{BB962C8B-B14F-4D97-AF65-F5344CB8AC3E}">
        <p14:creationId xmlns:p14="http://schemas.microsoft.com/office/powerpoint/2010/main" val="2975973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E5775-63D2-5C1C-7AF3-6B225CC009CF}"/>
              </a:ext>
            </a:extLst>
          </p:cNvPr>
          <p:cNvSpPr>
            <a:spLocks noGrp="1"/>
          </p:cNvSpPr>
          <p:nvPr>
            <p:ph type="title"/>
          </p:nvPr>
        </p:nvSpPr>
        <p:spPr/>
        <p:txBody>
          <a:bodyPr/>
          <a:lstStyle/>
          <a:p>
            <a:r>
              <a:rPr lang="en-US" dirty="0"/>
              <a:t>The Rumpelstiltskin Principle</a:t>
            </a:r>
          </a:p>
        </p:txBody>
      </p:sp>
      <p:sp>
        <p:nvSpPr>
          <p:cNvPr id="3" name="Content Placeholder 2">
            <a:extLst>
              <a:ext uri="{FF2B5EF4-FFF2-40B4-BE49-F238E27FC236}">
                <a16:creationId xmlns:a16="http://schemas.microsoft.com/office/drawing/2014/main" id="{ACA05DAC-A622-B2E8-9225-87068DFF4086}"/>
              </a:ext>
            </a:extLst>
          </p:cNvPr>
          <p:cNvSpPr>
            <a:spLocks noGrp="1"/>
          </p:cNvSpPr>
          <p:nvPr>
            <p:ph idx="1"/>
          </p:nvPr>
        </p:nvSpPr>
        <p:spPr>
          <a:xfrm>
            <a:off x="818712" y="2222287"/>
            <a:ext cx="10554574" cy="3954395"/>
          </a:xfrm>
        </p:spPr>
        <p:txBody>
          <a:bodyPr/>
          <a:lstStyle/>
          <a:p>
            <a:r>
              <a:rPr lang="en-US" dirty="0"/>
              <a:t>Knowing the true name or nature of something grants power over it</a:t>
            </a:r>
          </a:p>
          <a:p>
            <a:endParaRPr lang="en-US" dirty="0"/>
          </a:p>
          <a:p>
            <a:r>
              <a:rPr lang="en-US" dirty="0"/>
              <a:t>What are these called?</a:t>
            </a:r>
          </a:p>
          <a:p>
            <a:endParaRPr lang="en-US" dirty="0"/>
          </a:p>
          <a:p>
            <a:endParaRPr lang="en-US" dirty="0"/>
          </a:p>
          <a:p>
            <a:endParaRPr lang="en-US" dirty="0"/>
          </a:p>
          <a:p>
            <a:endParaRPr lang="en-US" dirty="0"/>
          </a:p>
          <a:p>
            <a:endParaRPr lang="en-US" dirty="0"/>
          </a:p>
          <a:p>
            <a:r>
              <a:rPr lang="en-US" dirty="0"/>
              <a:t>Ferrule, Tittle, Aglet (what’s what?)</a:t>
            </a:r>
          </a:p>
        </p:txBody>
      </p:sp>
      <p:pic>
        <p:nvPicPr>
          <p:cNvPr id="2050" name="Picture 2" descr="Metal Aglets Stock Illustrations – 11 Metal Aglets Stock Illustrations,  Vectors &amp; Clipart - Dreamstime">
            <a:extLst>
              <a:ext uri="{FF2B5EF4-FFF2-40B4-BE49-F238E27FC236}">
                <a16:creationId xmlns:a16="http://schemas.microsoft.com/office/drawing/2014/main" id="{B0AA5160-605C-E92D-C066-57D49B119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2965" y="4429460"/>
            <a:ext cx="1766047" cy="123623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D592A68-887C-FBC1-B90D-691E4D470AAA}"/>
              </a:ext>
            </a:extLst>
          </p:cNvPr>
          <p:cNvPicPr>
            <a:picLocks noChangeAspect="1"/>
          </p:cNvPicPr>
          <p:nvPr/>
        </p:nvPicPr>
        <p:blipFill>
          <a:blip r:embed="rId3"/>
          <a:stretch>
            <a:fillRect/>
          </a:stretch>
        </p:blipFill>
        <p:spPr>
          <a:xfrm rot="8537639">
            <a:off x="3283873" y="4606510"/>
            <a:ext cx="2211767" cy="434792"/>
          </a:xfrm>
          <a:prstGeom prst="rect">
            <a:avLst/>
          </a:prstGeom>
        </p:spPr>
      </p:pic>
      <p:pic>
        <p:nvPicPr>
          <p:cNvPr id="2052" name="Picture 4" descr="Did you know…..the dot over an i and a j is called a tittle. It refers to a  small point or stroke in writing. What other useless information do we not  need">
            <a:extLst>
              <a:ext uri="{FF2B5EF4-FFF2-40B4-BE49-F238E27FC236}">
                <a16:creationId xmlns:a16="http://schemas.microsoft.com/office/drawing/2014/main" id="{5E8356C0-FC13-164C-F2CB-94412FE366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06614" y="4040542"/>
            <a:ext cx="1488141" cy="2030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1824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C3D46-B56F-7A8A-D1E0-E14F75F7C02A}"/>
              </a:ext>
            </a:extLst>
          </p:cNvPr>
          <p:cNvSpPr>
            <a:spLocks noGrp="1"/>
          </p:cNvSpPr>
          <p:nvPr>
            <p:ph type="title"/>
          </p:nvPr>
        </p:nvSpPr>
        <p:spPr>
          <a:xfrm>
            <a:off x="801288" y="707164"/>
            <a:ext cx="10571998" cy="970450"/>
          </a:xfrm>
        </p:spPr>
        <p:txBody>
          <a:bodyPr/>
          <a:lstStyle/>
          <a:p>
            <a:r>
              <a:rPr lang="en-US" dirty="0"/>
              <a:t>Question – How many Countries in Africa are on the Equator?</a:t>
            </a:r>
          </a:p>
        </p:txBody>
      </p:sp>
      <p:pic>
        <p:nvPicPr>
          <p:cNvPr id="3074" name="Picture 2">
            <a:extLst>
              <a:ext uri="{FF2B5EF4-FFF2-40B4-BE49-F238E27FC236}">
                <a16:creationId xmlns:a16="http://schemas.microsoft.com/office/drawing/2014/main" id="{CFF46FA9-18BA-A0A8-8A05-A95DB013981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25553" y="1879105"/>
            <a:ext cx="4966447" cy="497889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3F950BA5-3F9B-B0DD-229D-596D6A2B84D5}"/>
              </a:ext>
            </a:extLst>
          </p:cNvPr>
          <p:cNvPicPr>
            <a:picLocks noChangeAspect="1"/>
          </p:cNvPicPr>
          <p:nvPr/>
        </p:nvPicPr>
        <p:blipFill>
          <a:blip r:embed="rId3"/>
          <a:stretch>
            <a:fillRect/>
          </a:stretch>
        </p:blipFill>
        <p:spPr>
          <a:xfrm>
            <a:off x="264271" y="3463550"/>
            <a:ext cx="6697010" cy="1810003"/>
          </a:xfrm>
          <a:prstGeom prst="rect">
            <a:avLst/>
          </a:prstGeom>
        </p:spPr>
      </p:pic>
    </p:spTree>
    <p:extLst>
      <p:ext uri="{BB962C8B-B14F-4D97-AF65-F5344CB8AC3E}">
        <p14:creationId xmlns:p14="http://schemas.microsoft.com/office/powerpoint/2010/main" val="3481471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0E3CA-B2EB-661A-C039-36509F22F798}"/>
              </a:ext>
            </a:extLst>
          </p:cNvPr>
          <p:cNvSpPr>
            <a:spLocks noGrp="1"/>
          </p:cNvSpPr>
          <p:nvPr>
            <p:ph type="title"/>
          </p:nvPr>
        </p:nvSpPr>
        <p:spPr>
          <a:xfrm>
            <a:off x="810000" y="447188"/>
            <a:ext cx="10571998" cy="1300930"/>
          </a:xfrm>
        </p:spPr>
        <p:txBody>
          <a:bodyPr/>
          <a:lstStyle/>
          <a:p>
            <a:r>
              <a:rPr lang="en-US" dirty="0"/>
              <a:t>Let’s think about how you came up with the answer</a:t>
            </a:r>
          </a:p>
        </p:txBody>
      </p:sp>
      <p:sp>
        <p:nvSpPr>
          <p:cNvPr id="3" name="Content Placeholder 2">
            <a:extLst>
              <a:ext uri="{FF2B5EF4-FFF2-40B4-BE49-F238E27FC236}">
                <a16:creationId xmlns:a16="http://schemas.microsoft.com/office/drawing/2014/main" id="{6CC58207-4882-0401-6986-7B24C2085111}"/>
              </a:ext>
            </a:extLst>
          </p:cNvPr>
          <p:cNvSpPr>
            <a:spLocks noGrp="1"/>
          </p:cNvSpPr>
          <p:nvPr>
            <p:ph idx="1"/>
          </p:nvPr>
        </p:nvSpPr>
        <p:spPr/>
        <p:txBody>
          <a:bodyPr/>
          <a:lstStyle/>
          <a:p>
            <a:r>
              <a:rPr lang="en-US" dirty="0"/>
              <a:t>Step 1: Audio Cue </a:t>
            </a:r>
            <a:r>
              <a:rPr lang="en-US" dirty="0">
                <a:sym typeface="Wingdings" panose="05000000000000000000" pitchFamily="2" charset="2"/>
              </a:rPr>
              <a:t></a:t>
            </a:r>
            <a:r>
              <a:rPr lang="en-US" dirty="0"/>
              <a:t> My question</a:t>
            </a:r>
          </a:p>
          <a:p>
            <a:r>
              <a:rPr lang="en-US" dirty="0"/>
              <a:t>Step 2: ???</a:t>
            </a:r>
          </a:p>
          <a:p>
            <a:r>
              <a:rPr lang="en-US" dirty="0"/>
              <a:t>???</a:t>
            </a:r>
          </a:p>
          <a:p>
            <a:r>
              <a:rPr lang="en-US" dirty="0"/>
              <a:t>Step ?: Profit (…Or not – Can we make a machine do this?)</a:t>
            </a:r>
          </a:p>
        </p:txBody>
      </p:sp>
    </p:spTree>
    <p:extLst>
      <p:ext uri="{BB962C8B-B14F-4D97-AF65-F5344CB8AC3E}">
        <p14:creationId xmlns:p14="http://schemas.microsoft.com/office/powerpoint/2010/main" val="4251854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32075-31B2-05F7-FC50-F963FC50BFA2}"/>
              </a:ext>
            </a:extLst>
          </p:cNvPr>
          <p:cNvSpPr>
            <a:spLocks noGrp="1"/>
          </p:cNvSpPr>
          <p:nvPr>
            <p:ph type="title"/>
          </p:nvPr>
        </p:nvSpPr>
        <p:spPr/>
        <p:txBody>
          <a:bodyPr/>
          <a:lstStyle/>
          <a:p>
            <a:r>
              <a:rPr lang="en-US" dirty="0"/>
              <a:t>Driving a Car – As a Human</a:t>
            </a:r>
          </a:p>
        </p:txBody>
      </p:sp>
      <p:sp>
        <p:nvSpPr>
          <p:cNvPr id="3" name="Content Placeholder 2">
            <a:extLst>
              <a:ext uri="{FF2B5EF4-FFF2-40B4-BE49-F238E27FC236}">
                <a16:creationId xmlns:a16="http://schemas.microsoft.com/office/drawing/2014/main" id="{7D4F79CF-37C7-2DA6-7774-F45154BC4CC1}"/>
              </a:ext>
            </a:extLst>
          </p:cNvPr>
          <p:cNvSpPr>
            <a:spLocks noGrp="1"/>
          </p:cNvSpPr>
          <p:nvPr>
            <p:ph idx="1"/>
          </p:nvPr>
        </p:nvSpPr>
        <p:spPr/>
        <p:txBody>
          <a:bodyPr/>
          <a:lstStyle/>
          <a:p>
            <a:r>
              <a:rPr lang="en-US" dirty="0"/>
              <a:t>Audio Cues (honking, </a:t>
            </a:r>
            <a:r>
              <a:rPr lang="en-US" dirty="0" err="1"/>
              <a:t>etc</a:t>
            </a:r>
            <a:r>
              <a:rPr lang="en-US" dirty="0"/>
              <a:t>)</a:t>
            </a:r>
          </a:p>
          <a:p>
            <a:r>
              <a:rPr lang="en-US" dirty="0"/>
              <a:t>Visual Cues (mirror views, </a:t>
            </a:r>
            <a:r>
              <a:rPr lang="en-US" dirty="0" err="1"/>
              <a:t>etc</a:t>
            </a:r>
            <a:r>
              <a:rPr lang="en-US" dirty="0"/>
              <a:t>)</a:t>
            </a:r>
          </a:p>
          <a:p>
            <a:r>
              <a:rPr lang="en-US" dirty="0"/>
              <a:t>Memory (rules, what to push, when to turn, </a:t>
            </a:r>
            <a:r>
              <a:rPr lang="en-US" dirty="0" err="1"/>
              <a:t>etc</a:t>
            </a:r>
            <a:r>
              <a:rPr lang="en-US" dirty="0"/>
              <a:t>)</a:t>
            </a:r>
          </a:p>
          <a:p>
            <a:r>
              <a:rPr lang="en-US" dirty="0"/>
              <a:t>Execution (performing actions on the steering wheel, brakes, </a:t>
            </a:r>
            <a:r>
              <a:rPr lang="en-US" dirty="0" err="1"/>
              <a:t>etc</a:t>
            </a:r>
            <a:r>
              <a:rPr lang="en-US" dirty="0"/>
              <a:t>)</a:t>
            </a:r>
          </a:p>
          <a:p>
            <a:endParaRPr lang="en-US" dirty="0"/>
          </a:p>
          <a:p>
            <a:r>
              <a:rPr lang="en-US" dirty="0"/>
              <a:t>Using all of the above to drive over some time, results in experience.</a:t>
            </a:r>
          </a:p>
        </p:txBody>
      </p:sp>
    </p:spTree>
    <p:extLst>
      <p:ext uri="{BB962C8B-B14F-4D97-AF65-F5344CB8AC3E}">
        <p14:creationId xmlns:p14="http://schemas.microsoft.com/office/powerpoint/2010/main" val="2408742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AF935-F091-157A-5A37-064107C4FC0D}"/>
              </a:ext>
            </a:extLst>
          </p:cNvPr>
          <p:cNvSpPr>
            <a:spLocks noGrp="1"/>
          </p:cNvSpPr>
          <p:nvPr>
            <p:ph type="title"/>
          </p:nvPr>
        </p:nvSpPr>
        <p:spPr/>
        <p:txBody>
          <a:bodyPr/>
          <a:lstStyle/>
          <a:p>
            <a:r>
              <a:rPr lang="en-US" dirty="0"/>
              <a:t>Self-Driving Cars</a:t>
            </a:r>
          </a:p>
        </p:txBody>
      </p:sp>
      <p:pic>
        <p:nvPicPr>
          <p:cNvPr id="4098" name="Picture 2" descr="undefined">
            <a:extLst>
              <a:ext uri="{FF2B5EF4-FFF2-40B4-BE49-F238E27FC236}">
                <a16:creationId xmlns:a16="http://schemas.microsoft.com/office/drawing/2014/main" id="{1A3BF75F-AD5D-B3C7-9131-661C0B774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0729" y="1896036"/>
            <a:ext cx="8821271" cy="496196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Content Placeholder 3">
            <a:extLst>
              <a:ext uri="{FF2B5EF4-FFF2-40B4-BE49-F238E27FC236}">
                <a16:creationId xmlns:a16="http://schemas.microsoft.com/office/drawing/2014/main" id="{0AE604A0-6645-9F89-893E-2BE55B6FA59E}"/>
              </a:ext>
            </a:extLst>
          </p:cNvPr>
          <p:cNvGraphicFramePr>
            <a:graphicFrameLocks noGrp="1"/>
          </p:cNvGraphicFramePr>
          <p:nvPr>
            <p:ph idx="1"/>
            <p:extLst>
              <p:ext uri="{D42A27DB-BD31-4B8C-83A1-F6EECF244321}">
                <p14:modId xmlns:p14="http://schemas.microsoft.com/office/powerpoint/2010/main" val="3204682250"/>
              </p:ext>
            </p:extLst>
          </p:nvPr>
        </p:nvGraphicFramePr>
        <p:xfrm>
          <a:off x="161363" y="2519081"/>
          <a:ext cx="9323295" cy="14814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24621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36BA-A18E-3C46-4CD8-298BFF500C50}"/>
              </a:ext>
            </a:extLst>
          </p:cNvPr>
          <p:cNvSpPr>
            <a:spLocks noGrp="1"/>
          </p:cNvSpPr>
          <p:nvPr>
            <p:ph type="title"/>
          </p:nvPr>
        </p:nvSpPr>
        <p:spPr/>
        <p:txBody>
          <a:bodyPr/>
          <a:lstStyle/>
          <a:p>
            <a:r>
              <a:rPr lang="en-US" dirty="0"/>
              <a:t>AI – The Textbook Definition</a:t>
            </a:r>
          </a:p>
        </p:txBody>
      </p:sp>
      <p:sp>
        <p:nvSpPr>
          <p:cNvPr id="3" name="Content Placeholder 2">
            <a:extLst>
              <a:ext uri="{FF2B5EF4-FFF2-40B4-BE49-F238E27FC236}">
                <a16:creationId xmlns:a16="http://schemas.microsoft.com/office/drawing/2014/main" id="{DA08E379-8067-3DD0-A091-452A33C8D1BA}"/>
              </a:ext>
            </a:extLst>
          </p:cNvPr>
          <p:cNvSpPr>
            <a:spLocks noGrp="1"/>
          </p:cNvSpPr>
          <p:nvPr>
            <p:ph idx="1"/>
          </p:nvPr>
        </p:nvSpPr>
        <p:spPr/>
        <p:txBody>
          <a:bodyPr/>
          <a:lstStyle/>
          <a:p>
            <a:pPr>
              <a:spcBef>
                <a:spcPts val="0"/>
              </a:spcBef>
              <a:spcAft>
                <a:spcPts val="0"/>
              </a:spcAft>
            </a:pPr>
            <a:r>
              <a:rPr lang="en-US" dirty="0"/>
              <a:t>“The study and design of intelligent agents, where an intelligent agent is a system that perceives its environment and takes actions that maximize its chances of success.”</a:t>
            </a:r>
          </a:p>
        </p:txBody>
      </p:sp>
    </p:spTree>
    <p:extLst>
      <p:ext uri="{BB962C8B-B14F-4D97-AF65-F5344CB8AC3E}">
        <p14:creationId xmlns:p14="http://schemas.microsoft.com/office/powerpoint/2010/main" val="461415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6EC92-605B-9898-83BD-C4A64D5B6DD3}"/>
              </a:ext>
            </a:extLst>
          </p:cNvPr>
          <p:cNvSpPr>
            <a:spLocks noGrp="1"/>
          </p:cNvSpPr>
          <p:nvPr>
            <p:ph type="title"/>
          </p:nvPr>
        </p:nvSpPr>
        <p:spPr/>
        <p:txBody>
          <a:bodyPr/>
          <a:lstStyle/>
          <a:p>
            <a:r>
              <a:rPr lang="en-US" dirty="0"/>
              <a:t>More on AI</a:t>
            </a:r>
          </a:p>
        </p:txBody>
      </p:sp>
      <p:sp>
        <p:nvSpPr>
          <p:cNvPr id="3" name="Content Placeholder 2">
            <a:extLst>
              <a:ext uri="{FF2B5EF4-FFF2-40B4-BE49-F238E27FC236}">
                <a16:creationId xmlns:a16="http://schemas.microsoft.com/office/drawing/2014/main" id="{5AD34B77-DEF7-456E-AEAF-3ABBFE121C36}"/>
              </a:ext>
            </a:extLst>
          </p:cNvPr>
          <p:cNvSpPr>
            <a:spLocks noGrp="1"/>
          </p:cNvSpPr>
          <p:nvPr>
            <p:ph idx="1"/>
          </p:nvPr>
        </p:nvSpPr>
        <p:spPr>
          <a:xfrm>
            <a:off x="818712" y="2222287"/>
            <a:ext cx="10554574" cy="4070937"/>
          </a:xfrm>
        </p:spPr>
        <p:txBody>
          <a:bodyPr>
            <a:normAutofit/>
          </a:bodyPr>
          <a:lstStyle/>
          <a:p>
            <a:r>
              <a:rPr lang="en-US" dirty="0"/>
              <a:t>It is the science and engineering of making intelligent machines, especially intelligent computer programs. It is related to the similar task of using computers to understand human intelligence, but AI does not have to confine itself to methods that are biologically observable.</a:t>
            </a:r>
          </a:p>
          <a:p>
            <a:pPr marL="0" indent="0">
              <a:buNone/>
            </a:pPr>
            <a:endParaRPr lang="en-US" dirty="0"/>
          </a:p>
          <a:p>
            <a:pPr marL="0" indent="0">
              <a:buNone/>
            </a:pPr>
            <a:r>
              <a:rPr lang="en-US" dirty="0"/>
              <a:t>Views of AI fall into four categories:</a:t>
            </a:r>
          </a:p>
          <a:p>
            <a:r>
              <a:rPr lang="en-US" dirty="0"/>
              <a:t>Thinking Humanly</a:t>
            </a:r>
          </a:p>
          <a:p>
            <a:r>
              <a:rPr lang="en-US" dirty="0"/>
              <a:t>Acting Humanly</a:t>
            </a:r>
          </a:p>
          <a:p>
            <a:r>
              <a:rPr lang="en-US" dirty="0"/>
              <a:t>Thinking Rationally</a:t>
            </a:r>
          </a:p>
          <a:p>
            <a:r>
              <a:rPr lang="en-US" dirty="0"/>
              <a:t>Acting Rationally</a:t>
            </a:r>
          </a:p>
          <a:p>
            <a:endParaRPr lang="en-US" dirty="0"/>
          </a:p>
        </p:txBody>
      </p:sp>
    </p:spTree>
    <p:extLst>
      <p:ext uri="{BB962C8B-B14F-4D97-AF65-F5344CB8AC3E}">
        <p14:creationId xmlns:p14="http://schemas.microsoft.com/office/powerpoint/2010/main" val="3896525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AB3C2-A2A5-9577-2CC5-83755FB9B6D1}"/>
              </a:ext>
            </a:extLst>
          </p:cNvPr>
          <p:cNvSpPr>
            <a:spLocks noGrp="1"/>
          </p:cNvSpPr>
          <p:nvPr>
            <p:ph type="title"/>
          </p:nvPr>
        </p:nvSpPr>
        <p:spPr/>
        <p:txBody>
          <a:bodyPr/>
          <a:lstStyle/>
          <a:p>
            <a:r>
              <a:rPr lang="en-US" dirty="0"/>
              <a:t>The Four Schools of Thought</a:t>
            </a:r>
          </a:p>
        </p:txBody>
      </p:sp>
      <p:graphicFrame>
        <p:nvGraphicFramePr>
          <p:cNvPr id="5" name="Content Placeholder 4">
            <a:extLst>
              <a:ext uri="{FF2B5EF4-FFF2-40B4-BE49-F238E27FC236}">
                <a16:creationId xmlns:a16="http://schemas.microsoft.com/office/drawing/2014/main" id="{4A86046C-178F-7639-970B-6F9A19D3EC4F}"/>
              </a:ext>
            </a:extLst>
          </p:cNvPr>
          <p:cNvGraphicFramePr>
            <a:graphicFrameLocks noGrp="1"/>
          </p:cNvGraphicFramePr>
          <p:nvPr>
            <p:ph idx="1"/>
            <p:extLst>
              <p:ext uri="{D42A27DB-BD31-4B8C-83A1-F6EECF244321}">
                <p14:modId xmlns:p14="http://schemas.microsoft.com/office/powerpoint/2010/main" val="2009808853"/>
              </p:ext>
            </p:extLst>
          </p:nvPr>
        </p:nvGraphicFramePr>
        <p:xfrm>
          <a:off x="819150" y="2052918"/>
          <a:ext cx="10467415" cy="45899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TextBox 7">
            <a:extLst>
              <a:ext uri="{FF2B5EF4-FFF2-40B4-BE49-F238E27FC236}">
                <a16:creationId xmlns:a16="http://schemas.microsoft.com/office/drawing/2014/main" id="{818865D2-11F0-AEAA-3A1B-A4D5BA58C2D8}"/>
              </a:ext>
            </a:extLst>
          </p:cNvPr>
          <p:cNvSpPr txBox="1"/>
          <p:nvPr/>
        </p:nvSpPr>
        <p:spPr>
          <a:xfrm>
            <a:off x="6203576" y="1868252"/>
            <a:ext cx="1685365" cy="369332"/>
          </a:xfrm>
          <a:prstGeom prst="rect">
            <a:avLst/>
          </a:prstGeom>
          <a:noFill/>
        </p:spPr>
        <p:txBody>
          <a:bodyPr wrap="square" rtlCol="0">
            <a:spAutoFit/>
          </a:bodyPr>
          <a:lstStyle/>
          <a:p>
            <a:r>
              <a:rPr lang="en-US" b="1" dirty="0"/>
              <a:t>Rational</a:t>
            </a:r>
          </a:p>
        </p:txBody>
      </p:sp>
      <p:sp>
        <p:nvSpPr>
          <p:cNvPr id="9" name="TextBox 8">
            <a:extLst>
              <a:ext uri="{FF2B5EF4-FFF2-40B4-BE49-F238E27FC236}">
                <a16:creationId xmlns:a16="http://schemas.microsoft.com/office/drawing/2014/main" id="{6F1C7F79-D7AF-C7A0-B6DC-BDC405449572}"/>
              </a:ext>
            </a:extLst>
          </p:cNvPr>
          <p:cNvSpPr txBox="1"/>
          <p:nvPr/>
        </p:nvSpPr>
        <p:spPr>
          <a:xfrm>
            <a:off x="6203575" y="6494040"/>
            <a:ext cx="1685365" cy="369332"/>
          </a:xfrm>
          <a:prstGeom prst="rect">
            <a:avLst/>
          </a:prstGeom>
          <a:noFill/>
        </p:spPr>
        <p:txBody>
          <a:bodyPr wrap="square" rtlCol="0">
            <a:spAutoFit/>
          </a:bodyPr>
          <a:lstStyle/>
          <a:p>
            <a:r>
              <a:rPr lang="en-US" b="1" dirty="0"/>
              <a:t>Human</a:t>
            </a:r>
          </a:p>
        </p:txBody>
      </p:sp>
      <p:sp>
        <p:nvSpPr>
          <p:cNvPr id="10" name="TextBox 9">
            <a:extLst>
              <a:ext uri="{FF2B5EF4-FFF2-40B4-BE49-F238E27FC236}">
                <a16:creationId xmlns:a16="http://schemas.microsoft.com/office/drawing/2014/main" id="{A261FF5B-8013-B1D1-2450-732F397DC561}"/>
              </a:ext>
            </a:extLst>
          </p:cNvPr>
          <p:cNvSpPr txBox="1"/>
          <p:nvPr/>
        </p:nvSpPr>
        <p:spPr>
          <a:xfrm>
            <a:off x="2026023" y="4163216"/>
            <a:ext cx="1685365" cy="369332"/>
          </a:xfrm>
          <a:prstGeom prst="rect">
            <a:avLst/>
          </a:prstGeom>
          <a:noFill/>
        </p:spPr>
        <p:txBody>
          <a:bodyPr wrap="square" rtlCol="0">
            <a:spAutoFit/>
          </a:bodyPr>
          <a:lstStyle/>
          <a:p>
            <a:r>
              <a:rPr lang="en-US" b="1" dirty="0"/>
              <a:t>Thought</a:t>
            </a:r>
          </a:p>
        </p:txBody>
      </p:sp>
      <p:sp>
        <p:nvSpPr>
          <p:cNvPr id="11" name="TextBox 10">
            <a:extLst>
              <a:ext uri="{FF2B5EF4-FFF2-40B4-BE49-F238E27FC236}">
                <a16:creationId xmlns:a16="http://schemas.microsoft.com/office/drawing/2014/main" id="{2ABB93CC-6980-E3FB-1988-B1094727465B}"/>
              </a:ext>
            </a:extLst>
          </p:cNvPr>
          <p:cNvSpPr txBox="1"/>
          <p:nvPr/>
        </p:nvSpPr>
        <p:spPr>
          <a:xfrm>
            <a:off x="9009529" y="4163216"/>
            <a:ext cx="1685365" cy="369332"/>
          </a:xfrm>
          <a:prstGeom prst="rect">
            <a:avLst/>
          </a:prstGeom>
          <a:noFill/>
        </p:spPr>
        <p:txBody>
          <a:bodyPr wrap="square" rtlCol="0">
            <a:spAutoFit/>
          </a:bodyPr>
          <a:lstStyle/>
          <a:p>
            <a:r>
              <a:rPr lang="en-US" b="1" dirty="0"/>
              <a:t>Behavior</a:t>
            </a:r>
          </a:p>
        </p:txBody>
      </p:sp>
      <p:sp>
        <p:nvSpPr>
          <p:cNvPr id="12" name="TextBox 11">
            <a:extLst>
              <a:ext uri="{FF2B5EF4-FFF2-40B4-BE49-F238E27FC236}">
                <a16:creationId xmlns:a16="http://schemas.microsoft.com/office/drawing/2014/main" id="{69E44E60-3B7D-03EB-B05E-B933940E2697}"/>
              </a:ext>
            </a:extLst>
          </p:cNvPr>
          <p:cNvSpPr txBox="1"/>
          <p:nvPr/>
        </p:nvSpPr>
        <p:spPr>
          <a:xfrm>
            <a:off x="627529" y="4987533"/>
            <a:ext cx="3263153" cy="1200329"/>
          </a:xfrm>
          <a:prstGeom prst="rect">
            <a:avLst/>
          </a:prstGeom>
          <a:noFill/>
        </p:spPr>
        <p:txBody>
          <a:bodyPr wrap="square" rtlCol="0">
            <a:spAutoFit/>
          </a:bodyPr>
          <a:lstStyle/>
          <a:p>
            <a:r>
              <a:rPr lang="en-US" dirty="0"/>
              <a:t>Building systems that mimic human thought processes, drawing from cognitive science.</a:t>
            </a:r>
          </a:p>
        </p:txBody>
      </p:sp>
      <p:sp>
        <p:nvSpPr>
          <p:cNvPr id="13" name="TextBox 12">
            <a:extLst>
              <a:ext uri="{FF2B5EF4-FFF2-40B4-BE49-F238E27FC236}">
                <a16:creationId xmlns:a16="http://schemas.microsoft.com/office/drawing/2014/main" id="{02560165-8FBF-EE9C-E58A-07B1D6D1DB58}"/>
              </a:ext>
            </a:extLst>
          </p:cNvPr>
          <p:cNvSpPr txBox="1"/>
          <p:nvPr/>
        </p:nvSpPr>
        <p:spPr>
          <a:xfrm>
            <a:off x="8301320" y="4849033"/>
            <a:ext cx="2955174" cy="1477328"/>
          </a:xfrm>
          <a:prstGeom prst="rect">
            <a:avLst/>
          </a:prstGeom>
          <a:noFill/>
        </p:spPr>
        <p:txBody>
          <a:bodyPr wrap="square" rtlCol="0">
            <a:spAutoFit/>
          </a:bodyPr>
          <a:lstStyle/>
          <a:p>
            <a:r>
              <a:rPr lang="en-US" dirty="0"/>
              <a:t>Creating machines that can behave indistinguishably from humans, as measured by the Turing Test</a:t>
            </a:r>
          </a:p>
        </p:txBody>
      </p:sp>
      <p:sp>
        <p:nvSpPr>
          <p:cNvPr id="16" name="TextBox 15">
            <a:extLst>
              <a:ext uri="{FF2B5EF4-FFF2-40B4-BE49-F238E27FC236}">
                <a16:creationId xmlns:a16="http://schemas.microsoft.com/office/drawing/2014/main" id="{33AFFD39-8386-8E04-0BC5-AFC7F37814DD}"/>
              </a:ext>
            </a:extLst>
          </p:cNvPr>
          <p:cNvSpPr txBox="1"/>
          <p:nvPr/>
        </p:nvSpPr>
        <p:spPr>
          <a:xfrm>
            <a:off x="627528" y="2507903"/>
            <a:ext cx="3083859" cy="1200329"/>
          </a:xfrm>
          <a:prstGeom prst="rect">
            <a:avLst/>
          </a:prstGeom>
          <a:noFill/>
        </p:spPr>
        <p:txBody>
          <a:bodyPr wrap="square" rtlCol="0">
            <a:spAutoFit/>
          </a:bodyPr>
          <a:lstStyle/>
          <a:p>
            <a:r>
              <a:rPr lang="en-US" dirty="0"/>
              <a:t>Using formal logic and symbolic reasoning to solve problems, rooted in Greek philosophy</a:t>
            </a:r>
          </a:p>
        </p:txBody>
      </p:sp>
      <p:sp>
        <p:nvSpPr>
          <p:cNvPr id="17" name="TextBox 16">
            <a:extLst>
              <a:ext uri="{FF2B5EF4-FFF2-40B4-BE49-F238E27FC236}">
                <a16:creationId xmlns:a16="http://schemas.microsoft.com/office/drawing/2014/main" id="{217D9CF2-F5D3-53BB-1EBE-46D8F1D2B2C9}"/>
              </a:ext>
            </a:extLst>
          </p:cNvPr>
          <p:cNvSpPr txBox="1"/>
          <p:nvPr/>
        </p:nvSpPr>
        <p:spPr>
          <a:xfrm>
            <a:off x="8301320" y="2507903"/>
            <a:ext cx="2955174" cy="1477328"/>
          </a:xfrm>
          <a:prstGeom prst="rect">
            <a:avLst/>
          </a:prstGeom>
          <a:noFill/>
        </p:spPr>
        <p:txBody>
          <a:bodyPr wrap="square" rtlCol="0">
            <a:spAutoFit/>
          </a:bodyPr>
          <a:lstStyle/>
          <a:p>
            <a:r>
              <a:rPr lang="en-US" dirty="0"/>
              <a:t>Designing agents that act optimally to achieve the best possible outcome, given available information.</a:t>
            </a:r>
          </a:p>
        </p:txBody>
      </p:sp>
    </p:spTree>
    <p:extLst>
      <p:ext uri="{BB962C8B-B14F-4D97-AF65-F5344CB8AC3E}">
        <p14:creationId xmlns:p14="http://schemas.microsoft.com/office/powerpoint/2010/main" val="1356982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B9358-BC24-B937-5EB8-B035C8224BD1}"/>
              </a:ext>
            </a:extLst>
          </p:cNvPr>
          <p:cNvSpPr>
            <a:spLocks noGrp="1"/>
          </p:cNvSpPr>
          <p:nvPr>
            <p:ph type="title"/>
          </p:nvPr>
        </p:nvSpPr>
        <p:spPr/>
        <p:txBody>
          <a:bodyPr/>
          <a:lstStyle/>
          <a:p>
            <a:r>
              <a:rPr lang="en-US" dirty="0"/>
              <a:t>Acting humanly: The Turing Test Approach</a:t>
            </a:r>
          </a:p>
        </p:txBody>
      </p:sp>
      <p:sp>
        <p:nvSpPr>
          <p:cNvPr id="3" name="Content Placeholder 2">
            <a:extLst>
              <a:ext uri="{FF2B5EF4-FFF2-40B4-BE49-F238E27FC236}">
                <a16:creationId xmlns:a16="http://schemas.microsoft.com/office/drawing/2014/main" id="{124915E1-F2CA-4C29-74A8-4EEE37FD46BB}"/>
              </a:ext>
            </a:extLst>
          </p:cNvPr>
          <p:cNvSpPr>
            <a:spLocks noGrp="1"/>
          </p:cNvSpPr>
          <p:nvPr>
            <p:ph idx="1"/>
          </p:nvPr>
        </p:nvSpPr>
        <p:spPr>
          <a:xfrm>
            <a:off x="818712" y="2222287"/>
            <a:ext cx="10665076" cy="3636511"/>
          </a:xfrm>
        </p:spPr>
        <p:txBody>
          <a:bodyPr/>
          <a:lstStyle/>
          <a:p>
            <a:pPr marL="0" indent="0">
              <a:buNone/>
            </a:pPr>
            <a:r>
              <a:rPr lang="en-US" dirty="0"/>
              <a:t>A computer passes the test if a human interrogator, after posing some written questions, cannot tell whether the written responses come from a person or from a computer.</a:t>
            </a:r>
          </a:p>
          <a:p>
            <a:pPr marL="0" indent="0">
              <a:buNone/>
            </a:pPr>
            <a:endParaRPr lang="en-US" dirty="0"/>
          </a:p>
          <a:p>
            <a:pPr marL="0" indent="0">
              <a:buNone/>
            </a:pPr>
            <a:r>
              <a:rPr lang="en-US" dirty="0"/>
              <a:t>For that, the computer would need the following capabilities:</a:t>
            </a:r>
          </a:p>
          <a:p>
            <a:r>
              <a:rPr lang="en-US" b="1" dirty="0"/>
              <a:t>natural language processing </a:t>
            </a:r>
            <a:r>
              <a:rPr lang="en-US" dirty="0"/>
              <a:t>to communicate successfully in a human language;</a:t>
            </a:r>
          </a:p>
          <a:p>
            <a:r>
              <a:rPr lang="en-US" b="1" dirty="0"/>
              <a:t>knowledge representation </a:t>
            </a:r>
            <a:r>
              <a:rPr lang="en-US" dirty="0"/>
              <a:t>to store what it knows or hears;</a:t>
            </a:r>
          </a:p>
          <a:p>
            <a:r>
              <a:rPr lang="en-US" b="1" dirty="0"/>
              <a:t>automated reasoning </a:t>
            </a:r>
            <a:r>
              <a:rPr lang="en-US" dirty="0"/>
              <a:t>to answer questions and to draw new conclusions;</a:t>
            </a:r>
          </a:p>
          <a:p>
            <a:r>
              <a:rPr lang="en-US" b="1" dirty="0"/>
              <a:t>machine learning </a:t>
            </a:r>
            <a:r>
              <a:rPr lang="en-US" dirty="0"/>
              <a:t>to adapt to new circumstances and to detect and extrapolate patterns.</a:t>
            </a:r>
          </a:p>
        </p:txBody>
      </p:sp>
    </p:spTree>
    <p:extLst>
      <p:ext uri="{BB962C8B-B14F-4D97-AF65-F5344CB8AC3E}">
        <p14:creationId xmlns:p14="http://schemas.microsoft.com/office/powerpoint/2010/main" val="1185948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40B38-A4CD-F413-993D-9AB47B404C98}"/>
              </a:ext>
            </a:extLst>
          </p:cNvPr>
          <p:cNvSpPr>
            <a:spLocks noGrp="1"/>
          </p:cNvSpPr>
          <p:nvPr>
            <p:ph type="title"/>
          </p:nvPr>
        </p:nvSpPr>
        <p:spPr/>
        <p:txBody>
          <a:bodyPr/>
          <a:lstStyle/>
          <a:p>
            <a:r>
              <a:rPr lang="en-US" dirty="0"/>
              <a:t>The “Total Turing Test”</a:t>
            </a:r>
          </a:p>
        </p:txBody>
      </p:sp>
      <p:sp>
        <p:nvSpPr>
          <p:cNvPr id="3" name="Content Placeholder 2">
            <a:extLst>
              <a:ext uri="{FF2B5EF4-FFF2-40B4-BE49-F238E27FC236}">
                <a16:creationId xmlns:a16="http://schemas.microsoft.com/office/drawing/2014/main" id="{FDBB5C43-5C3A-1B4E-546C-07C027336725}"/>
              </a:ext>
            </a:extLst>
          </p:cNvPr>
          <p:cNvSpPr>
            <a:spLocks noGrp="1"/>
          </p:cNvSpPr>
          <p:nvPr>
            <p:ph idx="1"/>
          </p:nvPr>
        </p:nvSpPr>
        <p:spPr/>
        <p:txBody>
          <a:bodyPr/>
          <a:lstStyle/>
          <a:p>
            <a:pPr marL="0" indent="0">
              <a:buNone/>
            </a:pPr>
            <a:r>
              <a:rPr lang="en-US" dirty="0"/>
              <a:t>Other researchers have proposed a total Turing test, which requires interaction with objects and people in the real world.</a:t>
            </a:r>
          </a:p>
          <a:p>
            <a:pPr marL="0" indent="0">
              <a:buNone/>
            </a:pPr>
            <a:endParaRPr lang="en-US" dirty="0"/>
          </a:p>
          <a:p>
            <a:pPr marL="0" indent="0">
              <a:buNone/>
            </a:pPr>
            <a:r>
              <a:rPr lang="en-US" dirty="0"/>
              <a:t>To pass the total Turing test, a robot will need</a:t>
            </a:r>
          </a:p>
          <a:p>
            <a:r>
              <a:rPr lang="en-US" b="1" dirty="0"/>
              <a:t>computer</a:t>
            </a:r>
            <a:r>
              <a:rPr lang="en-US" dirty="0"/>
              <a:t> </a:t>
            </a:r>
            <a:r>
              <a:rPr lang="en-US" b="1" dirty="0"/>
              <a:t>vision</a:t>
            </a:r>
            <a:r>
              <a:rPr lang="en-US" dirty="0"/>
              <a:t> and </a:t>
            </a:r>
            <a:r>
              <a:rPr lang="en-US" b="1" dirty="0"/>
              <a:t>speech</a:t>
            </a:r>
            <a:r>
              <a:rPr lang="en-US" dirty="0"/>
              <a:t> </a:t>
            </a:r>
            <a:r>
              <a:rPr lang="en-US" b="1" dirty="0"/>
              <a:t>recognition</a:t>
            </a:r>
            <a:r>
              <a:rPr lang="en-US" dirty="0"/>
              <a:t> to perceive the world;</a:t>
            </a:r>
          </a:p>
          <a:p>
            <a:r>
              <a:rPr lang="en-US" b="1" dirty="0"/>
              <a:t>robotics</a:t>
            </a:r>
            <a:r>
              <a:rPr lang="en-US" dirty="0"/>
              <a:t> to manipulate objects and move about.</a:t>
            </a:r>
          </a:p>
        </p:txBody>
      </p:sp>
    </p:spTree>
    <p:extLst>
      <p:ext uri="{BB962C8B-B14F-4D97-AF65-F5344CB8AC3E}">
        <p14:creationId xmlns:p14="http://schemas.microsoft.com/office/powerpoint/2010/main" val="2227175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5623B-DBC3-ADF1-C16E-50335F69B697}"/>
              </a:ext>
            </a:extLst>
          </p:cNvPr>
          <p:cNvSpPr>
            <a:spLocks noGrp="1"/>
          </p:cNvSpPr>
          <p:nvPr>
            <p:ph type="title"/>
          </p:nvPr>
        </p:nvSpPr>
        <p:spPr>
          <a:xfrm>
            <a:off x="818712" y="725094"/>
            <a:ext cx="10554574" cy="970450"/>
          </a:xfrm>
        </p:spPr>
        <p:txBody>
          <a:bodyPr/>
          <a:lstStyle/>
          <a:p>
            <a:r>
              <a:rPr lang="en-US" dirty="0"/>
              <a:t>Thinking humanly: The Cognitive Modeling Approach </a:t>
            </a:r>
          </a:p>
        </p:txBody>
      </p:sp>
      <p:sp>
        <p:nvSpPr>
          <p:cNvPr id="3" name="Content Placeholder 2">
            <a:extLst>
              <a:ext uri="{FF2B5EF4-FFF2-40B4-BE49-F238E27FC236}">
                <a16:creationId xmlns:a16="http://schemas.microsoft.com/office/drawing/2014/main" id="{655485E6-BB43-76C8-BA71-7491D38B89BD}"/>
              </a:ext>
            </a:extLst>
          </p:cNvPr>
          <p:cNvSpPr>
            <a:spLocks noGrp="1"/>
          </p:cNvSpPr>
          <p:nvPr>
            <p:ph idx="1"/>
          </p:nvPr>
        </p:nvSpPr>
        <p:spPr/>
        <p:txBody>
          <a:bodyPr/>
          <a:lstStyle/>
          <a:p>
            <a:pPr marL="0" indent="0">
              <a:buNone/>
            </a:pPr>
            <a:r>
              <a:rPr lang="en-US" dirty="0"/>
              <a:t>To say that a program thinks like a human, we must know how humans think. We can learn about human thought in three ways:</a:t>
            </a:r>
          </a:p>
          <a:p>
            <a:pPr marL="0" indent="0">
              <a:buNone/>
            </a:pPr>
            <a:endParaRPr lang="en-US" dirty="0"/>
          </a:p>
          <a:p>
            <a:r>
              <a:rPr lang="en-US" b="1" dirty="0"/>
              <a:t>Introspection </a:t>
            </a:r>
            <a:r>
              <a:rPr lang="en-US" dirty="0"/>
              <a:t>— trying to catch our own thoughts as they go by;</a:t>
            </a:r>
          </a:p>
          <a:p>
            <a:r>
              <a:rPr lang="en-US" b="1" dirty="0"/>
              <a:t>psychological</a:t>
            </a:r>
            <a:r>
              <a:rPr lang="en-US" dirty="0"/>
              <a:t> </a:t>
            </a:r>
            <a:r>
              <a:rPr lang="en-US" b="1" dirty="0"/>
              <a:t>experiments </a:t>
            </a:r>
            <a:r>
              <a:rPr lang="en-US" dirty="0"/>
              <a:t>— observing a person in action;</a:t>
            </a:r>
          </a:p>
          <a:p>
            <a:r>
              <a:rPr lang="en-US" dirty="0"/>
              <a:t>brain </a:t>
            </a:r>
            <a:r>
              <a:rPr lang="en-US" b="1" dirty="0"/>
              <a:t>imaging </a:t>
            </a:r>
            <a:r>
              <a:rPr lang="en-US" dirty="0"/>
              <a:t>— observing the brain in action.</a:t>
            </a:r>
          </a:p>
          <a:p>
            <a:endParaRPr lang="en-US" dirty="0"/>
          </a:p>
          <a:p>
            <a:r>
              <a:rPr lang="en-US" dirty="0"/>
              <a:t>Requires detailed matching of </a:t>
            </a:r>
            <a:r>
              <a:rPr lang="en-US" b="1" dirty="0"/>
              <a:t>computer behavior and timing</a:t>
            </a:r>
            <a:r>
              <a:rPr lang="en-US" dirty="0"/>
              <a:t> to </a:t>
            </a:r>
            <a:r>
              <a:rPr lang="en-US" b="1" dirty="0"/>
              <a:t>detailed measurements of human subjects</a:t>
            </a:r>
            <a:r>
              <a:rPr lang="en-US" dirty="0"/>
              <a:t> gathered in psychological experiments</a:t>
            </a:r>
          </a:p>
        </p:txBody>
      </p:sp>
    </p:spTree>
    <p:extLst>
      <p:ext uri="{BB962C8B-B14F-4D97-AF65-F5344CB8AC3E}">
        <p14:creationId xmlns:p14="http://schemas.microsoft.com/office/powerpoint/2010/main" val="3230546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A9BBD-0C34-567F-E0EB-451C017B6379}"/>
              </a:ext>
            </a:extLst>
          </p:cNvPr>
          <p:cNvSpPr>
            <a:spLocks noGrp="1"/>
          </p:cNvSpPr>
          <p:nvPr>
            <p:ph type="title"/>
          </p:nvPr>
        </p:nvSpPr>
        <p:spPr>
          <a:xfrm>
            <a:off x="818712" y="671306"/>
            <a:ext cx="10571998" cy="970450"/>
          </a:xfrm>
        </p:spPr>
        <p:txBody>
          <a:bodyPr/>
          <a:lstStyle/>
          <a:p>
            <a:r>
              <a:rPr lang="en-US" dirty="0"/>
              <a:t>Thinking Rationally: </a:t>
            </a:r>
            <a:br>
              <a:rPr lang="en-US" dirty="0"/>
            </a:br>
            <a:r>
              <a:rPr lang="en-US" dirty="0"/>
              <a:t>The “Laws of Thought” Approach</a:t>
            </a:r>
          </a:p>
        </p:txBody>
      </p:sp>
      <p:sp>
        <p:nvSpPr>
          <p:cNvPr id="3" name="Content Placeholder 2">
            <a:extLst>
              <a:ext uri="{FF2B5EF4-FFF2-40B4-BE49-F238E27FC236}">
                <a16:creationId xmlns:a16="http://schemas.microsoft.com/office/drawing/2014/main" id="{E6E6908E-BC08-F129-9D4E-824E2A331E30}"/>
              </a:ext>
            </a:extLst>
          </p:cNvPr>
          <p:cNvSpPr>
            <a:spLocks noGrp="1"/>
          </p:cNvSpPr>
          <p:nvPr>
            <p:ph idx="1"/>
          </p:nvPr>
        </p:nvSpPr>
        <p:spPr>
          <a:xfrm>
            <a:off x="818712" y="2222287"/>
            <a:ext cx="10554574" cy="4330913"/>
          </a:xfrm>
        </p:spPr>
        <p:txBody>
          <a:bodyPr/>
          <a:lstStyle/>
          <a:p>
            <a:pPr marL="12700" lvl="0" indent="0">
              <a:lnSpc>
                <a:spcPct val="108000"/>
              </a:lnSpc>
              <a:spcBef>
                <a:spcPts val="0"/>
              </a:spcBef>
              <a:spcAft>
                <a:spcPts val="0"/>
              </a:spcAft>
              <a:buClr>
                <a:schemeClr val="lt1"/>
              </a:buClr>
              <a:buSzPts val="1500"/>
              <a:buNone/>
            </a:pPr>
            <a:r>
              <a:rPr lang="en-US" dirty="0"/>
              <a:t>Formalize “correct” reasoning using a mathematical model (e.g. of deductive reasoning/logical</a:t>
            </a:r>
          </a:p>
          <a:p>
            <a:pPr marL="299085" lvl="0" indent="0">
              <a:lnSpc>
                <a:spcPct val="108000"/>
              </a:lnSpc>
              <a:spcBef>
                <a:spcPts val="0"/>
              </a:spcBef>
              <a:spcAft>
                <a:spcPts val="0"/>
              </a:spcAft>
              <a:buNone/>
            </a:pPr>
            <a:r>
              <a:rPr lang="en-US" dirty="0"/>
              <a:t>conclusion).</a:t>
            </a:r>
          </a:p>
          <a:p>
            <a:endParaRPr lang="en-US" dirty="0"/>
          </a:p>
          <a:p>
            <a:r>
              <a:rPr lang="en-US" dirty="0"/>
              <a:t>Socrates is a man </a:t>
            </a:r>
          </a:p>
          <a:p>
            <a:r>
              <a:rPr lang="en-US" dirty="0"/>
              <a:t>All men are mortal</a:t>
            </a:r>
          </a:p>
          <a:p>
            <a:r>
              <a:rPr lang="en-US" dirty="0"/>
              <a:t>Conclusion: Socrates is mortal</a:t>
            </a:r>
          </a:p>
          <a:p>
            <a:endParaRPr lang="en-US" dirty="0"/>
          </a:p>
          <a:p>
            <a:pPr marL="0" indent="0">
              <a:buNone/>
            </a:pPr>
            <a:r>
              <a:rPr lang="en-US" dirty="0"/>
              <a:t>Logic, however is based on certainty, which is not feasible in real world.</a:t>
            </a:r>
          </a:p>
          <a:p>
            <a:pPr marL="0" indent="0">
              <a:buNone/>
            </a:pPr>
            <a:r>
              <a:rPr lang="en-US" dirty="0"/>
              <a:t>The theory of probability helps fill this gap.</a:t>
            </a:r>
          </a:p>
        </p:txBody>
      </p:sp>
    </p:spTree>
    <p:extLst>
      <p:ext uri="{BB962C8B-B14F-4D97-AF65-F5344CB8AC3E}">
        <p14:creationId xmlns:p14="http://schemas.microsoft.com/office/powerpoint/2010/main" val="1869020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AC2B7-7C20-49D9-68B4-704D217705DC}"/>
              </a:ext>
            </a:extLst>
          </p:cNvPr>
          <p:cNvSpPr>
            <a:spLocks noGrp="1"/>
          </p:cNvSpPr>
          <p:nvPr>
            <p:ph type="title"/>
          </p:nvPr>
        </p:nvSpPr>
        <p:spPr>
          <a:xfrm>
            <a:off x="818712" y="698200"/>
            <a:ext cx="10571998" cy="970450"/>
          </a:xfrm>
        </p:spPr>
        <p:txBody>
          <a:bodyPr/>
          <a:lstStyle/>
          <a:p>
            <a:r>
              <a:rPr lang="en-US" dirty="0"/>
              <a:t>Acting rationally: </a:t>
            </a:r>
            <a:br>
              <a:rPr lang="en-US" dirty="0"/>
            </a:br>
            <a:r>
              <a:rPr lang="en-US" dirty="0"/>
              <a:t>The Rational Agent Approach</a:t>
            </a:r>
          </a:p>
        </p:txBody>
      </p:sp>
      <p:sp>
        <p:nvSpPr>
          <p:cNvPr id="3" name="Content Placeholder 2">
            <a:extLst>
              <a:ext uri="{FF2B5EF4-FFF2-40B4-BE49-F238E27FC236}">
                <a16:creationId xmlns:a16="http://schemas.microsoft.com/office/drawing/2014/main" id="{957F09CA-8964-171D-F080-7C2EA8F18C9F}"/>
              </a:ext>
            </a:extLst>
          </p:cNvPr>
          <p:cNvSpPr>
            <a:spLocks noGrp="1"/>
          </p:cNvSpPr>
          <p:nvPr>
            <p:ph idx="1"/>
          </p:nvPr>
        </p:nvSpPr>
        <p:spPr>
          <a:xfrm>
            <a:off x="818712" y="2222287"/>
            <a:ext cx="10554574" cy="4057215"/>
          </a:xfrm>
        </p:spPr>
        <p:txBody>
          <a:bodyPr/>
          <a:lstStyle/>
          <a:p>
            <a:r>
              <a:rPr lang="en-US" dirty="0"/>
              <a:t>An agent is just something that acts</a:t>
            </a:r>
          </a:p>
          <a:p>
            <a:r>
              <a:rPr lang="en-US" dirty="0"/>
              <a:t>Computer agents are expected to:</a:t>
            </a:r>
          </a:p>
          <a:p>
            <a:pPr lvl="1"/>
            <a:r>
              <a:rPr lang="en-US" dirty="0"/>
              <a:t>operate autonomously, </a:t>
            </a:r>
          </a:p>
          <a:p>
            <a:pPr lvl="1"/>
            <a:r>
              <a:rPr lang="en-US" dirty="0"/>
              <a:t>perceive their environment, </a:t>
            </a:r>
          </a:p>
          <a:p>
            <a:pPr lvl="1"/>
            <a:r>
              <a:rPr lang="en-US" dirty="0"/>
              <a:t>persist over a prolonged time period, </a:t>
            </a:r>
          </a:p>
          <a:p>
            <a:pPr lvl="1"/>
            <a:r>
              <a:rPr lang="en-US" dirty="0"/>
              <a:t>adapt to change, </a:t>
            </a:r>
          </a:p>
          <a:p>
            <a:pPr lvl="1"/>
            <a:r>
              <a:rPr lang="en-US" dirty="0"/>
              <a:t>and create and pursue goals</a:t>
            </a:r>
          </a:p>
          <a:p>
            <a:pPr marL="0" indent="0">
              <a:buNone/>
            </a:pPr>
            <a:endParaRPr lang="en-US" dirty="0"/>
          </a:p>
          <a:p>
            <a:pPr marL="0" indent="0">
              <a:buNone/>
            </a:pPr>
            <a:r>
              <a:rPr lang="en-US" dirty="0"/>
              <a:t>A </a:t>
            </a:r>
            <a:r>
              <a:rPr lang="en-US" b="1" dirty="0"/>
              <a:t>rational</a:t>
            </a:r>
            <a:r>
              <a:rPr lang="en-US" dirty="0"/>
              <a:t> </a:t>
            </a:r>
            <a:r>
              <a:rPr lang="en-US" b="1" dirty="0"/>
              <a:t>agent</a:t>
            </a:r>
            <a:r>
              <a:rPr lang="en-US" dirty="0"/>
              <a:t> is one that acts so as to achieve the best outcome or, when there is uncertainty, the best expected outcome.</a:t>
            </a:r>
          </a:p>
          <a:p>
            <a:pPr marL="0" indent="0">
              <a:buNone/>
            </a:pPr>
            <a:endParaRPr lang="en-US" dirty="0"/>
          </a:p>
        </p:txBody>
      </p:sp>
    </p:spTree>
    <p:extLst>
      <p:ext uri="{BB962C8B-B14F-4D97-AF65-F5344CB8AC3E}">
        <p14:creationId xmlns:p14="http://schemas.microsoft.com/office/powerpoint/2010/main" val="378460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FD606-2DD7-5889-0EE3-A14FB39B337F}"/>
              </a:ext>
            </a:extLst>
          </p:cNvPr>
          <p:cNvSpPr>
            <a:spLocks noGrp="1"/>
          </p:cNvSpPr>
          <p:nvPr>
            <p:ph type="title"/>
          </p:nvPr>
        </p:nvSpPr>
        <p:spPr/>
        <p:txBody>
          <a:bodyPr/>
          <a:lstStyle/>
          <a:p>
            <a:r>
              <a:rPr lang="en-US" dirty="0"/>
              <a:t>The History of AI</a:t>
            </a:r>
          </a:p>
        </p:txBody>
      </p:sp>
      <p:sp>
        <p:nvSpPr>
          <p:cNvPr id="3" name="Content Placeholder 2">
            <a:extLst>
              <a:ext uri="{FF2B5EF4-FFF2-40B4-BE49-F238E27FC236}">
                <a16:creationId xmlns:a16="http://schemas.microsoft.com/office/drawing/2014/main" id="{8B2FDC22-93BD-0CFD-225D-61D4008C902D}"/>
              </a:ext>
            </a:extLst>
          </p:cNvPr>
          <p:cNvSpPr>
            <a:spLocks noGrp="1"/>
          </p:cNvSpPr>
          <p:nvPr>
            <p:ph idx="1"/>
          </p:nvPr>
        </p:nvSpPr>
        <p:spPr>
          <a:xfrm>
            <a:off x="0" y="2222286"/>
            <a:ext cx="11932024" cy="4635713"/>
          </a:xfrm>
        </p:spPr>
        <p:txBody>
          <a:bodyPr numCol="2">
            <a:normAutofit/>
          </a:bodyPr>
          <a:lstStyle/>
          <a:p>
            <a:r>
              <a:rPr lang="en-US" dirty="0"/>
              <a:t>1950: Turing</a:t>
            </a:r>
          </a:p>
          <a:p>
            <a:pPr lvl="1"/>
            <a:r>
              <a:rPr lang="en-US" dirty="0"/>
              <a:t>Turing's "Computing Machinery and Intelligence“</a:t>
            </a:r>
          </a:p>
          <a:p>
            <a:r>
              <a:rPr lang="en-US" dirty="0"/>
              <a:t>1956: birth of AI</a:t>
            </a:r>
          </a:p>
          <a:p>
            <a:pPr lvl="1"/>
            <a:r>
              <a:rPr lang="en-US" dirty="0"/>
              <a:t>Dartmouth meeting: "Artificial Intelligence“ name adopted</a:t>
            </a:r>
          </a:p>
          <a:p>
            <a:r>
              <a:rPr lang="en-US" dirty="0"/>
              <a:t>1950s: initial promise</a:t>
            </a:r>
          </a:p>
          <a:p>
            <a:pPr lvl="1"/>
            <a:r>
              <a:rPr lang="en-US" dirty="0"/>
              <a:t>Early AI programs, including</a:t>
            </a:r>
          </a:p>
          <a:p>
            <a:pPr lvl="1"/>
            <a:r>
              <a:rPr lang="en-US" dirty="0"/>
              <a:t>Samuel's checkers program</a:t>
            </a:r>
          </a:p>
          <a:p>
            <a:pPr lvl="1"/>
            <a:r>
              <a:rPr lang="en-US" dirty="0"/>
              <a:t>Newell &amp; Simon's Logic Theory – GPS – General Problem Solver</a:t>
            </a:r>
          </a:p>
          <a:p>
            <a:endParaRPr lang="en-US" dirty="0"/>
          </a:p>
          <a:p>
            <a:endParaRPr lang="en-US" dirty="0"/>
          </a:p>
          <a:p>
            <a:r>
              <a:rPr lang="en-US" dirty="0"/>
              <a:t>1986: Rise of machine learning</a:t>
            </a:r>
          </a:p>
          <a:p>
            <a:pPr lvl="1"/>
            <a:r>
              <a:rPr lang="en-US" dirty="0"/>
              <a:t>Neural networks return to popularity</a:t>
            </a:r>
          </a:p>
          <a:p>
            <a:pPr lvl="1"/>
            <a:r>
              <a:rPr lang="en-US" dirty="0"/>
              <a:t>Major advances in machine learning algorithms and applications</a:t>
            </a:r>
          </a:p>
          <a:p>
            <a:r>
              <a:rPr lang="en-US" dirty="0"/>
              <a:t>1990: Role of uncertainty</a:t>
            </a:r>
          </a:p>
          <a:p>
            <a:pPr lvl="1"/>
            <a:r>
              <a:rPr lang="en-US" dirty="0"/>
              <a:t>Bayesian networks as a knowledge representation framework</a:t>
            </a:r>
          </a:p>
          <a:p>
            <a:r>
              <a:rPr lang="en-US" dirty="0"/>
              <a:t>1995: AI as Science</a:t>
            </a:r>
          </a:p>
          <a:p>
            <a:pPr lvl="1"/>
            <a:r>
              <a:rPr lang="en-US" dirty="0"/>
              <a:t>Integration of learning, reasoning, knowledge representation</a:t>
            </a:r>
          </a:p>
          <a:p>
            <a:pPr lvl="1"/>
            <a:r>
              <a:rPr lang="en-US" dirty="0"/>
              <a:t>AI methods used in vision, language, data mining, </a:t>
            </a:r>
            <a:r>
              <a:rPr lang="en-US" dirty="0" err="1"/>
              <a:t>etc</a:t>
            </a:r>
            <a:endParaRPr lang="en-US" dirty="0"/>
          </a:p>
        </p:txBody>
      </p:sp>
    </p:spTree>
    <p:extLst>
      <p:ext uri="{BB962C8B-B14F-4D97-AF65-F5344CB8AC3E}">
        <p14:creationId xmlns:p14="http://schemas.microsoft.com/office/powerpoint/2010/main" val="2465192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B4FA-05D5-C437-342D-3AF6DFD46712}"/>
              </a:ext>
            </a:extLst>
          </p:cNvPr>
          <p:cNvSpPr>
            <a:spLocks noGrp="1"/>
          </p:cNvSpPr>
          <p:nvPr>
            <p:ph type="title"/>
          </p:nvPr>
        </p:nvSpPr>
        <p:spPr/>
        <p:txBody>
          <a:bodyPr/>
          <a:lstStyle/>
          <a:p>
            <a:r>
              <a:rPr lang="en-US" dirty="0"/>
              <a:t>The Very First Chatbot</a:t>
            </a:r>
          </a:p>
        </p:txBody>
      </p:sp>
      <p:sp>
        <p:nvSpPr>
          <p:cNvPr id="3" name="Content Placeholder 2">
            <a:extLst>
              <a:ext uri="{FF2B5EF4-FFF2-40B4-BE49-F238E27FC236}">
                <a16:creationId xmlns:a16="http://schemas.microsoft.com/office/drawing/2014/main" id="{CD09C2F7-F2A7-0848-9BF2-369414A2B05E}"/>
              </a:ext>
            </a:extLst>
          </p:cNvPr>
          <p:cNvSpPr>
            <a:spLocks noGrp="1"/>
          </p:cNvSpPr>
          <p:nvPr>
            <p:ph idx="1"/>
          </p:nvPr>
        </p:nvSpPr>
        <p:spPr/>
        <p:txBody>
          <a:bodyPr/>
          <a:lstStyle/>
          <a:p>
            <a:r>
              <a:rPr lang="en-US" dirty="0"/>
              <a:t>The first chatbot ever was developed by MIT professor Joseph Weizenbaum in the 1960s.</a:t>
            </a:r>
          </a:p>
          <a:p>
            <a:r>
              <a:rPr lang="en-US" dirty="0">
                <a:hlinkClick r:id="rId2"/>
              </a:rPr>
              <a:t>https://www.masswerk.at/elizabot/</a:t>
            </a:r>
            <a:endParaRPr lang="en-US" dirty="0"/>
          </a:p>
        </p:txBody>
      </p:sp>
    </p:spTree>
    <p:extLst>
      <p:ext uri="{BB962C8B-B14F-4D97-AF65-F5344CB8AC3E}">
        <p14:creationId xmlns:p14="http://schemas.microsoft.com/office/powerpoint/2010/main" val="3662938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8DDF-C272-4000-7521-E7F37AC7A7AA}"/>
              </a:ext>
            </a:extLst>
          </p:cNvPr>
          <p:cNvSpPr>
            <a:spLocks noGrp="1"/>
          </p:cNvSpPr>
          <p:nvPr>
            <p:ph type="title"/>
          </p:nvPr>
        </p:nvSpPr>
        <p:spPr/>
        <p:txBody>
          <a:bodyPr/>
          <a:lstStyle/>
          <a:p>
            <a:r>
              <a:rPr lang="en-US" dirty="0"/>
              <a:t>DeepSeek – Oh, wrong one! Deep Blue!</a:t>
            </a:r>
          </a:p>
        </p:txBody>
      </p:sp>
      <p:sp>
        <p:nvSpPr>
          <p:cNvPr id="3" name="Content Placeholder 2">
            <a:extLst>
              <a:ext uri="{FF2B5EF4-FFF2-40B4-BE49-F238E27FC236}">
                <a16:creationId xmlns:a16="http://schemas.microsoft.com/office/drawing/2014/main" id="{779136BC-9D2B-DCB8-779F-AD8DB3D9A965}"/>
              </a:ext>
            </a:extLst>
          </p:cNvPr>
          <p:cNvSpPr>
            <a:spLocks noGrp="1"/>
          </p:cNvSpPr>
          <p:nvPr>
            <p:ph idx="1"/>
          </p:nvPr>
        </p:nvSpPr>
        <p:spPr/>
        <p:txBody>
          <a:bodyPr/>
          <a:lstStyle/>
          <a:p>
            <a:r>
              <a:rPr lang="en-US" dirty="0"/>
              <a:t>A chess playing supercomputer(of its time) </a:t>
            </a:r>
          </a:p>
          <a:p>
            <a:r>
              <a:rPr lang="en-US" dirty="0"/>
              <a:t>It first played world champion Garry Kasparov in a six-game match in 1996, where it won one, drew two, and lost three games.</a:t>
            </a:r>
          </a:p>
          <a:p>
            <a:r>
              <a:rPr lang="en-US" dirty="0"/>
              <a:t>In 1997, it defeated Kasparov by winning two games and drawing three, in a 6-game rematch.</a:t>
            </a:r>
          </a:p>
        </p:txBody>
      </p:sp>
    </p:spTree>
    <p:extLst>
      <p:ext uri="{BB962C8B-B14F-4D97-AF65-F5344CB8AC3E}">
        <p14:creationId xmlns:p14="http://schemas.microsoft.com/office/powerpoint/2010/main" val="3448362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A4FE9-AE9B-24EA-898E-6D53A75E932B}"/>
              </a:ext>
            </a:extLst>
          </p:cNvPr>
          <p:cNvSpPr>
            <a:spLocks noGrp="1"/>
          </p:cNvSpPr>
          <p:nvPr>
            <p:ph type="title"/>
          </p:nvPr>
        </p:nvSpPr>
        <p:spPr/>
        <p:txBody>
          <a:bodyPr/>
          <a:lstStyle/>
          <a:p>
            <a:r>
              <a:rPr lang="en-US" dirty="0"/>
              <a:t>Let’s differentiate between AI and Others</a:t>
            </a:r>
          </a:p>
        </p:txBody>
      </p:sp>
      <p:sp>
        <p:nvSpPr>
          <p:cNvPr id="3" name="Content Placeholder 2">
            <a:extLst>
              <a:ext uri="{FF2B5EF4-FFF2-40B4-BE49-F238E27FC236}">
                <a16:creationId xmlns:a16="http://schemas.microsoft.com/office/drawing/2014/main" id="{26FBB147-8D99-3CEC-23FB-C3BAD28BC1FB}"/>
              </a:ext>
            </a:extLst>
          </p:cNvPr>
          <p:cNvSpPr>
            <a:spLocks noGrp="1"/>
          </p:cNvSpPr>
          <p:nvPr>
            <p:ph idx="1"/>
          </p:nvPr>
        </p:nvSpPr>
        <p:spPr>
          <a:xfrm>
            <a:off x="818712" y="2222287"/>
            <a:ext cx="10554574" cy="4019893"/>
          </a:xfrm>
        </p:spPr>
        <p:txBody>
          <a:bodyPr>
            <a:normAutofit/>
          </a:bodyPr>
          <a:lstStyle/>
          <a:p>
            <a:r>
              <a:rPr lang="en-US" b="1" dirty="0"/>
              <a:t>Artificial</a:t>
            </a:r>
            <a:r>
              <a:rPr lang="en-US" dirty="0"/>
              <a:t> </a:t>
            </a:r>
            <a:r>
              <a:rPr lang="en-US" b="1" dirty="0"/>
              <a:t>Intelligence</a:t>
            </a:r>
            <a:r>
              <a:rPr lang="en-US" dirty="0"/>
              <a:t> (</a:t>
            </a:r>
            <a:r>
              <a:rPr lang="en-US" b="1" dirty="0"/>
              <a:t>AI</a:t>
            </a:r>
            <a:r>
              <a:rPr lang="en-US" dirty="0"/>
              <a:t>) – The umbrella term for techniques that allow machines to be smart</a:t>
            </a:r>
          </a:p>
          <a:p>
            <a:r>
              <a:rPr lang="en-US" b="1" dirty="0"/>
              <a:t>Machine</a:t>
            </a:r>
            <a:r>
              <a:rPr lang="en-US" dirty="0"/>
              <a:t> </a:t>
            </a:r>
            <a:r>
              <a:rPr lang="en-US" b="1" dirty="0"/>
              <a:t>Learning</a:t>
            </a:r>
            <a:r>
              <a:rPr lang="en-US" dirty="0"/>
              <a:t> (</a:t>
            </a:r>
            <a:r>
              <a:rPr lang="en-US" b="1" dirty="0"/>
              <a:t>ML</a:t>
            </a:r>
            <a:r>
              <a:rPr lang="en-US" dirty="0"/>
              <a:t>) – Allows computers to learn from examples without being explicitly programmed. Uses different tools and algorithms to learn from data.</a:t>
            </a:r>
          </a:p>
          <a:p>
            <a:r>
              <a:rPr lang="en-US" b="1" dirty="0"/>
              <a:t>Artificial</a:t>
            </a:r>
            <a:r>
              <a:rPr lang="en-US" dirty="0"/>
              <a:t> </a:t>
            </a:r>
            <a:r>
              <a:rPr lang="en-US" b="1" dirty="0"/>
              <a:t>Neural</a:t>
            </a:r>
            <a:r>
              <a:rPr lang="en-US" dirty="0"/>
              <a:t> </a:t>
            </a:r>
            <a:r>
              <a:rPr lang="en-US" b="1" dirty="0"/>
              <a:t>Networks</a:t>
            </a:r>
            <a:r>
              <a:rPr lang="en-US" dirty="0"/>
              <a:t> – Computational Models with interconnected artificial neurons.</a:t>
            </a:r>
          </a:p>
          <a:p>
            <a:r>
              <a:rPr lang="en-US" b="1" dirty="0"/>
              <a:t>Deep</a:t>
            </a:r>
            <a:r>
              <a:rPr lang="en-US" dirty="0"/>
              <a:t> </a:t>
            </a:r>
            <a:r>
              <a:rPr lang="en-US" b="1" dirty="0"/>
              <a:t>Learning</a:t>
            </a:r>
            <a:r>
              <a:rPr lang="en-US" dirty="0"/>
              <a:t> (</a:t>
            </a:r>
            <a:r>
              <a:rPr lang="en-US" b="1" dirty="0"/>
              <a:t>DL</a:t>
            </a:r>
            <a:r>
              <a:rPr lang="en-US" dirty="0"/>
              <a:t>) – Uses algorithms which are inspired by how human brains work. Artificial Neural Networks with more layers, or human brain inspired algorithms.</a:t>
            </a:r>
          </a:p>
          <a:p>
            <a:r>
              <a:rPr lang="en-US" b="1" dirty="0"/>
              <a:t>Generative</a:t>
            </a:r>
            <a:r>
              <a:rPr lang="en-US" dirty="0"/>
              <a:t> </a:t>
            </a:r>
            <a:r>
              <a:rPr lang="en-US" b="1" dirty="0"/>
              <a:t>AI</a:t>
            </a:r>
            <a:r>
              <a:rPr lang="en-US" dirty="0"/>
              <a:t> – A branch of Deep Learning focused on “creating new” content.</a:t>
            </a:r>
          </a:p>
          <a:p>
            <a:r>
              <a:rPr lang="en-US" b="1" dirty="0"/>
              <a:t>Agentic</a:t>
            </a:r>
            <a:r>
              <a:rPr lang="en-US" dirty="0"/>
              <a:t> </a:t>
            </a:r>
            <a:r>
              <a:rPr lang="en-US" b="1" dirty="0"/>
              <a:t>AI</a:t>
            </a:r>
            <a:r>
              <a:rPr lang="en-US" dirty="0"/>
              <a:t> – Autonomous AI systems that can independently set goals, plan, reason, and execute complex, multi-step tasks with minimal human intervention, acting proactively rather than just reactively like traditional AI</a:t>
            </a:r>
          </a:p>
        </p:txBody>
      </p:sp>
    </p:spTree>
    <p:extLst>
      <p:ext uri="{BB962C8B-B14F-4D97-AF65-F5344CB8AC3E}">
        <p14:creationId xmlns:p14="http://schemas.microsoft.com/office/powerpoint/2010/main" val="340957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0AA9-A400-72B6-1AEB-00EAC1C36AF8}"/>
              </a:ext>
            </a:extLst>
          </p:cNvPr>
          <p:cNvSpPr>
            <a:spLocks noGrp="1"/>
          </p:cNvSpPr>
          <p:nvPr>
            <p:ph type="title"/>
          </p:nvPr>
        </p:nvSpPr>
        <p:spPr/>
        <p:txBody>
          <a:bodyPr/>
          <a:lstStyle/>
          <a:p>
            <a:r>
              <a:rPr lang="en-US" dirty="0"/>
              <a:t>Machine Learning Flow</a:t>
            </a:r>
          </a:p>
        </p:txBody>
      </p:sp>
      <p:graphicFrame>
        <p:nvGraphicFramePr>
          <p:cNvPr id="4" name="Content Placeholder 3">
            <a:extLst>
              <a:ext uri="{FF2B5EF4-FFF2-40B4-BE49-F238E27FC236}">
                <a16:creationId xmlns:a16="http://schemas.microsoft.com/office/drawing/2014/main" id="{F0D3A544-B0E4-CF64-3552-63DA373E458D}"/>
              </a:ext>
            </a:extLst>
          </p:cNvPr>
          <p:cNvGraphicFramePr>
            <a:graphicFrameLocks noGrp="1"/>
          </p:cNvGraphicFramePr>
          <p:nvPr>
            <p:ph idx="1"/>
            <p:extLst>
              <p:ext uri="{D42A27DB-BD31-4B8C-83A1-F6EECF244321}">
                <p14:modId xmlns:p14="http://schemas.microsoft.com/office/powerpoint/2010/main" val="2442329240"/>
              </p:ext>
            </p:extLst>
          </p:nvPr>
        </p:nvGraphicFramePr>
        <p:xfrm>
          <a:off x="819150" y="1945342"/>
          <a:ext cx="10553700" cy="4876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6041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BB391-6341-0B16-A724-1600DB58E3C3}"/>
              </a:ext>
            </a:extLst>
          </p:cNvPr>
          <p:cNvSpPr>
            <a:spLocks noGrp="1"/>
          </p:cNvSpPr>
          <p:nvPr>
            <p:ph type="title"/>
          </p:nvPr>
        </p:nvSpPr>
        <p:spPr/>
        <p:txBody>
          <a:bodyPr/>
          <a:lstStyle/>
          <a:p>
            <a:r>
              <a:rPr lang="en-US" dirty="0"/>
              <a:t>Neural Networks</a:t>
            </a:r>
          </a:p>
        </p:txBody>
      </p:sp>
      <p:pic>
        <p:nvPicPr>
          <p:cNvPr id="5122" name="Picture 2" descr="Neural Network Example - What Is A Neural Network - Edureka">
            <a:extLst>
              <a:ext uri="{FF2B5EF4-FFF2-40B4-BE49-F238E27FC236}">
                <a16:creationId xmlns:a16="http://schemas.microsoft.com/office/drawing/2014/main" id="{3917EA00-7C7D-5E9D-58B8-E18E0DA0C47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69583" y="1896636"/>
            <a:ext cx="8484651" cy="49613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7F86A32-6C86-2517-6B22-8E093F7746D1}"/>
              </a:ext>
            </a:extLst>
          </p:cNvPr>
          <p:cNvSpPr txBox="1"/>
          <p:nvPr/>
        </p:nvSpPr>
        <p:spPr>
          <a:xfrm>
            <a:off x="2133599" y="6463553"/>
            <a:ext cx="4984377" cy="369332"/>
          </a:xfrm>
          <a:prstGeom prst="rect">
            <a:avLst/>
          </a:prstGeom>
          <a:noFill/>
        </p:spPr>
        <p:txBody>
          <a:bodyPr wrap="square" rtlCol="0">
            <a:spAutoFit/>
          </a:bodyPr>
          <a:lstStyle/>
          <a:p>
            <a:r>
              <a:rPr lang="en-US" sz="1100" b="1" dirty="0"/>
              <a:t>Image Credits:</a:t>
            </a:r>
            <a:r>
              <a:rPr lang="en-US" b="1" dirty="0"/>
              <a:t> </a:t>
            </a:r>
            <a:r>
              <a:rPr lang="en-US" sz="1050" b="1" dirty="0">
                <a:hlinkClick r:id="rId3"/>
              </a:rPr>
              <a:t>https://www.edureka.co/blog/what-is-a-neural-network/</a:t>
            </a:r>
            <a:endParaRPr lang="en-US" b="1" dirty="0"/>
          </a:p>
        </p:txBody>
      </p:sp>
    </p:spTree>
    <p:extLst>
      <p:ext uri="{BB962C8B-B14F-4D97-AF65-F5344CB8AC3E}">
        <p14:creationId xmlns:p14="http://schemas.microsoft.com/office/powerpoint/2010/main" val="10561049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13953-CBFD-E89A-DFC5-DF3BBD9C058D}"/>
              </a:ext>
            </a:extLst>
          </p:cNvPr>
          <p:cNvSpPr>
            <a:spLocks noGrp="1"/>
          </p:cNvSpPr>
          <p:nvPr>
            <p:ph type="title"/>
          </p:nvPr>
        </p:nvSpPr>
        <p:spPr/>
        <p:txBody>
          <a:bodyPr/>
          <a:lstStyle/>
          <a:p>
            <a:r>
              <a:rPr lang="en-US" dirty="0"/>
              <a:t>Deep Learning</a:t>
            </a:r>
          </a:p>
        </p:txBody>
      </p:sp>
      <p:pic>
        <p:nvPicPr>
          <p:cNvPr id="6150" name="Picture 6" descr="Deep Learning: How do deep neural networks work? » Lamarr-Blog">
            <a:extLst>
              <a:ext uri="{FF2B5EF4-FFF2-40B4-BE49-F238E27FC236}">
                <a16:creationId xmlns:a16="http://schemas.microsoft.com/office/drawing/2014/main" id="{95DB1DF1-78FB-3A01-C534-4089AEE652F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7682" y="2011093"/>
            <a:ext cx="9696636" cy="484690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F09E148-DDBE-AD50-E972-89E192298F98}"/>
              </a:ext>
            </a:extLst>
          </p:cNvPr>
          <p:cNvSpPr txBox="1"/>
          <p:nvPr/>
        </p:nvSpPr>
        <p:spPr>
          <a:xfrm rot="16200000">
            <a:off x="-2359432" y="4140877"/>
            <a:ext cx="5172635" cy="261610"/>
          </a:xfrm>
          <a:prstGeom prst="rect">
            <a:avLst/>
          </a:prstGeom>
          <a:noFill/>
        </p:spPr>
        <p:txBody>
          <a:bodyPr wrap="square" rtlCol="0">
            <a:spAutoFit/>
          </a:bodyPr>
          <a:lstStyle/>
          <a:p>
            <a:r>
              <a:rPr lang="en-US" sz="1100" dirty="0"/>
              <a:t>Image Credits: </a:t>
            </a:r>
            <a:r>
              <a:rPr lang="en-US" sz="1100" dirty="0">
                <a:hlinkClick r:id="rId3"/>
              </a:rPr>
              <a:t>https://lamarr-institute.org/blog/deep-neural-networks/</a:t>
            </a:r>
            <a:endParaRPr lang="en-US" sz="1100" dirty="0"/>
          </a:p>
        </p:txBody>
      </p:sp>
    </p:spTree>
    <p:extLst>
      <p:ext uri="{BB962C8B-B14F-4D97-AF65-F5344CB8AC3E}">
        <p14:creationId xmlns:p14="http://schemas.microsoft.com/office/powerpoint/2010/main" val="158057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8F5FF-478E-26EC-9863-43BD3E33DC4E}"/>
              </a:ext>
            </a:extLst>
          </p:cNvPr>
          <p:cNvSpPr>
            <a:spLocks noGrp="1"/>
          </p:cNvSpPr>
          <p:nvPr>
            <p:ph type="title"/>
          </p:nvPr>
        </p:nvSpPr>
        <p:spPr/>
        <p:txBody>
          <a:bodyPr/>
          <a:lstStyle/>
          <a:p>
            <a:r>
              <a:rPr lang="en-US" dirty="0"/>
              <a:t>Advances in AI Over Time…</a:t>
            </a:r>
          </a:p>
        </p:txBody>
      </p:sp>
      <p:sp>
        <p:nvSpPr>
          <p:cNvPr id="3" name="Content Placeholder 2">
            <a:extLst>
              <a:ext uri="{FF2B5EF4-FFF2-40B4-BE49-F238E27FC236}">
                <a16:creationId xmlns:a16="http://schemas.microsoft.com/office/drawing/2014/main" id="{D636352E-0D5D-AAAB-6B63-52BCAC994892}"/>
              </a:ext>
            </a:extLst>
          </p:cNvPr>
          <p:cNvSpPr>
            <a:spLocks noGrp="1"/>
          </p:cNvSpPr>
          <p:nvPr>
            <p:ph idx="1"/>
          </p:nvPr>
        </p:nvSpPr>
        <p:spPr/>
        <p:txBody>
          <a:bodyPr/>
          <a:lstStyle/>
          <a:p>
            <a:pPr marL="0" indent="0">
              <a:buNone/>
            </a:pPr>
            <a:endParaRPr lang="en-US" dirty="0"/>
          </a:p>
          <a:p>
            <a:r>
              <a:rPr lang="en-US" b="1" dirty="0"/>
              <a:t>Autonomous planning and scheduling: </a:t>
            </a:r>
            <a:r>
              <a:rPr lang="en-US" dirty="0"/>
              <a:t>NASA’s Remote Agent program became the first on-board autonomous planning program to control the scheduling of operations for a spacecraft.</a:t>
            </a:r>
          </a:p>
          <a:p>
            <a:r>
              <a:rPr lang="en-US" b="1" dirty="0"/>
              <a:t>Machine translation: </a:t>
            </a:r>
            <a:r>
              <a:rPr lang="en-US" dirty="0"/>
              <a:t>Online machine translation systems now enable the reading of documents in over 100 languages, including the native languages of over 99% of humans, and render hundreds of billions of words per day for hundreds of millions of users.</a:t>
            </a:r>
          </a:p>
          <a:p>
            <a:r>
              <a:rPr lang="en-US" b="1" dirty="0"/>
              <a:t>Speech recognition: </a:t>
            </a:r>
            <a:r>
              <a:rPr lang="en-US" dirty="0"/>
              <a:t>In 2017, Microsoft showed that its Conversational Speech Recognition System had reached a word error rate of 5.1%</a:t>
            </a:r>
          </a:p>
          <a:p>
            <a:endParaRPr lang="en-US" dirty="0"/>
          </a:p>
        </p:txBody>
      </p:sp>
    </p:spTree>
    <p:extLst>
      <p:ext uri="{BB962C8B-B14F-4D97-AF65-F5344CB8AC3E}">
        <p14:creationId xmlns:p14="http://schemas.microsoft.com/office/powerpoint/2010/main" val="3853925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F295E-45F5-5DFF-C730-F67244DBF6CF}"/>
              </a:ext>
            </a:extLst>
          </p:cNvPr>
          <p:cNvSpPr>
            <a:spLocks noGrp="1"/>
          </p:cNvSpPr>
          <p:nvPr>
            <p:ph type="title"/>
          </p:nvPr>
        </p:nvSpPr>
        <p:spPr/>
        <p:txBody>
          <a:bodyPr/>
          <a:lstStyle/>
          <a:p>
            <a:r>
              <a:rPr lang="en-US" dirty="0"/>
              <a:t>Advances in AI Over Time…</a:t>
            </a:r>
          </a:p>
        </p:txBody>
      </p:sp>
      <p:sp>
        <p:nvSpPr>
          <p:cNvPr id="3" name="Content Placeholder 2">
            <a:extLst>
              <a:ext uri="{FF2B5EF4-FFF2-40B4-BE49-F238E27FC236}">
                <a16:creationId xmlns:a16="http://schemas.microsoft.com/office/drawing/2014/main" id="{6E1D1BD9-ACAB-0ADA-13A8-D0C509C3D196}"/>
              </a:ext>
            </a:extLst>
          </p:cNvPr>
          <p:cNvSpPr>
            <a:spLocks noGrp="1"/>
          </p:cNvSpPr>
          <p:nvPr>
            <p:ph idx="1"/>
          </p:nvPr>
        </p:nvSpPr>
        <p:spPr/>
        <p:txBody>
          <a:bodyPr/>
          <a:lstStyle/>
          <a:p>
            <a:r>
              <a:rPr lang="en-US" b="1" dirty="0"/>
              <a:t>Recommendations: </a:t>
            </a:r>
            <a:r>
              <a:rPr lang="en-US" dirty="0"/>
              <a:t>Companies such as Amazon, Facebook, Netflix, Spotify, YouTube, Walmart, and others use machine learning to recommend what you might like based on your past experiences and those of others like you</a:t>
            </a:r>
          </a:p>
          <a:p>
            <a:r>
              <a:rPr lang="en-US" b="1" dirty="0"/>
              <a:t>Medicine: </a:t>
            </a:r>
            <a:r>
              <a:rPr lang="en-US" dirty="0"/>
              <a:t>AI algorithms now equal or exceed expert doctors at diagnosing many conditions, particularly when the diagnosis is based on images.</a:t>
            </a:r>
          </a:p>
          <a:p>
            <a:r>
              <a:rPr lang="en-US" b="1" dirty="0"/>
              <a:t>Climate science: </a:t>
            </a:r>
            <a:r>
              <a:rPr lang="en-US" dirty="0"/>
              <a:t>A team of scientists won the 2018 Gordon Bell Prize for a deep learning model that discovers detailed information about extreme weather events that were previously buried in climate data. </a:t>
            </a:r>
          </a:p>
        </p:txBody>
      </p:sp>
    </p:spTree>
    <p:extLst>
      <p:ext uri="{BB962C8B-B14F-4D97-AF65-F5344CB8AC3E}">
        <p14:creationId xmlns:p14="http://schemas.microsoft.com/office/powerpoint/2010/main" val="6491843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F26B-6CEA-A9CB-1D73-51D6352F0F0E}"/>
              </a:ext>
            </a:extLst>
          </p:cNvPr>
          <p:cNvSpPr>
            <a:spLocks noGrp="1"/>
          </p:cNvSpPr>
          <p:nvPr>
            <p:ph type="title"/>
          </p:nvPr>
        </p:nvSpPr>
        <p:spPr/>
        <p:txBody>
          <a:bodyPr/>
          <a:lstStyle/>
          <a:p>
            <a:r>
              <a:rPr lang="en-US" dirty="0"/>
              <a:t>Advances in AI Over Time…</a:t>
            </a:r>
          </a:p>
        </p:txBody>
      </p:sp>
      <p:sp>
        <p:nvSpPr>
          <p:cNvPr id="3" name="Content Placeholder 2">
            <a:extLst>
              <a:ext uri="{FF2B5EF4-FFF2-40B4-BE49-F238E27FC236}">
                <a16:creationId xmlns:a16="http://schemas.microsoft.com/office/drawing/2014/main" id="{38CD2CB6-72D0-DB50-03D7-D0E48A1B3FC7}"/>
              </a:ext>
            </a:extLst>
          </p:cNvPr>
          <p:cNvSpPr>
            <a:spLocks noGrp="1"/>
          </p:cNvSpPr>
          <p:nvPr>
            <p:ph idx="1"/>
          </p:nvPr>
        </p:nvSpPr>
        <p:spPr/>
        <p:txBody>
          <a:bodyPr/>
          <a:lstStyle/>
          <a:p>
            <a:r>
              <a:rPr lang="en-US" dirty="0"/>
              <a:t>And of course, not present in the book, but now we have generative AI…</a:t>
            </a:r>
          </a:p>
        </p:txBody>
      </p:sp>
    </p:spTree>
    <p:extLst>
      <p:ext uri="{BB962C8B-B14F-4D97-AF65-F5344CB8AC3E}">
        <p14:creationId xmlns:p14="http://schemas.microsoft.com/office/powerpoint/2010/main" val="3944794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AEBCD-4492-403F-77EF-09C06A7706CD}"/>
              </a:ext>
            </a:extLst>
          </p:cNvPr>
          <p:cNvSpPr>
            <a:spLocks noGrp="1"/>
          </p:cNvSpPr>
          <p:nvPr>
            <p:ph type="title"/>
          </p:nvPr>
        </p:nvSpPr>
        <p:spPr/>
        <p:txBody>
          <a:bodyPr/>
          <a:lstStyle/>
          <a:p>
            <a:r>
              <a:rPr lang="en-US" dirty="0"/>
              <a:t>Risks of AI – Let’s Discuss</a:t>
            </a:r>
          </a:p>
        </p:txBody>
      </p:sp>
      <p:sp>
        <p:nvSpPr>
          <p:cNvPr id="3" name="Content Placeholder 2">
            <a:extLst>
              <a:ext uri="{FF2B5EF4-FFF2-40B4-BE49-F238E27FC236}">
                <a16:creationId xmlns:a16="http://schemas.microsoft.com/office/drawing/2014/main" id="{C517D345-5CDE-3761-FBF3-843AC98FE2C3}"/>
              </a:ext>
            </a:extLst>
          </p:cNvPr>
          <p:cNvSpPr>
            <a:spLocks noGrp="1"/>
          </p:cNvSpPr>
          <p:nvPr>
            <p:ph idx="1"/>
          </p:nvPr>
        </p:nvSpPr>
        <p:spPr/>
        <p:txBody>
          <a:bodyPr/>
          <a:lstStyle/>
          <a:p>
            <a:r>
              <a:rPr lang="en-US" b="1" dirty="0"/>
              <a:t>Surveillance and persuasion </a:t>
            </a:r>
            <a:r>
              <a:rPr lang="en-US" dirty="0"/>
              <a:t>– collecting your data, controlling data flow to modify human reaction or behavior</a:t>
            </a:r>
          </a:p>
          <a:p>
            <a:r>
              <a:rPr lang="en-US" b="1" dirty="0"/>
              <a:t>Biased decision making </a:t>
            </a:r>
            <a:r>
              <a:rPr lang="en-US" dirty="0"/>
              <a:t>– AI sorting out resumes or applications</a:t>
            </a:r>
          </a:p>
          <a:p>
            <a:r>
              <a:rPr lang="en-US" b="1" dirty="0"/>
              <a:t>Impact on employment </a:t>
            </a:r>
            <a:r>
              <a:rPr lang="en-US" dirty="0"/>
              <a:t>– good or bad?</a:t>
            </a:r>
          </a:p>
          <a:p>
            <a:r>
              <a:rPr lang="en-US" b="1" dirty="0"/>
              <a:t>Safety-critical applications </a:t>
            </a:r>
            <a:r>
              <a:rPr lang="en-US" dirty="0"/>
              <a:t>– in self driving cars, or in the medical field</a:t>
            </a:r>
          </a:p>
          <a:p>
            <a:r>
              <a:rPr lang="en-US" b="1" dirty="0"/>
              <a:t>Cybersecurity </a:t>
            </a:r>
            <a:r>
              <a:rPr lang="en-US" dirty="0"/>
              <a:t>– blackmail and phishing attacks</a:t>
            </a:r>
          </a:p>
        </p:txBody>
      </p:sp>
    </p:spTree>
    <p:extLst>
      <p:ext uri="{BB962C8B-B14F-4D97-AF65-F5344CB8AC3E}">
        <p14:creationId xmlns:p14="http://schemas.microsoft.com/office/powerpoint/2010/main" val="1412598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D9CDA-267E-E74F-51D4-6E4DBBC09625}"/>
              </a:ext>
            </a:extLst>
          </p:cNvPr>
          <p:cNvSpPr>
            <a:spLocks noGrp="1"/>
          </p:cNvSpPr>
          <p:nvPr>
            <p:ph type="title"/>
          </p:nvPr>
        </p:nvSpPr>
        <p:spPr/>
        <p:txBody>
          <a:bodyPr/>
          <a:lstStyle/>
          <a:p>
            <a:r>
              <a:rPr lang="en-US" dirty="0"/>
              <a:t>Risk of… GenAI… (woah)</a:t>
            </a:r>
          </a:p>
        </p:txBody>
      </p:sp>
      <p:sp>
        <p:nvSpPr>
          <p:cNvPr id="4" name="Text Placeholder 3">
            <a:extLst>
              <a:ext uri="{FF2B5EF4-FFF2-40B4-BE49-F238E27FC236}">
                <a16:creationId xmlns:a16="http://schemas.microsoft.com/office/drawing/2014/main" id="{C38D1094-8535-E0FE-4577-A8853BE0AD18}"/>
              </a:ext>
            </a:extLst>
          </p:cNvPr>
          <p:cNvSpPr>
            <a:spLocks noGrp="1"/>
          </p:cNvSpPr>
          <p:nvPr>
            <p:ph type="body" idx="1"/>
          </p:nvPr>
        </p:nvSpPr>
        <p:spPr/>
        <p:txBody>
          <a:bodyPr/>
          <a:lstStyle/>
          <a:p>
            <a:r>
              <a:rPr lang="en-US" dirty="0"/>
              <a:t>Let’s discuss</a:t>
            </a:r>
          </a:p>
        </p:txBody>
      </p:sp>
    </p:spTree>
    <p:extLst>
      <p:ext uri="{BB962C8B-B14F-4D97-AF65-F5344CB8AC3E}">
        <p14:creationId xmlns:p14="http://schemas.microsoft.com/office/powerpoint/2010/main" val="4683416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B866F5-29C6-0532-2C76-8DF119A1E6CB}"/>
              </a:ext>
            </a:extLst>
          </p:cNvPr>
          <p:cNvSpPr>
            <a:spLocks noGrp="1"/>
          </p:cNvSpPr>
          <p:nvPr>
            <p:ph type="ctrTitle"/>
          </p:nvPr>
        </p:nvSpPr>
        <p:spPr/>
        <p:txBody>
          <a:bodyPr/>
          <a:lstStyle/>
          <a:p>
            <a:pPr algn="ctr"/>
            <a:r>
              <a:rPr lang="en-US" dirty="0"/>
              <a:t>Fin.</a:t>
            </a:r>
          </a:p>
        </p:txBody>
      </p:sp>
      <p:sp>
        <p:nvSpPr>
          <p:cNvPr id="5" name="Subtitle 4">
            <a:extLst>
              <a:ext uri="{FF2B5EF4-FFF2-40B4-BE49-F238E27FC236}">
                <a16:creationId xmlns:a16="http://schemas.microsoft.com/office/drawing/2014/main" id="{6F757602-BCBC-E3F9-9A8C-6576B2DAA980}"/>
              </a:ext>
            </a:extLst>
          </p:cNvPr>
          <p:cNvSpPr>
            <a:spLocks noGrp="1"/>
          </p:cNvSpPr>
          <p:nvPr>
            <p:ph type="subTitle" idx="1"/>
          </p:nvPr>
        </p:nvSpPr>
        <p:spPr>
          <a:xfrm rot="3024798">
            <a:off x="2274907" y="5312664"/>
            <a:ext cx="533607" cy="434974"/>
          </a:xfrm>
        </p:spPr>
        <p:txBody>
          <a:bodyPr/>
          <a:lstStyle/>
          <a:p>
            <a:r>
              <a:rPr lang="en-US" dirty="0"/>
              <a:t>&gt;:3</a:t>
            </a:r>
          </a:p>
        </p:txBody>
      </p:sp>
    </p:spTree>
    <p:extLst>
      <p:ext uri="{BB962C8B-B14F-4D97-AF65-F5344CB8AC3E}">
        <p14:creationId xmlns:p14="http://schemas.microsoft.com/office/powerpoint/2010/main" val="24792229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Custom 1">
      <a:dk1>
        <a:srgbClr val="181818"/>
      </a:dk1>
      <a:lt1>
        <a:srgbClr val="181818"/>
      </a:lt1>
      <a:dk2>
        <a:srgbClr val="FFFFFF"/>
      </a:dk2>
      <a:lt2>
        <a:srgbClr val="FFFFFF"/>
      </a:lt2>
      <a:accent1>
        <a:srgbClr val="843AAB"/>
      </a:accent1>
      <a:accent2>
        <a:srgbClr val="E19933"/>
      </a:accent2>
      <a:accent3>
        <a:srgbClr val="DC5D3D"/>
      </a:accent3>
      <a:accent4>
        <a:srgbClr val="A967CB"/>
      </a:accent4>
      <a:accent5>
        <a:srgbClr val="5EA5DD"/>
      </a:accent5>
      <a:accent6>
        <a:srgbClr val="44BEA9"/>
      </a:accent6>
      <a:hlink>
        <a:srgbClr val="002060"/>
      </a:hlink>
      <a:folHlink>
        <a:srgbClr val="0070C0"/>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Quotable</Template>
  <TotalTime>1326</TotalTime>
  <Words>1553</Words>
  <Application>Microsoft Office PowerPoint</Application>
  <PresentationFormat>Widescreen</PresentationFormat>
  <Paragraphs>192</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Century Gothic</vt:lpstr>
      <vt:lpstr>Wingdings</vt:lpstr>
      <vt:lpstr>Wingdings 2</vt:lpstr>
      <vt:lpstr>Quotable</vt:lpstr>
      <vt:lpstr>Introduction to Artificial Intelligence</vt:lpstr>
      <vt:lpstr>What makes Humans Intelligent?</vt:lpstr>
      <vt:lpstr>Intelligent Machines</vt:lpstr>
      <vt:lpstr>What is AI?</vt:lpstr>
      <vt:lpstr>Representation Example:</vt:lpstr>
      <vt:lpstr>Solving the Puzzle – Constraints!</vt:lpstr>
      <vt:lpstr>The Rumpelstiltskin Principle</vt:lpstr>
      <vt:lpstr>Question – How many Countries in Africa are on the Equator?</vt:lpstr>
      <vt:lpstr>Let’s think about how you came up with the answer</vt:lpstr>
      <vt:lpstr>Driving a Car – As a Human</vt:lpstr>
      <vt:lpstr>Self-Driving Cars</vt:lpstr>
      <vt:lpstr>AI – The Textbook Definition</vt:lpstr>
      <vt:lpstr>More on AI</vt:lpstr>
      <vt:lpstr>The Four Schools of Thought</vt:lpstr>
      <vt:lpstr>Acting humanly: The Turing Test Approach</vt:lpstr>
      <vt:lpstr>The “Total Turing Test”</vt:lpstr>
      <vt:lpstr>Thinking humanly: The Cognitive Modeling Approach </vt:lpstr>
      <vt:lpstr>Thinking Rationally:  The “Laws of Thought” Approach</vt:lpstr>
      <vt:lpstr>Acting rationally:  The Rational Agent Approach</vt:lpstr>
      <vt:lpstr>The History of AI</vt:lpstr>
      <vt:lpstr>The Very First Chatbot</vt:lpstr>
      <vt:lpstr>DeepSeek – Oh, wrong one! Deep Blue!</vt:lpstr>
      <vt:lpstr>Let’s differentiate between AI and Others</vt:lpstr>
      <vt:lpstr>Machine Learning Flow</vt:lpstr>
      <vt:lpstr>Neural Networks</vt:lpstr>
      <vt:lpstr>Deep Learning</vt:lpstr>
      <vt:lpstr>Advances in AI Over Time…</vt:lpstr>
      <vt:lpstr>Advances in AI Over Time…</vt:lpstr>
      <vt:lpstr>Advances in AI Over Time…</vt:lpstr>
      <vt:lpstr>Risks of AI – Let’s Discuss</vt:lpstr>
      <vt:lpstr>Risk of… GenAI… (woah)</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Abeeha Sattar</dc:creator>
  <cp:lastModifiedBy>Abeeha Sattar</cp:lastModifiedBy>
  <cp:revision>112</cp:revision>
  <dcterms:created xsi:type="dcterms:W3CDTF">2026-01-20T09:40:17Z</dcterms:created>
  <dcterms:modified xsi:type="dcterms:W3CDTF">2026-01-27T06:16:16Z</dcterms:modified>
</cp:coreProperties>
</file>